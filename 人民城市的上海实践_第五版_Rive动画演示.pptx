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notesSlides/notesSlide10.xml" ContentType="application/vnd.openxmlformats-officedocument.presentationml.notesSlide+xml"/>
  <Override PartName="/ppt/charts/chart2.xml" ContentType="application/vnd.openxmlformats-officedocument.drawingml.chart+xml"/>
  <Override PartName="/ppt/notesSlides/notesSlide11.xml" ContentType="application/vnd.openxmlformats-officedocument.presentationml.notesSlide+xml"/>
  <Override PartName="/ppt/charts/chart3.xml" ContentType="application/vnd.openxmlformats-officedocument.drawingml.chart+xml"/>
  <Override PartName="/ppt/notesSlides/notesSlide12.xml" ContentType="application/vnd.openxmlformats-officedocument.presentationml.notesSlide+xml"/>
  <Override PartName="/ppt/charts/chart4.xml" ContentType="application/vnd.openxmlformats-officedocument.drawingml.chart+xml"/>
  <Override PartName="/ppt/notesSlides/notesSlide13.xml" ContentType="application/vnd.openxmlformats-officedocument.presentationml.notesSlide+xml"/>
  <Override PartName="/ppt/charts/chart5.xml" ContentType="application/vnd.openxmlformats-officedocument.drawingml.chart+xml"/>
  <Override PartName="/ppt/notesSlides/notesSlide14.xml" ContentType="application/vnd.openxmlformats-officedocument.presentationml.notesSlide+xml"/>
  <Override PartName="/ppt/charts/chart6.xml" ContentType="application/vnd.openxmlformats-officedocument.drawingml.chart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Default Extension="jpg" ContentType="image/jpeg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0"/>
  </p:notesMasterIdLst>
  <p:sldIdLst>
    <p:sldId id="275" r:id="rId2"/>
    <p:sldId id="276" r:id="rId3"/>
    <p:sldId id="277" r:id="rId4"/>
    <p:sldId id="278" r:id="rId5"/>
    <p:sldId id="279" r:id="rId6"/>
    <p:sldId id="280" r:id="rId7"/>
    <p:sldId id="281" r:id="rId8"/>
    <p:sldId id="282" r:id="rId9"/>
    <p:sldId id="283" r:id="rId10"/>
    <p:sldId id="284" r:id="rId11"/>
    <p:sldId id="285" r:id="rId12"/>
    <p:sldId id="286" r:id="rId13"/>
    <p:sldId id="287" r:id="rId14"/>
    <p:sldId id="288" r:id="rId15"/>
    <p:sldId id="289" r:id="rId16"/>
    <p:sldId id="290" r:id="rId17"/>
    <p:sldId id="291" r:id="rId18"/>
    <p:sldId id="292" r:id="rId19"/>
    <p:sldId id="293" r:id="rId20"/>
    <p:sldId id="256" r:id="rId21"/>
    <p:sldId id="257" r:id="rId22"/>
    <p:sldId id="258" r:id="rId23"/>
    <p:sldId id="259" r:id="rId24"/>
    <p:sldId id="260" r:id="rId25"/>
    <p:sldId id="261" r:id="rId26"/>
    <p:sldId id="262" r:id="rId27"/>
    <p:sldId id="263" r:id="rId28"/>
    <p:sldId id="264" r:id="rId29"/>
    <p:sldId id="265" r:id="rId30"/>
    <p:sldId id="266" r:id="rId31"/>
    <p:sldId id="267" r:id="rId32"/>
    <p:sldId id="268" r:id="rId33"/>
    <p:sldId id="269" r:id="rId34"/>
    <p:sldId id="270" r:id="rId35"/>
    <p:sldId id="271" r:id="rId36"/>
    <p:sldId id="272" r:id="rId37"/>
    <p:sldId id="273" r:id="rId38"/>
    <p:sldId id="274" r:id="rId3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5" d="100"/>
          <a:sy n="85" d="100"/>
        </p:scale>
        <p:origin x="213" y="5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0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v>全市16区</c:v>
          </c:tx>
          <c:spPr>
            <a:ln w="24765">
              <a:solidFill>
                <a:srgbClr val="8F3E35"/>
              </a:solidFill>
              <a:prstDash val="solid"/>
            </a:ln>
          </c:spPr>
          <c:marker>
            <c:symbol val="none"/>
          </c:marker>
          <c:xVal>
            <c:numRef>
              <c:f>'Chart Data'!$A$2:$A$202</c:f>
              <c:numCache>
                <c:formatCode>General</c:formatCode>
                <c:ptCount val="20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  <c:pt idx="41">
                  <c:v>1.025</c:v>
                </c:pt>
                <c:pt idx="42">
                  <c:v>1.05</c:v>
                </c:pt>
                <c:pt idx="43">
                  <c:v>1.075</c:v>
                </c:pt>
                <c:pt idx="44">
                  <c:v>1.1</c:v>
                </c:pt>
                <c:pt idx="45">
                  <c:v>1.125</c:v>
                </c:pt>
                <c:pt idx="46">
                  <c:v>1.15</c:v>
                </c:pt>
                <c:pt idx="47">
                  <c:v>1.175</c:v>
                </c:pt>
                <c:pt idx="48">
                  <c:v>1.2</c:v>
                </c:pt>
                <c:pt idx="49">
                  <c:v>1.225</c:v>
                </c:pt>
                <c:pt idx="50">
                  <c:v>1.25</c:v>
                </c:pt>
                <c:pt idx="51">
                  <c:v>1.275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</c:v>
                </c:pt>
                <c:pt idx="60">
                  <c:v>1.5</c:v>
                </c:pt>
                <c:pt idx="61">
                  <c:v>1.525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</c:v>
                </c:pt>
                <c:pt idx="70">
                  <c:v>1.75</c:v>
                </c:pt>
                <c:pt idx="71">
                  <c:v>1.775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</c:v>
                </c:pt>
                <c:pt idx="80">
                  <c:v>2</c:v>
                </c:pt>
                <c:pt idx="81">
                  <c:v>2.025</c:v>
                </c:pt>
                <c:pt idx="82">
                  <c:v>2.05</c:v>
                </c:pt>
                <c:pt idx="83">
                  <c:v>2.075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2.175</c:v>
                </c:pt>
                <c:pt idx="88">
                  <c:v>2.2</c:v>
                </c:pt>
                <c:pt idx="89">
                  <c:v>2.225</c:v>
                </c:pt>
                <c:pt idx="90">
                  <c:v>2.25</c:v>
                </c:pt>
                <c:pt idx="91">
                  <c:v>2.275</c:v>
                </c:pt>
                <c:pt idx="92">
                  <c:v>2.3</c:v>
                </c:pt>
                <c:pt idx="93">
                  <c:v>2.325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2.425</c:v>
                </c:pt>
                <c:pt idx="98">
                  <c:v>2.45</c:v>
                </c:pt>
                <c:pt idx="99">
                  <c:v>2.475</c:v>
                </c:pt>
                <c:pt idx="100">
                  <c:v>2.5</c:v>
                </c:pt>
                <c:pt idx="101">
                  <c:v>2.525</c:v>
                </c:pt>
                <c:pt idx="102">
                  <c:v>2.55</c:v>
                </c:pt>
                <c:pt idx="103">
                  <c:v>2.575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2.675</c:v>
                </c:pt>
                <c:pt idx="108">
                  <c:v>2.7</c:v>
                </c:pt>
                <c:pt idx="109">
                  <c:v>2.725</c:v>
                </c:pt>
                <c:pt idx="110">
                  <c:v>2.75</c:v>
                </c:pt>
                <c:pt idx="111">
                  <c:v>2.775</c:v>
                </c:pt>
                <c:pt idx="112">
                  <c:v>2.8</c:v>
                </c:pt>
                <c:pt idx="113">
                  <c:v>2.825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2.925</c:v>
                </c:pt>
                <c:pt idx="118">
                  <c:v>2.95</c:v>
                </c:pt>
                <c:pt idx="119">
                  <c:v>2.975</c:v>
                </c:pt>
                <c:pt idx="120">
                  <c:v>3</c:v>
                </c:pt>
                <c:pt idx="121">
                  <c:v>3.025</c:v>
                </c:pt>
                <c:pt idx="122">
                  <c:v>3.05</c:v>
                </c:pt>
                <c:pt idx="123">
                  <c:v>3.075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3.175</c:v>
                </c:pt>
                <c:pt idx="128">
                  <c:v>3.2</c:v>
                </c:pt>
                <c:pt idx="129">
                  <c:v>3.225</c:v>
                </c:pt>
                <c:pt idx="130">
                  <c:v>3.25</c:v>
                </c:pt>
                <c:pt idx="131">
                  <c:v>3.275</c:v>
                </c:pt>
                <c:pt idx="132">
                  <c:v>3.3</c:v>
                </c:pt>
                <c:pt idx="133">
                  <c:v>3.325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3.425</c:v>
                </c:pt>
                <c:pt idx="138">
                  <c:v>3.45</c:v>
                </c:pt>
                <c:pt idx="139">
                  <c:v>3.475</c:v>
                </c:pt>
                <c:pt idx="140">
                  <c:v>3.5</c:v>
                </c:pt>
                <c:pt idx="141">
                  <c:v>3.525</c:v>
                </c:pt>
                <c:pt idx="142">
                  <c:v>3.55</c:v>
                </c:pt>
                <c:pt idx="143">
                  <c:v>3.575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3.675</c:v>
                </c:pt>
                <c:pt idx="148">
                  <c:v>3.7</c:v>
                </c:pt>
                <c:pt idx="149">
                  <c:v>3.725</c:v>
                </c:pt>
                <c:pt idx="150">
                  <c:v>3.75</c:v>
                </c:pt>
                <c:pt idx="151">
                  <c:v>3.775</c:v>
                </c:pt>
                <c:pt idx="152">
                  <c:v>3.8</c:v>
                </c:pt>
                <c:pt idx="153">
                  <c:v>3.825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3.925</c:v>
                </c:pt>
                <c:pt idx="158">
                  <c:v>3.95</c:v>
                </c:pt>
                <c:pt idx="159">
                  <c:v>3.975</c:v>
                </c:pt>
                <c:pt idx="160">
                  <c:v>4</c:v>
                </c:pt>
                <c:pt idx="161">
                  <c:v>4.025</c:v>
                </c:pt>
                <c:pt idx="162">
                  <c:v>4.05</c:v>
                </c:pt>
                <c:pt idx="163">
                  <c:v>4.075</c:v>
                </c:pt>
                <c:pt idx="164">
                  <c:v>4.1</c:v>
                </c:pt>
                <c:pt idx="165">
                  <c:v>4.125</c:v>
                </c:pt>
                <c:pt idx="166">
                  <c:v>4.15</c:v>
                </c:pt>
                <c:pt idx="167">
                  <c:v>4.175</c:v>
                </c:pt>
                <c:pt idx="168">
                  <c:v>4.2</c:v>
                </c:pt>
                <c:pt idx="169">
                  <c:v>4.225</c:v>
                </c:pt>
                <c:pt idx="170">
                  <c:v>4.25</c:v>
                </c:pt>
                <c:pt idx="171">
                  <c:v>4.275</c:v>
                </c:pt>
                <c:pt idx="172">
                  <c:v>4.3</c:v>
                </c:pt>
                <c:pt idx="173">
                  <c:v>4.325</c:v>
                </c:pt>
                <c:pt idx="174">
                  <c:v>4.35</c:v>
                </c:pt>
                <c:pt idx="175">
                  <c:v>4.375</c:v>
                </c:pt>
                <c:pt idx="176">
                  <c:v>4.4</c:v>
                </c:pt>
                <c:pt idx="177">
                  <c:v>4.425</c:v>
                </c:pt>
                <c:pt idx="178">
                  <c:v>4.45</c:v>
                </c:pt>
                <c:pt idx="179">
                  <c:v>4.475</c:v>
                </c:pt>
                <c:pt idx="180">
                  <c:v>4.5</c:v>
                </c:pt>
                <c:pt idx="181">
                  <c:v>4.525</c:v>
                </c:pt>
                <c:pt idx="182">
                  <c:v>4.55</c:v>
                </c:pt>
                <c:pt idx="183">
                  <c:v>4.575</c:v>
                </c:pt>
                <c:pt idx="184">
                  <c:v>4.6</c:v>
                </c:pt>
                <c:pt idx="185">
                  <c:v>4.625</c:v>
                </c:pt>
                <c:pt idx="186">
                  <c:v>4.65</c:v>
                </c:pt>
                <c:pt idx="187">
                  <c:v>4.675</c:v>
                </c:pt>
                <c:pt idx="188">
                  <c:v>4.7</c:v>
                </c:pt>
                <c:pt idx="189">
                  <c:v>4.725</c:v>
                </c:pt>
                <c:pt idx="190">
                  <c:v>4.75</c:v>
                </c:pt>
                <c:pt idx="191">
                  <c:v>4.775</c:v>
                </c:pt>
                <c:pt idx="192">
                  <c:v>4.8</c:v>
                </c:pt>
                <c:pt idx="193">
                  <c:v>4.825</c:v>
                </c:pt>
                <c:pt idx="194">
                  <c:v>4.85</c:v>
                </c:pt>
                <c:pt idx="195">
                  <c:v>4.875</c:v>
                </c:pt>
                <c:pt idx="196">
                  <c:v>4.9</c:v>
                </c:pt>
                <c:pt idx="197">
                  <c:v>4.925</c:v>
                </c:pt>
                <c:pt idx="198">
                  <c:v>4.95</c:v>
                </c:pt>
                <c:pt idx="199">
                  <c:v>4.975</c:v>
                </c:pt>
                <c:pt idx="200">
                  <c:v>5</c:v>
                </c:pt>
              </c:numCache>
            </c:numRef>
          </c:xVal>
          <c:yVal>
            <c:numRef>
              <c:f>'Chart Data'!$B$2:$B$202</c:f>
              <c:numCache>
                <c:formatCode>General</c:formatCode>
                <c:ptCount val="201"/>
                <c:pt idx="0">
                  <c:v>0</c:v>
                </c:pt>
                <c:pt idx="1">
                  <c:v>0.0539</c:v>
                </c:pt>
                <c:pt idx="2">
                  <c:v>0.2272</c:v>
                </c:pt>
                <c:pt idx="3">
                  <c:v>0.538</c:v>
                </c:pt>
                <c:pt idx="4">
                  <c:v>1.016</c:v>
                </c:pt>
                <c:pt idx="5">
                  <c:v>1.6447</c:v>
                </c:pt>
                <c:pt idx="6">
                  <c:v>2.3976</c:v>
                </c:pt>
                <c:pt idx="7">
                  <c:v>3.2895</c:v>
                </c:pt>
                <c:pt idx="8">
                  <c:v>4.2808</c:v>
                </c:pt>
                <c:pt idx="9">
                  <c:v>5.3785</c:v>
                </c:pt>
                <c:pt idx="10">
                  <c:v>6.5674</c:v>
                </c:pt>
                <c:pt idx="11">
                  <c:v>7.8144</c:v>
                </c:pt>
                <c:pt idx="12">
                  <c:v>9.124983</c:v>
                </c:pt>
                <c:pt idx="13">
                  <c:v>10.4834</c:v>
                </c:pt>
                <c:pt idx="14">
                  <c:v>11.9266</c:v>
                </c:pt>
                <c:pt idx="15">
                  <c:v>13.3907</c:v>
                </c:pt>
                <c:pt idx="16">
                  <c:v>14.8862</c:v>
                </c:pt>
                <c:pt idx="17">
                  <c:v>16.3989</c:v>
                </c:pt>
                <c:pt idx="18">
                  <c:v>17.9156</c:v>
                </c:pt>
                <c:pt idx="19">
                  <c:v>19.4725</c:v>
                </c:pt>
                <c:pt idx="20">
                  <c:v>21.017111</c:v>
                </c:pt>
                <c:pt idx="21">
                  <c:v>22.565</c:v>
                </c:pt>
                <c:pt idx="22">
                  <c:v>24.0912</c:v>
                </c:pt>
                <c:pt idx="23">
                  <c:v>25.6023</c:v>
                </c:pt>
                <c:pt idx="24">
                  <c:v>27.0657</c:v>
                </c:pt>
                <c:pt idx="25">
                  <c:v>28.4969</c:v>
                </c:pt>
                <c:pt idx="26">
                  <c:v>29.9083</c:v>
                </c:pt>
                <c:pt idx="27">
                  <c:v>31.2883</c:v>
                </c:pt>
                <c:pt idx="28">
                  <c:v>32.648</c:v>
                </c:pt>
                <c:pt idx="29">
                  <c:v>33.9744</c:v>
                </c:pt>
                <c:pt idx="30">
                  <c:v>35.2751</c:v>
                </c:pt>
                <c:pt idx="31">
                  <c:v>36.5608</c:v>
                </c:pt>
                <c:pt idx="32">
                  <c:v>37.812314</c:v>
                </c:pt>
                <c:pt idx="33">
                  <c:v>39.0574</c:v>
                </c:pt>
                <c:pt idx="34">
                  <c:v>40.2737</c:v>
                </c:pt>
                <c:pt idx="35">
                  <c:v>41.4702</c:v>
                </c:pt>
                <c:pt idx="36">
                  <c:v>42.6465</c:v>
                </c:pt>
                <c:pt idx="37">
                  <c:v>43.7806</c:v>
                </c:pt>
                <c:pt idx="38">
                  <c:v>44.8884</c:v>
                </c:pt>
                <c:pt idx="39">
                  <c:v>45.9761</c:v>
                </c:pt>
                <c:pt idx="40">
                  <c:v>47.024763</c:v>
                </c:pt>
                <c:pt idx="41">
                  <c:v>48.0671</c:v>
                </c:pt>
                <c:pt idx="42">
                  <c:v>49.0931</c:v>
                </c:pt>
                <c:pt idx="43">
                  <c:v>50.1093</c:v>
                </c:pt>
                <c:pt idx="44">
                  <c:v>51.1095</c:v>
                </c:pt>
                <c:pt idx="45">
                  <c:v>52.0921</c:v>
                </c:pt>
                <c:pt idx="46">
                  <c:v>53.0398</c:v>
                </c:pt>
                <c:pt idx="47">
                  <c:v>53.9792</c:v>
                </c:pt>
                <c:pt idx="48">
                  <c:v>54.9032</c:v>
                </c:pt>
                <c:pt idx="49">
                  <c:v>55.8049</c:v>
                </c:pt>
                <c:pt idx="50">
                  <c:v>56.6743</c:v>
                </c:pt>
                <c:pt idx="51">
                  <c:v>57.5415</c:v>
                </c:pt>
                <c:pt idx="52">
                  <c:v>58.3957</c:v>
                </c:pt>
                <c:pt idx="53">
                  <c:v>59.2185</c:v>
                </c:pt>
                <c:pt idx="54">
                  <c:v>60.0067</c:v>
                </c:pt>
                <c:pt idx="55">
                  <c:v>60.7756</c:v>
                </c:pt>
                <c:pt idx="56">
                  <c:v>61.5167</c:v>
                </c:pt>
                <c:pt idx="57">
                  <c:v>62.2442</c:v>
                </c:pt>
                <c:pt idx="58">
                  <c:v>62.9497</c:v>
                </c:pt>
                <c:pt idx="59">
                  <c:v>63.6423</c:v>
                </c:pt>
                <c:pt idx="60">
                  <c:v>64.310519</c:v>
                </c:pt>
                <c:pt idx="61">
                  <c:v>65.0004</c:v>
                </c:pt>
                <c:pt idx="62">
                  <c:v>65.6649</c:v>
                </c:pt>
                <c:pt idx="63">
                  <c:v>66.3112</c:v>
                </c:pt>
                <c:pt idx="64">
                  <c:v>66.963</c:v>
                </c:pt>
                <c:pt idx="65">
                  <c:v>67.6056</c:v>
                </c:pt>
                <c:pt idx="66">
                  <c:v>68.2414</c:v>
                </c:pt>
                <c:pt idx="67">
                  <c:v>68.8809</c:v>
                </c:pt>
                <c:pt idx="68">
                  <c:v>69.5224</c:v>
                </c:pt>
                <c:pt idx="69">
                  <c:v>70.1523</c:v>
                </c:pt>
                <c:pt idx="70">
                  <c:v>70.7846</c:v>
                </c:pt>
                <c:pt idx="71">
                  <c:v>71.4099</c:v>
                </c:pt>
                <c:pt idx="72">
                  <c:v>72.0214</c:v>
                </c:pt>
                <c:pt idx="73">
                  <c:v>72.6223</c:v>
                </c:pt>
                <c:pt idx="74">
                  <c:v>73.2</c:v>
                </c:pt>
                <c:pt idx="75">
                  <c:v>73.7663</c:v>
                </c:pt>
                <c:pt idx="76">
                  <c:v>74.3324</c:v>
                </c:pt>
                <c:pt idx="77">
                  <c:v>74.8836</c:v>
                </c:pt>
                <c:pt idx="78">
                  <c:v>75.4223</c:v>
                </c:pt>
                <c:pt idx="79">
                  <c:v>75.9613</c:v>
                </c:pt>
                <c:pt idx="80">
                  <c:v>76.500582</c:v>
                </c:pt>
                <c:pt idx="81">
                  <c:v>77.0396</c:v>
                </c:pt>
                <c:pt idx="82">
                  <c:v>77.5746</c:v>
                </c:pt>
                <c:pt idx="83">
                  <c:v>78.1012</c:v>
                </c:pt>
                <c:pt idx="84">
                  <c:v>78.6176</c:v>
                </c:pt>
                <c:pt idx="85">
                  <c:v>79.1151</c:v>
                </c:pt>
                <c:pt idx="86">
                  <c:v>79.598</c:v>
                </c:pt>
                <c:pt idx="87">
                  <c:v>80.0733</c:v>
                </c:pt>
                <c:pt idx="88">
                  <c:v>80.5347</c:v>
                </c:pt>
                <c:pt idx="89">
                  <c:v>80.9947</c:v>
                </c:pt>
                <c:pt idx="90">
                  <c:v>81.4469</c:v>
                </c:pt>
                <c:pt idx="91">
                  <c:v>81.8777</c:v>
                </c:pt>
                <c:pt idx="92">
                  <c:v>82.3088</c:v>
                </c:pt>
                <c:pt idx="93">
                  <c:v>82.7165</c:v>
                </c:pt>
                <c:pt idx="94">
                  <c:v>83.11</c:v>
                </c:pt>
                <c:pt idx="95">
                  <c:v>83.4921</c:v>
                </c:pt>
                <c:pt idx="96">
                  <c:v>83.8594</c:v>
                </c:pt>
                <c:pt idx="97">
                  <c:v>84.2152</c:v>
                </c:pt>
                <c:pt idx="98">
                  <c:v>84.5593</c:v>
                </c:pt>
                <c:pt idx="99">
                  <c:v>84.8971</c:v>
                </c:pt>
                <c:pt idx="100">
                  <c:v>85.2392</c:v>
                </c:pt>
                <c:pt idx="101">
                  <c:v>85.5723</c:v>
                </c:pt>
                <c:pt idx="102">
                  <c:v>85.8894</c:v>
                </c:pt>
                <c:pt idx="103">
                  <c:v>86.2008</c:v>
                </c:pt>
                <c:pt idx="104">
                  <c:v>86.4951</c:v>
                </c:pt>
                <c:pt idx="105">
                  <c:v>86.7815</c:v>
                </c:pt>
                <c:pt idx="106">
                  <c:v>87.0654</c:v>
                </c:pt>
                <c:pt idx="107">
                  <c:v>87.34</c:v>
                </c:pt>
                <c:pt idx="108">
                  <c:v>87.5999</c:v>
                </c:pt>
                <c:pt idx="109">
                  <c:v>87.8439</c:v>
                </c:pt>
                <c:pt idx="110">
                  <c:v>88.0744</c:v>
                </c:pt>
                <c:pt idx="111">
                  <c:v>88.294</c:v>
                </c:pt>
                <c:pt idx="112">
                  <c:v>88.5063</c:v>
                </c:pt>
                <c:pt idx="113">
                  <c:v>88.7187</c:v>
                </c:pt>
                <c:pt idx="114">
                  <c:v>88.9347</c:v>
                </c:pt>
                <c:pt idx="115">
                  <c:v>89.1462</c:v>
                </c:pt>
                <c:pt idx="116">
                  <c:v>89.3494</c:v>
                </c:pt>
                <c:pt idx="117">
                  <c:v>89.5476</c:v>
                </c:pt>
                <c:pt idx="118">
                  <c:v>89.7396</c:v>
                </c:pt>
                <c:pt idx="119">
                  <c:v>89.9231</c:v>
                </c:pt>
                <c:pt idx="120">
                  <c:v>90.100297</c:v>
                </c:pt>
                <c:pt idx="121">
                  <c:v>90.2689</c:v>
                </c:pt>
                <c:pt idx="122">
                  <c:v>90.4404</c:v>
                </c:pt>
                <c:pt idx="123">
                  <c:v>90.6111</c:v>
                </c:pt>
                <c:pt idx="124">
                  <c:v>90.7775</c:v>
                </c:pt>
                <c:pt idx="125">
                  <c:v>90.9427</c:v>
                </c:pt>
                <c:pt idx="126">
                  <c:v>91.1103</c:v>
                </c:pt>
                <c:pt idx="127">
                  <c:v>91.2745</c:v>
                </c:pt>
                <c:pt idx="128">
                  <c:v>91.4361</c:v>
                </c:pt>
                <c:pt idx="129">
                  <c:v>91.5945</c:v>
                </c:pt>
                <c:pt idx="130">
                  <c:v>91.7497</c:v>
                </c:pt>
                <c:pt idx="131">
                  <c:v>91.9017</c:v>
                </c:pt>
                <c:pt idx="132">
                  <c:v>92.0446</c:v>
                </c:pt>
                <c:pt idx="133">
                  <c:v>92.1883</c:v>
                </c:pt>
                <c:pt idx="134">
                  <c:v>92.3301</c:v>
                </c:pt>
                <c:pt idx="135">
                  <c:v>92.4686</c:v>
                </c:pt>
                <c:pt idx="136">
                  <c:v>92.604</c:v>
                </c:pt>
                <c:pt idx="137">
                  <c:v>92.7321</c:v>
                </c:pt>
                <c:pt idx="138">
                  <c:v>92.8582</c:v>
                </c:pt>
                <c:pt idx="139">
                  <c:v>92.9816</c:v>
                </c:pt>
                <c:pt idx="140">
                  <c:v>93.1078</c:v>
                </c:pt>
                <c:pt idx="141">
                  <c:v>93.2416</c:v>
                </c:pt>
                <c:pt idx="142">
                  <c:v>93.3699</c:v>
                </c:pt>
                <c:pt idx="143">
                  <c:v>93.4943</c:v>
                </c:pt>
                <c:pt idx="144">
                  <c:v>93.6147</c:v>
                </c:pt>
                <c:pt idx="145">
                  <c:v>93.7372</c:v>
                </c:pt>
                <c:pt idx="146">
                  <c:v>93.8637</c:v>
                </c:pt>
                <c:pt idx="147">
                  <c:v>93.9912</c:v>
                </c:pt>
                <c:pt idx="148">
                  <c:v>94.1198</c:v>
                </c:pt>
                <c:pt idx="149">
                  <c:v>94.2512</c:v>
                </c:pt>
                <c:pt idx="150">
                  <c:v>94.3837</c:v>
                </c:pt>
                <c:pt idx="151">
                  <c:v>94.5101</c:v>
                </c:pt>
                <c:pt idx="152">
                  <c:v>94.6284</c:v>
                </c:pt>
                <c:pt idx="153">
                  <c:v>94.7413</c:v>
                </c:pt>
                <c:pt idx="154">
                  <c:v>94.8465</c:v>
                </c:pt>
                <c:pt idx="155">
                  <c:v>94.9518</c:v>
                </c:pt>
                <c:pt idx="156">
                  <c:v>95.0579</c:v>
                </c:pt>
                <c:pt idx="157">
                  <c:v>95.1645</c:v>
                </c:pt>
                <c:pt idx="158">
                  <c:v>95.2677</c:v>
                </c:pt>
                <c:pt idx="159">
                  <c:v>95.3702</c:v>
                </c:pt>
                <c:pt idx="160">
                  <c:v>95.4681</c:v>
                </c:pt>
                <c:pt idx="161">
                  <c:v>95.5642</c:v>
                </c:pt>
                <c:pt idx="162">
                  <c:v>95.663</c:v>
                </c:pt>
                <c:pt idx="163">
                  <c:v>95.7587</c:v>
                </c:pt>
                <c:pt idx="164">
                  <c:v>95.8567</c:v>
                </c:pt>
                <c:pt idx="165">
                  <c:v>95.9503</c:v>
                </c:pt>
                <c:pt idx="166">
                  <c:v>96.0423</c:v>
                </c:pt>
                <c:pt idx="167">
                  <c:v>96.133</c:v>
                </c:pt>
                <c:pt idx="168">
                  <c:v>96.2186</c:v>
                </c:pt>
                <c:pt idx="169">
                  <c:v>96.3044</c:v>
                </c:pt>
                <c:pt idx="170">
                  <c:v>96.384</c:v>
                </c:pt>
                <c:pt idx="171">
                  <c:v>96.4637</c:v>
                </c:pt>
                <c:pt idx="172">
                  <c:v>96.539</c:v>
                </c:pt>
                <c:pt idx="173">
                  <c:v>96.6081</c:v>
                </c:pt>
                <c:pt idx="174">
                  <c:v>96.6766</c:v>
                </c:pt>
                <c:pt idx="175">
                  <c:v>96.7425</c:v>
                </c:pt>
                <c:pt idx="176">
                  <c:v>96.8034</c:v>
                </c:pt>
                <c:pt idx="177">
                  <c:v>96.8603</c:v>
                </c:pt>
                <c:pt idx="178">
                  <c:v>96.9127</c:v>
                </c:pt>
                <c:pt idx="179">
                  <c:v>96.9626</c:v>
                </c:pt>
                <c:pt idx="180">
                  <c:v>97.0126</c:v>
                </c:pt>
                <c:pt idx="181">
                  <c:v>97.0606</c:v>
                </c:pt>
                <c:pt idx="182">
                  <c:v>97.1069</c:v>
                </c:pt>
                <c:pt idx="183">
                  <c:v>97.1549</c:v>
                </c:pt>
                <c:pt idx="184">
                  <c:v>97.2022</c:v>
                </c:pt>
                <c:pt idx="185">
                  <c:v>97.2509</c:v>
                </c:pt>
                <c:pt idx="186">
                  <c:v>97.2981</c:v>
                </c:pt>
                <c:pt idx="187">
                  <c:v>97.3413</c:v>
                </c:pt>
                <c:pt idx="188">
                  <c:v>97.3832</c:v>
                </c:pt>
                <c:pt idx="189">
                  <c:v>97.422</c:v>
                </c:pt>
                <c:pt idx="190">
                  <c:v>97.4629</c:v>
                </c:pt>
                <c:pt idx="191">
                  <c:v>97.5022</c:v>
                </c:pt>
                <c:pt idx="192">
                  <c:v>97.5445</c:v>
                </c:pt>
                <c:pt idx="193">
                  <c:v>97.5883</c:v>
                </c:pt>
                <c:pt idx="194">
                  <c:v>97.6328</c:v>
                </c:pt>
                <c:pt idx="195">
                  <c:v>97.6783</c:v>
                </c:pt>
                <c:pt idx="196">
                  <c:v>97.7246</c:v>
                </c:pt>
                <c:pt idx="197">
                  <c:v>97.7712</c:v>
                </c:pt>
                <c:pt idx="198">
                  <c:v>97.8201</c:v>
                </c:pt>
                <c:pt idx="199">
                  <c:v>97.8711</c:v>
                </c:pt>
                <c:pt idx="200">
                  <c:v>97.919101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77D7-49AA-92F9-9430BAA70001}"/>
            </c:ext>
          </c:extLst>
        </c:ser>
        <c:ser>
          <c:idx val="1"/>
          <c:order val="1"/>
          <c:tx>
            <c:v>中心七区</c:v>
          </c:tx>
          <c:spPr>
            <a:ln w="24765">
              <a:solidFill>
                <a:srgbClr val="496B63"/>
              </a:solidFill>
              <a:prstDash val="solid"/>
            </a:ln>
          </c:spPr>
          <c:marker>
            <c:symbol val="none"/>
          </c:marker>
          <c:xVal>
            <c:numRef>
              <c:f>'Chart Data'!$C$2:$C$202</c:f>
              <c:numCache>
                <c:formatCode>General</c:formatCode>
                <c:ptCount val="20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  <c:pt idx="41">
                  <c:v>1.025</c:v>
                </c:pt>
                <c:pt idx="42">
                  <c:v>1.05</c:v>
                </c:pt>
                <c:pt idx="43">
                  <c:v>1.075</c:v>
                </c:pt>
                <c:pt idx="44">
                  <c:v>1.1</c:v>
                </c:pt>
                <c:pt idx="45">
                  <c:v>1.125</c:v>
                </c:pt>
                <c:pt idx="46">
                  <c:v>1.15</c:v>
                </c:pt>
                <c:pt idx="47">
                  <c:v>1.175</c:v>
                </c:pt>
                <c:pt idx="48">
                  <c:v>1.2</c:v>
                </c:pt>
                <c:pt idx="49">
                  <c:v>1.225</c:v>
                </c:pt>
                <c:pt idx="50">
                  <c:v>1.25</c:v>
                </c:pt>
                <c:pt idx="51">
                  <c:v>1.275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</c:v>
                </c:pt>
                <c:pt idx="60">
                  <c:v>1.5</c:v>
                </c:pt>
                <c:pt idx="61">
                  <c:v>1.525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</c:v>
                </c:pt>
                <c:pt idx="70">
                  <c:v>1.75</c:v>
                </c:pt>
                <c:pt idx="71">
                  <c:v>1.775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</c:v>
                </c:pt>
                <c:pt idx="80">
                  <c:v>2</c:v>
                </c:pt>
                <c:pt idx="81">
                  <c:v>2.025</c:v>
                </c:pt>
                <c:pt idx="82">
                  <c:v>2.05</c:v>
                </c:pt>
                <c:pt idx="83">
                  <c:v>2.075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2.175</c:v>
                </c:pt>
                <c:pt idx="88">
                  <c:v>2.2</c:v>
                </c:pt>
                <c:pt idx="89">
                  <c:v>2.225</c:v>
                </c:pt>
                <c:pt idx="90">
                  <c:v>2.25</c:v>
                </c:pt>
                <c:pt idx="91">
                  <c:v>2.275</c:v>
                </c:pt>
                <c:pt idx="92">
                  <c:v>2.3</c:v>
                </c:pt>
                <c:pt idx="93">
                  <c:v>2.325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2.425</c:v>
                </c:pt>
                <c:pt idx="98">
                  <c:v>2.45</c:v>
                </c:pt>
                <c:pt idx="99">
                  <c:v>2.475</c:v>
                </c:pt>
                <c:pt idx="100">
                  <c:v>2.5</c:v>
                </c:pt>
                <c:pt idx="101">
                  <c:v>2.525</c:v>
                </c:pt>
                <c:pt idx="102">
                  <c:v>2.55</c:v>
                </c:pt>
                <c:pt idx="103">
                  <c:v>2.575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2.675</c:v>
                </c:pt>
                <c:pt idx="108">
                  <c:v>2.7</c:v>
                </c:pt>
                <c:pt idx="109">
                  <c:v>2.725</c:v>
                </c:pt>
                <c:pt idx="110">
                  <c:v>2.75</c:v>
                </c:pt>
                <c:pt idx="111">
                  <c:v>2.775</c:v>
                </c:pt>
                <c:pt idx="112">
                  <c:v>2.8</c:v>
                </c:pt>
                <c:pt idx="113">
                  <c:v>2.825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2.925</c:v>
                </c:pt>
                <c:pt idx="118">
                  <c:v>2.95</c:v>
                </c:pt>
                <c:pt idx="119">
                  <c:v>2.975</c:v>
                </c:pt>
                <c:pt idx="120">
                  <c:v>3</c:v>
                </c:pt>
                <c:pt idx="121">
                  <c:v>3.025</c:v>
                </c:pt>
                <c:pt idx="122">
                  <c:v>3.05</c:v>
                </c:pt>
                <c:pt idx="123">
                  <c:v>3.075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3.175</c:v>
                </c:pt>
                <c:pt idx="128">
                  <c:v>3.2</c:v>
                </c:pt>
                <c:pt idx="129">
                  <c:v>3.225</c:v>
                </c:pt>
                <c:pt idx="130">
                  <c:v>3.25</c:v>
                </c:pt>
                <c:pt idx="131">
                  <c:v>3.275</c:v>
                </c:pt>
                <c:pt idx="132">
                  <c:v>3.3</c:v>
                </c:pt>
                <c:pt idx="133">
                  <c:v>3.325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3.425</c:v>
                </c:pt>
                <c:pt idx="138">
                  <c:v>3.45</c:v>
                </c:pt>
                <c:pt idx="139">
                  <c:v>3.475</c:v>
                </c:pt>
                <c:pt idx="140">
                  <c:v>3.5</c:v>
                </c:pt>
                <c:pt idx="141">
                  <c:v>3.525</c:v>
                </c:pt>
                <c:pt idx="142">
                  <c:v>3.55</c:v>
                </c:pt>
                <c:pt idx="143">
                  <c:v>3.575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3.675</c:v>
                </c:pt>
                <c:pt idx="148">
                  <c:v>3.7</c:v>
                </c:pt>
                <c:pt idx="149">
                  <c:v>3.725</c:v>
                </c:pt>
                <c:pt idx="150">
                  <c:v>3.75</c:v>
                </c:pt>
                <c:pt idx="151">
                  <c:v>3.775</c:v>
                </c:pt>
                <c:pt idx="152">
                  <c:v>3.8</c:v>
                </c:pt>
                <c:pt idx="153">
                  <c:v>3.825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3.925</c:v>
                </c:pt>
                <c:pt idx="158">
                  <c:v>3.95</c:v>
                </c:pt>
                <c:pt idx="159">
                  <c:v>3.975</c:v>
                </c:pt>
                <c:pt idx="160">
                  <c:v>4</c:v>
                </c:pt>
                <c:pt idx="161">
                  <c:v>4.025</c:v>
                </c:pt>
                <c:pt idx="162">
                  <c:v>4.05</c:v>
                </c:pt>
                <c:pt idx="163">
                  <c:v>4.075</c:v>
                </c:pt>
                <c:pt idx="164">
                  <c:v>4.1</c:v>
                </c:pt>
                <c:pt idx="165">
                  <c:v>4.125</c:v>
                </c:pt>
                <c:pt idx="166">
                  <c:v>4.15</c:v>
                </c:pt>
                <c:pt idx="167">
                  <c:v>4.175</c:v>
                </c:pt>
                <c:pt idx="168">
                  <c:v>4.2</c:v>
                </c:pt>
                <c:pt idx="169">
                  <c:v>4.225</c:v>
                </c:pt>
                <c:pt idx="170">
                  <c:v>4.25</c:v>
                </c:pt>
                <c:pt idx="171">
                  <c:v>4.275</c:v>
                </c:pt>
                <c:pt idx="172">
                  <c:v>4.3</c:v>
                </c:pt>
                <c:pt idx="173">
                  <c:v>4.325</c:v>
                </c:pt>
                <c:pt idx="174">
                  <c:v>4.35</c:v>
                </c:pt>
                <c:pt idx="175">
                  <c:v>4.375</c:v>
                </c:pt>
                <c:pt idx="176">
                  <c:v>4.4</c:v>
                </c:pt>
                <c:pt idx="177">
                  <c:v>4.425</c:v>
                </c:pt>
                <c:pt idx="178">
                  <c:v>4.45</c:v>
                </c:pt>
                <c:pt idx="179">
                  <c:v>4.475</c:v>
                </c:pt>
                <c:pt idx="180">
                  <c:v>4.5</c:v>
                </c:pt>
                <c:pt idx="181">
                  <c:v>4.525</c:v>
                </c:pt>
                <c:pt idx="182">
                  <c:v>4.55</c:v>
                </c:pt>
                <c:pt idx="183">
                  <c:v>4.575</c:v>
                </c:pt>
                <c:pt idx="184">
                  <c:v>4.6</c:v>
                </c:pt>
                <c:pt idx="185">
                  <c:v>4.625</c:v>
                </c:pt>
                <c:pt idx="186">
                  <c:v>4.65</c:v>
                </c:pt>
                <c:pt idx="187">
                  <c:v>4.675</c:v>
                </c:pt>
                <c:pt idx="188">
                  <c:v>4.7</c:v>
                </c:pt>
                <c:pt idx="189">
                  <c:v>4.725</c:v>
                </c:pt>
                <c:pt idx="190">
                  <c:v>4.75</c:v>
                </c:pt>
                <c:pt idx="191">
                  <c:v>4.775</c:v>
                </c:pt>
                <c:pt idx="192">
                  <c:v>4.8</c:v>
                </c:pt>
                <c:pt idx="193">
                  <c:v>4.825</c:v>
                </c:pt>
                <c:pt idx="194">
                  <c:v>4.85</c:v>
                </c:pt>
                <c:pt idx="195">
                  <c:v>4.875</c:v>
                </c:pt>
                <c:pt idx="196">
                  <c:v>4.9</c:v>
                </c:pt>
                <c:pt idx="197">
                  <c:v>4.925</c:v>
                </c:pt>
                <c:pt idx="198">
                  <c:v>4.95</c:v>
                </c:pt>
                <c:pt idx="199">
                  <c:v>4.975</c:v>
                </c:pt>
                <c:pt idx="200">
                  <c:v>5</c:v>
                </c:pt>
              </c:numCache>
            </c:numRef>
          </c:xVal>
          <c:yVal>
            <c:numRef>
              <c:f>'Chart Data'!$D$2:$D$202</c:f>
              <c:numCache>
                <c:formatCode>General</c:formatCode>
                <c:ptCount val="201"/>
                <c:pt idx="0">
                  <c:v>0</c:v>
                </c:pt>
                <c:pt idx="1">
                  <c:v>0.143505</c:v>
                </c:pt>
                <c:pt idx="2">
                  <c:v>0.63157</c:v>
                </c:pt>
                <c:pt idx="3">
                  <c:v>1.495516</c:v>
                </c:pt>
                <c:pt idx="4">
                  <c:v>2.857726</c:v>
                </c:pt>
                <c:pt idx="5">
                  <c:v>4.627141</c:v>
                </c:pt>
                <c:pt idx="6">
                  <c:v>6.716347</c:v>
                </c:pt>
                <c:pt idx="7">
                  <c:v>9.191634</c:v>
                </c:pt>
                <c:pt idx="8">
                  <c:v>11.85632</c:v>
                </c:pt>
                <c:pt idx="9">
                  <c:v>14.70239</c:v>
                </c:pt>
                <c:pt idx="10">
                  <c:v>17.719686</c:v>
                </c:pt>
                <c:pt idx="11">
                  <c:v>20.852</c:v>
                </c:pt>
                <c:pt idx="12">
                  <c:v>24.123905</c:v>
                </c:pt>
                <c:pt idx="13">
                  <c:v>27.507886</c:v>
                </c:pt>
                <c:pt idx="14">
                  <c:v>31.088966</c:v>
                </c:pt>
                <c:pt idx="15">
                  <c:v>34.627068</c:v>
                </c:pt>
                <c:pt idx="16">
                  <c:v>38.126562</c:v>
                </c:pt>
                <c:pt idx="17">
                  <c:v>41.527714</c:v>
                </c:pt>
                <c:pt idx="18">
                  <c:v>44.810857</c:v>
                </c:pt>
                <c:pt idx="19">
                  <c:v>48.123866</c:v>
                </c:pt>
                <c:pt idx="20">
                  <c:v>51.2896</c:v>
                </c:pt>
                <c:pt idx="21">
                  <c:v>54.443206</c:v>
                </c:pt>
                <c:pt idx="22">
                  <c:v>57.445894</c:v>
                </c:pt>
                <c:pt idx="23">
                  <c:v>60.307262</c:v>
                </c:pt>
                <c:pt idx="24">
                  <c:v>62.948637</c:v>
                </c:pt>
                <c:pt idx="25">
                  <c:v>65.403527</c:v>
                </c:pt>
                <c:pt idx="26">
                  <c:v>67.751335</c:v>
                </c:pt>
                <c:pt idx="27">
                  <c:v>69.951266</c:v>
                </c:pt>
                <c:pt idx="28">
                  <c:v>71.996037</c:v>
                </c:pt>
                <c:pt idx="29">
                  <c:v>73.922798</c:v>
                </c:pt>
                <c:pt idx="30">
                  <c:v>75.707511</c:v>
                </c:pt>
                <c:pt idx="31">
                  <c:v>77.368387</c:v>
                </c:pt>
                <c:pt idx="32">
                  <c:v>78.895963</c:v>
                </c:pt>
                <c:pt idx="33">
                  <c:v>80.347036</c:v>
                </c:pt>
                <c:pt idx="34">
                  <c:v>81.685934</c:v>
                </c:pt>
                <c:pt idx="35">
                  <c:v>82.904638</c:v>
                </c:pt>
                <c:pt idx="36">
                  <c:v>84.05341</c:v>
                </c:pt>
                <c:pt idx="37">
                  <c:v>85.071061</c:v>
                </c:pt>
                <c:pt idx="38">
                  <c:v>85.973615</c:v>
                </c:pt>
                <c:pt idx="39">
                  <c:v>86.790212</c:v>
                </c:pt>
                <c:pt idx="40">
                  <c:v>87.481938</c:v>
                </c:pt>
                <c:pt idx="41">
                  <c:v>88.142223</c:v>
                </c:pt>
                <c:pt idx="42">
                  <c:v>88.775978</c:v>
                </c:pt>
                <c:pt idx="43">
                  <c:v>89.384238</c:v>
                </c:pt>
                <c:pt idx="44">
                  <c:v>89.966273</c:v>
                </c:pt>
                <c:pt idx="45">
                  <c:v>90.527911</c:v>
                </c:pt>
                <c:pt idx="46">
                  <c:v>91.051669</c:v>
                </c:pt>
                <c:pt idx="47">
                  <c:v>91.530992</c:v>
                </c:pt>
                <c:pt idx="48">
                  <c:v>91.962237</c:v>
                </c:pt>
                <c:pt idx="49">
                  <c:v>92.381827</c:v>
                </c:pt>
                <c:pt idx="50">
                  <c:v>92.781748</c:v>
                </c:pt>
                <c:pt idx="51">
                  <c:v>93.159816</c:v>
                </c:pt>
                <c:pt idx="52">
                  <c:v>93.526956</c:v>
                </c:pt>
                <c:pt idx="53">
                  <c:v>93.863502</c:v>
                </c:pt>
                <c:pt idx="54">
                  <c:v>94.188393</c:v>
                </c:pt>
                <c:pt idx="55">
                  <c:v>94.474675</c:v>
                </c:pt>
                <c:pt idx="56">
                  <c:v>94.739104</c:v>
                </c:pt>
                <c:pt idx="57">
                  <c:v>94.991149</c:v>
                </c:pt>
                <c:pt idx="58">
                  <c:v>95.222798</c:v>
                </c:pt>
                <c:pt idx="59">
                  <c:v>95.434778</c:v>
                </c:pt>
                <c:pt idx="60">
                  <c:v>95.633283</c:v>
                </c:pt>
                <c:pt idx="61">
                  <c:v>95.819402</c:v>
                </c:pt>
                <c:pt idx="62">
                  <c:v>95.994959</c:v>
                </c:pt>
                <c:pt idx="63">
                  <c:v>96.167603</c:v>
                </c:pt>
                <c:pt idx="64">
                  <c:v>96.334419</c:v>
                </c:pt>
                <c:pt idx="65">
                  <c:v>96.485209</c:v>
                </c:pt>
                <c:pt idx="66">
                  <c:v>96.622887</c:v>
                </c:pt>
                <c:pt idx="67">
                  <c:v>96.745995</c:v>
                </c:pt>
                <c:pt idx="68">
                  <c:v>96.866919</c:v>
                </c:pt>
                <c:pt idx="69">
                  <c:v>96.980558</c:v>
                </c:pt>
                <c:pt idx="70">
                  <c:v>97.092739</c:v>
                </c:pt>
                <c:pt idx="71">
                  <c:v>97.190352</c:v>
                </c:pt>
                <c:pt idx="72">
                  <c:v>97.27631</c:v>
                </c:pt>
                <c:pt idx="73">
                  <c:v>97.348427</c:v>
                </c:pt>
                <c:pt idx="74">
                  <c:v>97.405975</c:v>
                </c:pt>
                <c:pt idx="75">
                  <c:v>97.464251</c:v>
                </c:pt>
                <c:pt idx="76">
                  <c:v>97.5167</c:v>
                </c:pt>
                <c:pt idx="77">
                  <c:v>97.566235</c:v>
                </c:pt>
                <c:pt idx="78">
                  <c:v>97.614313</c:v>
                </c:pt>
                <c:pt idx="79">
                  <c:v>97.664576</c:v>
                </c:pt>
                <c:pt idx="80">
                  <c:v>97.718001</c:v>
                </c:pt>
                <c:pt idx="81">
                  <c:v>97.76146</c:v>
                </c:pt>
                <c:pt idx="82">
                  <c:v>97.808081</c:v>
                </c:pt>
                <c:pt idx="83">
                  <c:v>97.847418</c:v>
                </c:pt>
                <c:pt idx="84">
                  <c:v>97.882384</c:v>
                </c:pt>
                <c:pt idx="85">
                  <c:v>97.915893</c:v>
                </c:pt>
                <c:pt idx="86">
                  <c:v>97.945031</c:v>
                </c:pt>
                <c:pt idx="87">
                  <c:v>97.972712</c:v>
                </c:pt>
                <c:pt idx="88">
                  <c:v>97.995294</c:v>
                </c:pt>
                <c:pt idx="89">
                  <c:v>98.02079</c:v>
                </c:pt>
                <c:pt idx="90">
                  <c:v>98.048471</c:v>
                </c:pt>
                <c:pt idx="91">
                  <c:v>98.073239</c:v>
                </c:pt>
                <c:pt idx="92">
                  <c:v>98.099463</c:v>
                </c:pt>
                <c:pt idx="93">
                  <c:v>98.127144</c:v>
                </c:pt>
                <c:pt idx="94">
                  <c:v>98.153369</c:v>
                </c:pt>
                <c:pt idx="95">
                  <c:v>98.175951</c:v>
                </c:pt>
                <c:pt idx="96">
                  <c:v>98.197076</c:v>
                </c:pt>
                <c:pt idx="97">
                  <c:v>98.212374</c:v>
                </c:pt>
                <c:pt idx="98">
                  <c:v>98.221843</c:v>
                </c:pt>
                <c:pt idx="99">
                  <c:v>98.2233</c:v>
                </c:pt>
                <c:pt idx="100">
                  <c:v>98.2233</c:v>
                </c:pt>
                <c:pt idx="101">
                  <c:v>98.2233</c:v>
                </c:pt>
                <c:pt idx="102">
                  <c:v>98.2233</c:v>
                </c:pt>
                <c:pt idx="103">
                  <c:v>98.2233</c:v>
                </c:pt>
                <c:pt idx="104">
                  <c:v>98.2233</c:v>
                </c:pt>
                <c:pt idx="105">
                  <c:v>98.2233</c:v>
                </c:pt>
                <c:pt idx="106">
                  <c:v>98.224757</c:v>
                </c:pt>
                <c:pt idx="107">
                  <c:v>98.235684</c:v>
                </c:pt>
                <c:pt idx="108">
                  <c:v>98.248796</c:v>
                </c:pt>
                <c:pt idx="109">
                  <c:v>98.263365</c:v>
                </c:pt>
                <c:pt idx="110">
                  <c:v>98.277934</c:v>
                </c:pt>
                <c:pt idx="111">
                  <c:v>98.294689</c:v>
                </c:pt>
                <c:pt idx="112">
                  <c:v>98.309986</c:v>
                </c:pt>
                <c:pt idx="113">
                  <c:v>98.323827</c:v>
                </c:pt>
                <c:pt idx="114">
                  <c:v>98.336939</c:v>
                </c:pt>
                <c:pt idx="115">
                  <c:v>98.348594</c:v>
                </c:pt>
                <c:pt idx="116">
                  <c:v>98.359521</c:v>
                </c:pt>
                <c:pt idx="117">
                  <c:v>98.379918</c:v>
                </c:pt>
                <c:pt idx="118">
                  <c:v>98.406871</c:v>
                </c:pt>
                <c:pt idx="119">
                  <c:v>98.433824</c:v>
                </c:pt>
                <c:pt idx="120">
                  <c:v>98.45429</c:v>
                </c:pt>
                <c:pt idx="121">
                  <c:v>98.481902</c:v>
                </c:pt>
                <c:pt idx="122">
                  <c:v>98.510311</c:v>
                </c:pt>
                <c:pt idx="123">
                  <c:v>98.538721</c:v>
                </c:pt>
                <c:pt idx="124">
                  <c:v>98.571501</c:v>
                </c:pt>
                <c:pt idx="125">
                  <c:v>98.601368</c:v>
                </c:pt>
                <c:pt idx="126">
                  <c:v>98.63342</c:v>
                </c:pt>
                <c:pt idx="127">
                  <c:v>98.664015</c:v>
                </c:pt>
                <c:pt idx="128">
                  <c:v>98.700438</c:v>
                </c:pt>
                <c:pt idx="129">
                  <c:v>98.739774</c:v>
                </c:pt>
                <c:pt idx="130">
                  <c:v>98.777654</c:v>
                </c:pt>
                <c:pt idx="131">
                  <c:v>98.813348</c:v>
                </c:pt>
                <c:pt idx="132">
                  <c:v>98.852685</c:v>
                </c:pt>
                <c:pt idx="133">
                  <c:v>98.89275</c:v>
                </c:pt>
                <c:pt idx="134">
                  <c:v>98.927715</c:v>
                </c:pt>
                <c:pt idx="135">
                  <c:v>98.959039</c:v>
                </c:pt>
                <c:pt idx="136">
                  <c:v>98.98672</c:v>
                </c:pt>
                <c:pt idx="137">
                  <c:v>99.016587</c:v>
                </c:pt>
                <c:pt idx="138">
                  <c:v>99.042811</c:v>
                </c:pt>
                <c:pt idx="139">
                  <c:v>99.069036</c:v>
                </c:pt>
                <c:pt idx="140">
                  <c:v>99.098902</c:v>
                </c:pt>
                <c:pt idx="141">
                  <c:v>99.126583</c:v>
                </c:pt>
                <c:pt idx="142">
                  <c:v>99.154993</c:v>
                </c:pt>
                <c:pt idx="143">
                  <c:v>99.181946</c:v>
                </c:pt>
                <c:pt idx="144">
                  <c:v>99.211813</c:v>
                </c:pt>
                <c:pt idx="145">
                  <c:v>99.23658</c:v>
                </c:pt>
                <c:pt idx="146">
                  <c:v>99.262804</c:v>
                </c:pt>
                <c:pt idx="147">
                  <c:v>99.286843</c:v>
                </c:pt>
                <c:pt idx="148">
                  <c:v>99.315253</c:v>
                </c:pt>
                <c:pt idx="149">
                  <c:v>99.342934</c:v>
                </c:pt>
                <c:pt idx="150">
                  <c:v>99.36843</c:v>
                </c:pt>
                <c:pt idx="151">
                  <c:v>99.388099</c:v>
                </c:pt>
                <c:pt idx="152">
                  <c:v>99.412866</c:v>
                </c:pt>
                <c:pt idx="153">
                  <c:v>99.436905</c:v>
                </c:pt>
                <c:pt idx="154">
                  <c:v>99.462401</c:v>
                </c:pt>
                <c:pt idx="155">
                  <c:v>99.487168</c:v>
                </c:pt>
                <c:pt idx="156">
                  <c:v>99.51485</c:v>
                </c:pt>
                <c:pt idx="157">
                  <c:v>99.543259</c:v>
                </c:pt>
                <c:pt idx="158">
                  <c:v>99.570941</c:v>
                </c:pt>
                <c:pt idx="159">
                  <c:v>99.594979</c:v>
                </c:pt>
                <c:pt idx="160">
                  <c:v>99.615376</c:v>
                </c:pt>
                <c:pt idx="161">
                  <c:v>99.632131</c:v>
                </c:pt>
                <c:pt idx="162">
                  <c:v>99.648157</c:v>
                </c:pt>
                <c:pt idx="163">
                  <c:v>99.661997</c:v>
                </c:pt>
                <c:pt idx="164">
                  <c:v>99.674381</c:v>
                </c:pt>
                <c:pt idx="165">
                  <c:v>99.682394</c:v>
                </c:pt>
                <c:pt idx="166">
                  <c:v>99.691864</c:v>
                </c:pt>
                <c:pt idx="167">
                  <c:v>99.702062</c:v>
                </c:pt>
                <c:pt idx="168">
                  <c:v>99.710804</c:v>
                </c:pt>
                <c:pt idx="169">
                  <c:v>99.719545</c:v>
                </c:pt>
                <c:pt idx="170">
                  <c:v>99.72683</c:v>
                </c:pt>
                <c:pt idx="171">
                  <c:v>99.734843</c:v>
                </c:pt>
                <c:pt idx="172">
                  <c:v>99.742127</c:v>
                </c:pt>
                <c:pt idx="173">
                  <c:v>99.750869</c:v>
                </c:pt>
                <c:pt idx="174">
                  <c:v>99.760339</c:v>
                </c:pt>
                <c:pt idx="175">
                  <c:v>99.76908</c:v>
                </c:pt>
                <c:pt idx="176">
                  <c:v>99.77855</c:v>
                </c:pt>
                <c:pt idx="177">
                  <c:v>99.787291</c:v>
                </c:pt>
                <c:pt idx="178">
                  <c:v>99.794576</c:v>
                </c:pt>
                <c:pt idx="179">
                  <c:v>99.800404</c:v>
                </c:pt>
                <c:pt idx="180">
                  <c:v>99.806231</c:v>
                </c:pt>
                <c:pt idx="181">
                  <c:v>99.812059</c:v>
                </c:pt>
                <c:pt idx="182">
                  <c:v>99.817886</c:v>
                </c:pt>
                <c:pt idx="183">
                  <c:v>99.822986</c:v>
                </c:pt>
                <c:pt idx="184">
                  <c:v>99.827356</c:v>
                </c:pt>
                <c:pt idx="185">
                  <c:v>99.831727</c:v>
                </c:pt>
                <c:pt idx="186">
                  <c:v>99.835369</c:v>
                </c:pt>
                <c:pt idx="187">
                  <c:v>99.839012</c:v>
                </c:pt>
                <c:pt idx="188">
                  <c:v>99.842654</c:v>
                </c:pt>
                <c:pt idx="189">
                  <c:v>99.847025</c:v>
                </c:pt>
                <c:pt idx="190">
                  <c:v>99.849938</c:v>
                </c:pt>
                <c:pt idx="191">
                  <c:v>99.849938</c:v>
                </c:pt>
                <c:pt idx="192">
                  <c:v>99.849938</c:v>
                </c:pt>
                <c:pt idx="193">
                  <c:v>99.849938</c:v>
                </c:pt>
                <c:pt idx="194">
                  <c:v>99.849938</c:v>
                </c:pt>
                <c:pt idx="195">
                  <c:v>99.849938</c:v>
                </c:pt>
                <c:pt idx="196">
                  <c:v>99.849938</c:v>
                </c:pt>
                <c:pt idx="197">
                  <c:v>99.849938</c:v>
                </c:pt>
                <c:pt idx="198">
                  <c:v>99.849938</c:v>
                </c:pt>
                <c:pt idx="199">
                  <c:v>99.849938</c:v>
                </c:pt>
                <c:pt idx="200">
                  <c:v>99.84893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77D7-49AA-92F9-9430BAA70001}"/>
            </c:ext>
          </c:extLst>
        </c:ser>
        <c:ser>
          <c:idx val="2"/>
          <c:order val="2"/>
          <c:tx>
            <c:v>全市候选</c:v>
          </c:tx>
          <c:spPr>
            <a:ln w="9525">
              <a:solidFill>
                <a:srgbClr val="8F3E35"/>
              </a:solidFill>
            </a:ln>
          </c:spPr>
          <c:marker>
            <c:symbol val="circle"/>
            <c:size val="7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Data'!$E$2:$E$2</c:f>
              <c:numCache>
                <c:formatCode>General</c:formatCode>
                <c:ptCount val="1"/>
                <c:pt idx="0">
                  <c:v>1.8</c:v>
                </c:pt>
              </c:numCache>
            </c:numRef>
          </c:xVal>
          <c:yVal>
            <c:numRef>
              <c:f>'Chart Data'!$F$2:$F$2</c:f>
              <c:numCache>
                <c:formatCode>General</c:formatCode>
                <c:ptCount val="1"/>
                <c:pt idx="0">
                  <c:v>72.011782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77D7-49AA-92F9-9430BAA70001}"/>
            </c:ext>
          </c:extLst>
        </c:ser>
        <c:ser>
          <c:idx val="3"/>
          <c:order val="3"/>
          <c:tx>
            <c:v>全市85%</c:v>
          </c:tx>
          <c:spPr>
            <a:ln w="9525">
              <a:solidFill>
                <a:srgbClr val="8F3E35"/>
              </a:solidFill>
            </a:ln>
          </c:spPr>
          <c:marker>
            <c:symbol val="triangle"/>
            <c:size val="8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Data'!$G$2:$G$2</c:f>
              <c:numCache>
                <c:formatCode>General</c:formatCode>
                <c:ptCount val="1"/>
                <c:pt idx="0">
                  <c:v>2.482173</c:v>
                </c:pt>
              </c:numCache>
            </c:numRef>
          </c:xVal>
          <c:yVal>
            <c:numRef>
              <c:f>'Chart Data'!$H$2:$H$2</c:f>
              <c:numCache>
                <c:formatCode>General</c:formatCode>
                <c:ptCount val="1"/>
                <c:pt idx="0">
                  <c:v>85.002498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77D7-49AA-92F9-9430BAA70001}"/>
            </c:ext>
          </c:extLst>
        </c:ser>
        <c:ser>
          <c:idx val="4"/>
          <c:order val="4"/>
          <c:tx>
            <c:v>七区候选</c:v>
          </c:tx>
          <c:spPr>
            <a:ln w="9525">
              <a:solidFill>
                <a:srgbClr val="496B63"/>
              </a:solidFill>
            </a:ln>
          </c:spPr>
          <c:marker>
            <c:symbol val="circle"/>
            <c:size val="7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Data'!$I$2:$I$2</c:f>
              <c:numCache>
                <c:formatCode>General</c:formatCode>
                <c:ptCount val="1"/>
                <c:pt idx="0">
                  <c:v>0.75</c:v>
                </c:pt>
              </c:numCache>
            </c:numRef>
          </c:xVal>
          <c:yVal>
            <c:numRef>
              <c:f>'Chart Data'!$J$2:$J$2</c:f>
              <c:numCache>
                <c:formatCode>General</c:formatCode>
                <c:ptCount val="1"/>
                <c:pt idx="0">
                  <c:v>75.670079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4-77D7-49AA-92F9-9430BAA70001}"/>
            </c:ext>
          </c:extLst>
        </c:ser>
        <c:ser>
          <c:idx val="5"/>
          <c:order val="5"/>
          <c:tx>
            <c:v>七区85%</c:v>
          </c:tx>
          <c:spPr>
            <a:ln w="9525">
              <a:solidFill>
                <a:srgbClr val="496B63"/>
              </a:solidFill>
            </a:ln>
          </c:spPr>
          <c:marker>
            <c:symbol val="triangle"/>
            <c:size val="8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Data'!$K$2:$K$2</c:f>
              <c:numCache>
                <c:formatCode>General</c:formatCode>
                <c:ptCount val="1"/>
                <c:pt idx="0">
                  <c:v>0.923462</c:v>
                </c:pt>
              </c:numCache>
            </c:numRef>
          </c:xVal>
          <c:yVal>
            <c:numRef>
              <c:f>'Chart Data'!$L$2:$L$2</c:f>
              <c:numCache>
                <c:formatCode>General</c:formatCode>
                <c:ptCount val="1"/>
                <c:pt idx="0">
                  <c:v>85.016059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5-77D7-49AA-92F9-9430BAA700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w="5715">
              <a:solidFill>
                <a:srgbClr val="DDD0C6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面积覆盖率（</a:t>
                </a:r>
                <a:r>
                  <a:rPr lang="en-US" altLang="zh-CN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%</a:t>
                </a:r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50112"/>
        <c:crosses val="autoZero"/>
        <c:crossBetween val="midCat"/>
        <c:majorUnit val="25"/>
      </c:valAx>
      <c:valAx>
        <c:axId val="48650112"/>
        <c:scaling>
          <c:orientation val="minMax"/>
          <c:max val="5"/>
          <c:min val="0"/>
        </c:scaling>
        <c:delete val="0"/>
        <c:axPos val="b"/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直线半径（公里）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CBB9AD"/>
            </a:solidFill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72768"/>
        <c:crosses val="autoZero"/>
        <c:crossBetween val="midCat"/>
        <c:majorUnit val="1"/>
      </c:valAx>
      <c:spPr>
        <a:solidFill>
          <a:srgbClr val="F5F0E9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5F0E9"/>
    </a:solidFill>
    <a:ln w="0">
      <a:noFill/>
    </a:ln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0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v>全市16区</c:v>
          </c:tx>
          <c:spPr>
            <a:ln w="24765">
              <a:solidFill>
                <a:srgbClr val="8F3E35"/>
              </a:solidFill>
              <a:prstDash val="solid"/>
            </a:ln>
          </c:spPr>
          <c:marker>
            <c:symbol val="none"/>
          </c:marker>
          <c:xVal>
            <c:numRef>
              <c:f>'Chart Data'!$A$2:$A$202</c:f>
              <c:numCache>
                <c:formatCode>General</c:formatCode>
                <c:ptCount val="20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  <c:pt idx="41">
                  <c:v>1.025</c:v>
                </c:pt>
                <c:pt idx="42">
                  <c:v>1.05</c:v>
                </c:pt>
                <c:pt idx="43">
                  <c:v>1.075</c:v>
                </c:pt>
                <c:pt idx="44">
                  <c:v>1.1</c:v>
                </c:pt>
                <c:pt idx="45">
                  <c:v>1.125</c:v>
                </c:pt>
                <c:pt idx="46">
                  <c:v>1.15</c:v>
                </c:pt>
                <c:pt idx="47">
                  <c:v>1.175</c:v>
                </c:pt>
                <c:pt idx="48">
                  <c:v>1.2</c:v>
                </c:pt>
                <c:pt idx="49">
                  <c:v>1.225</c:v>
                </c:pt>
                <c:pt idx="50">
                  <c:v>1.25</c:v>
                </c:pt>
                <c:pt idx="51">
                  <c:v>1.275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</c:v>
                </c:pt>
                <c:pt idx="60">
                  <c:v>1.5</c:v>
                </c:pt>
                <c:pt idx="61">
                  <c:v>1.525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</c:v>
                </c:pt>
                <c:pt idx="70">
                  <c:v>1.75</c:v>
                </c:pt>
                <c:pt idx="71">
                  <c:v>1.775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</c:v>
                </c:pt>
                <c:pt idx="80">
                  <c:v>2</c:v>
                </c:pt>
                <c:pt idx="81">
                  <c:v>2.025</c:v>
                </c:pt>
                <c:pt idx="82">
                  <c:v>2.05</c:v>
                </c:pt>
                <c:pt idx="83">
                  <c:v>2.075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2.175</c:v>
                </c:pt>
                <c:pt idx="88">
                  <c:v>2.2</c:v>
                </c:pt>
                <c:pt idx="89">
                  <c:v>2.225</c:v>
                </c:pt>
                <c:pt idx="90">
                  <c:v>2.25</c:v>
                </c:pt>
                <c:pt idx="91">
                  <c:v>2.275</c:v>
                </c:pt>
                <c:pt idx="92">
                  <c:v>2.3</c:v>
                </c:pt>
                <c:pt idx="93">
                  <c:v>2.325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2.425</c:v>
                </c:pt>
                <c:pt idx="98">
                  <c:v>2.45</c:v>
                </c:pt>
                <c:pt idx="99">
                  <c:v>2.475</c:v>
                </c:pt>
                <c:pt idx="100">
                  <c:v>2.5</c:v>
                </c:pt>
                <c:pt idx="101">
                  <c:v>2.525</c:v>
                </c:pt>
                <c:pt idx="102">
                  <c:v>2.55</c:v>
                </c:pt>
                <c:pt idx="103">
                  <c:v>2.575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2.675</c:v>
                </c:pt>
                <c:pt idx="108">
                  <c:v>2.7</c:v>
                </c:pt>
                <c:pt idx="109">
                  <c:v>2.725</c:v>
                </c:pt>
                <c:pt idx="110">
                  <c:v>2.75</c:v>
                </c:pt>
                <c:pt idx="111">
                  <c:v>2.775</c:v>
                </c:pt>
                <c:pt idx="112">
                  <c:v>2.8</c:v>
                </c:pt>
                <c:pt idx="113">
                  <c:v>2.825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2.925</c:v>
                </c:pt>
                <c:pt idx="118">
                  <c:v>2.95</c:v>
                </c:pt>
                <c:pt idx="119">
                  <c:v>2.975</c:v>
                </c:pt>
                <c:pt idx="120">
                  <c:v>3</c:v>
                </c:pt>
                <c:pt idx="121">
                  <c:v>3.025</c:v>
                </c:pt>
                <c:pt idx="122">
                  <c:v>3.05</c:v>
                </c:pt>
                <c:pt idx="123">
                  <c:v>3.075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3.175</c:v>
                </c:pt>
                <c:pt idx="128">
                  <c:v>3.2</c:v>
                </c:pt>
                <c:pt idx="129">
                  <c:v>3.225</c:v>
                </c:pt>
                <c:pt idx="130">
                  <c:v>3.25</c:v>
                </c:pt>
                <c:pt idx="131">
                  <c:v>3.275</c:v>
                </c:pt>
                <c:pt idx="132">
                  <c:v>3.3</c:v>
                </c:pt>
                <c:pt idx="133">
                  <c:v>3.325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3.425</c:v>
                </c:pt>
                <c:pt idx="138">
                  <c:v>3.45</c:v>
                </c:pt>
                <c:pt idx="139">
                  <c:v>3.475</c:v>
                </c:pt>
                <c:pt idx="140">
                  <c:v>3.5</c:v>
                </c:pt>
                <c:pt idx="141">
                  <c:v>3.525</c:v>
                </c:pt>
                <c:pt idx="142">
                  <c:v>3.55</c:v>
                </c:pt>
                <c:pt idx="143">
                  <c:v>3.575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3.675</c:v>
                </c:pt>
                <c:pt idx="148">
                  <c:v>3.7</c:v>
                </c:pt>
                <c:pt idx="149">
                  <c:v>3.725</c:v>
                </c:pt>
                <c:pt idx="150">
                  <c:v>3.75</c:v>
                </c:pt>
                <c:pt idx="151">
                  <c:v>3.775</c:v>
                </c:pt>
                <c:pt idx="152">
                  <c:v>3.8</c:v>
                </c:pt>
                <c:pt idx="153">
                  <c:v>3.825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3.925</c:v>
                </c:pt>
                <c:pt idx="158">
                  <c:v>3.95</c:v>
                </c:pt>
                <c:pt idx="159">
                  <c:v>3.975</c:v>
                </c:pt>
                <c:pt idx="160">
                  <c:v>4</c:v>
                </c:pt>
                <c:pt idx="161">
                  <c:v>4.025</c:v>
                </c:pt>
                <c:pt idx="162">
                  <c:v>4.05</c:v>
                </c:pt>
                <c:pt idx="163">
                  <c:v>4.075</c:v>
                </c:pt>
                <c:pt idx="164">
                  <c:v>4.1</c:v>
                </c:pt>
                <c:pt idx="165">
                  <c:v>4.125</c:v>
                </c:pt>
                <c:pt idx="166">
                  <c:v>4.15</c:v>
                </c:pt>
                <c:pt idx="167">
                  <c:v>4.175</c:v>
                </c:pt>
                <c:pt idx="168">
                  <c:v>4.2</c:v>
                </c:pt>
                <c:pt idx="169">
                  <c:v>4.225</c:v>
                </c:pt>
                <c:pt idx="170">
                  <c:v>4.25</c:v>
                </c:pt>
                <c:pt idx="171">
                  <c:v>4.275</c:v>
                </c:pt>
                <c:pt idx="172">
                  <c:v>4.3</c:v>
                </c:pt>
                <c:pt idx="173">
                  <c:v>4.325</c:v>
                </c:pt>
                <c:pt idx="174">
                  <c:v>4.35</c:v>
                </c:pt>
                <c:pt idx="175">
                  <c:v>4.375</c:v>
                </c:pt>
                <c:pt idx="176">
                  <c:v>4.4</c:v>
                </c:pt>
                <c:pt idx="177">
                  <c:v>4.425</c:v>
                </c:pt>
                <c:pt idx="178">
                  <c:v>4.45</c:v>
                </c:pt>
                <c:pt idx="179">
                  <c:v>4.475</c:v>
                </c:pt>
                <c:pt idx="180">
                  <c:v>4.5</c:v>
                </c:pt>
                <c:pt idx="181">
                  <c:v>4.525</c:v>
                </c:pt>
                <c:pt idx="182">
                  <c:v>4.55</c:v>
                </c:pt>
                <c:pt idx="183">
                  <c:v>4.575</c:v>
                </c:pt>
                <c:pt idx="184">
                  <c:v>4.6</c:v>
                </c:pt>
                <c:pt idx="185">
                  <c:v>4.625</c:v>
                </c:pt>
                <c:pt idx="186">
                  <c:v>4.65</c:v>
                </c:pt>
                <c:pt idx="187">
                  <c:v>4.675</c:v>
                </c:pt>
                <c:pt idx="188">
                  <c:v>4.7</c:v>
                </c:pt>
                <c:pt idx="189">
                  <c:v>4.725</c:v>
                </c:pt>
                <c:pt idx="190">
                  <c:v>4.75</c:v>
                </c:pt>
                <c:pt idx="191">
                  <c:v>4.775</c:v>
                </c:pt>
                <c:pt idx="192">
                  <c:v>4.8</c:v>
                </c:pt>
                <c:pt idx="193">
                  <c:v>4.825</c:v>
                </c:pt>
                <c:pt idx="194">
                  <c:v>4.85</c:v>
                </c:pt>
                <c:pt idx="195">
                  <c:v>4.875</c:v>
                </c:pt>
                <c:pt idx="196">
                  <c:v>4.9</c:v>
                </c:pt>
                <c:pt idx="197">
                  <c:v>4.925</c:v>
                </c:pt>
                <c:pt idx="198">
                  <c:v>4.95</c:v>
                </c:pt>
                <c:pt idx="199">
                  <c:v>4.975</c:v>
                </c:pt>
                <c:pt idx="200">
                  <c:v>5</c:v>
                </c:pt>
              </c:numCache>
            </c:numRef>
          </c:xVal>
          <c:yVal>
            <c:numRef>
              <c:f>'Chart Data'!$B$2:$B$202</c:f>
              <c:numCache>
                <c:formatCode>General</c:formatCode>
                <c:ptCount val="201"/>
                <c:pt idx="0">
                  <c:v>0</c:v>
                </c:pt>
                <c:pt idx="1">
                  <c:v>0.0208</c:v>
                </c:pt>
                <c:pt idx="2">
                  <c:v>0.0989</c:v>
                </c:pt>
                <c:pt idx="3">
                  <c:v>0.2673</c:v>
                </c:pt>
                <c:pt idx="4">
                  <c:v>0.54085</c:v>
                </c:pt>
                <c:pt idx="5">
                  <c:v>0.9164</c:v>
                </c:pt>
                <c:pt idx="6">
                  <c:v>1.3772</c:v>
                </c:pt>
                <c:pt idx="7">
                  <c:v>1.9244</c:v>
                </c:pt>
                <c:pt idx="8">
                  <c:v>2.5642</c:v>
                </c:pt>
                <c:pt idx="9">
                  <c:v>3.2931</c:v>
                </c:pt>
                <c:pt idx="10">
                  <c:v>4.099969</c:v>
                </c:pt>
                <c:pt idx="11">
                  <c:v>4.9711</c:v>
                </c:pt>
                <c:pt idx="12">
                  <c:v>5.91452</c:v>
                </c:pt>
                <c:pt idx="13">
                  <c:v>6.9374</c:v>
                </c:pt>
                <c:pt idx="14">
                  <c:v>8.0345</c:v>
                </c:pt>
                <c:pt idx="15">
                  <c:v>9.195</c:v>
                </c:pt>
                <c:pt idx="16">
                  <c:v>10.3983</c:v>
                </c:pt>
                <c:pt idx="17">
                  <c:v>11.6713</c:v>
                </c:pt>
                <c:pt idx="18">
                  <c:v>12.9818</c:v>
                </c:pt>
                <c:pt idx="19">
                  <c:v>14.347</c:v>
                </c:pt>
                <c:pt idx="20">
                  <c:v>15.71637</c:v>
                </c:pt>
                <c:pt idx="21">
                  <c:v>17.0779</c:v>
                </c:pt>
                <c:pt idx="22">
                  <c:v>18.4613</c:v>
                </c:pt>
                <c:pt idx="23">
                  <c:v>19.8707</c:v>
                </c:pt>
                <c:pt idx="24">
                  <c:v>21.3026</c:v>
                </c:pt>
                <c:pt idx="25">
                  <c:v>22.7313</c:v>
                </c:pt>
                <c:pt idx="26">
                  <c:v>24.1729</c:v>
                </c:pt>
                <c:pt idx="27">
                  <c:v>25.6181</c:v>
                </c:pt>
                <c:pt idx="28">
                  <c:v>27.0612</c:v>
                </c:pt>
                <c:pt idx="29">
                  <c:v>28.4929</c:v>
                </c:pt>
                <c:pt idx="30">
                  <c:v>29.9242</c:v>
                </c:pt>
                <c:pt idx="31">
                  <c:v>31.3418</c:v>
                </c:pt>
                <c:pt idx="32">
                  <c:v>32.741636</c:v>
                </c:pt>
                <c:pt idx="33">
                  <c:v>34.143</c:v>
                </c:pt>
                <c:pt idx="34">
                  <c:v>35.5215</c:v>
                </c:pt>
                <c:pt idx="35">
                  <c:v>36.8781</c:v>
                </c:pt>
                <c:pt idx="36">
                  <c:v>38.2122</c:v>
                </c:pt>
                <c:pt idx="37">
                  <c:v>39.5324</c:v>
                </c:pt>
                <c:pt idx="38">
                  <c:v>40.8126</c:v>
                </c:pt>
                <c:pt idx="39">
                  <c:v>42.0315</c:v>
                </c:pt>
                <c:pt idx="40">
                  <c:v>43.20267</c:v>
                </c:pt>
                <c:pt idx="41">
                  <c:v>44.3574</c:v>
                </c:pt>
                <c:pt idx="42">
                  <c:v>45.4766</c:v>
                </c:pt>
                <c:pt idx="43">
                  <c:v>46.5606</c:v>
                </c:pt>
                <c:pt idx="44">
                  <c:v>47.6426</c:v>
                </c:pt>
                <c:pt idx="45">
                  <c:v>48.7226</c:v>
                </c:pt>
                <c:pt idx="46">
                  <c:v>49.7884</c:v>
                </c:pt>
                <c:pt idx="47">
                  <c:v>50.8518</c:v>
                </c:pt>
                <c:pt idx="48">
                  <c:v>51.8925</c:v>
                </c:pt>
                <c:pt idx="49">
                  <c:v>52.9085</c:v>
                </c:pt>
                <c:pt idx="50">
                  <c:v>53.9069</c:v>
                </c:pt>
                <c:pt idx="51">
                  <c:v>54.8755</c:v>
                </c:pt>
                <c:pt idx="52">
                  <c:v>55.8348</c:v>
                </c:pt>
                <c:pt idx="53">
                  <c:v>56.7896</c:v>
                </c:pt>
                <c:pt idx="54">
                  <c:v>57.7241</c:v>
                </c:pt>
                <c:pt idx="55">
                  <c:v>58.6354</c:v>
                </c:pt>
                <c:pt idx="56">
                  <c:v>59.5064</c:v>
                </c:pt>
                <c:pt idx="57">
                  <c:v>60.3811</c:v>
                </c:pt>
                <c:pt idx="58">
                  <c:v>61.2318</c:v>
                </c:pt>
                <c:pt idx="59">
                  <c:v>62.0609</c:v>
                </c:pt>
                <c:pt idx="60">
                  <c:v>62.866087</c:v>
                </c:pt>
                <c:pt idx="61">
                  <c:v>63.6603</c:v>
                </c:pt>
                <c:pt idx="62">
                  <c:v>64.4393</c:v>
                </c:pt>
                <c:pt idx="63">
                  <c:v>65.2017</c:v>
                </c:pt>
                <c:pt idx="64">
                  <c:v>65.9499</c:v>
                </c:pt>
                <c:pt idx="65">
                  <c:v>66.6811</c:v>
                </c:pt>
                <c:pt idx="66">
                  <c:v>67.3879</c:v>
                </c:pt>
                <c:pt idx="67">
                  <c:v>68.0778</c:v>
                </c:pt>
                <c:pt idx="68">
                  <c:v>68.7528</c:v>
                </c:pt>
                <c:pt idx="69">
                  <c:v>69.4165</c:v>
                </c:pt>
                <c:pt idx="70">
                  <c:v>70.0736</c:v>
                </c:pt>
                <c:pt idx="71">
                  <c:v>70.7157</c:v>
                </c:pt>
                <c:pt idx="72">
                  <c:v>71.3432</c:v>
                </c:pt>
                <c:pt idx="73">
                  <c:v>71.9501</c:v>
                </c:pt>
                <c:pt idx="74">
                  <c:v>72.5398</c:v>
                </c:pt>
                <c:pt idx="75">
                  <c:v>73.1093</c:v>
                </c:pt>
                <c:pt idx="76">
                  <c:v>73.6644</c:v>
                </c:pt>
                <c:pt idx="77">
                  <c:v>74.211</c:v>
                </c:pt>
                <c:pt idx="78">
                  <c:v>74.7541</c:v>
                </c:pt>
                <c:pt idx="79">
                  <c:v>75.2917</c:v>
                </c:pt>
                <c:pt idx="80">
                  <c:v>75.823524</c:v>
                </c:pt>
                <c:pt idx="81">
                  <c:v>76.354</c:v>
                </c:pt>
                <c:pt idx="82">
                  <c:v>76.8739</c:v>
                </c:pt>
                <c:pt idx="83">
                  <c:v>77.3717</c:v>
                </c:pt>
                <c:pt idx="84">
                  <c:v>77.8442</c:v>
                </c:pt>
                <c:pt idx="85">
                  <c:v>78.3107</c:v>
                </c:pt>
                <c:pt idx="86">
                  <c:v>78.77</c:v>
                </c:pt>
                <c:pt idx="87">
                  <c:v>79.2381</c:v>
                </c:pt>
                <c:pt idx="88">
                  <c:v>79.6928</c:v>
                </c:pt>
                <c:pt idx="89">
                  <c:v>80.1452</c:v>
                </c:pt>
                <c:pt idx="90">
                  <c:v>80.5811</c:v>
                </c:pt>
                <c:pt idx="91">
                  <c:v>81.0042</c:v>
                </c:pt>
                <c:pt idx="92">
                  <c:v>81.4145</c:v>
                </c:pt>
                <c:pt idx="93">
                  <c:v>81.8126</c:v>
                </c:pt>
                <c:pt idx="94">
                  <c:v>82.2009</c:v>
                </c:pt>
                <c:pt idx="95">
                  <c:v>82.5755</c:v>
                </c:pt>
                <c:pt idx="96">
                  <c:v>82.9416</c:v>
                </c:pt>
                <c:pt idx="97">
                  <c:v>83.3018</c:v>
                </c:pt>
                <c:pt idx="98">
                  <c:v>83.6479</c:v>
                </c:pt>
                <c:pt idx="99">
                  <c:v>83.9904</c:v>
                </c:pt>
                <c:pt idx="100">
                  <c:v>84.3242</c:v>
                </c:pt>
                <c:pt idx="101">
                  <c:v>84.6441</c:v>
                </c:pt>
                <c:pt idx="102">
                  <c:v>84.9593</c:v>
                </c:pt>
                <c:pt idx="103">
                  <c:v>85.2594</c:v>
                </c:pt>
                <c:pt idx="104">
                  <c:v>85.5595</c:v>
                </c:pt>
                <c:pt idx="105">
                  <c:v>85.8483</c:v>
                </c:pt>
                <c:pt idx="106">
                  <c:v>86.1268</c:v>
                </c:pt>
                <c:pt idx="107">
                  <c:v>86.3984</c:v>
                </c:pt>
                <c:pt idx="108">
                  <c:v>86.6619</c:v>
                </c:pt>
                <c:pt idx="109">
                  <c:v>86.9261</c:v>
                </c:pt>
                <c:pt idx="110">
                  <c:v>87.1846</c:v>
                </c:pt>
                <c:pt idx="111">
                  <c:v>87.4314</c:v>
                </c:pt>
                <c:pt idx="112">
                  <c:v>87.6805</c:v>
                </c:pt>
                <c:pt idx="113">
                  <c:v>87.9213</c:v>
                </c:pt>
                <c:pt idx="114">
                  <c:v>88.1607</c:v>
                </c:pt>
                <c:pt idx="115">
                  <c:v>88.3931</c:v>
                </c:pt>
                <c:pt idx="116">
                  <c:v>88.6238</c:v>
                </c:pt>
                <c:pt idx="117">
                  <c:v>88.8481</c:v>
                </c:pt>
                <c:pt idx="118">
                  <c:v>89.06</c:v>
                </c:pt>
                <c:pt idx="119">
                  <c:v>89.2666</c:v>
                </c:pt>
                <c:pt idx="120">
                  <c:v>89.461269</c:v>
                </c:pt>
                <c:pt idx="121">
                  <c:v>89.647</c:v>
                </c:pt>
                <c:pt idx="122">
                  <c:v>89.8226</c:v>
                </c:pt>
                <c:pt idx="123">
                  <c:v>89.9906</c:v>
                </c:pt>
                <c:pt idx="124">
                  <c:v>90.1521</c:v>
                </c:pt>
                <c:pt idx="125">
                  <c:v>90.3129</c:v>
                </c:pt>
                <c:pt idx="126">
                  <c:v>90.4795</c:v>
                </c:pt>
                <c:pt idx="127">
                  <c:v>90.6427</c:v>
                </c:pt>
                <c:pt idx="128">
                  <c:v>90.807</c:v>
                </c:pt>
                <c:pt idx="129">
                  <c:v>90.9649</c:v>
                </c:pt>
                <c:pt idx="130">
                  <c:v>91.1124</c:v>
                </c:pt>
                <c:pt idx="131">
                  <c:v>91.2573</c:v>
                </c:pt>
                <c:pt idx="132">
                  <c:v>91.3959</c:v>
                </c:pt>
                <c:pt idx="133">
                  <c:v>91.531</c:v>
                </c:pt>
                <c:pt idx="134">
                  <c:v>91.6632</c:v>
                </c:pt>
                <c:pt idx="135">
                  <c:v>91.7885</c:v>
                </c:pt>
                <c:pt idx="136">
                  <c:v>91.9145</c:v>
                </c:pt>
                <c:pt idx="137">
                  <c:v>92.0328</c:v>
                </c:pt>
                <c:pt idx="138">
                  <c:v>92.1539</c:v>
                </c:pt>
                <c:pt idx="139">
                  <c:v>92.2794</c:v>
                </c:pt>
                <c:pt idx="140">
                  <c:v>92.4053</c:v>
                </c:pt>
                <c:pt idx="141">
                  <c:v>92.5291</c:v>
                </c:pt>
                <c:pt idx="142">
                  <c:v>92.6533</c:v>
                </c:pt>
                <c:pt idx="143">
                  <c:v>92.7789</c:v>
                </c:pt>
                <c:pt idx="144">
                  <c:v>92.9058</c:v>
                </c:pt>
                <c:pt idx="145">
                  <c:v>93.0304</c:v>
                </c:pt>
                <c:pt idx="146">
                  <c:v>93.1546</c:v>
                </c:pt>
                <c:pt idx="147">
                  <c:v>93.2773</c:v>
                </c:pt>
                <c:pt idx="148">
                  <c:v>93.3997</c:v>
                </c:pt>
                <c:pt idx="149">
                  <c:v>93.5196</c:v>
                </c:pt>
                <c:pt idx="150">
                  <c:v>93.6382</c:v>
                </c:pt>
                <c:pt idx="151">
                  <c:v>93.756</c:v>
                </c:pt>
                <c:pt idx="152">
                  <c:v>93.8756</c:v>
                </c:pt>
                <c:pt idx="153">
                  <c:v>93.9839</c:v>
                </c:pt>
                <c:pt idx="154">
                  <c:v>94.091</c:v>
                </c:pt>
                <c:pt idx="155">
                  <c:v>94.191</c:v>
                </c:pt>
                <c:pt idx="156">
                  <c:v>94.2873</c:v>
                </c:pt>
                <c:pt idx="157">
                  <c:v>94.3809</c:v>
                </c:pt>
                <c:pt idx="158">
                  <c:v>94.4744</c:v>
                </c:pt>
                <c:pt idx="159">
                  <c:v>94.5671</c:v>
                </c:pt>
                <c:pt idx="160">
                  <c:v>94.6601</c:v>
                </c:pt>
                <c:pt idx="161">
                  <c:v>94.7476</c:v>
                </c:pt>
                <c:pt idx="162">
                  <c:v>94.8326</c:v>
                </c:pt>
                <c:pt idx="163">
                  <c:v>94.9143</c:v>
                </c:pt>
                <c:pt idx="164">
                  <c:v>94.9937</c:v>
                </c:pt>
                <c:pt idx="165">
                  <c:v>95.0735</c:v>
                </c:pt>
                <c:pt idx="166">
                  <c:v>95.1473</c:v>
                </c:pt>
                <c:pt idx="167">
                  <c:v>95.2237</c:v>
                </c:pt>
                <c:pt idx="168">
                  <c:v>95.2965</c:v>
                </c:pt>
                <c:pt idx="169">
                  <c:v>95.3682</c:v>
                </c:pt>
                <c:pt idx="170">
                  <c:v>95.4391</c:v>
                </c:pt>
                <c:pt idx="171">
                  <c:v>95.5083</c:v>
                </c:pt>
                <c:pt idx="172">
                  <c:v>95.5791</c:v>
                </c:pt>
                <c:pt idx="173">
                  <c:v>95.6489</c:v>
                </c:pt>
                <c:pt idx="174">
                  <c:v>95.7226</c:v>
                </c:pt>
                <c:pt idx="175">
                  <c:v>95.7925</c:v>
                </c:pt>
                <c:pt idx="176">
                  <c:v>95.8603</c:v>
                </c:pt>
                <c:pt idx="177">
                  <c:v>95.9289</c:v>
                </c:pt>
                <c:pt idx="178">
                  <c:v>95.999</c:v>
                </c:pt>
                <c:pt idx="179">
                  <c:v>96.0722</c:v>
                </c:pt>
                <c:pt idx="180">
                  <c:v>96.1426</c:v>
                </c:pt>
                <c:pt idx="181">
                  <c:v>96.2115</c:v>
                </c:pt>
                <c:pt idx="182">
                  <c:v>96.277</c:v>
                </c:pt>
                <c:pt idx="183">
                  <c:v>96.3425</c:v>
                </c:pt>
                <c:pt idx="184">
                  <c:v>96.4101</c:v>
                </c:pt>
                <c:pt idx="185">
                  <c:v>96.4741</c:v>
                </c:pt>
                <c:pt idx="186">
                  <c:v>96.5337</c:v>
                </c:pt>
                <c:pt idx="187">
                  <c:v>96.5948</c:v>
                </c:pt>
                <c:pt idx="188">
                  <c:v>96.6573</c:v>
                </c:pt>
                <c:pt idx="189">
                  <c:v>96.7203</c:v>
                </c:pt>
                <c:pt idx="190">
                  <c:v>96.7831</c:v>
                </c:pt>
                <c:pt idx="191">
                  <c:v>96.8438</c:v>
                </c:pt>
                <c:pt idx="192">
                  <c:v>96.8982</c:v>
                </c:pt>
                <c:pt idx="193">
                  <c:v>96.951</c:v>
                </c:pt>
                <c:pt idx="194">
                  <c:v>97.0025</c:v>
                </c:pt>
                <c:pt idx="195">
                  <c:v>97.0519</c:v>
                </c:pt>
                <c:pt idx="196">
                  <c:v>97.0989</c:v>
                </c:pt>
                <c:pt idx="197">
                  <c:v>97.1438</c:v>
                </c:pt>
                <c:pt idx="198">
                  <c:v>97.1894</c:v>
                </c:pt>
                <c:pt idx="199">
                  <c:v>97.236</c:v>
                </c:pt>
                <c:pt idx="200">
                  <c:v>97.283631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0614-41C8-94A8-CD293C618DCB}"/>
            </c:ext>
          </c:extLst>
        </c:ser>
        <c:ser>
          <c:idx val="1"/>
          <c:order val="1"/>
          <c:tx>
            <c:v>中心七区</c:v>
          </c:tx>
          <c:spPr>
            <a:ln w="24765">
              <a:solidFill>
                <a:srgbClr val="496B63"/>
              </a:solidFill>
              <a:prstDash val="solid"/>
            </a:ln>
          </c:spPr>
          <c:marker>
            <c:symbol val="none"/>
          </c:marker>
          <c:xVal>
            <c:numRef>
              <c:f>'Chart Data'!$C$2:$C$202</c:f>
              <c:numCache>
                <c:formatCode>General</c:formatCode>
                <c:ptCount val="20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  <c:pt idx="41">
                  <c:v>1.025</c:v>
                </c:pt>
                <c:pt idx="42">
                  <c:v>1.05</c:v>
                </c:pt>
                <c:pt idx="43">
                  <c:v>1.075</c:v>
                </c:pt>
                <c:pt idx="44">
                  <c:v>1.1</c:v>
                </c:pt>
                <c:pt idx="45">
                  <c:v>1.125</c:v>
                </c:pt>
                <c:pt idx="46">
                  <c:v>1.15</c:v>
                </c:pt>
                <c:pt idx="47">
                  <c:v>1.175</c:v>
                </c:pt>
                <c:pt idx="48">
                  <c:v>1.2</c:v>
                </c:pt>
                <c:pt idx="49">
                  <c:v>1.225</c:v>
                </c:pt>
                <c:pt idx="50">
                  <c:v>1.25</c:v>
                </c:pt>
                <c:pt idx="51">
                  <c:v>1.275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</c:v>
                </c:pt>
                <c:pt idx="60">
                  <c:v>1.5</c:v>
                </c:pt>
                <c:pt idx="61">
                  <c:v>1.525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</c:v>
                </c:pt>
                <c:pt idx="70">
                  <c:v>1.75</c:v>
                </c:pt>
                <c:pt idx="71">
                  <c:v>1.775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</c:v>
                </c:pt>
                <c:pt idx="80">
                  <c:v>2</c:v>
                </c:pt>
                <c:pt idx="81">
                  <c:v>2.025</c:v>
                </c:pt>
                <c:pt idx="82">
                  <c:v>2.05</c:v>
                </c:pt>
                <c:pt idx="83">
                  <c:v>2.075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2.175</c:v>
                </c:pt>
                <c:pt idx="88">
                  <c:v>2.2</c:v>
                </c:pt>
                <c:pt idx="89">
                  <c:v>2.225</c:v>
                </c:pt>
                <c:pt idx="90">
                  <c:v>2.25</c:v>
                </c:pt>
                <c:pt idx="91">
                  <c:v>2.275</c:v>
                </c:pt>
                <c:pt idx="92">
                  <c:v>2.3</c:v>
                </c:pt>
                <c:pt idx="93">
                  <c:v>2.325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2.425</c:v>
                </c:pt>
                <c:pt idx="98">
                  <c:v>2.45</c:v>
                </c:pt>
                <c:pt idx="99">
                  <c:v>2.475</c:v>
                </c:pt>
                <c:pt idx="100">
                  <c:v>2.5</c:v>
                </c:pt>
                <c:pt idx="101">
                  <c:v>2.525</c:v>
                </c:pt>
                <c:pt idx="102">
                  <c:v>2.55</c:v>
                </c:pt>
                <c:pt idx="103">
                  <c:v>2.575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2.675</c:v>
                </c:pt>
                <c:pt idx="108">
                  <c:v>2.7</c:v>
                </c:pt>
                <c:pt idx="109">
                  <c:v>2.725</c:v>
                </c:pt>
                <c:pt idx="110">
                  <c:v>2.75</c:v>
                </c:pt>
                <c:pt idx="111">
                  <c:v>2.775</c:v>
                </c:pt>
                <c:pt idx="112">
                  <c:v>2.8</c:v>
                </c:pt>
                <c:pt idx="113">
                  <c:v>2.825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2.925</c:v>
                </c:pt>
                <c:pt idx="118">
                  <c:v>2.95</c:v>
                </c:pt>
                <c:pt idx="119">
                  <c:v>2.975</c:v>
                </c:pt>
                <c:pt idx="120">
                  <c:v>3</c:v>
                </c:pt>
                <c:pt idx="121">
                  <c:v>3.025</c:v>
                </c:pt>
                <c:pt idx="122">
                  <c:v>3.05</c:v>
                </c:pt>
                <c:pt idx="123">
                  <c:v>3.075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3.175</c:v>
                </c:pt>
                <c:pt idx="128">
                  <c:v>3.2</c:v>
                </c:pt>
                <c:pt idx="129">
                  <c:v>3.225</c:v>
                </c:pt>
                <c:pt idx="130">
                  <c:v>3.25</c:v>
                </c:pt>
                <c:pt idx="131">
                  <c:v>3.275</c:v>
                </c:pt>
                <c:pt idx="132">
                  <c:v>3.3</c:v>
                </c:pt>
                <c:pt idx="133">
                  <c:v>3.325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3.425</c:v>
                </c:pt>
                <c:pt idx="138">
                  <c:v>3.45</c:v>
                </c:pt>
                <c:pt idx="139">
                  <c:v>3.475</c:v>
                </c:pt>
                <c:pt idx="140">
                  <c:v>3.5</c:v>
                </c:pt>
                <c:pt idx="141">
                  <c:v>3.525</c:v>
                </c:pt>
                <c:pt idx="142">
                  <c:v>3.55</c:v>
                </c:pt>
                <c:pt idx="143">
                  <c:v>3.575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3.675</c:v>
                </c:pt>
                <c:pt idx="148">
                  <c:v>3.7</c:v>
                </c:pt>
                <c:pt idx="149">
                  <c:v>3.725</c:v>
                </c:pt>
                <c:pt idx="150">
                  <c:v>3.75</c:v>
                </c:pt>
                <c:pt idx="151">
                  <c:v>3.775</c:v>
                </c:pt>
                <c:pt idx="152">
                  <c:v>3.8</c:v>
                </c:pt>
                <c:pt idx="153">
                  <c:v>3.825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3.925</c:v>
                </c:pt>
                <c:pt idx="158">
                  <c:v>3.95</c:v>
                </c:pt>
                <c:pt idx="159">
                  <c:v>3.975</c:v>
                </c:pt>
                <c:pt idx="160">
                  <c:v>4</c:v>
                </c:pt>
                <c:pt idx="161">
                  <c:v>4.025</c:v>
                </c:pt>
                <c:pt idx="162">
                  <c:v>4.05</c:v>
                </c:pt>
                <c:pt idx="163">
                  <c:v>4.075</c:v>
                </c:pt>
                <c:pt idx="164">
                  <c:v>4.1</c:v>
                </c:pt>
                <c:pt idx="165">
                  <c:v>4.125</c:v>
                </c:pt>
                <c:pt idx="166">
                  <c:v>4.15</c:v>
                </c:pt>
                <c:pt idx="167">
                  <c:v>4.175</c:v>
                </c:pt>
                <c:pt idx="168">
                  <c:v>4.2</c:v>
                </c:pt>
                <c:pt idx="169">
                  <c:v>4.225</c:v>
                </c:pt>
                <c:pt idx="170">
                  <c:v>4.25</c:v>
                </c:pt>
                <c:pt idx="171">
                  <c:v>4.275</c:v>
                </c:pt>
                <c:pt idx="172">
                  <c:v>4.3</c:v>
                </c:pt>
                <c:pt idx="173">
                  <c:v>4.325</c:v>
                </c:pt>
                <c:pt idx="174">
                  <c:v>4.35</c:v>
                </c:pt>
                <c:pt idx="175">
                  <c:v>4.375</c:v>
                </c:pt>
                <c:pt idx="176">
                  <c:v>4.4</c:v>
                </c:pt>
                <c:pt idx="177">
                  <c:v>4.425</c:v>
                </c:pt>
                <c:pt idx="178">
                  <c:v>4.45</c:v>
                </c:pt>
                <c:pt idx="179">
                  <c:v>4.475</c:v>
                </c:pt>
                <c:pt idx="180">
                  <c:v>4.5</c:v>
                </c:pt>
                <c:pt idx="181">
                  <c:v>4.525</c:v>
                </c:pt>
                <c:pt idx="182">
                  <c:v>4.55</c:v>
                </c:pt>
                <c:pt idx="183">
                  <c:v>4.575</c:v>
                </c:pt>
                <c:pt idx="184">
                  <c:v>4.6</c:v>
                </c:pt>
                <c:pt idx="185">
                  <c:v>4.625</c:v>
                </c:pt>
                <c:pt idx="186">
                  <c:v>4.65</c:v>
                </c:pt>
                <c:pt idx="187">
                  <c:v>4.675</c:v>
                </c:pt>
                <c:pt idx="188">
                  <c:v>4.7</c:v>
                </c:pt>
                <c:pt idx="189">
                  <c:v>4.725</c:v>
                </c:pt>
                <c:pt idx="190">
                  <c:v>4.75</c:v>
                </c:pt>
                <c:pt idx="191">
                  <c:v>4.775</c:v>
                </c:pt>
                <c:pt idx="192">
                  <c:v>4.8</c:v>
                </c:pt>
                <c:pt idx="193">
                  <c:v>4.825</c:v>
                </c:pt>
                <c:pt idx="194">
                  <c:v>4.85</c:v>
                </c:pt>
                <c:pt idx="195">
                  <c:v>4.875</c:v>
                </c:pt>
                <c:pt idx="196">
                  <c:v>4.9</c:v>
                </c:pt>
                <c:pt idx="197">
                  <c:v>4.925</c:v>
                </c:pt>
                <c:pt idx="198">
                  <c:v>4.95</c:v>
                </c:pt>
                <c:pt idx="199">
                  <c:v>4.975</c:v>
                </c:pt>
                <c:pt idx="200">
                  <c:v>5</c:v>
                </c:pt>
              </c:numCache>
            </c:numRef>
          </c:xVal>
          <c:yVal>
            <c:numRef>
              <c:f>'Chart Data'!$D$2:$D$202</c:f>
              <c:numCache>
                <c:formatCode>General</c:formatCode>
                <c:ptCount val="201"/>
                <c:pt idx="0">
                  <c:v>0</c:v>
                </c:pt>
                <c:pt idx="1">
                  <c:v>0.0532</c:v>
                </c:pt>
                <c:pt idx="2">
                  <c:v>0.263</c:v>
                </c:pt>
                <c:pt idx="3">
                  <c:v>0.6891</c:v>
                </c:pt>
                <c:pt idx="4">
                  <c:v>1.357413</c:v>
                </c:pt>
                <c:pt idx="5">
                  <c:v>2.2247</c:v>
                </c:pt>
                <c:pt idx="6">
                  <c:v>3.2635</c:v>
                </c:pt>
                <c:pt idx="7">
                  <c:v>4.4297</c:v>
                </c:pt>
                <c:pt idx="8">
                  <c:v>5.7635</c:v>
                </c:pt>
                <c:pt idx="9">
                  <c:v>7.2583</c:v>
                </c:pt>
                <c:pt idx="10">
                  <c:v>8.963937</c:v>
                </c:pt>
                <c:pt idx="11">
                  <c:v>10.7884</c:v>
                </c:pt>
                <c:pt idx="12">
                  <c:v>12.725089</c:v>
                </c:pt>
                <c:pt idx="13">
                  <c:v>14.7745</c:v>
                </c:pt>
                <c:pt idx="14">
                  <c:v>16.9417</c:v>
                </c:pt>
                <c:pt idx="15">
                  <c:v>19.1868</c:v>
                </c:pt>
                <c:pt idx="16">
                  <c:v>21.5047</c:v>
                </c:pt>
                <c:pt idx="17">
                  <c:v>23.9377</c:v>
                </c:pt>
                <c:pt idx="18">
                  <c:v>26.4203</c:v>
                </c:pt>
                <c:pt idx="19">
                  <c:v>28.9597</c:v>
                </c:pt>
                <c:pt idx="20">
                  <c:v>31.5</c:v>
                </c:pt>
                <c:pt idx="21">
                  <c:v>34.029</c:v>
                </c:pt>
                <c:pt idx="22">
                  <c:v>36.5575</c:v>
                </c:pt>
                <c:pt idx="23">
                  <c:v>39.1362</c:v>
                </c:pt>
                <c:pt idx="24">
                  <c:v>41.712</c:v>
                </c:pt>
                <c:pt idx="25">
                  <c:v>44.2696</c:v>
                </c:pt>
                <c:pt idx="26">
                  <c:v>46.817</c:v>
                </c:pt>
                <c:pt idx="27">
                  <c:v>49.3615</c:v>
                </c:pt>
                <c:pt idx="28">
                  <c:v>51.8536</c:v>
                </c:pt>
                <c:pt idx="29">
                  <c:v>54.2837</c:v>
                </c:pt>
                <c:pt idx="30">
                  <c:v>56.732</c:v>
                </c:pt>
                <c:pt idx="31">
                  <c:v>59.1286</c:v>
                </c:pt>
                <c:pt idx="32">
                  <c:v>61.473395</c:v>
                </c:pt>
                <c:pt idx="33">
                  <c:v>63.7507</c:v>
                </c:pt>
                <c:pt idx="34">
                  <c:v>65.9258</c:v>
                </c:pt>
                <c:pt idx="35">
                  <c:v>68.0128</c:v>
                </c:pt>
                <c:pt idx="36">
                  <c:v>69.987</c:v>
                </c:pt>
                <c:pt idx="37">
                  <c:v>71.9341</c:v>
                </c:pt>
                <c:pt idx="38">
                  <c:v>73.807</c:v>
                </c:pt>
                <c:pt idx="39">
                  <c:v>75.4948</c:v>
                </c:pt>
                <c:pt idx="40">
                  <c:v>77.010168</c:v>
                </c:pt>
                <c:pt idx="41">
                  <c:v>78.4348</c:v>
                </c:pt>
                <c:pt idx="42">
                  <c:v>79.6994</c:v>
                </c:pt>
                <c:pt idx="43">
                  <c:v>80.8613</c:v>
                </c:pt>
                <c:pt idx="44">
                  <c:v>82.0094</c:v>
                </c:pt>
                <c:pt idx="45">
                  <c:v>83.1042</c:v>
                </c:pt>
                <c:pt idx="46">
                  <c:v>84.1357</c:v>
                </c:pt>
                <c:pt idx="47">
                  <c:v>85.1286</c:v>
                </c:pt>
                <c:pt idx="48">
                  <c:v>86.0785</c:v>
                </c:pt>
                <c:pt idx="49">
                  <c:v>86.9665</c:v>
                </c:pt>
                <c:pt idx="50">
                  <c:v>87.7379</c:v>
                </c:pt>
                <c:pt idx="51">
                  <c:v>88.4861</c:v>
                </c:pt>
                <c:pt idx="52">
                  <c:v>89.1825</c:v>
                </c:pt>
                <c:pt idx="53">
                  <c:v>89.8599</c:v>
                </c:pt>
                <c:pt idx="54">
                  <c:v>90.5141</c:v>
                </c:pt>
                <c:pt idx="55">
                  <c:v>91.0852</c:v>
                </c:pt>
                <c:pt idx="56">
                  <c:v>91.5864</c:v>
                </c:pt>
                <c:pt idx="57">
                  <c:v>92.0781</c:v>
                </c:pt>
                <c:pt idx="58">
                  <c:v>92.5435</c:v>
                </c:pt>
                <c:pt idx="59">
                  <c:v>92.985</c:v>
                </c:pt>
                <c:pt idx="60">
                  <c:v>93.407936</c:v>
                </c:pt>
                <c:pt idx="61">
                  <c:v>93.7819</c:v>
                </c:pt>
                <c:pt idx="62">
                  <c:v>94.1061</c:v>
                </c:pt>
                <c:pt idx="63">
                  <c:v>94.404</c:v>
                </c:pt>
                <c:pt idx="64">
                  <c:v>94.6903</c:v>
                </c:pt>
                <c:pt idx="65">
                  <c:v>94.9525</c:v>
                </c:pt>
                <c:pt idx="66">
                  <c:v>95.1813</c:v>
                </c:pt>
                <c:pt idx="67">
                  <c:v>95.3954</c:v>
                </c:pt>
                <c:pt idx="68">
                  <c:v>95.5958</c:v>
                </c:pt>
                <c:pt idx="69">
                  <c:v>95.8085</c:v>
                </c:pt>
                <c:pt idx="70">
                  <c:v>95.9928</c:v>
                </c:pt>
                <c:pt idx="71">
                  <c:v>96.1516</c:v>
                </c:pt>
                <c:pt idx="72">
                  <c:v>96.2827</c:v>
                </c:pt>
                <c:pt idx="73">
                  <c:v>96.4073</c:v>
                </c:pt>
                <c:pt idx="74">
                  <c:v>96.5173</c:v>
                </c:pt>
                <c:pt idx="75">
                  <c:v>96.6287</c:v>
                </c:pt>
                <c:pt idx="76">
                  <c:v>96.7445</c:v>
                </c:pt>
                <c:pt idx="77">
                  <c:v>96.8684</c:v>
                </c:pt>
                <c:pt idx="78">
                  <c:v>96.9871</c:v>
                </c:pt>
                <c:pt idx="79">
                  <c:v>97.1088</c:v>
                </c:pt>
                <c:pt idx="80">
                  <c:v>97.24655</c:v>
                </c:pt>
                <c:pt idx="81">
                  <c:v>97.3535</c:v>
                </c:pt>
                <c:pt idx="82">
                  <c:v>97.4795</c:v>
                </c:pt>
                <c:pt idx="83">
                  <c:v>97.5866</c:v>
                </c:pt>
                <c:pt idx="84">
                  <c:v>97.677</c:v>
                </c:pt>
                <c:pt idx="85">
                  <c:v>97.7717</c:v>
                </c:pt>
                <c:pt idx="86">
                  <c:v>97.8569</c:v>
                </c:pt>
                <c:pt idx="87">
                  <c:v>97.9428</c:v>
                </c:pt>
                <c:pt idx="88">
                  <c:v>98.0215</c:v>
                </c:pt>
                <c:pt idx="89">
                  <c:v>98.098</c:v>
                </c:pt>
                <c:pt idx="90">
                  <c:v>98.173</c:v>
                </c:pt>
                <c:pt idx="91">
                  <c:v>98.2503</c:v>
                </c:pt>
                <c:pt idx="92">
                  <c:v>98.3304</c:v>
                </c:pt>
                <c:pt idx="93">
                  <c:v>98.4091</c:v>
                </c:pt>
                <c:pt idx="94">
                  <c:v>98.4994</c:v>
                </c:pt>
                <c:pt idx="95">
                  <c:v>98.5919</c:v>
                </c:pt>
                <c:pt idx="96">
                  <c:v>98.6808</c:v>
                </c:pt>
                <c:pt idx="97">
                  <c:v>98.7762</c:v>
                </c:pt>
                <c:pt idx="98">
                  <c:v>98.8702</c:v>
                </c:pt>
                <c:pt idx="99">
                  <c:v>98.9605</c:v>
                </c:pt>
                <c:pt idx="100">
                  <c:v>99.0428</c:v>
                </c:pt>
                <c:pt idx="101">
                  <c:v>99.1229</c:v>
                </c:pt>
                <c:pt idx="102">
                  <c:v>99.1951</c:v>
                </c:pt>
                <c:pt idx="103">
                  <c:v>99.2628</c:v>
                </c:pt>
                <c:pt idx="104">
                  <c:v>99.3211</c:v>
                </c:pt>
                <c:pt idx="105">
                  <c:v>99.3779</c:v>
                </c:pt>
                <c:pt idx="106">
                  <c:v>99.4252</c:v>
                </c:pt>
                <c:pt idx="107">
                  <c:v>99.4464</c:v>
                </c:pt>
                <c:pt idx="108">
                  <c:v>99.4529</c:v>
                </c:pt>
                <c:pt idx="109">
                  <c:v>99.4551</c:v>
                </c:pt>
                <c:pt idx="110">
                  <c:v>99.4558</c:v>
                </c:pt>
                <c:pt idx="111">
                  <c:v>99.4558</c:v>
                </c:pt>
                <c:pt idx="112">
                  <c:v>99.4558</c:v>
                </c:pt>
                <c:pt idx="113">
                  <c:v>99.458</c:v>
                </c:pt>
                <c:pt idx="114">
                  <c:v>99.4617</c:v>
                </c:pt>
                <c:pt idx="115">
                  <c:v>99.4682</c:v>
                </c:pt>
                <c:pt idx="116">
                  <c:v>99.4792</c:v>
                </c:pt>
                <c:pt idx="117">
                  <c:v>99.4959</c:v>
                </c:pt>
                <c:pt idx="118">
                  <c:v>99.5185</c:v>
                </c:pt>
                <c:pt idx="119">
                  <c:v>99.5425</c:v>
                </c:pt>
                <c:pt idx="120">
                  <c:v>99.565686</c:v>
                </c:pt>
                <c:pt idx="121">
                  <c:v>99.5935</c:v>
                </c:pt>
                <c:pt idx="122">
                  <c:v>99.6227</c:v>
                </c:pt>
                <c:pt idx="123">
                  <c:v>99.6496</c:v>
                </c:pt>
                <c:pt idx="124">
                  <c:v>99.6737</c:v>
                </c:pt>
                <c:pt idx="125">
                  <c:v>99.6911</c:v>
                </c:pt>
                <c:pt idx="126">
                  <c:v>99.7035</c:v>
                </c:pt>
                <c:pt idx="127">
                  <c:v>99.7144</c:v>
                </c:pt>
                <c:pt idx="128">
                  <c:v>99.721</c:v>
                </c:pt>
                <c:pt idx="129">
                  <c:v>99.7246</c:v>
                </c:pt>
                <c:pt idx="130">
                  <c:v>99.7305</c:v>
                </c:pt>
                <c:pt idx="131">
                  <c:v>99.7356</c:v>
                </c:pt>
                <c:pt idx="132">
                  <c:v>99.7407</c:v>
                </c:pt>
                <c:pt idx="133">
                  <c:v>99.7472</c:v>
                </c:pt>
                <c:pt idx="134">
                  <c:v>99.7574</c:v>
                </c:pt>
                <c:pt idx="135">
                  <c:v>99.7669</c:v>
                </c:pt>
                <c:pt idx="136">
                  <c:v>99.7785</c:v>
                </c:pt>
                <c:pt idx="137">
                  <c:v>99.7887</c:v>
                </c:pt>
                <c:pt idx="138">
                  <c:v>99.8019</c:v>
                </c:pt>
                <c:pt idx="139">
                  <c:v>99.8157</c:v>
                </c:pt>
                <c:pt idx="140">
                  <c:v>99.8325</c:v>
                </c:pt>
                <c:pt idx="141">
                  <c:v>99.8507</c:v>
                </c:pt>
                <c:pt idx="142">
                  <c:v>99.8689</c:v>
                </c:pt>
                <c:pt idx="143">
                  <c:v>99.8893</c:v>
                </c:pt>
                <c:pt idx="144">
                  <c:v>99.9075</c:v>
                </c:pt>
                <c:pt idx="145">
                  <c:v>99.9264</c:v>
                </c:pt>
                <c:pt idx="146">
                  <c:v>99.9417</c:v>
                </c:pt>
                <c:pt idx="147">
                  <c:v>99.9577</c:v>
                </c:pt>
                <c:pt idx="148">
                  <c:v>99.9701</c:v>
                </c:pt>
                <c:pt idx="149">
                  <c:v>99.9789</c:v>
                </c:pt>
                <c:pt idx="150">
                  <c:v>99.9854</c:v>
                </c:pt>
                <c:pt idx="151">
                  <c:v>99.9898</c:v>
                </c:pt>
                <c:pt idx="152">
                  <c:v>99.9942</c:v>
                </c:pt>
                <c:pt idx="153">
                  <c:v>99.9971</c:v>
                </c:pt>
                <c:pt idx="154">
                  <c:v>99.9993</c:v>
                </c:pt>
                <c:pt idx="155">
                  <c:v>100</c:v>
                </c:pt>
                <c:pt idx="156">
                  <c:v>100</c:v>
                </c:pt>
                <c:pt idx="157">
                  <c:v>100</c:v>
                </c:pt>
                <c:pt idx="158">
                  <c:v>100</c:v>
                </c:pt>
                <c:pt idx="159">
                  <c:v>100</c:v>
                </c:pt>
                <c:pt idx="160">
                  <c:v>100</c:v>
                </c:pt>
                <c:pt idx="161">
                  <c:v>100</c:v>
                </c:pt>
                <c:pt idx="162">
                  <c:v>100</c:v>
                </c:pt>
                <c:pt idx="163">
                  <c:v>100</c:v>
                </c:pt>
                <c:pt idx="164">
                  <c:v>100</c:v>
                </c:pt>
                <c:pt idx="165">
                  <c:v>100</c:v>
                </c:pt>
                <c:pt idx="166">
                  <c:v>100</c:v>
                </c:pt>
                <c:pt idx="167">
                  <c:v>100</c:v>
                </c:pt>
                <c:pt idx="168">
                  <c:v>100</c:v>
                </c:pt>
                <c:pt idx="169">
                  <c:v>100</c:v>
                </c:pt>
                <c:pt idx="170">
                  <c:v>100</c:v>
                </c:pt>
                <c:pt idx="171">
                  <c:v>100</c:v>
                </c:pt>
                <c:pt idx="172">
                  <c:v>100</c:v>
                </c:pt>
                <c:pt idx="173">
                  <c:v>100</c:v>
                </c:pt>
                <c:pt idx="174">
                  <c:v>100</c:v>
                </c:pt>
                <c:pt idx="175">
                  <c:v>100</c:v>
                </c:pt>
                <c:pt idx="176">
                  <c:v>100</c:v>
                </c:pt>
                <c:pt idx="177">
                  <c:v>100</c:v>
                </c:pt>
                <c:pt idx="178">
                  <c:v>100</c:v>
                </c:pt>
                <c:pt idx="179">
                  <c:v>100</c:v>
                </c:pt>
                <c:pt idx="180">
                  <c:v>100</c:v>
                </c:pt>
                <c:pt idx="181">
                  <c:v>100</c:v>
                </c:pt>
                <c:pt idx="182">
                  <c:v>100</c:v>
                </c:pt>
                <c:pt idx="183">
                  <c:v>100</c:v>
                </c:pt>
                <c:pt idx="184">
                  <c:v>100</c:v>
                </c:pt>
                <c:pt idx="185">
                  <c:v>100</c:v>
                </c:pt>
                <c:pt idx="186">
                  <c:v>100</c:v>
                </c:pt>
                <c:pt idx="187">
                  <c:v>100</c:v>
                </c:pt>
                <c:pt idx="188">
                  <c:v>100</c:v>
                </c:pt>
                <c:pt idx="189">
                  <c:v>100</c:v>
                </c:pt>
                <c:pt idx="190">
                  <c:v>100</c:v>
                </c:pt>
                <c:pt idx="191">
                  <c:v>100</c:v>
                </c:pt>
                <c:pt idx="192">
                  <c:v>100</c:v>
                </c:pt>
                <c:pt idx="193">
                  <c:v>100</c:v>
                </c:pt>
                <c:pt idx="194">
                  <c:v>100</c:v>
                </c:pt>
                <c:pt idx="195">
                  <c:v>100</c:v>
                </c:pt>
                <c:pt idx="196">
                  <c:v>100</c:v>
                </c:pt>
                <c:pt idx="197">
                  <c:v>100</c:v>
                </c:pt>
                <c:pt idx="198">
                  <c:v>100</c:v>
                </c:pt>
                <c:pt idx="199">
                  <c:v>100</c:v>
                </c:pt>
                <c:pt idx="200">
                  <c:v>100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0614-41C8-94A8-CD293C618DCB}"/>
            </c:ext>
          </c:extLst>
        </c:ser>
        <c:ser>
          <c:idx val="2"/>
          <c:order val="2"/>
          <c:tx>
            <c:v>全市候选</c:v>
          </c:tx>
          <c:spPr>
            <a:ln w="9525">
              <a:solidFill>
                <a:srgbClr val="8F3E35"/>
              </a:solidFill>
            </a:ln>
          </c:spPr>
          <c:marker>
            <c:symbol val="circle"/>
            <c:size val="7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Data'!$E$2:$E$2</c:f>
              <c:numCache>
                <c:formatCode>General</c:formatCode>
                <c:ptCount val="1"/>
                <c:pt idx="0">
                  <c:v>1.85</c:v>
                </c:pt>
              </c:numCache>
            </c:numRef>
          </c:xVal>
          <c:yVal>
            <c:numRef>
              <c:f>'Chart Data'!$F$2:$F$2</c:f>
              <c:numCache>
                <c:formatCode>General</c:formatCode>
                <c:ptCount val="1"/>
                <c:pt idx="0">
                  <c:v>72.531491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0614-41C8-94A8-CD293C618DCB}"/>
            </c:ext>
          </c:extLst>
        </c:ser>
        <c:ser>
          <c:idx val="3"/>
          <c:order val="3"/>
          <c:tx>
            <c:v>全市85%</c:v>
          </c:tx>
          <c:spPr>
            <a:ln w="9525">
              <a:solidFill>
                <a:srgbClr val="8F3E35"/>
              </a:solidFill>
            </a:ln>
          </c:spPr>
          <c:marker>
            <c:symbol val="triangle"/>
            <c:size val="8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Data'!$G$2:$G$2</c:f>
              <c:numCache>
                <c:formatCode>General</c:formatCode>
                <c:ptCount val="1"/>
                <c:pt idx="0">
                  <c:v>2.555138</c:v>
                </c:pt>
              </c:numCache>
            </c:numRef>
          </c:xVal>
          <c:yVal>
            <c:numRef>
              <c:f>'Chart Data'!$H$2:$H$2</c:f>
              <c:numCache>
                <c:formatCode>General</c:formatCode>
                <c:ptCount val="1"/>
                <c:pt idx="0">
                  <c:v>85.007512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0614-41C8-94A8-CD293C618DCB}"/>
            </c:ext>
          </c:extLst>
        </c:ser>
        <c:ser>
          <c:idx val="4"/>
          <c:order val="4"/>
          <c:tx>
            <c:v>七区候选</c:v>
          </c:tx>
          <c:spPr>
            <a:ln w="9525">
              <a:solidFill>
                <a:srgbClr val="496B63"/>
              </a:solidFill>
            </a:ln>
          </c:spPr>
          <c:marker>
            <c:symbol val="circle"/>
            <c:size val="7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Data'!$I$2:$I$2</c:f>
              <c:numCache>
                <c:formatCode>General</c:formatCode>
                <c:ptCount val="1"/>
                <c:pt idx="0">
                  <c:v>1</c:v>
                </c:pt>
              </c:numCache>
            </c:numRef>
          </c:xVal>
          <c:yVal>
            <c:numRef>
              <c:f>'Chart Data'!$J$2:$J$2</c:f>
              <c:numCache>
                <c:formatCode>General</c:formatCode>
                <c:ptCount val="1"/>
                <c:pt idx="0">
                  <c:v>77.010168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4-0614-41C8-94A8-CD293C618DCB}"/>
            </c:ext>
          </c:extLst>
        </c:ser>
        <c:ser>
          <c:idx val="5"/>
          <c:order val="5"/>
          <c:tx>
            <c:v>七区85%</c:v>
          </c:tx>
          <c:spPr>
            <a:ln w="9525">
              <a:solidFill>
                <a:srgbClr val="496B63"/>
              </a:solidFill>
            </a:ln>
          </c:spPr>
          <c:marker>
            <c:symbol val="triangle"/>
            <c:size val="8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Data'!$K$2:$K$2</c:f>
              <c:numCache>
                <c:formatCode>General</c:formatCode>
                <c:ptCount val="1"/>
                <c:pt idx="0">
                  <c:v>1.171499</c:v>
                </c:pt>
              </c:numCache>
            </c:numRef>
          </c:xVal>
          <c:yVal>
            <c:numRef>
              <c:f>'Chart Data'!$L$2:$L$2</c:f>
              <c:numCache>
                <c:formatCode>General</c:formatCode>
                <c:ptCount val="1"/>
                <c:pt idx="0">
                  <c:v>85.010449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5-0614-41C8-94A8-CD293C618DC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w="5715">
              <a:solidFill>
                <a:srgbClr val="DDD0C6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面积覆盖率（</a:t>
                </a:r>
                <a:r>
                  <a:rPr lang="en-US" altLang="zh-CN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%</a:t>
                </a:r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50112"/>
        <c:crosses val="autoZero"/>
        <c:crossBetween val="midCat"/>
        <c:majorUnit val="25"/>
      </c:valAx>
      <c:valAx>
        <c:axId val="48650112"/>
        <c:scaling>
          <c:orientation val="minMax"/>
          <c:max val="5"/>
          <c:min val="0"/>
        </c:scaling>
        <c:delete val="0"/>
        <c:axPos val="b"/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直线半径（公里）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CBB9AD"/>
            </a:solidFill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72768"/>
        <c:crosses val="autoZero"/>
        <c:crossBetween val="midCat"/>
        <c:majorUnit val="1"/>
      </c:valAx>
      <c:spPr>
        <a:solidFill>
          <a:srgbClr val="F5F0E9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5F0E9"/>
    </a:solidFill>
    <a:ln w="0">
      <a:noFill/>
    </a:ln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0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v>全市16区</c:v>
          </c:tx>
          <c:spPr>
            <a:ln w="24765">
              <a:solidFill>
                <a:srgbClr val="8F3E35"/>
              </a:solidFill>
              <a:prstDash val="solid"/>
            </a:ln>
          </c:spPr>
          <c:marker>
            <c:symbol val="none"/>
          </c:marker>
          <c:xVal>
            <c:numRef>
              <c:f>'Chart Data'!$A$2:$A$202</c:f>
              <c:numCache>
                <c:formatCode>General</c:formatCode>
                <c:ptCount val="20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  <c:pt idx="41">
                  <c:v>1.025</c:v>
                </c:pt>
                <c:pt idx="42">
                  <c:v>1.05</c:v>
                </c:pt>
                <c:pt idx="43">
                  <c:v>1.075</c:v>
                </c:pt>
                <c:pt idx="44">
                  <c:v>1.1</c:v>
                </c:pt>
                <c:pt idx="45">
                  <c:v>1.125</c:v>
                </c:pt>
                <c:pt idx="46">
                  <c:v>1.15</c:v>
                </c:pt>
                <c:pt idx="47">
                  <c:v>1.175</c:v>
                </c:pt>
                <c:pt idx="48">
                  <c:v>1.2</c:v>
                </c:pt>
                <c:pt idx="49">
                  <c:v>1.225</c:v>
                </c:pt>
                <c:pt idx="50">
                  <c:v>1.25</c:v>
                </c:pt>
                <c:pt idx="51">
                  <c:v>1.275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</c:v>
                </c:pt>
                <c:pt idx="60">
                  <c:v>1.5</c:v>
                </c:pt>
                <c:pt idx="61">
                  <c:v>1.525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</c:v>
                </c:pt>
                <c:pt idx="70">
                  <c:v>1.75</c:v>
                </c:pt>
                <c:pt idx="71">
                  <c:v>1.775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</c:v>
                </c:pt>
                <c:pt idx="80">
                  <c:v>2</c:v>
                </c:pt>
                <c:pt idx="81">
                  <c:v>2.025</c:v>
                </c:pt>
                <c:pt idx="82">
                  <c:v>2.05</c:v>
                </c:pt>
                <c:pt idx="83">
                  <c:v>2.075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2.175</c:v>
                </c:pt>
                <c:pt idx="88">
                  <c:v>2.2</c:v>
                </c:pt>
                <c:pt idx="89">
                  <c:v>2.225</c:v>
                </c:pt>
                <c:pt idx="90">
                  <c:v>2.25</c:v>
                </c:pt>
                <c:pt idx="91">
                  <c:v>2.275</c:v>
                </c:pt>
                <c:pt idx="92">
                  <c:v>2.3</c:v>
                </c:pt>
                <c:pt idx="93">
                  <c:v>2.325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2.425</c:v>
                </c:pt>
                <c:pt idx="98">
                  <c:v>2.45</c:v>
                </c:pt>
                <c:pt idx="99">
                  <c:v>2.475</c:v>
                </c:pt>
                <c:pt idx="100">
                  <c:v>2.5</c:v>
                </c:pt>
                <c:pt idx="101">
                  <c:v>2.525</c:v>
                </c:pt>
                <c:pt idx="102">
                  <c:v>2.55</c:v>
                </c:pt>
                <c:pt idx="103">
                  <c:v>2.575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2.675</c:v>
                </c:pt>
                <c:pt idx="108">
                  <c:v>2.7</c:v>
                </c:pt>
                <c:pt idx="109">
                  <c:v>2.725</c:v>
                </c:pt>
                <c:pt idx="110">
                  <c:v>2.75</c:v>
                </c:pt>
                <c:pt idx="111">
                  <c:v>2.775</c:v>
                </c:pt>
                <c:pt idx="112">
                  <c:v>2.8</c:v>
                </c:pt>
                <c:pt idx="113">
                  <c:v>2.825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2.925</c:v>
                </c:pt>
                <c:pt idx="118">
                  <c:v>2.95</c:v>
                </c:pt>
                <c:pt idx="119">
                  <c:v>2.975</c:v>
                </c:pt>
                <c:pt idx="120">
                  <c:v>3</c:v>
                </c:pt>
                <c:pt idx="121">
                  <c:v>3.025</c:v>
                </c:pt>
                <c:pt idx="122">
                  <c:v>3.05</c:v>
                </c:pt>
                <c:pt idx="123">
                  <c:v>3.075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3.175</c:v>
                </c:pt>
                <c:pt idx="128">
                  <c:v>3.2</c:v>
                </c:pt>
                <c:pt idx="129">
                  <c:v>3.225</c:v>
                </c:pt>
                <c:pt idx="130">
                  <c:v>3.25</c:v>
                </c:pt>
                <c:pt idx="131">
                  <c:v>3.275</c:v>
                </c:pt>
                <c:pt idx="132">
                  <c:v>3.3</c:v>
                </c:pt>
                <c:pt idx="133">
                  <c:v>3.325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3.425</c:v>
                </c:pt>
                <c:pt idx="138">
                  <c:v>3.45</c:v>
                </c:pt>
                <c:pt idx="139">
                  <c:v>3.475</c:v>
                </c:pt>
                <c:pt idx="140">
                  <c:v>3.5</c:v>
                </c:pt>
                <c:pt idx="141">
                  <c:v>3.525</c:v>
                </c:pt>
                <c:pt idx="142">
                  <c:v>3.55</c:v>
                </c:pt>
                <c:pt idx="143">
                  <c:v>3.575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3.675</c:v>
                </c:pt>
                <c:pt idx="148">
                  <c:v>3.7</c:v>
                </c:pt>
                <c:pt idx="149">
                  <c:v>3.725</c:v>
                </c:pt>
                <c:pt idx="150">
                  <c:v>3.75</c:v>
                </c:pt>
                <c:pt idx="151">
                  <c:v>3.775</c:v>
                </c:pt>
                <c:pt idx="152">
                  <c:v>3.8</c:v>
                </c:pt>
                <c:pt idx="153">
                  <c:v>3.825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3.925</c:v>
                </c:pt>
                <c:pt idx="158">
                  <c:v>3.95</c:v>
                </c:pt>
                <c:pt idx="159">
                  <c:v>3.975</c:v>
                </c:pt>
                <c:pt idx="160">
                  <c:v>4</c:v>
                </c:pt>
                <c:pt idx="161">
                  <c:v>4.025</c:v>
                </c:pt>
                <c:pt idx="162">
                  <c:v>4.05</c:v>
                </c:pt>
                <c:pt idx="163">
                  <c:v>4.075</c:v>
                </c:pt>
                <c:pt idx="164">
                  <c:v>4.1</c:v>
                </c:pt>
                <c:pt idx="165">
                  <c:v>4.125</c:v>
                </c:pt>
                <c:pt idx="166">
                  <c:v>4.15</c:v>
                </c:pt>
                <c:pt idx="167">
                  <c:v>4.175</c:v>
                </c:pt>
                <c:pt idx="168">
                  <c:v>4.2</c:v>
                </c:pt>
                <c:pt idx="169">
                  <c:v>4.225</c:v>
                </c:pt>
                <c:pt idx="170">
                  <c:v>4.25</c:v>
                </c:pt>
                <c:pt idx="171">
                  <c:v>4.275</c:v>
                </c:pt>
                <c:pt idx="172">
                  <c:v>4.3</c:v>
                </c:pt>
                <c:pt idx="173">
                  <c:v>4.325</c:v>
                </c:pt>
                <c:pt idx="174">
                  <c:v>4.35</c:v>
                </c:pt>
                <c:pt idx="175">
                  <c:v>4.375</c:v>
                </c:pt>
                <c:pt idx="176">
                  <c:v>4.4</c:v>
                </c:pt>
                <c:pt idx="177">
                  <c:v>4.425</c:v>
                </c:pt>
                <c:pt idx="178">
                  <c:v>4.45</c:v>
                </c:pt>
                <c:pt idx="179">
                  <c:v>4.475</c:v>
                </c:pt>
                <c:pt idx="180">
                  <c:v>4.5</c:v>
                </c:pt>
                <c:pt idx="181">
                  <c:v>4.525</c:v>
                </c:pt>
                <c:pt idx="182">
                  <c:v>4.55</c:v>
                </c:pt>
                <c:pt idx="183">
                  <c:v>4.575</c:v>
                </c:pt>
                <c:pt idx="184">
                  <c:v>4.6</c:v>
                </c:pt>
                <c:pt idx="185">
                  <c:v>4.625</c:v>
                </c:pt>
                <c:pt idx="186">
                  <c:v>4.65</c:v>
                </c:pt>
                <c:pt idx="187">
                  <c:v>4.675</c:v>
                </c:pt>
                <c:pt idx="188">
                  <c:v>4.7</c:v>
                </c:pt>
                <c:pt idx="189">
                  <c:v>4.725</c:v>
                </c:pt>
                <c:pt idx="190">
                  <c:v>4.75</c:v>
                </c:pt>
                <c:pt idx="191">
                  <c:v>4.775</c:v>
                </c:pt>
                <c:pt idx="192">
                  <c:v>4.8</c:v>
                </c:pt>
                <c:pt idx="193">
                  <c:v>4.825</c:v>
                </c:pt>
                <c:pt idx="194">
                  <c:v>4.85</c:v>
                </c:pt>
                <c:pt idx="195">
                  <c:v>4.875</c:v>
                </c:pt>
                <c:pt idx="196">
                  <c:v>4.9</c:v>
                </c:pt>
                <c:pt idx="197">
                  <c:v>4.925</c:v>
                </c:pt>
                <c:pt idx="198">
                  <c:v>4.95</c:v>
                </c:pt>
                <c:pt idx="199">
                  <c:v>4.975</c:v>
                </c:pt>
                <c:pt idx="200">
                  <c:v>5</c:v>
                </c:pt>
              </c:numCache>
            </c:numRef>
          </c:xVal>
          <c:yVal>
            <c:numRef>
              <c:f>'Chart Data'!$B$2:$B$202</c:f>
              <c:numCache>
                <c:formatCode>General</c:formatCode>
                <c:ptCount val="201"/>
                <c:pt idx="0">
                  <c:v>0</c:v>
                </c:pt>
                <c:pt idx="1">
                  <c:v>0.0083</c:v>
                </c:pt>
                <c:pt idx="2">
                  <c:v>0.0397</c:v>
                </c:pt>
                <c:pt idx="3">
                  <c:v>0.1098</c:v>
                </c:pt>
                <c:pt idx="4">
                  <c:v>0.219439</c:v>
                </c:pt>
                <c:pt idx="5">
                  <c:v>0.3842</c:v>
                </c:pt>
                <c:pt idx="6">
                  <c:v>0.5899</c:v>
                </c:pt>
                <c:pt idx="7">
                  <c:v>0.8508</c:v>
                </c:pt>
                <c:pt idx="8">
                  <c:v>1.176</c:v>
                </c:pt>
                <c:pt idx="9">
                  <c:v>1.5541</c:v>
                </c:pt>
                <c:pt idx="10">
                  <c:v>1.990728</c:v>
                </c:pt>
                <c:pt idx="11">
                  <c:v>2.4965</c:v>
                </c:pt>
                <c:pt idx="12">
                  <c:v>3.033011</c:v>
                </c:pt>
                <c:pt idx="13">
                  <c:v>3.6247</c:v>
                </c:pt>
                <c:pt idx="14">
                  <c:v>4.2469</c:v>
                </c:pt>
                <c:pt idx="15">
                  <c:v>4.8957</c:v>
                </c:pt>
                <c:pt idx="16">
                  <c:v>5.5769</c:v>
                </c:pt>
                <c:pt idx="17">
                  <c:v>6.2951</c:v>
                </c:pt>
                <c:pt idx="18">
                  <c:v>7.0656</c:v>
                </c:pt>
                <c:pt idx="19">
                  <c:v>7.8568</c:v>
                </c:pt>
                <c:pt idx="20">
                  <c:v>8.666432</c:v>
                </c:pt>
                <c:pt idx="21">
                  <c:v>9.5043</c:v>
                </c:pt>
                <c:pt idx="22">
                  <c:v>10.3689</c:v>
                </c:pt>
                <c:pt idx="23">
                  <c:v>11.2557</c:v>
                </c:pt>
                <c:pt idx="24">
                  <c:v>12.14</c:v>
                </c:pt>
                <c:pt idx="25">
                  <c:v>13.06</c:v>
                </c:pt>
                <c:pt idx="26">
                  <c:v>13.9815</c:v>
                </c:pt>
                <c:pt idx="27">
                  <c:v>14.9346</c:v>
                </c:pt>
                <c:pt idx="28">
                  <c:v>15.8941</c:v>
                </c:pt>
                <c:pt idx="29">
                  <c:v>16.8559</c:v>
                </c:pt>
                <c:pt idx="30">
                  <c:v>17.8217</c:v>
                </c:pt>
                <c:pt idx="31">
                  <c:v>18.8021</c:v>
                </c:pt>
                <c:pt idx="32">
                  <c:v>19.789679</c:v>
                </c:pt>
                <c:pt idx="33">
                  <c:v>20.7828</c:v>
                </c:pt>
                <c:pt idx="34">
                  <c:v>21.7752</c:v>
                </c:pt>
                <c:pt idx="35">
                  <c:v>22.7675</c:v>
                </c:pt>
                <c:pt idx="36">
                  <c:v>23.7472</c:v>
                </c:pt>
                <c:pt idx="37">
                  <c:v>24.7275</c:v>
                </c:pt>
                <c:pt idx="38">
                  <c:v>25.6997</c:v>
                </c:pt>
                <c:pt idx="39">
                  <c:v>26.6592</c:v>
                </c:pt>
                <c:pt idx="40">
                  <c:v>27.617991</c:v>
                </c:pt>
                <c:pt idx="41">
                  <c:v>28.576</c:v>
                </c:pt>
                <c:pt idx="42">
                  <c:v>29.5336</c:v>
                </c:pt>
                <c:pt idx="43">
                  <c:v>30.4714</c:v>
                </c:pt>
                <c:pt idx="44">
                  <c:v>31.3933</c:v>
                </c:pt>
                <c:pt idx="45">
                  <c:v>32.3186</c:v>
                </c:pt>
                <c:pt idx="46">
                  <c:v>33.2482</c:v>
                </c:pt>
                <c:pt idx="47">
                  <c:v>34.1792</c:v>
                </c:pt>
                <c:pt idx="48">
                  <c:v>35.1187</c:v>
                </c:pt>
                <c:pt idx="49">
                  <c:v>36.0545</c:v>
                </c:pt>
                <c:pt idx="50">
                  <c:v>36.9893</c:v>
                </c:pt>
                <c:pt idx="51">
                  <c:v>37.9212</c:v>
                </c:pt>
                <c:pt idx="52">
                  <c:v>38.8314</c:v>
                </c:pt>
                <c:pt idx="53">
                  <c:v>39.7223</c:v>
                </c:pt>
                <c:pt idx="54">
                  <c:v>40.6118</c:v>
                </c:pt>
                <c:pt idx="55">
                  <c:v>41.4845</c:v>
                </c:pt>
                <c:pt idx="56">
                  <c:v>42.342</c:v>
                </c:pt>
                <c:pt idx="57">
                  <c:v>43.1756</c:v>
                </c:pt>
                <c:pt idx="58">
                  <c:v>44.0064</c:v>
                </c:pt>
                <c:pt idx="59">
                  <c:v>44.8155</c:v>
                </c:pt>
                <c:pt idx="60">
                  <c:v>45.596697</c:v>
                </c:pt>
                <c:pt idx="61">
                  <c:v>46.3928</c:v>
                </c:pt>
                <c:pt idx="62">
                  <c:v>47.1696</c:v>
                </c:pt>
                <c:pt idx="63">
                  <c:v>47.9394</c:v>
                </c:pt>
                <c:pt idx="64">
                  <c:v>48.6969</c:v>
                </c:pt>
                <c:pt idx="65">
                  <c:v>49.4306</c:v>
                </c:pt>
                <c:pt idx="66">
                  <c:v>50.1479</c:v>
                </c:pt>
                <c:pt idx="67">
                  <c:v>50.8608</c:v>
                </c:pt>
                <c:pt idx="68">
                  <c:v>51.5735</c:v>
                </c:pt>
                <c:pt idx="69">
                  <c:v>52.2836</c:v>
                </c:pt>
                <c:pt idx="70">
                  <c:v>52.9844</c:v>
                </c:pt>
                <c:pt idx="71">
                  <c:v>53.6605</c:v>
                </c:pt>
                <c:pt idx="72">
                  <c:v>54.3002</c:v>
                </c:pt>
                <c:pt idx="73">
                  <c:v>54.9271</c:v>
                </c:pt>
                <c:pt idx="74">
                  <c:v>55.5463</c:v>
                </c:pt>
                <c:pt idx="75">
                  <c:v>56.1523</c:v>
                </c:pt>
                <c:pt idx="76">
                  <c:v>56.7483</c:v>
                </c:pt>
                <c:pt idx="77">
                  <c:v>57.3476</c:v>
                </c:pt>
                <c:pt idx="78">
                  <c:v>57.9477</c:v>
                </c:pt>
                <c:pt idx="79">
                  <c:v>58.53</c:v>
                </c:pt>
                <c:pt idx="80">
                  <c:v>59.085539</c:v>
                </c:pt>
                <c:pt idx="81">
                  <c:v>59.6575</c:v>
                </c:pt>
                <c:pt idx="82">
                  <c:v>60.2031</c:v>
                </c:pt>
                <c:pt idx="83">
                  <c:v>60.7449</c:v>
                </c:pt>
                <c:pt idx="84">
                  <c:v>61.2849</c:v>
                </c:pt>
                <c:pt idx="85">
                  <c:v>61.8194</c:v>
                </c:pt>
                <c:pt idx="86">
                  <c:v>62.339</c:v>
                </c:pt>
                <c:pt idx="87">
                  <c:v>62.8476</c:v>
                </c:pt>
                <c:pt idx="88">
                  <c:v>63.3523</c:v>
                </c:pt>
                <c:pt idx="89">
                  <c:v>63.8589</c:v>
                </c:pt>
                <c:pt idx="90">
                  <c:v>64.3645</c:v>
                </c:pt>
                <c:pt idx="91">
                  <c:v>64.8616</c:v>
                </c:pt>
                <c:pt idx="92">
                  <c:v>65.3512</c:v>
                </c:pt>
                <c:pt idx="93">
                  <c:v>65.8359</c:v>
                </c:pt>
                <c:pt idx="94">
                  <c:v>66.3238</c:v>
                </c:pt>
                <c:pt idx="95">
                  <c:v>66.7982</c:v>
                </c:pt>
                <c:pt idx="96">
                  <c:v>67.27</c:v>
                </c:pt>
                <c:pt idx="97">
                  <c:v>67.7305</c:v>
                </c:pt>
                <c:pt idx="98">
                  <c:v>68.1739</c:v>
                </c:pt>
                <c:pt idx="99">
                  <c:v>68.617</c:v>
                </c:pt>
                <c:pt idx="100">
                  <c:v>69.0307</c:v>
                </c:pt>
                <c:pt idx="101">
                  <c:v>69.4356</c:v>
                </c:pt>
                <c:pt idx="102">
                  <c:v>69.8217</c:v>
                </c:pt>
                <c:pt idx="103">
                  <c:v>70.1969</c:v>
                </c:pt>
                <c:pt idx="104">
                  <c:v>70.5607</c:v>
                </c:pt>
                <c:pt idx="105">
                  <c:v>70.9106</c:v>
                </c:pt>
                <c:pt idx="106">
                  <c:v>71.2514</c:v>
                </c:pt>
                <c:pt idx="107">
                  <c:v>71.5761</c:v>
                </c:pt>
                <c:pt idx="108">
                  <c:v>71.9006</c:v>
                </c:pt>
                <c:pt idx="109">
                  <c:v>72.2119</c:v>
                </c:pt>
                <c:pt idx="110">
                  <c:v>72.511</c:v>
                </c:pt>
                <c:pt idx="111">
                  <c:v>72.8162</c:v>
                </c:pt>
                <c:pt idx="112">
                  <c:v>73.1105</c:v>
                </c:pt>
                <c:pt idx="113">
                  <c:v>73.4003</c:v>
                </c:pt>
                <c:pt idx="114">
                  <c:v>73.6785</c:v>
                </c:pt>
                <c:pt idx="115">
                  <c:v>73.9533</c:v>
                </c:pt>
                <c:pt idx="116">
                  <c:v>74.229</c:v>
                </c:pt>
                <c:pt idx="117">
                  <c:v>74.499</c:v>
                </c:pt>
                <c:pt idx="118">
                  <c:v>74.7739</c:v>
                </c:pt>
                <c:pt idx="119">
                  <c:v>75.0485</c:v>
                </c:pt>
                <c:pt idx="120">
                  <c:v>75.322988</c:v>
                </c:pt>
                <c:pt idx="121">
                  <c:v>75.5988</c:v>
                </c:pt>
                <c:pt idx="122">
                  <c:v>75.8699</c:v>
                </c:pt>
                <c:pt idx="123">
                  <c:v>76.14</c:v>
                </c:pt>
                <c:pt idx="124">
                  <c:v>76.4046</c:v>
                </c:pt>
                <c:pt idx="125">
                  <c:v>76.6724</c:v>
                </c:pt>
                <c:pt idx="126">
                  <c:v>76.9395</c:v>
                </c:pt>
                <c:pt idx="127">
                  <c:v>77.204</c:v>
                </c:pt>
                <c:pt idx="128">
                  <c:v>77.4663</c:v>
                </c:pt>
                <c:pt idx="129">
                  <c:v>77.7291</c:v>
                </c:pt>
                <c:pt idx="130">
                  <c:v>77.9946</c:v>
                </c:pt>
                <c:pt idx="131">
                  <c:v>78.2642</c:v>
                </c:pt>
                <c:pt idx="132">
                  <c:v>78.5294</c:v>
                </c:pt>
                <c:pt idx="133">
                  <c:v>78.7951</c:v>
                </c:pt>
                <c:pt idx="134">
                  <c:v>79.0579</c:v>
                </c:pt>
                <c:pt idx="135">
                  <c:v>79.3181</c:v>
                </c:pt>
                <c:pt idx="136">
                  <c:v>79.5744</c:v>
                </c:pt>
                <c:pt idx="137">
                  <c:v>79.8299</c:v>
                </c:pt>
                <c:pt idx="138">
                  <c:v>80.0852</c:v>
                </c:pt>
                <c:pt idx="139">
                  <c:v>80.3339</c:v>
                </c:pt>
                <c:pt idx="140">
                  <c:v>80.5825</c:v>
                </c:pt>
                <c:pt idx="141">
                  <c:v>80.8291</c:v>
                </c:pt>
                <c:pt idx="142">
                  <c:v>81.0632</c:v>
                </c:pt>
                <c:pt idx="143">
                  <c:v>81.2877</c:v>
                </c:pt>
                <c:pt idx="144">
                  <c:v>81.5076</c:v>
                </c:pt>
                <c:pt idx="145">
                  <c:v>81.7221</c:v>
                </c:pt>
                <c:pt idx="146">
                  <c:v>81.9292</c:v>
                </c:pt>
                <c:pt idx="147">
                  <c:v>82.1349</c:v>
                </c:pt>
                <c:pt idx="148">
                  <c:v>82.3363</c:v>
                </c:pt>
                <c:pt idx="149">
                  <c:v>82.5397</c:v>
                </c:pt>
                <c:pt idx="150">
                  <c:v>82.7475</c:v>
                </c:pt>
                <c:pt idx="151">
                  <c:v>82.9601</c:v>
                </c:pt>
                <c:pt idx="152">
                  <c:v>83.1723</c:v>
                </c:pt>
                <c:pt idx="153">
                  <c:v>83.3829</c:v>
                </c:pt>
                <c:pt idx="154">
                  <c:v>83.5924</c:v>
                </c:pt>
                <c:pt idx="155">
                  <c:v>83.8036</c:v>
                </c:pt>
                <c:pt idx="156">
                  <c:v>84.0053</c:v>
                </c:pt>
                <c:pt idx="157">
                  <c:v>84.2048</c:v>
                </c:pt>
                <c:pt idx="158">
                  <c:v>84.4018</c:v>
                </c:pt>
                <c:pt idx="159">
                  <c:v>84.6044</c:v>
                </c:pt>
                <c:pt idx="160">
                  <c:v>84.8068</c:v>
                </c:pt>
                <c:pt idx="161">
                  <c:v>85.0069</c:v>
                </c:pt>
                <c:pt idx="162">
                  <c:v>85.205</c:v>
                </c:pt>
                <c:pt idx="163">
                  <c:v>85.3999</c:v>
                </c:pt>
                <c:pt idx="164">
                  <c:v>85.5922</c:v>
                </c:pt>
                <c:pt idx="165">
                  <c:v>85.7796</c:v>
                </c:pt>
                <c:pt idx="166">
                  <c:v>85.9604</c:v>
                </c:pt>
                <c:pt idx="167">
                  <c:v>86.1367</c:v>
                </c:pt>
                <c:pt idx="168">
                  <c:v>86.3108</c:v>
                </c:pt>
                <c:pt idx="169">
                  <c:v>86.4806</c:v>
                </c:pt>
                <c:pt idx="170">
                  <c:v>86.6436</c:v>
                </c:pt>
                <c:pt idx="171">
                  <c:v>86.8009</c:v>
                </c:pt>
                <c:pt idx="172">
                  <c:v>86.9544</c:v>
                </c:pt>
                <c:pt idx="173">
                  <c:v>87.0973</c:v>
                </c:pt>
                <c:pt idx="174">
                  <c:v>87.2379</c:v>
                </c:pt>
                <c:pt idx="175">
                  <c:v>87.3759</c:v>
                </c:pt>
                <c:pt idx="176">
                  <c:v>87.5126</c:v>
                </c:pt>
                <c:pt idx="177">
                  <c:v>87.6527</c:v>
                </c:pt>
                <c:pt idx="178">
                  <c:v>87.7963</c:v>
                </c:pt>
                <c:pt idx="179">
                  <c:v>87.9442</c:v>
                </c:pt>
                <c:pt idx="180">
                  <c:v>88.0967</c:v>
                </c:pt>
                <c:pt idx="181">
                  <c:v>88.2491</c:v>
                </c:pt>
                <c:pt idx="182">
                  <c:v>88.4002</c:v>
                </c:pt>
                <c:pt idx="183">
                  <c:v>88.5492</c:v>
                </c:pt>
                <c:pt idx="184">
                  <c:v>88.6937</c:v>
                </c:pt>
                <c:pt idx="185">
                  <c:v>88.838</c:v>
                </c:pt>
                <c:pt idx="186">
                  <c:v>88.979</c:v>
                </c:pt>
                <c:pt idx="187">
                  <c:v>89.1213</c:v>
                </c:pt>
                <c:pt idx="188">
                  <c:v>89.2551</c:v>
                </c:pt>
                <c:pt idx="189">
                  <c:v>89.3828</c:v>
                </c:pt>
                <c:pt idx="190">
                  <c:v>89.506</c:v>
                </c:pt>
                <c:pt idx="191">
                  <c:v>89.6265</c:v>
                </c:pt>
                <c:pt idx="192">
                  <c:v>89.7391</c:v>
                </c:pt>
                <c:pt idx="193">
                  <c:v>89.8473</c:v>
                </c:pt>
                <c:pt idx="194">
                  <c:v>89.9517</c:v>
                </c:pt>
                <c:pt idx="195">
                  <c:v>90.0529</c:v>
                </c:pt>
                <c:pt idx="196">
                  <c:v>90.1552</c:v>
                </c:pt>
                <c:pt idx="197">
                  <c:v>90.2499</c:v>
                </c:pt>
                <c:pt idx="198">
                  <c:v>90.3469</c:v>
                </c:pt>
                <c:pt idx="199">
                  <c:v>90.4419</c:v>
                </c:pt>
                <c:pt idx="200">
                  <c:v>90.532007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ABDF-402D-84E6-458C9FFB34EB}"/>
            </c:ext>
          </c:extLst>
        </c:ser>
        <c:ser>
          <c:idx val="1"/>
          <c:order val="1"/>
          <c:tx>
            <c:v>中心七区</c:v>
          </c:tx>
          <c:spPr>
            <a:ln w="24765">
              <a:solidFill>
                <a:srgbClr val="496B63"/>
              </a:solidFill>
              <a:prstDash val="solid"/>
            </a:ln>
          </c:spPr>
          <c:marker>
            <c:symbol val="none"/>
          </c:marker>
          <c:xVal>
            <c:numRef>
              <c:f>'Chart Data'!$C$2:$C$202</c:f>
              <c:numCache>
                <c:formatCode>General</c:formatCode>
                <c:ptCount val="20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  <c:pt idx="41">
                  <c:v>1.025</c:v>
                </c:pt>
                <c:pt idx="42">
                  <c:v>1.05</c:v>
                </c:pt>
                <c:pt idx="43">
                  <c:v>1.075</c:v>
                </c:pt>
                <c:pt idx="44">
                  <c:v>1.1</c:v>
                </c:pt>
                <c:pt idx="45">
                  <c:v>1.125</c:v>
                </c:pt>
                <c:pt idx="46">
                  <c:v>1.15</c:v>
                </c:pt>
                <c:pt idx="47">
                  <c:v>1.175</c:v>
                </c:pt>
                <c:pt idx="48">
                  <c:v>1.2</c:v>
                </c:pt>
                <c:pt idx="49">
                  <c:v>1.225</c:v>
                </c:pt>
                <c:pt idx="50">
                  <c:v>1.25</c:v>
                </c:pt>
                <c:pt idx="51">
                  <c:v>1.275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</c:v>
                </c:pt>
                <c:pt idx="60">
                  <c:v>1.5</c:v>
                </c:pt>
                <c:pt idx="61">
                  <c:v>1.525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</c:v>
                </c:pt>
                <c:pt idx="70">
                  <c:v>1.75</c:v>
                </c:pt>
                <c:pt idx="71">
                  <c:v>1.775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</c:v>
                </c:pt>
                <c:pt idx="80">
                  <c:v>2</c:v>
                </c:pt>
                <c:pt idx="81">
                  <c:v>2.025</c:v>
                </c:pt>
                <c:pt idx="82">
                  <c:v>2.05</c:v>
                </c:pt>
                <c:pt idx="83">
                  <c:v>2.075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2.175</c:v>
                </c:pt>
                <c:pt idx="88">
                  <c:v>2.2</c:v>
                </c:pt>
                <c:pt idx="89">
                  <c:v>2.225</c:v>
                </c:pt>
                <c:pt idx="90">
                  <c:v>2.25</c:v>
                </c:pt>
                <c:pt idx="91">
                  <c:v>2.275</c:v>
                </c:pt>
                <c:pt idx="92">
                  <c:v>2.3</c:v>
                </c:pt>
                <c:pt idx="93">
                  <c:v>2.325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2.425</c:v>
                </c:pt>
                <c:pt idx="98">
                  <c:v>2.45</c:v>
                </c:pt>
                <c:pt idx="99">
                  <c:v>2.475</c:v>
                </c:pt>
                <c:pt idx="100">
                  <c:v>2.5</c:v>
                </c:pt>
                <c:pt idx="101">
                  <c:v>2.525</c:v>
                </c:pt>
                <c:pt idx="102">
                  <c:v>2.55</c:v>
                </c:pt>
                <c:pt idx="103">
                  <c:v>2.575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2.675</c:v>
                </c:pt>
                <c:pt idx="108">
                  <c:v>2.7</c:v>
                </c:pt>
                <c:pt idx="109">
                  <c:v>2.725</c:v>
                </c:pt>
                <c:pt idx="110">
                  <c:v>2.75</c:v>
                </c:pt>
                <c:pt idx="111">
                  <c:v>2.775</c:v>
                </c:pt>
                <c:pt idx="112">
                  <c:v>2.8</c:v>
                </c:pt>
                <c:pt idx="113">
                  <c:v>2.825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2.925</c:v>
                </c:pt>
                <c:pt idx="118">
                  <c:v>2.95</c:v>
                </c:pt>
                <c:pt idx="119">
                  <c:v>2.975</c:v>
                </c:pt>
                <c:pt idx="120">
                  <c:v>3</c:v>
                </c:pt>
                <c:pt idx="121">
                  <c:v>3.025</c:v>
                </c:pt>
                <c:pt idx="122">
                  <c:v>3.05</c:v>
                </c:pt>
                <c:pt idx="123">
                  <c:v>3.075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3.175</c:v>
                </c:pt>
                <c:pt idx="128">
                  <c:v>3.2</c:v>
                </c:pt>
                <c:pt idx="129">
                  <c:v>3.225</c:v>
                </c:pt>
                <c:pt idx="130">
                  <c:v>3.25</c:v>
                </c:pt>
                <c:pt idx="131">
                  <c:v>3.275</c:v>
                </c:pt>
                <c:pt idx="132">
                  <c:v>3.3</c:v>
                </c:pt>
                <c:pt idx="133">
                  <c:v>3.325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3.425</c:v>
                </c:pt>
                <c:pt idx="138">
                  <c:v>3.45</c:v>
                </c:pt>
                <c:pt idx="139">
                  <c:v>3.475</c:v>
                </c:pt>
                <c:pt idx="140">
                  <c:v>3.5</c:v>
                </c:pt>
                <c:pt idx="141">
                  <c:v>3.525</c:v>
                </c:pt>
                <c:pt idx="142">
                  <c:v>3.55</c:v>
                </c:pt>
                <c:pt idx="143">
                  <c:v>3.575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3.675</c:v>
                </c:pt>
                <c:pt idx="148">
                  <c:v>3.7</c:v>
                </c:pt>
                <c:pt idx="149">
                  <c:v>3.725</c:v>
                </c:pt>
                <c:pt idx="150">
                  <c:v>3.75</c:v>
                </c:pt>
                <c:pt idx="151">
                  <c:v>3.775</c:v>
                </c:pt>
                <c:pt idx="152">
                  <c:v>3.8</c:v>
                </c:pt>
                <c:pt idx="153">
                  <c:v>3.825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3.925</c:v>
                </c:pt>
                <c:pt idx="158">
                  <c:v>3.95</c:v>
                </c:pt>
                <c:pt idx="159">
                  <c:v>3.975</c:v>
                </c:pt>
                <c:pt idx="160">
                  <c:v>4</c:v>
                </c:pt>
                <c:pt idx="161">
                  <c:v>4.025</c:v>
                </c:pt>
                <c:pt idx="162">
                  <c:v>4.05</c:v>
                </c:pt>
                <c:pt idx="163">
                  <c:v>4.075</c:v>
                </c:pt>
                <c:pt idx="164">
                  <c:v>4.1</c:v>
                </c:pt>
                <c:pt idx="165">
                  <c:v>4.125</c:v>
                </c:pt>
                <c:pt idx="166">
                  <c:v>4.15</c:v>
                </c:pt>
                <c:pt idx="167">
                  <c:v>4.175</c:v>
                </c:pt>
                <c:pt idx="168">
                  <c:v>4.2</c:v>
                </c:pt>
                <c:pt idx="169">
                  <c:v>4.225</c:v>
                </c:pt>
                <c:pt idx="170">
                  <c:v>4.25</c:v>
                </c:pt>
                <c:pt idx="171">
                  <c:v>4.275</c:v>
                </c:pt>
                <c:pt idx="172">
                  <c:v>4.3</c:v>
                </c:pt>
                <c:pt idx="173">
                  <c:v>4.325</c:v>
                </c:pt>
                <c:pt idx="174">
                  <c:v>4.35</c:v>
                </c:pt>
                <c:pt idx="175">
                  <c:v>4.375</c:v>
                </c:pt>
                <c:pt idx="176">
                  <c:v>4.4</c:v>
                </c:pt>
                <c:pt idx="177">
                  <c:v>4.425</c:v>
                </c:pt>
                <c:pt idx="178">
                  <c:v>4.45</c:v>
                </c:pt>
                <c:pt idx="179">
                  <c:v>4.475</c:v>
                </c:pt>
                <c:pt idx="180">
                  <c:v>4.5</c:v>
                </c:pt>
                <c:pt idx="181">
                  <c:v>4.525</c:v>
                </c:pt>
                <c:pt idx="182">
                  <c:v>4.55</c:v>
                </c:pt>
                <c:pt idx="183">
                  <c:v>4.575</c:v>
                </c:pt>
                <c:pt idx="184">
                  <c:v>4.6</c:v>
                </c:pt>
                <c:pt idx="185">
                  <c:v>4.625</c:v>
                </c:pt>
                <c:pt idx="186">
                  <c:v>4.65</c:v>
                </c:pt>
                <c:pt idx="187">
                  <c:v>4.675</c:v>
                </c:pt>
                <c:pt idx="188">
                  <c:v>4.7</c:v>
                </c:pt>
                <c:pt idx="189">
                  <c:v>4.725</c:v>
                </c:pt>
                <c:pt idx="190">
                  <c:v>4.75</c:v>
                </c:pt>
                <c:pt idx="191">
                  <c:v>4.775</c:v>
                </c:pt>
                <c:pt idx="192">
                  <c:v>4.8</c:v>
                </c:pt>
                <c:pt idx="193">
                  <c:v>4.825</c:v>
                </c:pt>
                <c:pt idx="194">
                  <c:v>4.85</c:v>
                </c:pt>
                <c:pt idx="195">
                  <c:v>4.875</c:v>
                </c:pt>
                <c:pt idx="196">
                  <c:v>4.9</c:v>
                </c:pt>
                <c:pt idx="197">
                  <c:v>4.925</c:v>
                </c:pt>
                <c:pt idx="198">
                  <c:v>4.95</c:v>
                </c:pt>
                <c:pt idx="199">
                  <c:v>4.975</c:v>
                </c:pt>
                <c:pt idx="200">
                  <c:v>5</c:v>
                </c:pt>
              </c:numCache>
            </c:numRef>
          </c:xVal>
          <c:yVal>
            <c:numRef>
              <c:f>'Chart Data'!$D$2:$D$202</c:f>
              <c:numCache>
                <c:formatCode>General</c:formatCode>
                <c:ptCount val="201"/>
                <c:pt idx="0">
                  <c:v>0</c:v>
                </c:pt>
                <c:pt idx="1">
                  <c:v>0.0386</c:v>
                </c:pt>
                <c:pt idx="2">
                  <c:v>0.1654</c:v>
                </c:pt>
                <c:pt idx="3">
                  <c:v>0.4269</c:v>
                </c:pt>
                <c:pt idx="4">
                  <c:v>0.788252</c:v>
                </c:pt>
                <c:pt idx="5">
                  <c:v>1.3127</c:v>
                </c:pt>
                <c:pt idx="6">
                  <c:v>1.9435</c:v>
                </c:pt>
                <c:pt idx="7">
                  <c:v>2.723</c:v>
                </c:pt>
                <c:pt idx="8">
                  <c:v>3.678</c:v>
                </c:pt>
                <c:pt idx="9">
                  <c:v>4.7488</c:v>
                </c:pt>
                <c:pt idx="10">
                  <c:v>5.971309</c:v>
                </c:pt>
                <c:pt idx="11">
                  <c:v>7.4004</c:v>
                </c:pt>
                <c:pt idx="12">
                  <c:v>8.804758</c:v>
                </c:pt>
                <c:pt idx="13">
                  <c:v>10.395</c:v>
                </c:pt>
                <c:pt idx="14">
                  <c:v>11.9729</c:v>
                </c:pt>
                <c:pt idx="15">
                  <c:v>13.6359</c:v>
                </c:pt>
                <c:pt idx="16">
                  <c:v>15.3813</c:v>
                </c:pt>
                <c:pt idx="17">
                  <c:v>17.2148</c:v>
                </c:pt>
                <c:pt idx="18">
                  <c:v>19.186</c:v>
                </c:pt>
                <c:pt idx="19">
                  <c:v>21.206</c:v>
                </c:pt>
                <c:pt idx="20">
                  <c:v>23.200974</c:v>
                </c:pt>
                <c:pt idx="21">
                  <c:v>25.2701</c:v>
                </c:pt>
                <c:pt idx="22">
                  <c:v>27.3709</c:v>
                </c:pt>
                <c:pt idx="23">
                  <c:v>29.5476</c:v>
                </c:pt>
                <c:pt idx="24">
                  <c:v>31.7176</c:v>
                </c:pt>
                <c:pt idx="25">
                  <c:v>33.9562</c:v>
                </c:pt>
                <c:pt idx="26">
                  <c:v>36.1932</c:v>
                </c:pt>
                <c:pt idx="27">
                  <c:v>38.4733</c:v>
                </c:pt>
                <c:pt idx="28">
                  <c:v>40.7417</c:v>
                </c:pt>
                <c:pt idx="29">
                  <c:v>42.9125</c:v>
                </c:pt>
                <c:pt idx="30">
                  <c:v>45.0746</c:v>
                </c:pt>
                <c:pt idx="31">
                  <c:v>47.2344</c:v>
                </c:pt>
                <c:pt idx="32">
                  <c:v>49.343454</c:v>
                </c:pt>
                <c:pt idx="33">
                  <c:v>51.4748</c:v>
                </c:pt>
                <c:pt idx="34">
                  <c:v>53.5385</c:v>
                </c:pt>
                <c:pt idx="35">
                  <c:v>55.5352</c:v>
                </c:pt>
                <c:pt idx="36">
                  <c:v>57.4131</c:v>
                </c:pt>
                <c:pt idx="37">
                  <c:v>59.2481</c:v>
                </c:pt>
                <c:pt idx="38">
                  <c:v>60.9833</c:v>
                </c:pt>
                <c:pt idx="39">
                  <c:v>62.701</c:v>
                </c:pt>
                <c:pt idx="40">
                  <c:v>64.353734</c:v>
                </c:pt>
                <c:pt idx="41">
                  <c:v>66.0001</c:v>
                </c:pt>
                <c:pt idx="42">
                  <c:v>67.5547</c:v>
                </c:pt>
                <c:pt idx="43">
                  <c:v>69.0633</c:v>
                </c:pt>
                <c:pt idx="44">
                  <c:v>70.5012</c:v>
                </c:pt>
                <c:pt idx="45">
                  <c:v>71.9035</c:v>
                </c:pt>
                <c:pt idx="46">
                  <c:v>73.3553</c:v>
                </c:pt>
                <c:pt idx="47">
                  <c:v>74.7999</c:v>
                </c:pt>
                <c:pt idx="48">
                  <c:v>76.2007</c:v>
                </c:pt>
                <c:pt idx="49">
                  <c:v>77.5032</c:v>
                </c:pt>
                <c:pt idx="50">
                  <c:v>78.8107</c:v>
                </c:pt>
                <c:pt idx="51">
                  <c:v>80.0833</c:v>
                </c:pt>
                <c:pt idx="52">
                  <c:v>81.286</c:v>
                </c:pt>
                <c:pt idx="53">
                  <c:v>82.4071</c:v>
                </c:pt>
                <c:pt idx="54">
                  <c:v>83.5406</c:v>
                </c:pt>
                <c:pt idx="55">
                  <c:v>84.6303</c:v>
                </c:pt>
                <c:pt idx="56">
                  <c:v>85.6407</c:v>
                </c:pt>
                <c:pt idx="57">
                  <c:v>86.5899</c:v>
                </c:pt>
                <c:pt idx="58">
                  <c:v>87.4939</c:v>
                </c:pt>
                <c:pt idx="59">
                  <c:v>88.3469</c:v>
                </c:pt>
                <c:pt idx="60">
                  <c:v>89.181614</c:v>
                </c:pt>
                <c:pt idx="61">
                  <c:v>90.0005</c:v>
                </c:pt>
                <c:pt idx="62">
                  <c:v>90.7275</c:v>
                </c:pt>
                <c:pt idx="63">
                  <c:v>91.4108</c:v>
                </c:pt>
                <c:pt idx="64">
                  <c:v>92.0395</c:v>
                </c:pt>
                <c:pt idx="65">
                  <c:v>92.6499</c:v>
                </c:pt>
                <c:pt idx="66">
                  <c:v>93.2217</c:v>
                </c:pt>
                <c:pt idx="67">
                  <c:v>93.7812</c:v>
                </c:pt>
                <c:pt idx="68">
                  <c:v>94.2802</c:v>
                </c:pt>
                <c:pt idx="69">
                  <c:v>94.7435</c:v>
                </c:pt>
                <c:pt idx="70">
                  <c:v>95.1667</c:v>
                </c:pt>
                <c:pt idx="71">
                  <c:v>95.5419</c:v>
                </c:pt>
                <c:pt idx="72">
                  <c:v>95.8631</c:v>
                </c:pt>
                <c:pt idx="73">
                  <c:v>96.1465</c:v>
                </c:pt>
                <c:pt idx="74">
                  <c:v>96.4014</c:v>
                </c:pt>
                <c:pt idx="75">
                  <c:v>96.6287</c:v>
                </c:pt>
                <c:pt idx="76">
                  <c:v>96.84</c:v>
                </c:pt>
                <c:pt idx="77">
                  <c:v>97.0396</c:v>
                </c:pt>
                <c:pt idx="78">
                  <c:v>97.2413</c:v>
                </c:pt>
                <c:pt idx="79">
                  <c:v>97.4176</c:v>
                </c:pt>
                <c:pt idx="80">
                  <c:v>97.580161</c:v>
                </c:pt>
                <c:pt idx="81">
                  <c:v>97.7396</c:v>
                </c:pt>
                <c:pt idx="82">
                  <c:v>97.8817</c:v>
                </c:pt>
                <c:pt idx="83">
                  <c:v>98.0026</c:v>
                </c:pt>
                <c:pt idx="84">
                  <c:v>98.1242</c:v>
                </c:pt>
                <c:pt idx="85">
                  <c:v>98.2539</c:v>
                </c:pt>
                <c:pt idx="86">
                  <c:v>98.3777</c:v>
                </c:pt>
                <c:pt idx="87">
                  <c:v>98.5059</c:v>
                </c:pt>
                <c:pt idx="88">
                  <c:v>98.6174</c:v>
                </c:pt>
                <c:pt idx="89">
                  <c:v>98.723</c:v>
                </c:pt>
                <c:pt idx="90">
                  <c:v>98.8199</c:v>
                </c:pt>
                <c:pt idx="91">
                  <c:v>98.9168</c:v>
                </c:pt>
                <c:pt idx="92">
                  <c:v>99.0224</c:v>
                </c:pt>
                <c:pt idx="93">
                  <c:v>99.1208</c:v>
                </c:pt>
                <c:pt idx="94">
                  <c:v>99.2206</c:v>
                </c:pt>
                <c:pt idx="95">
                  <c:v>99.3051</c:v>
                </c:pt>
                <c:pt idx="96">
                  <c:v>99.3823</c:v>
                </c:pt>
                <c:pt idx="97">
                  <c:v>99.4602</c:v>
                </c:pt>
                <c:pt idx="98">
                  <c:v>99.525</c:v>
                </c:pt>
                <c:pt idx="99">
                  <c:v>99.5906</c:v>
                </c:pt>
                <c:pt idx="100">
                  <c:v>99.6452</c:v>
                </c:pt>
                <c:pt idx="101">
                  <c:v>99.6999</c:v>
                </c:pt>
                <c:pt idx="102">
                  <c:v>99.7567</c:v>
                </c:pt>
                <c:pt idx="103">
                  <c:v>99.8055</c:v>
                </c:pt>
                <c:pt idx="104">
                  <c:v>99.8485</c:v>
                </c:pt>
                <c:pt idx="105">
                  <c:v>99.8856</c:v>
                </c:pt>
                <c:pt idx="106">
                  <c:v>99.917</c:v>
                </c:pt>
                <c:pt idx="107">
                  <c:v>99.9417</c:v>
                </c:pt>
                <c:pt idx="108">
                  <c:v>99.957</c:v>
                </c:pt>
                <c:pt idx="109">
                  <c:v>99.9694</c:v>
                </c:pt>
                <c:pt idx="110">
                  <c:v>99.9752</c:v>
                </c:pt>
                <c:pt idx="111">
                  <c:v>99.9818</c:v>
                </c:pt>
                <c:pt idx="112">
                  <c:v>99.9876</c:v>
                </c:pt>
                <c:pt idx="113">
                  <c:v>99.9942</c:v>
                </c:pt>
                <c:pt idx="114">
                  <c:v>99.9985</c:v>
                </c:pt>
                <c:pt idx="115">
                  <c:v>100</c:v>
                </c:pt>
                <c:pt idx="116">
                  <c:v>100</c:v>
                </c:pt>
                <c:pt idx="117">
                  <c:v>100</c:v>
                </c:pt>
                <c:pt idx="118">
                  <c:v>100</c:v>
                </c:pt>
                <c:pt idx="119">
                  <c:v>100</c:v>
                </c:pt>
                <c:pt idx="120">
                  <c:v>100</c:v>
                </c:pt>
                <c:pt idx="121">
                  <c:v>100</c:v>
                </c:pt>
                <c:pt idx="122">
                  <c:v>100</c:v>
                </c:pt>
                <c:pt idx="123">
                  <c:v>100</c:v>
                </c:pt>
                <c:pt idx="124">
                  <c:v>100</c:v>
                </c:pt>
                <c:pt idx="125">
                  <c:v>100</c:v>
                </c:pt>
                <c:pt idx="126">
                  <c:v>100</c:v>
                </c:pt>
                <c:pt idx="127">
                  <c:v>100</c:v>
                </c:pt>
                <c:pt idx="128">
                  <c:v>100</c:v>
                </c:pt>
                <c:pt idx="129">
                  <c:v>100</c:v>
                </c:pt>
                <c:pt idx="130">
                  <c:v>100</c:v>
                </c:pt>
                <c:pt idx="131">
                  <c:v>100</c:v>
                </c:pt>
                <c:pt idx="132">
                  <c:v>100</c:v>
                </c:pt>
                <c:pt idx="133">
                  <c:v>100</c:v>
                </c:pt>
                <c:pt idx="134">
                  <c:v>100</c:v>
                </c:pt>
                <c:pt idx="135">
                  <c:v>100</c:v>
                </c:pt>
                <c:pt idx="136">
                  <c:v>100</c:v>
                </c:pt>
                <c:pt idx="137">
                  <c:v>100</c:v>
                </c:pt>
                <c:pt idx="138">
                  <c:v>100</c:v>
                </c:pt>
                <c:pt idx="139">
                  <c:v>100</c:v>
                </c:pt>
                <c:pt idx="140">
                  <c:v>100</c:v>
                </c:pt>
                <c:pt idx="141">
                  <c:v>100</c:v>
                </c:pt>
                <c:pt idx="142">
                  <c:v>100</c:v>
                </c:pt>
                <c:pt idx="143">
                  <c:v>100</c:v>
                </c:pt>
                <c:pt idx="144">
                  <c:v>100</c:v>
                </c:pt>
                <c:pt idx="145">
                  <c:v>100</c:v>
                </c:pt>
                <c:pt idx="146">
                  <c:v>100</c:v>
                </c:pt>
                <c:pt idx="147">
                  <c:v>100</c:v>
                </c:pt>
                <c:pt idx="148">
                  <c:v>100</c:v>
                </c:pt>
                <c:pt idx="149">
                  <c:v>100</c:v>
                </c:pt>
                <c:pt idx="150">
                  <c:v>100</c:v>
                </c:pt>
                <c:pt idx="151">
                  <c:v>100</c:v>
                </c:pt>
                <c:pt idx="152">
                  <c:v>100</c:v>
                </c:pt>
                <c:pt idx="153">
                  <c:v>100</c:v>
                </c:pt>
                <c:pt idx="154">
                  <c:v>100</c:v>
                </c:pt>
                <c:pt idx="155">
                  <c:v>100</c:v>
                </c:pt>
                <c:pt idx="156">
                  <c:v>100</c:v>
                </c:pt>
                <c:pt idx="157">
                  <c:v>100</c:v>
                </c:pt>
                <c:pt idx="158">
                  <c:v>100</c:v>
                </c:pt>
                <c:pt idx="159">
                  <c:v>100</c:v>
                </c:pt>
                <c:pt idx="160">
                  <c:v>100</c:v>
                </c:pt>
                <c:pt idx="161">
                  <c:v>100</c:v>
                </c:pt>
                <c:pt idx="162">
                  <c:v>100</c:v>
                </c:pt>
                <c:pt idx="163">
                  <c:v>100</c:v>
                </c:pt>
                <c:pt idx="164">
                  <c:v>100</c:v>
                </c:pt>
                <c:pt idx="165">
                  <c:v>100</c:v>
                </c:pt>
                <c:pt idx="166">
                  <c:v>100</c:v>
                </c:pt>
                <c:pt idx="167">
                  <c:v>100</c:v>
                </c:pt>
                <c:pt idx="168">
                  <c:v>100</c:v>
                </c:pt>
                <c:pt idx="169">
                  <c:v>100</c:v>
                </c:pt>
                <c:pt idx="170">
                  <c:v>100</c:v>
                </c:pt>
                <c:pt idx="171">
                  <c:v>100</c:v>
                </c:pt>
                <c:pt idx="172">
                  <c:v>100</c:v>
                </c:pt>
                <c:pt idx="173">
                  <c:v>100</c:v>
                </c:pt>
                <c:pt idx="174">
                  <c:v>100</c:v>
                </c:pt>
                <c:pt idx="175">
                  <c:v>100</c:v>
                </c:pt>
                <c:pt idx="176">
                  <c:v>100</c:v>
                </c:pt>
                <c:pt idx="177">
                  <c:v>100</c:v>
                </c:pt>
                <c:pt idx="178">
                  <c:v>100</c:v>
                </c:pt>
                <c:pt idx="179">
                  <c:v>100</c:v>
                </c:pt>
                <c:pt idx="180">
                  <c:v>100</c:v>
                </c:pt>
                <c:pt idx="181">
                  <c:v>100</c:v>
                </c:pt>
                <c:pt idx="182">
                  <c:v>100</c:v>
                </c:pt>
                <c:pt idx="183">
                  <c:v>100</c:v>
                </c:pt>
                <c:pt idx="184">
                  <c:v>100</c:v>
                </c:pt>
                <c:pt idx="185">
                  <c:v>100</c:v>
                </c:pt>
                <c:pt idx="186">
                  <c:v>100</c:v>
                </c:pt>
                <c:pt idx="187">
                  <c:v>100</c:v>
                </c:pt>
                <c:pt idx="188">
                  <c:v>100</c:v>
                </c:pt>
                <c:pt idx="189">
                  <c:v>100</c:v>
                </c:pt>
                <c:pt idx="190">
                  <c:v>100</c:v>
                </c:pt>
                <c:pt idx="191">
                  <c:v>100</c:v>
                </c:pt>
                <c:pt idx="192">
                  <c:v>100</c:v>
                </c:pt>
                <c:pt idx="193">
                  <c:v>100</c:v>
                </c:pt>
                <c:pt idx="194">
                  <c:v>100</c:v>
                </c:pt>
                <c:pt idx="195">
                  <c:v>100</c:v>
                </c:pt>
                <c:pt idx="196">
                  <c:v>100</c:v>
                </c:pt>
                <c:pt idx="197">
                  <c:v>100</c:v>
                </c:pt>
                <c:pt idx="198">
                  <c:v>100</c:v>
                </c:pt>
                <c:pt idx="199">
                  <c:v>100</c:v>
                </c:pt>
                <c:pt idx="200">
                  <c:v>100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ABDF-402D-84E6-458C9FFB34EB}"/>
            </c:ext>
          </c:extLst>
        </c:ser>
        <c:ser>
          <c:idx val="2"/>
          <c:order val="2"/>
          <c:tx>
            <c:v>全市候选</c:v>
          </c:tx>
          <c:spPr>
            <a:ln w="9525">
              <a:solidFill>
                <a:srgbClr val="8F3E35"/>
              </a:solidFill>
            </a:ln>
          </c:spPr>
          <c:marker>
            <c:symbol val="circle"/>
            <c:size val="7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Data'!$E$2:$E$2</c:f>
              <c:numCache>
                <c:formatCode>General</c:formatCode>
                <c:ptCount val="1"/>
                <c:pt idx="0">
                  <c:v>2.625</c:v>
                </c:pt>
              </c:numCache>
            </c:numRef>
          </c:xVal>
          <c:yVal>
            <c:numRef>
              <c:f>'Chart Data'!$F$2:$F$2</c:f>
              <c:numCache>
                <c:formatCode>General</c:formatCode>
                <c:ptCount val="1"/>
                <c:pt idx="0">
                  <c:v>70.900746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ABDF-402D-84E6-458C9FFB34EB}"/>
            </c:ext>
          </c:extLst>
        </c:ser>
        <c:ser>
          <c:idx val="3"/>
          <c:order val="3"/>
          <c:tx>
            <c:v>全市85%</c:v>
          </c:tx>
          <c:spPr>
            <a:ln w="9525">
              <a:solidFill>
                <a:srgbClr val="8F3E35"/>
              </a:solidFill>
            </a:ln>
          </c:spPr>
          <c:marker>
            <c:symbol val="triangle"/>
            <c:size val="8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Data'!$G$2:$G$2</c:f>
              <c:numCache>
                <c:formatCode>General</c:formatCode>
                <c:ptCount val="1"/>
                <c:pt idx="0">
                  <c:v>4.024936</c:v>
                </c:pt>
              </c:numCache>
            </c:numRef>
          </c:xVal>
          <c:yVal>
            <c:numRef>
              <c:f>'Chart Data'!$H$2:$H$2</c:f>
              <c:numCache>
                <c:formatCode>General</c:formatCode>
                <c:ptCount val="1"/>
                <c:pt idx="0">
                  <c:v>85.005996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ABDF-402D-84E6-458C9FFB34EB}"/>
            </c:ext>
          </c:extLst>
        </c:ser>
        <c:ser>
          <c:idx val="4"/>
          <c:order val="4"/>
          <c:tx>
            <c:v>七区候选</c:v>
          </c:tx>
          <c:spPr>
            <a:ln w="9525">
              <a:solidFill>
                <a:srgbClr val="496B63"/>
              </a:solidFill>
            </a:ln>
          </c:spPr>
          <c:marker>
            <c:symbol val="circle"/>
            <c:size val="7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Data'!$I$2:$I$2</c:f>
              <c:numCache>
                <c:formatCode>General</c:formatCode>
                <c:ptCount val="1"/>
                <c:pt idx="0">
                  <c:v>1.2</c:v>
                </c:pt>
              </c:numCache>
            </c:numRef>
          </c:xVal>
          <c:yVal>
            <c:numRef>
              <c:f>'Chart Data'!$J$2:$J$2</c:f>
              <c:numCache>
                <c:formatCode>General</c:formatCode>
                <c:ptCount val="1"/>
                <c:pt idx="0">
                  <c:v>76.172664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4-ABDF-402D-84E6-458C9FFB34EB}"/>
            </c:ext>
          </c:extLst>
        </c:ser>
        <c:ser>
          <c:idx val="5"/>
          <c:order val="5"/>
          <c:tx>
            <c:v>七区85%</c:v>
          </c:tx>
          <c:spPr>
            <a:ln w="9525">
              <a:solidFill>
                <a:srgbClr val="496B63"/>
              </a:solidFill>
            </a:ln>
          </c:spPr>
          <c:marker>
            <c:symbol val="triangle"/>
            <c:size val="8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Data'!$K$2:$K$2</c:f>
              <c:numCache>
                <c:formatCode>General</c:formatCode>
                <c:ptCount val="1"/>
                <c:pt idx="0">
                  <c:v>1.384593</c:v>
                </c:pt>
              </c:numCache>
            </c:numRef>
          </c:xVal>
          <c:yVal>
            <c:numRef>
              <c:f>'Chart Data'!$L$2:$L$2</c:f>
              <c:numCache>
                <c:formatCode>General</c:formatCode>
                <c:ptCount val="1"/>
                <c:pt idx="0">
                  <c:v>85.028115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5-ABDF-402D-84E6-458C9FFB34E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w="5715">
              <a:solidFill>
                <a:srgbClr val="DDD0C6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面积覆盖率（</a:t>
                </a:r>
                <a:r>
                  <a:rPr lang="en-US" altLang="zh-CN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%</a:t>
                </a:r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50112"/>
        <c:crosses val="autoZero"/>
        <c:crossBetween val="midCat"/>
        <c:majorUnit val="25"/>
      </c:valAx>
      <c:valAx>
        <c:axId val="48650112"/>
        <c:scaling>
          <c:orientation val="minMax"/>
          <c:max val="5"/>
          <c:min val="0"/>
        </c:scaling>
        <c:delete val="0"/>
        <c:axPos val="b"/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直线半径（公里）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CBB9AD"/>
            </a:solidFill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72768"/>
        <c:crosses val="autoZero"/>
        <c:crossBetween val="midCat"/>
        <c:majorUnit val="1"/>
      </c:valAx>
      <c:spPr>
        <a:solidFill>
          <a:srgbClr val="F5F0E9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5F0E9"/>
    </a:solidFill>
    <a:ln w="0">
      <a:noFill/>
    </a:ln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0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v>全市16区</c:v>
          </c:tx>
          <c:spPr>
            <a:ln w="24765">
              <a:solidFill>
                <a:srgbClr val="8F3E35"/>
              </a:solidFill>
              <a:prstDash val="solid"/>
            </a:ln>
          </c:spPr>
          <c:marker>
            <c:symbol val="none"/>
          </c:marker>
          <c:xVal>
            <c:numRef>
              <c:f>'Chart Data'!$A$2:$A$202</c:f>
              <c:numCache>
                <c:formatCode>General</c:formatCode>
                <c:ptCount val="20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  <c:pt idx="41">
                  <c:v>1.025</c:v>
                </c:pt>
                <c:pt idx="42">
                  <c:v>1.05</c:v>
                </c:pt>
                <c:pt idx="43">
                  <c:v>1.075</c:v>
                </c:pt>
                <c:pt idx="44">
                  <c:v>1.1</c:v>
                </c:pt>
                <c:pt idx="45">
                  <c:v>1.125</c:v>
                </c:pt>
                <c:pt idx="46">
                  <c:v>1.15</c:v>
                </c:pt>
                <c:pt idx="47">
                  <c:v>1.175</c:v>
                </c:pt>
                <c:pt idx="48">
                  <c:v>1.2</c:v>
                </c:pt>
                <c:pt idx="49">
                  <c:v>1.225</c:v>
                </c:pt>
                <c:pt idx="50">
                  <c:v>1.25</c:v>
                </c:pt>
                <c:pt idx="51">
                  <c:v>1.275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</c:v>
                </c:pt>
                <c:pt idx="60">
                  <c:v>1.5</c:v>
                </c:pt>
                <c:pt idx="61">
                  <c:v>1.525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</c:v>
                </c:pt>
                <c:pt idx="70">
                  <c:v>1.75</c:v>
                </c:pt>
                <c:pt idx="71">
                  <c:v>1.775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</c:v>
                </c:pt>
                <c:pt idx="80">
                  <c:v>2</c:v>
                </c:pt>
                <c:pt idx="81">
                  <c:v>2.025</c:v>
                </c:pt>
                <c:pt idx="82">
                  <c:v>2.05</c:v>
                </c:pt>
                <c:pt idx="83">
                  <c:v>2.075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2.175</c:v>
                </c:pt>
                <c:pt idx="88">
                  <c:v>2.2</c:v>
                </c:pt>
                <c:pt idx="89">
                  <c:v>2.225</c:v>
                </c:pt>
                <c:pt idx="90">
                  <c:v>2.25</c:v>
                </c:pt>
                <c:pt idx="91">
                  <c:v>2.275</c:v>
                </c:pt>
                <c:pt idx="92">
                  <c:v>2.3</c:v>
                </c:pt>
                <c:pt idx="93">
                  <c:v>2.325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2.425</c:v>
                </c:pt>
                <c:pt idx="98">
                  <c:v>2.45</c:v>
                </c:pt>
                <c:pt idx="99">
                  <c:v>2.475</c:v>
                </c:pt>
                <c:pt idx="100">
                  <c:v>2.5</c:v>
                </c:pt>
                <c:pt idx="101">
                  <c:v>2.525</c:v>
                </c:pt>
                <c:pt idx="102">
                  <c:v>2.55</c:v>
                </c:pt>
                <c:pt idx="103">
                  <c:v>2.575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2.675</c:v>
                </c:pt>
                <c:pt idx="108">
                  <c:v>2.7</c:v>
                </c:pt>
                <c:pt idx="109">
                  <c:v>2.725</c:v>
                </c:pt>
                <c:pt idx="110">
                  <c:v>2.75</c:v>
                </c:pt>
                <c:pt idx="111">
                  <c:v>2.775</c:v>
                </c:pt>
                <c:pt idx="112">
                  <c:v>2.8</c:v>
                </c:pt>
                <c:pt idx="113">
                  <c:v>2.825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2.925</c:v>
                </c:pt>
                <c:pt idx="118">
                  <c:v>2.95</c:v>
                </c:pt>
                <c:pt idx="119">
                  <c:v>2.975</c:v>
                </c:pt>
                <c:pt idx="120">
                  <c:v>3</c:v>
                </c:pt>
                <c:pt idx="121">
                  <c:v>3.025</c:v>
                </c:pt>
                <c:pt idx="122">
                  <c:v>3.05</c:v>
                </c:pt>
                <c:pt idx="123">
                  <c:v>3.075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3.175</c:v>
                </c:pt>
                <c:pt idx="128">
                  <c:v>3.2</c:v>
                </c:pt>
                <c:pt idx="129">
                  <c:v>3.225</c:v>
                </c:pt>
                <c:pt idx="130">
                  <c:v>3.25</c:v>
                </c:pt>
                <c:pt idx="131">
                  <c:v>3.275</c:v>
                </c:pt>
                <c:pt idx="132">
                  <c:v>3.3</c:v>
                </c:pt>
                <c:pt idx="133">
                  <c:v>3.325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3.425</c:v>
                </c:pt>
                <c:pt idx="138">
                  <c:v>3.45</c:v>
                </c:pt>
                <c:pt idx="139">
                  <c:v>3.475</c:v>
                </c:pt>
                <c:pt idx="140">
                  <c:v>3.5</c:v>
                </c:pt>
                <c:pt idx="141">
                  <c:v>3.525</c:v>
                </c:pt>
                <c:pt idx="142">
                  <c:v>3.55</c:v>
                </c:pt>
                <c:pt idx="143">
                  <c:v>3.575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3.675</c:v>
                </c:pt>
                <c:pt idx="148">
                  <c:v>3.7</c:v>
                </c:pt>
                <c:pt idx="149">
                  <c:v>3.725</c:v>
                </c:pt>
                <c:pt idx="150">
                  <c:v>3.75</c:v>
                </c:pt>
                <c:pt idx="151">
                  <c:v>3.775</c:v>
                </c:pt>
                <c:pt idx="152">
                  <c:v>3.8</c:v>
                </c:pt>
                <c:pt idx="153">
                  <c:v>3.825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3.925</c:v>
                </c:pt>
                <c:pt idx="158">
                  <c:v>3.95</c:v>
                </c:pt>
                <c:pt idx="159">
                  <c:v>3.975</c:v>
                </c:pt>
                <c:pt idx="160">
                  <c:v>4</c:v>
                </c:pt>
                <c:pt idx="161">
                  <c:v>4.025</c:v>
                </c:pt>
                <c:pt idx="162">
                  <c:v>4.05</c:v>
                </c:pt>
                <c:pt idx="163">
                  <c:v>4.075</c:v>
                </c:pt>
                <c:pt idx="164">
                  <c:v>4.1</c:v>
                </c:pt>
                <c:pt idx="165">
                  <c:v>4.125</c:v>
                </c:pt>
                <c:pt idx="166">
                  <c:v>4.15</c:v>
                </c:pt>
                <c:pt idx="167">
                  <c:v>4.175</c:v>
                </c:pt>
                <c:pt idx="168">
                  <c:v>4.2</c:v>
                </c:pt>
                <c:pt idx="169">
                  <c:v>4.225</c:v>
                </c:pt>
                <c:pt idx="170">
                  <c:v>4.25</c:v>
                </c:pt>
                <c:pt idx="171">
                  <c:v>4.275</c:v>
                </c:pt>
                <c:pt idx="172">
                  <c:v>4.3</c:v>
                </c:pt>
                <c:pt idx="173">
                  <c:v>4.325</c:v>
                </c:pt>
                <c:pt idx="174">
                  <c:v>4.35</c:v>
                </c:pt>
                <c:pt idx="175">
                  <c:v>4.375</c:v>
                </c:pt>
                <c:pt idx="176">
                  <c:v>4.4</c:v>
                </c:pt>
                <c:pt idx="177">
                  <c:v>4.425</c:v>
                </c:pt>
                <c:pt idx="178">
                  <c:v>4.45</c:v>
                </c:pt>
                <c:pt idx="179">
                  <c:v>4.475</c:v>
                </c:pt>
                <c:pt idx="180">
                  <c:v>4.5</c:v>
                </c:pt>
                <c:pt idx="181">
                  <c:v>4.525</c:v>
                </c:pt>
                <c:pt idx="182">
                  <c:v>4.55</c:v>
                </c:pt>
                <c:pt idx="183">
                  <c:v>4.575</c:v>
                </c:pt>
                <c:pt idx="184">
                  <c:v>4.6</c:v>
                </c:pt>
                <c:pt idx="185">
                  <c:v>4.625</c:v>
                </c:pt>
                <c:pt idx="186">
                  <c:v>4.65</c:v>
                </c:pt>
                <c:pt idx="187">
                  <c:v>4.675</c:v>
                </c:pt>
                <c:pt idx="188">
                  <c:v>4.7</c:v>
                </c:pt>
                <c:pt idx="189">
                  <c:v>4.725</c:v>
                </c:pt>
                <c:pt idx="190">
                  <c:v>4.75</c:v>
                </c:pt>
                <c:pt idx="191">
                  <c:v>4.775</c:v>
                </c:pt>
                <c:pt idx="192">
                  <c:v>4.8</c:v>
                </c:pt>
                <c:pt idx="193">
                  <c:v>4.825</c:v>
                </c:pt>
                <c:pt idx="194">
                  <c:v>4.85</c:v>
                </c:pt>
                <c:pt idx="195">
                  <c:v>4.875</c:v>
                </c:pt>
                <c:pt idx="196">
                  <c:v>4.9</c:v>
                </c:pt>
                <c:pt idx="197">
                  <c:v>4.925</c:v>
                </c:pt>
                <c:pt idx="198">
                  <c:v>4.95</c:v>
                </c:pt>
                <c:pt idx="199">
                  <c:v>4.975</c:v>
                </c:pt>
                <c:pt idx="200">
                  <c:v>5</c:v>
                </c:pt>
              </c:numCache>
            </c:numRef>
          </c:xVal>
          <c:yVal>
            <c:numRef>
              <c:f>'Chart Data'!$B$2:$B$202</c:f>
              <c:numCache>
                <c:formatCode>General</c:formatCode>
                <c:ptCount val="201"/>
                <c:pt idx="0">
                  <c:v>0.264779</c:v>
                </c:pt>
                <c:pt idx="1">
                  <c:v>1.178</c:v>
                </c:pt>
                <c:pt idx="2">
                  <c:v>2.7828</c:v>
                </c:pt>
                <c:pt idx="3">
                  <c:v>4.7812</c:v>
                </c:pt>
                <c:pt idx="4">
                  <c:v>7.025998</c:v>
                </c:pt>
                <c:pt idx="5">
                  <c:v>9.5131</c:v>
                </c:pt>
                <c:pt idx="6">
                  <c:v>12.1602</c:v>
                </c:pt>
                <c:pt idx="7">
                  <c:v>14.9461</c:v>
                </c:pt>
                <c:pt idx="8">
                  <c:v>17.8182</c:v>
                </c:pt>
                <c:pt idx="9">
                  <c:v>20.7351</c:v>
                </c:pt>
                <c:pt idx="10">
                  <c:v>23.652605</c:v>
                </c:pt>
                <c:pt idx="11">
                  <c:v>26.5983</c:v>
                </c:pt>
                <c:pt idx="12">
                  <c:v>29.48679</c:v>
                </c:pt>
                <c:pt idx="13">
                  <c:v>32.3203</c:v>
                </c:pt>
                <c:pt idx="14">
                  <c:v>35.0426</c:v>
                </c:pt>
                <c:pt idx="15">
                  <c:v>37.7107</c:v>
                </c:pt>
                <c:pt idx="16">
                  <c:v>40.2942</c:v>
                </c:pt>
                <c:pt idx="17">
                  <c:v>42.7894</c:v>
                </c:pt>
                <c:pt idx="18">
                  <c:v>45.1766</c:v>
                </c:pt>
                <c:pt idx="19">
                  <c:v>47.5028</c:v>
                </c:pt>
                <c:pt idx="20">
                  <c:v>49.758286</c:v>
                </c:pt>
                <c:pt idx="21">
                  <c:v>51.9335</c:v>
                </c:pt>
                <c:pt idx="22">
                  <c:v>54.0146</c:v>
                </c:pt>
                <c:pt idx="23">
                  <c:v>56.0024</c:v>
                </c:pt>
                <c:pt idx="24">
                  <c:v>57.9086</c:v>
                </c:pt>
                <c:pt idx="25">
                  <c:v>59.7085</c:v>
                </c:pt>
                <c:pt idx="26">
                  <c:v>61.404</c:v>
                </c:pt>
                <c:pt idx="27">
                  <c:v>62.9863</c:v>
                </c:pt>
                <c:pt idx="28">
                  <c:v>64.4749</c:v>
                </c:pt>
                <c:pt idx="29">
                  <c:v>65.8921</c:v>
                </c:pt>
                <c:pt idx="30">
                  <c:v>67.2279</c:v>
                </c:pt>
                <c:pt idx="31">
                  <c:v>68.4839</c:v>
                </c:pt>
                <c:pt idx="32">
                  <c:v>69.648203</c:v>
                </c:pt>
                <c:pt idx="33">
                  <c:v>70.8054</c:v>
                </c:pt>
                <c:pt idx="34">
                  <c:v>71.8926</c:v>
                </c:pt>
                <c:pt idx="35">
                  <c:v>72.9179</c:v>
                </c:pt>
                <c:pt idx="36">
                  <c:v>73.893</c:v>
                </c:pt>
                <c:pt idx="37">
                  <c:v>74.8182</c:v>
                </c:pt>
                <c:pt idx="38">
                  <c:v>75.6923</c:v>
                </c:pt>
                <c:pt idx="39">
                  <c:v>76.5188</c:v>
                </c:pt>
                <c:pt idx="40">
                  <c:v>77.280001</c:v>
                </c:pt>
                <c:pt idx="41">
                  <c:v>78.0468</c:v>
                </c:pt>
                <c:pt idx="42">
                  <c:v>78.771</c:v>
                </c:pt>
                <c:pt idx="43">
                  <c:v>79.4573</c:v>
                </c:pt>
                <c:pt idx="44">
                  <c:v>80.0968</c:v>
                </c:pt>
                <c:pt idx="45">
                  <c:v>80.6891</c:v>
                </c:pt>
                <c:pt idx="46">
                  <c:v>81.2456</c:v>
                </c:pt>
                <c:pt idx="47">
                  <c:v>81.7737</c:v>
                </c:pt>
                <c:pt idx="48">
                  <c:v>82.2683</c:v>
                </c:pt>
                <c:pt idx="49">
                  <c:v>82.7383</c:v>
                </c:pt>
                <c:pt idx="50">
                  <c:v>83.1932</c:v>
                </c:pt>
                <c:pt idx="51">
                  <c:v>83.6251</c:v>
                </c:pt>
                <c:pt idx="52">
                  <c:v>84.0376</c:v>
                </c:pt>
                <c:pt idx="53">
                  <c:v>84.4362</c:v>
                </c:pt>
                <c:pt idx="54">
                  <c:v>84.8246</c:v>
                </c:pt>
                <c:pt idx="55">
                  <c:v>85.2002</c:v>
                </c:pt>
                <c:pt idx="56">
                  <c:v>85.5674</c:v>
                </c:pt>
                <c:pt idx="57">
                  <c:v>85.9075</c:v>
                </c:pt>
                <c:pt idx="58">
                  <c:v>86.2305</c:v>
                </c:pt>
                <c:pt idx="59">
                  <c:v>86.533</c:v>
                </c:pt>
                <c:pt idx="60">
                  <c:v>86.814816</c:v>
                </c:pt>
                <c:pt idx="61">
                  <c:v>87.1006</c:v>
                </c:pt>
                <c:pt idx="62">
                  <c:v>87.3631</c:v>
                </c:pt>
                <c:pt idx="63">
                  <c:v>87.6145</c:v>
                </c:pt>
                <c:pt idx="64">
                  <c:v>87.8565</c:v>
                </c:pt>
                <c:pt idx="65">
                  <c:v>88.093</c:v>
                </c:pt>
                <c:pt idx="66">
                  <c:v>88.3214</c:v>
                </c:pt>
                <c:pt idx="67">
                  <c:v>88.5469</c:v>
                </c:pt>
                <c:pt idx="68">
                  <c:v>88.7631</c:v>
                </c:pt>
                <c:pt idx="69">
                  <c:v>88.9697</c:v>
                </c:pt>
                <c:pt idx="70">
                  <c:v>89.1753</c:v>
                </c:pt>
                <c:pt idx="71">
                  <c:v>89.3722</c:v>
                </c:pt>
                <c:pt idx="72">
                  <c:v>89.5652</c:v>
                </c:pt>
                <c:pt idx="73">
                  <c:v>89.7429</c:v>
                </c:pt>
                <c:pt idx="74">
                  <c:v>89.9176</c:v>
                </c:pt>
                <c:pt idx="75">
                  <c:v>90.0913</c:v>
                </c:pt>
                <c:pt idx="76">
                  <c:v>90.2643</c:v>
                </c:pt>
                <c:pt idx="77">
                  <c:v>90.4317</c:v>
                </c:pt>
                <c:pt idx="78">
                  <c:v>90.5927</c:v>
                </c:pt>
                <c:pt idx="79">
                  <c:v>90.7485</c:v>
                </c:pt>
                <c:pt idx="80">
                  <c:v>90.894569</c:v>
                </c:pt>
                <c:pt idx="81">
                  <c:v>91.0509</c:v>
                </c:pt>
                <c:pt idx="82">
                  <c:v>91.1963</c:v>
                </c:pt>
                <c:pt idx="83">
                  <c:v>91.3337</c:v>
                </c:pt>
                <c:pt idx="84">
                  <c:v>91.472</c:v>
                </c:pt>
                <c:pt idx="85">
                  <c:v>91.604</c:v>
                </c:pt>
                <c:pt idx="86">
                  <c:v>91.7354</c:v>
                </c:pt>
                <c:pt idx="87">
                  <c:v>91.8594</c:v>
                </c:pt>
                <c:pt idx="88">
                  <c:v>91.9785</c:v>
                </c:pt>
                <c:pt idx="89">
                  <c:v>92.1026</c:v>
                </c:pt>
                <c:pt idx="90">
                  <c:v>92.2201</c:v>
                </c:pt>
                <c:pt idx="91">
                  <c:v>92.3384</c:v>
                </c:pt>
                <c:pt idx="92">
                  <c:v>92.4542</c:v>
                </c:pt>
                <c:pt idx="93">
                  <c:v>92.5657</c:v>
                </c:pt>
                <c:pt idx="94">
                  <c:v>92.6681</c:v>
                </c:pt>
                <c:pt idx="95">
                  <c:v>92.771</c:v>
                </c:pt>
                <c:pt idx="96">
                  <c:v>92.8713</c:v>
                </c:pt>
                <c:pt idx="97">
                  <c:v>92.9689</c:v>
                </c:pt>
                <c:pt idx="98">
                  <c:v>93.0681</c:v>
                </c:pt>
                <c:pt idx="99">
                  <c:v>93.1631</c:v>
                </c:pt>
                <c:pt idx="100">
                  <c:v>93.2542</c:v>
                </c:pt>
                <c:pt idx="101">
                  <c:v>93.3412</c:v>
                </c:pt>
                <c:pt idx="102">
                  <c:v>93.4257</c:v>
                </c:pt>
                <c:pt idx="103">
                  <c:v>93.5122</c:v>
                </c:pt>
                <c:pt idx="104">
                  <c:v>93.5999</c:v>
                </c:pt>
                <c:pt idx="105">
                  <c:v>93.6884</c:v>
                </c:pt>
                <c:pt idx="106">
                  <c:v>93.7797</c:v>
                </c:pt>
                <c:pt idx="107">
                  <c:v>93.864</c:v>
                </c:pt>
                <c:pt idx="108">
                  <c:v>93.9523</c:v>
                </c:pt>
                <c:pt idx="109">
                  <c:v>94.0391</c:v>
                </c:pt>
                <c:pt idx="110">
                  <c:v>94.1265</c:v>
                </c:pt>
                <c:pt idx="111">
                  <c:v>94.2146</c:v>
                </c:pt>
                <c:pt idx="112">
                  <c:v>94.3062</c:v>
                </c:pt>
                <c:pt idx="113">
                  <c:v>94.3986</c:v>
                </c:pt>
                <c:pt idx="114">
                  <c:v>94.4854</c:v>
                </c:pt>
                <c:pt idx="115">
                  <c:v>94.5757</c:v>
                </c:pt>
                <c:pt idx="116">
                  <c:v>94.6647</c:v>
                </c:pt>
                <c:pt idx="117">
                  <c:v>94.7506</c:v>
                </c:pt>
                <c:pt idx="118">
                  <c:v>94.8354</c:v>
                </c:pt>
                <c:pt idx="119">
                  <c:v>94.9187</c:v>
                </c:pt>
                <c:pt idx="120">
                  <c:v>95.001727</c:v>
                </c:pt>
                <c:pt idx="121">
                  <c:v>95.0833</c:v>
                </c:pt>
                <c:pt idx="122">
                  <c:v>95.1637</c:v>
                </c:pt>
                <c:pt idx="123">
                  <c:v>95.2448</c:v>
                </c:pt>
                <c:pt idx="124">
                  <c:v>95.3239</c:v>
                </c:pt>
                <c:pt idx="125">
                  <c:v>95.3967</c:v>
                </c:pt>
                <c:pt idx="126">
                  <c:v>95.4603</c:v>
                </c:pt>
                <c:pt idx="127">
                  <c:v>95.5216</c:v>
                </c:pt>
                <c:pt idx="128">
                  <c:v>95.5785</c:v>
                </c:pt>
                <c:pt idx="129">
                  <c:v>95.6369</c:v>
                </c:pt>
                <c:pt idx="130">
                  <c:v>95.6904</c:v>
                </c:pt>
                <c:pt idx="131">
                  <c:v>95.7444</c:v>
                </c:pt>
                <c:pt idx="132">
                  <c:v>95.7974</c:v>
                </c:pt>
                <c:pt idx="133">
                  <c:v>95.8501</c:v>
                </c:pt>
                <c:pt idx="134">
                  <c:v>95.9017</c:v>
                </c:pt>
                <c:pt idx="135">
                  <c:v>95.9515</c:v>
                </c:pt>
                <c:pt idx="136">
                  <c:v>96.0024</c:v>
                </c:pt>
                <c:pt idx="137">
                  <c:v>96.0523</c:v>
                </c:pt>
                <c:pt idx="138">
                  <c:v>96.1044</c:v>
                </c:pt>
                <c:pt idx="139">
                  <c:v>96.1579</c:v>
                </c:pt>
                <c:pt idx="140">
                  <c:v>96.2141</c:v>
                </c:pt>
                <c:pt idx="141">
                  <c:v>96.272</c:v>
                </c:pt>
                <c:pt idx="142">
                  <c:v>96.3285</c:v>
                </c:pt>
                <c:pt idx="143">
                  <c:v>96.3864</c:v>
                </c:pt>
                <c:pt idx="144">
                  <c:v>96.4434</c:v>
                </c:pt>
                <c:pt idx="145">
                  <c:v>96.4991</c:v>
                </c:pt>
                <c:pt idx="146">
                  <c:v>96.5543</c:v>
                </c:pt>
                <c:pt idx="147">
                  <c:v>96.6104</c:v>
                </c:pt>
                <c:pt idx="148">
                  <c:v>96.6657</c:v>
                </c:pt>
                <c:pt idx="149">
                  <c:v>96.7228</c:v>
                </c:pt>
                <c:pt idx="150">
                  <c:v>96.7804</c:v>
                </c:pt>
                <c:pt idx="151">
                  <c:v>96.8385</c:v>
                </c:pt>
                <c:pt idx="152">
                  <c:v>96.896</c:v>
                </c:pt>
                <c:pt idx="153">
                  <c:v>96.951</c:v>
                </c:pt>
                <c:pt idx="154">
                  <c:v>97.0028</c:v>
                </c:pt>
                <c:pt idx="155">
                  <c:v>97.0517</c:v>
                </c:pt>
                <c:pt idx="156">
                  <c:v>97.1025</c:v>
                </c:pt>
                <c:pt idx="157">
                  <c:v>97.1544</c:v>
                </c:pt>
                <c:pt idx="158">
                  <c:v>97.2053</c:v>
                </c:pt>
                <c:pt idx="159">
                  <c:v>97.2548</c:v>
                </c:pt>
                <c:pt idx="160">
                  <c:v>97.3014</c:v>
                </c:pt>
                <c:pt idx="161">
                  <c:v>97.3467</c:v>
                </c:pt>
                <c:pt idx="162">
                  <c:v>97.3892</c:v>
                </c:pt>
                <c:pt idx="163">
                  <c:v>97.4306</c:v>
                </c:pt>
                <c:pt idx="164">
                  <c:v>97.4721</c:v>
                </c:pt>
                <c:pt idx="165">
                  <c:v>97.5098</c:v>
                </c:pt>
                <c:pt idx="166">
                  <c:v>97.5476</c:v>
                </c:pt>
                <c:pt idx="167">
                  <c:v>97.5848</c:v>
                </c:pt>
                <c:pt idx="168">
                  <c:v>97.6202</c:v>
                </c:pt>
                <c:pt idx="169">
                  <c:v>97.6568</c:v>
                </c:pt>
                <c:pt idx="170">
                  <c:v>97.6952</c:v>
                </c:pt>
                <c:pt idx="171">
                  <c:v>97.7306</c:v>
                </c:pt>
                <c:pt idx="172">
                  <c:v>97.7658</c:v>
                </c:pt>
                <c:pt idx="173">
                  <c:v>97.7985</c:v>
                </c:pt>
                <c:pt idx="174">
                  <c:v>97.8318</c:v>
                </c:pt>
                <c:pt idx="175">
                  <c:v>97.8629</c:v>
                </c:pt>
                <c:pt idx="176">
                  <c:v>97.8905</c:v>
                </c:pt>
                <c:pt idx="177">
                  <c:v>97.9192</c:v>
                </c:pt>
                <c:pt idx="178">
                  <c:v>97.9489</c:v>
                </c:pt>
                <c:pt idx="179">
                  <c:v>97.9797</c:v>
                </c:pt>
                <c:pt idx="180">
                  <c:v>98.0088</c:v>
                </c:pt>
                <c:pt idx="181">
                  <c:v>98.0381</c:v>
                </c:pt>
                <c:pt idx="182">
                  <c:v>98.0673</c:v>
                </c:pt>
                <c:pt idx="183">
                  <c:v>98.095</c:v>
                </c:pt>
                <c:pt idx="184">
                  <c:v>98.1263</c:v>
                </c:pt>
                <c:pt idx="185">
                  <c:v>98.156</c:v>
                </c:pt>
                <c:pt idx="186">
                  <c:v>98.1867</c:v>
                </c:pt>
                <c:pt idx="187">
                  <c:v>98.218</c:v>
                </c:pt>
                <c:pt idx="188">
                  <c:v>98.2481</c:v>
                </c:pt>
                <c:pt idx="189">
                  <c:v>98.2768</c:v>
                </c:pt>
                <c:pt idx="190">
                  <c:v>98.3037</c:v>
                </c:pt>
                <c:pt idx="191">
                  <c:v>98.3306</c:v>
                </c:pt>
                <c:pt idx="192">
                  <c:v>98.3547</c:v>
                </c:pt>
                <c:pt idx="193">
                  <c:v>98.3807</c:v>
                </c:pt>
                <c:pt idx="194">
                  <c:v>98.4034</c:v>
                </c:pt>
                <c:pt idx="195">
                  <c:v>98.4267</c:v>
                </c:pt>
                <c:pt idx="196">
                  <c:v>98.4493</c:v>
                </c:pt>
                <c:pt idx="197">
                  <c:v>98.4749</c:v>
                </c:pt>
                <c:pt idx="198">
                  <c:v>98.4992</c:v>
                </c:pt>
                <c:pt idx="199">
                  <c:v>98.5221</c:v>
                </c:pt>
                <c:pt idx="200">
                  <c:v>98.546973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0135-4752-A754-8EC322875917}"/>
            </c:ext>
          </c:extLst>
        </c:ser>
        <c:ser>
          <c:idx val="1"/>
          <c:order val="1"/>
          <c:tx>
            <c:v>中心七区</c:v>
          </c:tx>
          <c:spPr>
            <a:ln w="24765">
              <a:solidFill>
                <a:srgbClr val="496B63"/>
              </a:solidFill>
              <a:prstDash val="solid"/>
            </a:ln>
          </c:spPr>
          <c:marker>
            <c:symbol val="none"/>
          </c:marker>
          <c:xVal>
            <c:numRef>
              <c:f>'Chart Data'!$C$2:$C$202</c:f>
              <c:numCache>
                <c:formatCode>General</c:formatCode>
                <c:ptCount val="20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  <c:pt idx="41">
                  <c:v>1.025</c:v>
                </c:pt>
                <c:pt idx="42">
                  <c:v>1.05</c:v>
                </c:pt>
                <c:pt idx="43">
                  <c:v>1.075</c:v>
                </c:pt>
                <c:pt idx="44">
                  <c:v>1.1</c:v>
                </c:pt>
                <c:pt idx="45">
                  <c:v>1.125</c:v>
                </c:pt>
                <c:pt idx="46">
                  <c:v>1.15</c:v>
                </c:pt>
                <c:pt idx="47">
                  <c:v>1.175</c:v>
                </c:pt>
                <c:pt idx="48">
                  <c:v>1.2</c:v>
                </c:pt>
                <c:pt idx="49">
                  <c:v>1.225</c:v>
                </c:pt>
                <c:pt idx="50">
                  <c:v>1.25</c:v>
                </c:pt>
                <c:pt idx="51">
                  <c:v>1.275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</c:v>
                </c:pt>
                <c:pt idx="60">
                  <c:v>1.5</c:v>
                </c:pt>
                <c:pt idx="61">
                  <c:v>1.525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</c:v>
                </c:pt>
                <c:pt idx="70">
                  <c:v>1.75</c:v>
                </c:pt>
                <c:pt idx="71">
                  <c:v>1.775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</c:v>
                </c:pt>
                <c:pt idx="80">
                  <c:v>2</c:v>
                </c:pt>
                <c:pt idx="81">
                  <c:v>2.025</c:v>
                </c:pt>
                <c:pt idx="82">
                  <c:v>2.05</c:v>
                </c:pt>
                <c:pt idx="83">
                  <c:v>2.075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2.175</c:v>
                </c:pt>
                <c:pt idx="88">
                  <c:v>2.2</c:v>
                </c:pt>
                <c:pt idx="89">
                  <c:v>2.225</c:v>
                </c:pt>
                <c:pt idx="90">
                  <c:v>2.25</c:v>
                </c:pt>
                <c:pt idx="91">
                  <c:v>2.275</c:v>
                </c:pt>
                <c:pt idx="92">
                  <c:v>2.3</c:v>
                </c:pt>
                <c:pt idx="93">
                  <c:v>2.325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2.425</c:v>
                </c:pt>
                <c:pt idx="98">
                  <c:v>2.45</c:v>
                </c:pt>
                <c:pt idx="99">
                  <c:v>2.475</c:v>
                </c:pt>
                <c:pt idx="100">
                  <c:v>2.5</c:v>
                </c:pt>
                <c:pt idx="101">
                  <c:v>2.525</c:v>
                </c:pt>
                <c:pt idx="102">
                  <c:v>2.55</c:v>
                </c:pt>
                <c:pt idx="103">
                  <c:v>2.575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2.675</c:v>
                </c:pt>
                <c:pt idx="108">
                  <c:v>2.7</c:v>
                </c:pt>
                <c:pt idx="109">
                  <c:v>2.725</c:v>
                </c:pt>
                <c:pt idx="110">
                  <c:v>2.75</c:v>
                </c:pt>
                <c:pt idx="111">
                  <c:v>2.775</c:v>
                </c:pt>
                <c:pt idx="112">
                  <c:v>2.8</c:v>
                </c:pt>
                <c:pt idx="113">
                  <c:v>2.825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2.925</c:v>
                </c:pt>
                <c:pt idx="118">
                  <c:v>2.95</c:v>
                </c:pt>
                <c:pt idx="119">
                  <c:v>2.975</c:v>
                </c:pt>
                <c:pt idx="120">
                  <c:v>3</c:v>
                </c:pt>
                <c:pt idx="121">
                  <c:v>3.025</c:v>
                </c:pt>
                <c:pt idx="122">
                  <c:v>3.05</c:v>
                </c:pt>
                <c:pt idx="123">
                  <c:v>3.075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3.175</c:v>
                </c:pt>
                <c:pt idx="128">
                  <c:v>3.2</c:v>
                </c:pt>
                <c:pt idx="129">
                  <c:v>3.225</c:v>
                </c:pt>
                <c:pt idx="130">
                  <c:v>3.25</c:v>
                </c:pt>
                <c:pt idx="131">
                  <c:v>3.275</c:v>
                </c:pt>
                <c:pt idx="132">
                  <c:v>3.3</c:v>
                </c:pt>
                <c:pt idx="133">
                  <c:v>3.325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3.425</c:v>
                </c:pt>
                <c:pt idx="138">
                  <c:v>3.45</c:v>
                </c:pt>
                <c:pt idx="139">
                  <c:v>3.475</c:v>
                </c:pt>
                <c:pt idx="140">
                  <c:v>3.5</c:v>
                </c:pt>
                <c:pt idx="141">
                  <c:v>3.525</c:v>
                </c:pt>
                <c:pt idx="142">
                  <c:v>3.55</c:v>
                </c:pt>
                <c:pt idx="143">
                  <c:v>3.575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3.675</c:v>
                </c:pt>
                <c:pt idx="148">
                  <c:v>3.7</c:v>
                </c:pt>
                <c:pt idx="149">
                  <c:v>3.725</c:v>
                </c:pt>
                <c:pt idx="150">
                  <c:v>3.75</c:v>
                </c:pt>
                <c:pt idx="151">
                  <c:v>3.775</c:v>
                </c:pt>
                <c:pt idx="152">
                  <c:v>3.8</c:v>
                </c:pt>
                <c:pt idx="153">
                  <c:v>3.825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3.925</c:v>
                </c:pt>
                <c:pt idx="158">
                  <c:v>3.95</c:v>
                </c:pt>
                <c:pt idx="159">
                  <c:v>3.975</c:v>
                </c:pt>
                <c:pt idx="160">
                  <c:v>4</c:v>
                </c:pt>
                <c:pt idx="161">
                  <c:v>4.025</c:v>
                </c:pt>
                <c:pt idx="162">
                  <c:v>4.05</c:v>
                </c:pt>
                <c:pt idx="163">
                  <c:v>4.075</c:v>
                </c:pt>
                <c:pt idx="164">
                  <c:v>4.1</c:v>
                </c:pt>
                <c:pt idx="165">
                  <c:v>4.125</c:v>
                </c:pt>
                <c:pt idx="166">
                  <c:v>4.15</c:v>
                </c:pt>
                <c:pt idx="167">
                  <c:v>4.175</c:v>
                </c:pt>
                <c:pt idx="168">
                  <c:v>4.2</c:v>
                </c:pt>
                <c:pt idx="169">
                  <c:v>4.225</c:v>
                </c:pt>
                <c:pt idx="170">
                  <c:v>4.25</c:v>
                </c:pt>
                <c:pt idx="171">
                  <c:v>4.275</c:v>
                </c:pt>
                <c:pt idx="172">
                  <c:v>4.3</c:v>
                </c:pt>
                <c:pt idx="173">
                  <c:v>4.325</c:v>
                </c:pt>
                <c:pt idx="174">
                  <c:v>4.35</c:v>
                </c:pt>
                <c:pt idx="175">
                  <c:v>4.375</c:v>
                </c:pt>
                <c:pt idx="176">
                  <c:v>4.4</c:v>
                </c:pt>
                <c:pt idx="177">
                  <c:v>4.425</c:v>
                </c:pt>
                <c:pt idx="178">
                  <c:v>4.45</c:v>
                </c:pt>
                <c:pt idx="179">
                  <c:v>4.475</c:v>
                </c:pt>
                <c:pt idx="180">
                  <c:v>4.5</c:v>
                </c:pt>
                <c:pt idx="181">
                  <c:v>4.525</c:v>
                </c:pt>
                <c:pt idx="182">
                  <c:v>4.55</c:v>
                </c:pt>
                <c:pt idx="183">
                  <c:v>4.575</c:v>
                </c:pt>
                <c:pt idx="184">
                  <c:v>4.6</c:v>
                </c:pt>
                <c:pt idx="185">
                  <c:v>4.625</c:v>
                </c:pt>
                <c:pt idx="186">
                  <c:v>4.65</c:v>
                </c:pt>
                <c:pt idx="187">
                  <c:v>4.675</c:v>
                </c:pt>
                <c:pt idx="188">
                  <c:v>4.7</c:v>
                </c:pt>
                <c:pt idx="189">
                  <c:v>4.725</c:v>
                </c:pt>
                <c:pt idx="190">
                  <c:v>4.75</c:v>
                </c:pt>
                <c:pt idx="191">
                  <c:v>4.775</c:v>
                </c:pt>
                <c:pt idx="192">
                  <c:v>4.8</c:v>
                </c:pt>
                <c:pt idx="193">
                  <c:v>4.825</c:v>
                </c:pt>
                <c:pt idx="194">
                  <c:v>4.85</c:v>
                </c:pt>
                <c:pt idx="195">
                  <c:v>4.875</c:v>
                </c:pt>
                <c:pt idx="196">
                  <c:v>4.9</c:v>
                </c:pt>
                <c:pt idx="197">
                  <c:v>4.925</c:v>
                </c:pt>
                <c:pt idx="198">
                  <c:v>4.95</c:v>
                </c:pt>
                <c:pt idx="199">
                  <c:v>4.975</c:v>
                </c:pt>
                <c:pt idx="200">
                  <c:v>5</c:v>
                </c:pt>
              </c:numCache>
            </c:numRef>
          </c:xVal>
          <c:yVal>
            <c:numRef>
              <c:f>'Chart Data'!$D$2:$D$202</c:f>
              <c:numCache>
                <c:formatCode>General</c:formatCode>
                <c:ptCount val="201"/>
                <c:pt idx="0">
                  <c:v>0.180735</c:v>
                </c:pt>
                <c:pt idx="1">
                  <c:v>1.8568</c:v>
                </c:pt>
                <c:pt idx="2">
                  <c:v>4.59</c:v>
                </c:pt>
                <c:pt idx="3">
                  <c:v>7.9081</c:v>
                </c:pt>
                <c:pt idx="4">
                  <c:v>11.657868</c:v>
                </c:pt>
                <c:pt idx="5">
                  <c:v>15.7798</c:v>
                </c:pt>
                <c:pt idx="6">
                  <c:v>20.1927</c:v>
                </c:pt>
                <c:pt idx="7">
                  <c:v>24.8687</c:v>
                </c:pt>
                <c:pt idx="8">
                  <c:v>29.6816</c:v>
                </c:pt>
                <c:pt idx="9">
                  <c:v>34.5222</c:v>
                </c:pt>
                <c:pt idx="10">
                  <c:v>39.310519</c:v>
                </c:pt>
                <c:pt idx="11">
                  <c:v>44.0664</c:v>
                </c:pt>
                <c:pt idx="12">
                  <c:v>48.784991</c:v>
                </c:pt>
                <c:pt idx="13">
                  <c:v>53.3221</c:v>
                </c:pt>
                <c:pt idx="14">
                  <c:v>57.5836</c:v>
                </c:pt>
                <c:pt idx="15">
                  <c:v>61.6804</c:v>
                </c:pt>
                <c:pt idx="16">
                  <c:v>65.5281</c:v>
                </c:pt>
                <c:pt idx="17">
                  <c:v>69.1456</c:v>
                </c:pt>
                <c:pt idx="18">
                  <c:v>72.4528</c:v>
                </c:pt>
                <c:pt idx="19">
                  <c:v>75.5596</c:v>
                </c:pt>
                <c:pt idx="20">
                  <c:v>78.562083</c:v>
                </c:pt>
                <c:pt idx="21">
                  <c:v>81.2795</c:v>
                </c:pt>
                <c:pt idx="22">
                  <c:v>83.7598</c:v>
                </c:pt>
                <c:pt idx="23">
                  <c:v>85.9736</c:v>
                </c:pt>
                <c:pt idx="24">
                  <c:v>87.9332</c:v>
                </c:pt>
                <c:pt idx="25">
                  <c:v>89.7361</c:v>
                </c:pt>
                <c:pt idx="26">
                  <c:v>91.3613</c:v>
                </c:pt>
                <c:pt idx="27">
                  <c:v>92.7512</c:v>
                </c:pt>
                <c:pt idx="28">
                  <c:v>93.9203</c:v>
                </c:pt>
                <c:pt idx="29">
                  <c:v>94.868</c:v>
                </c:pt>
                <c:pt idx="30">
                  <c:v>95.6672</c:v>
                </c:pt>
                <c:pt idx="31">
                  <c:v>96.3774</c:v>
                </c:pt>
                <c:pt idx="32">
                  <c:v>97.007632</c:v>
                </c:pt>
                <c:pt idx="33">
                  <c:v>97.5422</c:v>
                </c:pt>
                <c:pt idx="34">
                  <c:v>97.9771</c:v>
                </c:pt>
                <c:pt idx="35">
                  <c:v>98.3297</c:v>
                </c:pt>
                <c:pt idx="36">
                  <c:v>98.6057</c:v>
                </c:pt>
                <c:pt idx="37">
                  <c:v>98.8359</c:v>
                </c:pt>
                <c:pt idx="38">
                  <c:v>99.0188</c:v>
                </c:pt>
                <c:pt idx="39">
                  <c:v>99.1776</c:v>
                </c:pt>
                <c:pt idx="40">
                  <c:v>99.325045</c:v>
                </c:pt>
                <c:pt idx="41">
                  <c:v>99.426</c:v>
                </c:pt>
                <c:pt idx="42">
                  <c:v>99.5076</c:v>
                </c:pt>
                <c:pt idx="43">
                  <c:v>99.5833</c:v>
                </c:pt>
                <c:pt idx="44">
                  <c:v>99.6416</c:v>
                </c:pt>
                <c:pt idx="45">
                  <c:v>99.6868</c:v>
                </c:pt>
                <c:pt idx="46">
                  <c:v>99.7385</c:v>
                </c:pt>
                <c:pt idx="47">
                  <c:v>99.7866</c:v>
                </c:pt>
                <c:pt idx="48">
                  <c:v>99.8368</c:v>
                </c:pt>
                <c:pt idx="49">
                  <c:v>99.8696</c:v>
                </c:pt>
                <c:pt idx="50">
                  <c:v>99.9053</c:v>
                </c:pt>
                <c:pt idx="51">
                  <c:v>99.9359</c:v>
                </c:pt>
                <c:pt idx="52">
                  <c:v>99.9527</c:v>
                </c:pt>
                <c:pt idx="53">
                  <c:v>99.9687</c:v>
                </c:pt>
                <c:pt idx="54">
                  <c:v>99.9774</c:v>
                </c:pt>
                <c:pt idx="55">
                  <c:v>99.9825</c:v>
                </c:pt>
                <c:pt idx="56">
                  <c:v>99.992</c:v>
                </c:pt>
                <c:pt idx="57">
                  <c:v>99.9971</c:v>
                </c:pt>
                <c:pt idx="58">
                  <c:v>100</c:v>
                </c:pt>
                <c:pt idx="59">
                  <c:v>100</c:v>
                </c:pt>
                <c:pt idx="60">
                  <c:v>100</c:v>
                </c:pt>
                <c:pt idx="61">
                  <c:v>100</c:v>
                </c:pt>
                <c:pt idx="62">
                  <c:v>100</c:v>
                </c:pt>
                <c:pt idx="63">
                  <c:v>100</c:v>
                </c:pt>
                <c:pt idx="64">
                  <c:v>100</c:v>
                </c:pt>
                <c:pt idx="65">
                  <c:v>100</c:v>
                </c:pt>
                <c:pt idx="66">
                  <c:v>100</c:v>
                </c:pt>
                <c:pt idx="67">
                  <c:v>100</c:v>
                </c:pt>
                <c:pt idx="68">
                  <c:v>100</c:v>
                </c:pt>
                <c:pt idx="69">
                  <c:v>100</c:v>
                </c:pt>
                <c:pt idx="70">
                  <c:v>100</c:v>
                </c:pt>
                <c:pt idx="71">
                  <c:v>100</c:v>
                </c:pt>
                <c:pt idx="72">
                  <c:v>100</c:v>
                </c:pt>
                <c:pt idx="73">
                  <c:v>100</c:v>
                </c:pt>
                <c:pt idx="74">
                  <c:v>100</c:v>
                </c:pt>
                <c:pt idx="75">
                  <c:v>100</c:v>
                </c:pt>
                <c:pt idx="76">
                  <c:v>100</c:v>
                </c:pt>
                <c:pt idx="77">
                  <c:v>100</c:v>
                </c:pt>
                <c:pt idx="78">
                  <c:v>100</c:v>
                </c:pt>
                <c:pt idx="79">
                  <c:v>100</c:v>
                </c:pt>
                <c:pt idx="80">
                  <c:v>100</c:v>
                </c:pt>
                <c:pt idx="81">
                  <c:v>100</c:v>
                </c:pt>
                <c:pt idx="82">
                  <c:v>100</c:v>
                </c:pt>
                <c:pt idx="83">
                  <c:v>100</c:v>
                </c:pt>
                <c:pt idx="84">
                  <c:v>100</c:v>
                </c:pt>
                <c:pt idx="85">
                  <c:v>100</c:v>
                </c:pt>
                <c:pt idx="86">
                  <c:v>100</c:v>
                </c:pt>
                <c:pt idx="87">
                  <c:v>100</c:v>
                </c:pt>
                <c:pt idx="88">
                  <c:v>100</c:v>
                </c:pt>
                <c:pt idx="89">
                  <c:v>100</c:v>
                </c:pt>
                <c:pt idx="90">
                  <c:v>100</c:v>
                </c:pt>
                <c:pt idx="91">
                  <c:v>100</c:v>
                </c:pt>
                <c:pt idx="92">
                  <c:v>100</c:v>
                </c:pt>
                <c:pt idx="93">
                  <c:v>100</c:v>
                </c:pt>
                <c:pt idx="94">
                  <c:v>100</c:v>
                </c:pt>
                <c:pt idx="95">
                  <c:v>100</c:v>
                </c:pt>
                <c:pt idx="96">
                  <c:v>100</c:v>
                </c:pt>
                <c:pt idx="97">
                  <c:v>100</c:v>
                </c:pt>
                <c:pt idx="98">
                  <c:v>100</c:v>
                </c:pt>
                <c:pt idx="99">
                  <c:v>100</c:v>
                </c:pt>
                <c:pt idx="100">
                  <c:v>100</c:v>
                </c:pt>
                <c:pt idx="101">
                  <c:v>100</c:v>
                </c:pt>
                <c:pt idx="102">
                  <c:v>100</c:v>
                </c:pt>
                <c:pt idx="103">
                  <c:v>100</c:v>
                </c:pt>
                <c:pt idx="104">
                  <c:v>100</c:v>
                </c:pt>
                <c:pt idx="105">
                  <c:v>100</c:v>
                </c:pt>
                <c:pt idx="106">
                  <c:v>100</c:v>
                </c:pt>
                <c:pt idx="107">
                  <c:v>100</c:v>
                </c:pt>
                <c:pt idx="108">
                  <c:v>100</c:v>
                </c:pt>
                <c:pt idx="109">
                  <c:v>100</c:v>
                </c:pt>
                <c:pt idx="110">
                  <c:v>100</c:v>
                </c:pt>
                <c:pt idx="111">
                  <c:v>100</c:v>
                </c:pt>
                <c:pt idx="112">
                  <c:v>100</c:v>
                </c:pt>
                <c:pt idx="113">
                  <c:v>100</c:v>
                </c:pt>
                <c:pt idx="114">
                  <c:v>100</c:v>
                </c:pt>
                <c:pt idx="115">
                  <c:v>100</c:v>
                </c:pt>
                <c:pt idx="116">
                  <c:v>100</c:v>
                </c:pt>
                <c:pt idx="117">
                  <c:v>100</c:v>
                </c:pt>
                <c:pt idx="118">
                  <c:v>100</c:v>
                </c:pt>
                <c:pt idx="119">
                  <c:v>100</c:v>
                </c:pt>
                <c:pt idx="120">
                  <c:v>100</c:v>
                </c:pt>
                <c:pt idx="121">
                  <c:v>100</c:v>
                </c:pt>
                <c:pt idx="122">
                  <c:v>100</c:v>
                </c:pt>
                <c:pt idx="123">
                  <c:v>100</c:v>
                </c:pt>
                <c:pt idx="124">
                  <c:v>100</c:v>
                </c:pt>
                <c:pt idx="125">
                  <c:v>100</c:v>
                </c:pt>
                <c:pt idx="126">
                  <c:v>100</c:v>
                </c:pt>
                <c:pt idx="127">
                  <c:v>100</c:v>
                </c:pt>
                <c:pt idx="128">
                  <c:v>100</c:v>
                </c:pt>
                <c:pt idx="129">
                  <c:v>100</c:v>
                </c:pt>
                <c:pt idx="130">
                  <c:v>100</c:v>
                </c:pt>
                <c:pt idx="131">
                  <c:v>100</c:v>
                </c:pt>
                <c:pt idx="132">
                  <c:v>100</c:v>
                </c:pt>
                <c:pt idx="133">
                  <c:v>100</c:v>
                </c:pt>
                <c:pt idx="134">
                  <c:v>100</c:v>
                </c:pt>
                <c:pt idx="135">
                  <c:v>100</c:v>
                </c:pt>
                <c:pt idx="136">
                  <c:v>100</c:v>
                </c:pt>
                <c:pt idx="137">
                  <c:v>100</c:v>
                </c:pt>
                <c:pt idx="138">
                  <c:v>100</c:v>
                </c:pt>
                <c:pt idx="139">
                  <c:v>100</c:v>
                </c:pt>
                <c:pt idx="140">
                  <c:v>100</c:v>
                </c:pt>
                <c:pt idx="141">
                  <c:v>100</c:v>
                </c:pt>
                <c:pt idx="142">
                  <c:v>100</c:v>
                </c:pt>
                <c:pt idx="143">
                  <c:v>100</c:v>
                </c:pt>
                <c:pt idx="144">
                  <c:v>100</c:v>
                </c:pt>
                <c:pt idx="145">
                  <c:v>100</c:v>
                </c:pt>
                <c:pt idx="146">
                  <c:v>100</c:v>
                </c:pt>
                <c:pt idx="147">
                  <c:v>100</c:v>
                </c:pt>
                <c:pt idx="148">
                  <c:v>100</c:v>
                </c:pt>
                <c:pt idx="149">
                  <c:v>100</c:v>
                </c:pt>
                <c:pt idx="150">
                  <c:v>100</c:v>
                </c:pt>
                <c:pt idx="151">
                  <c:v>100</c:v>
                </c:pt>
                <c:pt idx="152">
                  <c:v>100</c:v>
                </c:pt>
                <c:pt idx="153">
                  <c:v>100</c:v>
                </c:pt>
                <c:pt idx="154">
                  <c:v>100</c:v>
                </c:pt>
                <c:pt idx="155">
                  <c:v>100</c:v>
                </c:pt>
                <c:pt idx="156">
                  <c:v>100</c:v>
                </c:pt>
                <c:pt idx="157">
                  <c:v>100</c:v>
                </c:pt>
                <c:pt idx="158">
                  <c:v>100</c:v>
                </c:pt>
                <c:pt idx="159">
                  <c:v>100</c:v>
                </c:pt>
                <c:pt idx="160">
                  <c:v>100</c:v>
                </c:pt>
                <c:pt idx="161">
                  <c:v>100</c:v>
                </c:pt>
                <c:pt idx="162">
                  <c:v>100</c:v>
                </c:pt>
                <c:pt idx="163">
                  <c:v>100</c:v>
                </c:pt>
                <c:pt idx="164">
                  <c:v>100</c:v>
                </c:pt>
                <c:pt idx="165">
                  <c:v>100</c:v>
                </c:pt>
                <c:pt idx="166">
                  <c:v>100</c:v>
                </c:pt>
                <c:pt idx="167">
                  <c:v>100</c:v>
                </c:pt>
                <c:pt idx="168">
                  <c:v>100</c:v>
                </c:pt>
                <c:pt idx="169">
                  <c:v>100</c:v>
                </c:pt>
                <c:pt idx="170">
                  <c:v>100</c:v>
                </c:pt>
                <c:pt idx="171">
                  <c:v>100</c:v>
                </c:pt>
                <c:pt idx="172">
                  <c:v>100</c:v>
                </c:pt>
                <c:pt idx="173">
                  <c:v>100</c:v>
                </c:pt>
                <c:pt idx="174">
                  <c:v>100</c:v>
                </c:pt>
                <c:pt idx="175">
                  <c:v>100</c:v>
                </c:pt>
                <c:pt idx="176">
                  <c:v>100</c:v>
                </c:pt>
                <c:pt idx="177">
                  <c:v>100</c:v>
                </c:pt>
                <c:pt idx="178">
                  <c:v>100</c:v>
                </c:pt>
                <c:pt idx="179">
                  <c:v>100</c:v>
                </c:pt>
                <c:pt idx="180">
                  <c:v>100</c:v>
                </c:pt>
                <c:pt idx="181">
                  <c:v>100</c:v>
                </c:pt>
                <c:pt idx="182">
                  <c:v>100</c:v>
                </c:pt>
                <c:pt idx="183">
                  <c:v>100</c:v>
                </c:pt>
                <c:pt idx="184">
                  <c:v>100</c:v>
                </c:pt>
                <c:pt idx="185">
                  <c:v>100</c:v>
                </c:pt>
                <c:pt idx="186">
                  <c:v>100</c:v>
                </c:pt>
                <c:pt idx="187">
                  <c:v>100</c:v>
                </c:pt>
                <c:pt idx="188">
                  <c:v>100</c:v>
                </c:pt>
                <c:pt idx="189">
                  <c:v>100</c:v>
                </c:pt>
                <c:pt idx="190">
                  <c:v>100</c:v>
                </c:pt>
                <c:pt idx="191">
                  <c:v>100</c:v>
                </c:pt>
                <c:pt idx="192">
                  <c:v>100</c:v>
                </c:pt>
                <c:pt idx="193">
                  <c:v>100</c:v>
                </c:pt>
                <c:pt idx="194">
                  <c:v>100</c:v>
                </c:pt>
                <c:pt idx="195">
                  <c:v>100</c:v>
                </c:pt>
                <c:pt idx="196">
                  <c:v>100</c:v>
                </c:pt>
                <c:pt idx="197">
                  <c:v>100</c:v>
                </c:pt>
                <c:pt idx="198">
                  <c:v>100</c:v>
                </c:pt>
                <c:pt idx="199">
                  <c:v>100</c:v>
                </c:pt>
                <c:pt idx="200">
                  <c:v>100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0135-4752-A754-8EC322875917}"/>
            </c:ext>
          </c:extLst>
        </c:ser>
        <c:ser>
          <c:idx val="2"/>
          <c:order val="2"/>
          <c:tx>
            <c:v>全市候选</c:v>
          </c:tx>
          <c:spPr>
            <a:ln w="9525">
              <a:solidFill>
                <a:srgbClr val="8F3E35"/>
              </a:solidFill>
            </a:ln>
          </c:spPr>
          <c:marker>
            <c:symbol val="circle"/>
            <c:size val="7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Data'!$E$2:$E$2</c:f>
              <c:numCache>
                <c:formatCode>General</c:formatCode>
                <c:ptCount val="1"/>
                <c:pt idx="0">
                  <c:v>0.975</c:v>
                </c:pt>
              </c:numCache>
            </c:numRef>
          </c:xVal>
          <c:yVal>
            <c:numRef>
              <c:f>'Chart Data'!$F$2:$F$2</c:f>
              <c:numCache>
                <c:formatCode>General</c:formatCode>
                <c:ptCount val="1"/>
                <c:pt idx="0">
                  <c:v>76.496233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0135-4752-A754-8EC322875917}"/>
            </c:ext>
          </c:extLst>
        </c:ser>
        <c:ser>
          <c:idx val="3"/>
          <c:order val="3"/>
          <c:tx>
            <c:v>全市85%</c:v>
          </c:tx>
          <c:spPr>
            <a:ln w="9525">
              <a:solidFill>
                <a:srgbClr val="8F3E35"/>
              </a:solidFill>
            </a:ln>
          </c:spPr>
          <c:marker>
            <c:symbol val="triangle"/>
            <c:size val="8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Data'!$G$2:$G$2</c:f>
              <c:numCache>
                <c:formatCode>General</c:formatCode>
                <c:ptCount val="1"/>
                <c:pt idx="0">
                  <c:v>1.362364</c:v>
                </c:pt>
              </c:numCache>
            </c:numRef>
          </c:xVal>
          <c:yVal>
            <c:numRef>
              <c:f>'Chart Data'!$H$2:$H$2</c:f>
              <c:numCache>
                <c:formatCode>General</c:formatCode>
                <c:ptCount val="1"/>
                <c:pt idx="0">
                  <c:v>85.004046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0135-4752-A754-8EC322875917}"/>
            </c:ext>
          </c:extLst>
        </c:ser>
        <c:ser>
          <c:idx val="4"/>
          <c:order val="4"/>
          <c:tx>
            <c:v>七区候选</c:v>
          </c:tx>
          <c:spPr>
            <a:ln w="9525">
              <a:solidFill>
                <a:srgbClr val="496B63"/>
              </a:solidFill>
            </a:ln>
          </c:spPr>
          <c:marker>
            <c:symbol val="circle"/>
            <c:size val="7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Data'!$I$2:$I$2</c:f>
              <c:numCache>
                <c:formatCode>General</c:formatCode>
                <c:ptCount val="1"/>
                <c:pt idx="0">
                  <c:v>0.45</c:v>
                </c:pt>
              </c:numCache>
            </c:numRef>
          </c:xVal>
          <c:yVal>
            <c:numRef>
              <c:f>'Chart Data'!$J$2:$J$2</c:f>
              <c:numCache>
                <c:formatCode>General</c:formatCode>
                <c:ptCount val="1"/>
                <c:pt idx="0">
                  <c:v>72.498794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4-0135-4752-A754-8EC322875917}"/>
            </c:ext>
          </c:extLst>
        </c:ser>
        <c:ser>
          <c:idx val="5"/>
          <c:order val="5"/>
          <c:tx>
            <c:v>七区85%</c:v>
          </c:tx>
          <c:spPr>
            <a:ln w="9525">
              <a:solidFill>
                <a:srgbClr val="496B63"/>
              </a:solidFill>
            </a:ln>
          </c:spPr>
          <c:marker>
            <c:symbol val="triangle"/>
            <c:size val="8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Data'!$K$2:$K$2</c:f>
              <c:numCache>
                <c:formatCode>General</c:formatCode>
                <c:ptCount val="1"/>
                <c:pt idx="0">
                  <c:v>0.564308</c:v>
                </c:pt>
              </c:numCache>
            </c:numRef>
          </c:xVal>
          <c:yVal>
            <c:numRef>
              <c:f>'Chart Data'!$L$2:$L$2</c:f>
              <c:numCache>
                <c:formatCode>General</c:formatCode>
                <c:ptCount val="1"/>
                <c:pt idx="0">
                  <c:v>85.042455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5-0135-4752-A754-8EC32287591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w="5715">
              <a:solidFill>
                <a:srgbClr val="DDD0C6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面积覆盖率（</a:t>
                </a:r>
                <a:r>
                  <a:rPr lang="en-US" altLang="zh-CN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%</a:t>
                </a:r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50112"/>
        <c:crosses val="autoZero"/>
        <c:crossBetween val="midCat"/>
        <c:majorUnit val="25"/>
      </c:valAx>
      <c:valAx>
        <c:axId val="48650112"/>
        <c:scaling>
          <c:orientation val="minMax"/>
          <c:max val="5"/>
          <c:min val="0"/>
        </c:scaling>
        <c:delete val="0"/>
        <c:axPos val="b"/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直线半径（公里）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CBB9AD"/>
            </a:solidFill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72768"/>
        <c:crosses val="autoZero"/>
        <c:crossBetween val="midCat"/>
        <c:majorUnit val="1"/>
      </c:valAx>
      <c:spPr>
        <a:solidFill>
          <a:srgbClr val="F5F0E9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5F0E9"/>
    </a:solidFill>
    <a:ln w="0">
      <a:noFill/>
    </a:ln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0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v>全市16区</c:v>
          </c:tx>
          <c:spPr>
            <a:ln w="24765">
              <a:solidFill>
                <a:srgbClr val="8F3E35"/>
              </a:solidFill>
              <a:prstDash val="solid"/>
            </a:ln>
          </c:spPr>
          <c:marker>
            <c:symbol val="none"/>
          </c:marker>
          <c:xVal>
            <c:numRef>
              <c:f>'Chart Data'!$A$2:$A$202</c:f>
              <c:numCache>
                <c:formatCode>General</c:formatCode>
                <c:ptCount val="20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  <c:pt idx="41">
                  <c:v>1.025</c:v>
                </c:pt>
                <c:pt idx="42">
                  <c:v>1.05</c:v>
                </c:pt>
                <c:pt idx="43">
                  <c:v>1.075</c:v>
                </c:pt>
                <c:pt idx="44">
                  <c:v>1.1</c:v>
                </c:pt>
                <c:pt idx="45">
                  <c:v>1.125</c:v>
                </c:pt>
                <c:pt idx="46">
                  <c:v>1.15</c:v>
                </c:pt>
                <c:pt idx="47">
                  <c:v>1.175</c:v>
                </c:pt>
                <c:pt idx="48">
                  <c:v>1.2</c:v>
                </c:pt>
                <c:pt idx="49">
                  <c:v>1.225</c:v>
                </c:pt>
                <c:pt idx="50">
                  <c:v>1.25</c:v>
                </c:pt>
                <c:pt idx="51">
                  <c:v>1.275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</c:v>
                </c:pt>
                <c:pt idx="60">
                  <c:v>1.5</c:v>
                </c:pt>
                <c:pt idx="61">
                  <c:v>1.525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</c:v>
                </c:pt>
                <c:pt idx="70">
                  <c:v>1.75</c:v>
                </c:pt>
                <c:pt idx="71">
                  <c:v>1.775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</c:v>
                </c:pt>
                <c:pt idx="80">
                  <c:v>2</c:v>
                </c:pt>
                <c:pt idx="81">
                  <c:v>2.025</c:v>
                </c:pt>
                <c:pt idx="82">
                  <c:v>2.05</c:v>
                </c:pt>
                <c:pt idx="83">
                  <c:v>2.075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2.175</c:v>
                </c:pt>
                <c:pt idx="88">
                  <c:v>2.2</c:v>
                </c:pt>
                <c:pt idx="89">
                  <c:v>2.225</c:v>
                </c:pt>
                <c:pt idx="90">
                  <c:v>2.25</c:v>
                </c:pt>
                <c:pt idx="91">
                  <c:v>2.275</c:v>
                </c:pt>
                <c:pt idx="92">
                  <c:v>2.3</c:v>
                </c:pt>
                <c:pt idx="93">
                  <c:v>2.325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2.425</c:v>
                </c:pt>
                <c:pt idx="98">
                  <c:v>2.45</c:v>
                </c:pt>
                <c:pt idx="99">
                  <c:v>2.475</c:v>
                </c:pt>
                <c:pt idx="100">
                  <c:v>2.5</c:v>
                </c:pt>
                <c:pt idx="101">
                  <c:v>2.525</c:v>
                </c:pt>
                <c:pt idx="102">
                  <c:v>2.55</c:v>
                </c:pt>
                <c:pt idx="103">
                  <c:v>2.575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2.675</c:v>
                </c:pt>
                <c:pt idx="108">
                  <c:v>2.7</c:v>
                </c:pt>
                <c:pt idx="109">
                  <c:v>2.725</c:v>
                </c:pt>
                <c:pt idx="110">
                  <c:v>2.75</c:v>
                </c:pt>
                <c:pt idx="111">
                  <c:v>2.775</c:v>
                </c:pt>
                <c:pt idx="112">
                  <c:v>2.8</c:v>
                </c:pt>
                <c:pt idx="113">
                  <c:v>2.825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2.925</c:v>
                </c:pt>
                <c:pt idx="118">
                  <c:v>2.95</c:v>
                </c:pt>
                <c:pt idx="119">
                  <c:v>2.975</c:v>
                </c:pt>
                <c:pt idx="120">
                  <c:v>3</c:v>
                </c:pt>
                <c:pt idx="121">
                  <c:v>3.025</c:v>
                </c:pt>
                <c:pt idx="122">
                  <c:v>3.05</c:v>
                </c:pt>
                <c:pt idx="123">
                  <c:v>3.075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3.175</c:v>
                </c:pt>
                <c:pt idx="128">
                  <c:v>3.2</c:v>
                </c:pt>
                <c:pt idx="129">
                  <c:v>3.225</c:v>
                </c:pt>
                <c:pt idx="130">
                  <c:v>3.25</c:v>
                </c:pt>
                <c:pt idx="131">
                  <c:v>3.275</c:v>
                </c:pt>
                <c:pt idx="132">
                  <c:v>3.3</c:v>
                </c:pt>
                <c:pt idx="133">
                  <c:v>3.325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3.425</c:v>
                </c:pt>
                <c:pt idx="138">
                  <c:v>3.45</c:v>
                </c:pt>
                <c:pt idx="139">
                  <c:v>3.475</c:v>
                </c:pt>
                <c:pt idx="140">
                  <c:v>3.5</c:v>
                </c:pt>
                <c:pt idx="141">
                  <c:v>3.525</c:v>
                </c:pt>
                <c:pt idx="142">
                  <c:v>3.55</c:v>
                </c:pt>
                <c:pt idx="143">
                  <c:v>3.575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3.675</c:v>
                </c:pt>
                <c:pt idx="148">
                  <c:v>3.7</c:v>
                </c:pt>
                <c:pt idx="149">
                  <c:v>3.725</c:v>
                </c:pt>
                <c:pt idx="150">
                  <c:v>3.75</c:v>
                </c:pt>
                <c:pt idx="151">
                  <c:v>3.775</c:v>
                </c:pt>
                <c:pt idx="152">
                  <c:v>3.8</c:v>
                </c:pt>
                <c:pt idx="153">
                  <c:v>3.825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3.925</c:v>
                </c:pt>
                <c:pt idx="158">
                  <c:v>3.95</c:v>
                </c:pt>
                <c:pt idx="159">
                  <c:v>3.975</c:v>
                </c:pt>
                <c:pt idx="160">
                  <c:v>4</c:v>
                </c:pt>
                <c:pt idx="161">
                  <c:v>4.025</c:v>
                </c:pt>
                <c:pt idx="162">
                  <c:v>4.05</c:v>
                </c:pt>
                <c:pt idx="163">
                  <c:v>4.075</c:v>
                </c:pt>
                <c:pt idx="164">
                  <c:v>4.1</c:v>
                </c:pt>
                <c:pt idx="165">
                  <c:v>4.125</c:v>
                </c:pt>
                <c:pt idx="166">
                  <c:v>4.15</c:v>
                </c:pt>
                <c:pt idx="167">
                  <c:v>4.175</c:v>
                </c:pt>
                <c:pt idx="168">
                  <c:v>4.2</c:v>
                </c:pt>
                <c:pt idx="169">
                  <c:v>4.225</c:v>
                </c:pt>
                <c:pt idx="170">
                  <c:v>4.25</c:v>
                </c:pt>
                <c:pt idx="171">
                  <c:v>4.275</c:v>
                </c:pt>
                <c:pt idx="172">
                  <c:v>4.3</c:v>
                </c:pt>
                <c:pt idx="173">
                  <c:v>4.325</c:v>
                </c:pt>
                <c:pt idx="174">
                  <c:v>4.35</c:v>
                </c:pt>
                <c:pt idx="175">
                  <c:v>4.375</c:v>
                </c:pt>
                <c:pt idx="176">
                  <c:v>4.4</c:v>
                </c:pt>
                <c:pt idx="177">
                  <c:v>4.425</c:v>
                </c:pt>
                <c:pt idx="178">
                  <c:v>4.45</c:v>
                </c:pt>
                <c:pt idx="179">
                  <c:v>4.475</c:v>
                </c:pt>
                <c:pt idx="180">
                  <c:v>4.5</c:v>
                </c:pt>
                <c:pt idx="181">
                  <c:v>4.525</c:v>
                </c:pt>
                <c:pt idx="182">
                  <c:v>4.55</c:v>
                </c:pt>
                <c:pt idx="183">
                  <c:v>4.575</c:v>
                </c:pt>
                <c:pt idx="184">
                  <c:v>4.6</c:v>
                </c:pt>
                <c:pt idx="185">
                  <c:v>4.625</c:v>
                </c:pt>
                <c:pt idx="186">
                  <c:v>4.65</c:v>
                </c:pt>
                <c:pt idx="187">
                  <c:v>4.675</c:v>
                </c:pt>
                <c:pt idx="188">
                  <c:v>4.7</c:v>
                </c:pt>
                <c:pt idx="189">
                  <c:v>4.725</c:v>
                </c:pt>
                <c:pt idx="190">
                  <c:v>4.75</c:v>
                </c:pt>
                <c:pt idx="191">
                  <c:v>4.775</c:v>
                </c:pt>
                <c:pt idx="192">
                  <c:v>4.8</c:v>
                </c:pt>
                <c:pt idx="193">
                  <c:v>4.825</c:v>
                </c:pt>
                <c:pt idx="194">
                  <c:v>4.85</c:v>
                </c:pt>
                <c:pt idx="195">
                  <c:v>4.875</c:v>
                </c:pt>
                <c:pt idx="196">
                  <c:v>4.9</c:v>
                </c:pt>
                <c:pt idx="197">
                  <c:v>4.925</c:v>
                </c:pt>
                <c:pt idx="198">
                  <c:v>4.95</c:v>
                </c:pt>
                <c:pt idx="199">
                  <c:v>4.975</c:v>
                </c:pt>
                <c:pt idx="200">
                  <c:v>5</c:v>
                </c:pt>
              </c:numCache>
            </c:numRef>
          </c:xVal>
          <c:yVal>
            <c:numRef>
              <c:f>'Chart Data'!$B$2:$B$202</c:f>
              <c:numCache>
                <c:formatCode>General</c:formatCode>
                <c:ptCount val="201"/>
                <c:pt idx="0">
                  <c:v>0</c:v>
                </c:pt>
                <c:pt idx="1">
                  <c:v>0.01893</c:v>
                </c:pt>
                <c:pt idx="2">
                  <c:v>0.07795</c:v>
                </c:pt>
                <c:pt idx="3">
                  <c:v>0.18883</c:v>
                </c:pt>
                <c:pt idx="4">
                  <c:v>0.362564</c:v>
                </c:pt>
                <c:pt idx="5">
                  <c:v>0.60552</c:v>
                </c:pt>
                <c:pt idx="6">
                  <c:v>0.92169</c:v>
                </c:pt>
                <c:pt idx="7">
                  <c:v>1.29864</c:v>
                </c:pt>
                <c:pt idx="8">
                  <c:v>1.74591</c:v>
                </c:pt>
                <c:pt idx="9">
                  <c:v>2.24808</c:v>
                </c:pt>
                <c:pt idx="10">
                  <c:v>2.808535</c:v>
                </c:pt>
                <c:pt idx="11">
                  <c:v>3.4168</c:v>
                </c:pt>
                <c:pt idx="12">
                  <c:v>4.068935</c:v>
                </c:pt>
                <c:pt idx="13">
                  <c:v>4.77153</c:v>
                </c:pt>
                <c:pt idx="14">
                  <c:v>5.5205</c:v>
                </c:pt>
                <c:pt idx="15">
                  <c:v>6.31509</c:v>
                </c:pt>
                <c:pt idx="16">
                  <c:v>7.1513</c:v>
                </c:pt>
                <c:pt idx="17">
                  <c:v>8.03031</c:v>
                </c:pt>
                <c:pt idx="18">
                  <c:v>8.95741</c:v>
                </c:pt>
                <c:pt idx="19">
                  <c:v>9.90837</c:v>
                </c:pt>
                <c:pt idx="20">
                  <c:v>10.880581</c:v>
                </c:pt>
                <c:pt idx="21">
                  <c:v>11.85357</c:v>
                </c:pt>
                <c:pt idx="22">
                  <c:v>12.85827</c:v>
                </c:pt>
                <c:pt idx="23">
                  <c:v>13.86368</c:v>
                </c:pt>
                <c:pt idx="24">
                  <c:v>14.87849</c:v>
                </c:pt>
                <c:pt idx="25">
                  <c:v>15.90941</c:v>
                </c:pt>
                <c:pt idx="26">
                  <c:v>16.94715</c:v>
                </c:pt>
                <c:pt idx="27">
                  <c:v>18.01287</c:v>
                </c:pt>
                <c:pt idx="28">
                  <c:v>19.08071</c:v>
                </c:pt>
                <c:pt idx="29">
                  <c:v>20.15807</c:v>
                </c:pt>
                <c:pt idx="30">
                  <c:v>21.2305</c:v>
                </c:pt>
                <c:pt idx="31">
                  <c:v>22.30174</c:v>
                </c:pt>
                <c:pt idx="32">
                  <c:v>23.382285</c:v>
                </c:pt>
                <c:pt idx="33">
                  <c:v>24.4801</c:v>
                </c:pt>
                <c:pt idx="34">
                  <c:v>25.56852</c:v>
                </c:pt>
                <c:pt idx="35">
                  <c:v>26.65905</c:v>
                </c:pt>
                <c:pt idx="36">
                  <c:v>27.73935</c:v>
                </c:pt>
                <c:pt idx="37">
                  <c:v>28.8106</c:v>
                </c:pt>
                <c:pt idx="38">
                  <c:v>29.85668</c:v>
                </c:pt>
                <c:pt idx="39">
                  <c:v>30.8695</c:v>
                </c:pt>
                <c:pt idx="40">
                  <c:v>31.867011</c:v>
                </c:pt>
                <c:pt idx="41">
                  <c:v>32.86314</c:v>
                </c:pt>
                <c:pt idx="42">
                  <c:v>33.83292</c:v>
                </c:pt>
                <c:pt idx="43">
                  <c:v>34.786</c:v>
                </c:pt>
                <c:pt idx="44">
                  <c:v>35.73074</c:v>
                </c:pt>
                <c:pt idx="45">
                  <c:v>36.67594</c:v>
                </c:pt>
                <c:pt idx="46">
                  <c:v>37.61868</c:v>
                </c:pt>
                <c:pt idx="47">
                  <c:v>38.55577</c:v>
                </c:pt>
                <c:pt idx="48">
                  <c:v>39.48017</c:v>
                </c:pt>
                <c:pt idx="49">
                  <c:v>40.38222</c:v>
                </c:pt>
                <c:pt idx="50">
                  <c:v>41.28239</c:v>
                </c:pt>
                <c:pt idx="51">
                  <c:v>42.16775</c:v>
                </c:pt>
                <c:pt idx="52">
                  <c:v>43.0343</c:v>
                </c:pt>
                <c:pt idx="53">
                  <c:v>43.89743</c:v>
                </c:pt>
                <c:pt idx="54">
                  <c:v>44.74293</c:v>
                </c:pt>
                <c:pt idx="55">
                  <c:v>45.58549</c:v>
                </c:pt>
                <c:pt idx="56">
                  <c:v>46.41489</c:v>
                </c:pt>
                <c:pt idx="57">
                  <c:v>47.22864</c:v>
                </c:pt>
                <c:pt idx="58">
                  <c:v>48.01265</c:v>
                </c:pt>
                <c:pt idx="59">
                  <c:v>48.79454</c:v>
                </c:pt>
                <c:pt idx="60">
                  <c:v>49.549849</c:v>
                </c:pt>
                <c:pt idx="61">
                  <c:v>50.32187</c:v>
                </c:pt>
                <c:pt idx="62">
                  <c:v>51.06672</c:v>
                </c:pt>
                <c:pt idx="63">
                  <c:v>51.79476</c:v>
                </c:pt>
                <c:pt idx="64">
                  <c:v>52.50305</c:v>
                </c:pt>
                <c:pt idx="65">
                  <c:v>53.19452</c:v>
                </c:pt>
                <c:pt idx="66">
                  <c:v>53.87588</c:v>
                </c:pt>
                <c:pt idx="67">
                  <c:v>54.54572</c:v>
                </c:pt>
                <c:pt idx="68">
                  <c:v>55.19816</c:v>
                </c:pt>
                <c:pt idx="69">
                  <c:v>55.84566</c:v>
                </c:pt>
                <c:pt idx="70">
                  <c:v>56.48798</c:v>
                </c:pt>
                <c:pt idx="71">
                  <c:v>57.13701</c:v>
                </c:pt>
                <c:pt idx="72">
                  <c:v>57.78486</c:v>
                </c:pt>
                <c:pt idx="73">
                  <c:v>58.42637</c:v>
                </c:pt>
                <c:pt idx="74">
                  <c:v>59.05987</c:v>
                </c:pt>
                <c:pt idx="75">
                  <c:v>59.68786</c:v>
                </c:pt>
                <c:pt idx="76">
                  <c:v>60.31913</c:v>
                </c:pt>
                <c:pt idx="77">
                  <c:v>60.94288</c:v>
                </c:pt>
                <c:pt idx="78">
                  <c:v>61.56416</c:v>
                </c:pt>
                <c:pt idx="79">
                  <c:v>62.1825</c:v>
                </c:pt>
                <c:pt idx="80">
                  <c:v>62.779605</c:v>
                </c:pt>
                <c:pt idx="81">
                  <c:v>63.40001</c:v>
                </c:pt>
                <c:pt idx="82">
                  <c:v>63.99401</c:v>
                </c:pt>
                <c:pt idx="83">
                  <c:v>64.57038</c:v>
                </c:pt>
                <c:pt idx="84">
                  <c:v>65.12429</c:v>
                </c:pt>
                <c:pt idx="85">
                  <c:v>65.66937</c:v>
                </c:pt>
                <c:pt idx="86">
                  <c:v>66.19271</c:v>
                </c:pt>
                <c:pt idx="87">
                  <c:v>66.71664</c:v>
                </c:pt>
                <c:pt idx="88">
                  <c:v>67.23715</c:v>
                </c:pt>
                <c:pt idx="89">
                  <c:v>67.74121</c:v>
                </c:pt>
                <c:pt idx="90">
                  <c:v>68.2395</c:v>
                </c:pt>
                <c:pt idx="91">
                  <c:v>68.73039</c:v>
                </c:pt>
                <c:pt idx="92">
                  <c:v>69.22668</c:v>
                </c:pt>
                <c:pt idx="93">
                  <c:v>69.71992</c:v>
                </c:pt>
                <c:pt idx="94">
                  <c:v>70.21245</c:v>
                </c:pt>
                <c:pt idx="95">
                  <c:v>70.70028</c:v>
                </c:pt>
                <c:pt idx="96">
                  <c:v>71.17353</c:v>
                </c:pt>
                <c:pt idx="97">
                  <c:v>71.64255</c:v>
                </c:pt>
                <c:pt idx="98">
                  <c:v>72.09581</c:v>
                </c:pt>
                <c:pt idx="99">
                  <c:v>72.54378</c:v>
                </c:pt>
                <c:pt idx="100">
                  <c:v>72.98034</c:v>
                </c:pt>
                <c:pt idx="101">
                  <c:v>73.41056</c:v>
                </c:pt>
                <c:pt idx="102">
                  <c:v>73.82631</c:v>
                </c:pt>
                <c:pt idx="103">
                  <c:v>74.22749</c:v>
                </c:pt>
                <c:pt idx="104">
                  <c:v>74.61949</c:v>
                </c:pt>
                <c:pt idx="105">
                  <c:v>74.99198</c:v>
                </c:pt>
                <c:pt idx="106">
                  <c:v>75.35811</c:v>
                </c:pt>
                <c:pt idx="107">
                  <c:v>75.71614</c:v>
                </c:pt>
                <c:pt idx="108">
                  <c:v>76.06816</c:v>
                </c:pt>
                <c:pt idx="109">
                  <c:v>76.4283</c:v>
                </c:pt>
                <c:pt idx="110">
                  <c:v>76.78597</c:v>
                </c:pt>
                <c:pt idx="111">
                  <c:v>77.13859</c:v>
                </c:pt>
                <c:pt idx="112">
                  <c:v>77.49849</c:v>
                </c:pt>
                <c:pt idx="113">
                  <c:v>77.84687</c:v>
                </c:pt>
                <c:pt idx="114">
                  <c:v>78.20031</c:v>
                </c:pt>
                <c:pt idx="115">
                  <c:v>78.55293</c:v>
                </c:pt>
                <c:pt idx="116">
                  <c:v>78.89849</c:v>
                </c:pt>
                <c:pt idx="117">
                  <c:v>79.23993</c:v>
                </c:pt>
                <c:pt idx="118">
                  <c:v>79.57738</c:v>
                </c:pt>
                <c:pt idx="119">
                  <c:v>79.91589</c:v>
                </c:pt>
                <c:pt idx="120">
                  <c:v>80.250996</c:v>
                </c:pt>
                <c:pt idx="121">
                  <c:v>80.57691</c:v>
                </c:pt>
                <c:pt idx="122">
                  <c:v>80.89942</c:v>
                </c:pt>
                <c:pt idx="123">
                  <c:v>81.21429</c:v>
                </c:pt>
                <c:pt idx="124">
                  <c:v>81.52176</c:v>
                </c:pt>
                <c:pt idx="125">
                  <c:v>81.81382</c:v>
                </c:pt>
                <c:pt idx="126">
                  <c:v>82.09083</c:v>
                </c:pt>
                <c:pt idx="127">
                  <c:v>82.36714</c:v>
                </c:pt>
                <c:pt idx="128">
                  <c:v>82.64368</c:v>
                </c:pt>
                <c:pt idx="129">
                  <c:v>82.9174</c:v>
                </c:pt>
                <c:pt idx="130">
                  <c:v>83.19406</c:v>
                </c:pt>
                <c:pt idx="131">
                  <c:v>83.47401</c:v>
                </c:pt>
                <c:pt idx="132">
                  <c:v>83.74609</c:v>
                </c:pt>
                <c:pt idx="133">
                  <c:v>84.01428</c:v>
                </c:pt>
                <c:pt idx="134">
                  <c:v>84.28354</c:v>
                </c:pt>
                <c:pt idx="135">
                  <c:v>84.54444</c:v>
                </c:pt>
                <c:pt idx="136">
                  <c:v>84.79794</c:v>
                </c:pt>
                <c:pt idx="137">
                  <c:v>85.04273</c:v>
                </c:pt>
                <c:pt idx="138">
                  <c:v>85.27989</c:v>
                </c:pt>
                <c:pt idx="139">
                  <c:v>85.51246</c:v>
                </c:pt>
                <c:pt idx="140">
                  <c:v>85.73138</c:v>
                </c:pt>
                <c:pt idx="141">
                  <c:v>85.94479</c:v>
                </c:pt>
                <c:pt idx="142">
                  <c:v>86.16278</c:v>
                </c:pt>
                <c:pt idx="143">
                  <c:v>86.37935</c:v>
                </c:pt>
                <c:pt idx="144">
                  <c:v>86.58864</c:v>
                </c:pt>
                <c:pt idx="145">
                  <c:v>86.79217</c:v>
                </c:pt>
                <c:pt idx="146">
                  <c:v>86.99875</c:v>
                </c:pt>
                <c:pt idx="147">
                  <c:v>87.21027</c:v>
                </c:pt>
                <c:pt idx="148">
                  <c:v>87.42356</c:v>
                </c:pt>
                <c:pt idx="149">
                  <c:v>87.63344</c:v>
                </c:pt>
                <c:pt idx="150">
                  <c:v>87.84472</c:v>
                </c:pt>
                <c:pt idx="151">
                  <c:v>88.0566</c:v>
                </c:pt>
                <c:pt idx="152">
                  <c:v>88.27106</c:v>
                </c:pt>
                <c:pt idx="153">
                  <c:v>88.47894</c:v>
                </c:pt>
                <c:pt idx="154">
                  <c:v>88.68011</c:v>
                </c:pt>
                <c:pt idx="155">
                  <c:v>88.86647</c:v>
                </c:pt>
                <c:pt idx="156">
                  <c:v>89.03849</c:v>
                </c:pt>
                <c:pt idx="157">
                  <c:v>89.20368</c:v>
                </c:pt>
                <c:pt idx="158">
                  <c:v>89.36794</c:v>
                </c:pt>
                <c:pt idx="159">
                  <c:v>89.52702</c:v>
                </c:pt>
                <c:pt idx="160">
                  <c:v>89.68481</c:v>
                </c:pt>
                <c:pt idx="161">
                  <c:v>89.84037</c:v>
                </c:pt>
                <c:pt idx="162">
                  <c:v>89.99427</c:v>
                </c:pt>
                <c:pt idx="163">
                  <c:v>90.1443</c:v>
                </c:pt>
                <c:pt idx="164">
                  <c:v>90.28692</c:v>
                </c:pt>
                <c:pt idx="165">
                  <c:v>90.43072</c:v>
                </c:pt>
                <c:pt idx="166">
                  <c:v>90.57358</c:v>
                </c:pt>
                <c:pt idx="167">
                  <c:v>90.71267</c:v>
                </c:pt>
                <c:pt idx="168">
                  <c:v>90.84847</c:v>
                </c:pt>
                <c:pt idx="169">
                  <c:v>90.97393</c:v>
                </c:pt>
                <c:pt idx="170">
                  <c:v>91.08904</c:v>
                </c:pt>
                <c:pt idx="171">
                  <c:v>91.20356</c:v>
                </c:pt>
                <c:pt idx="172">
                  <c:v>91.31267</c:v>
                </c:pt>
                <c:pt idx="173">
                  <c:v>91.42014</c:v>
                </c:pt>
                <c:pt idx="174">
                  <c:v>91.52525</c:v>
                </c:pt>
                <c:pt idx="175">
                  <c:v>91.62731</c:v>
                </c:pt>
                <c:pt idx="176">
                  <c:v>91.72537</c:v>
                </c:pt>
                <c:pt idx="177">
                  <c:v>91.82272</c:v>
                </c:pt>
                <c:pt idx="178">
                  <c:v>91.91831</c:v>
                </c:pt>
                <c:pt idx="179">
                  <c:v>92.01343</c:v>
                </c:pt>
                <c:pt idx="180">
                  <c:v>92.10644</c:v>
                </c:pt>
                <c:pt idx="181">
                  <c:v>92.19615</c:v>
                </c:pt>
                <c:pt idx="182">
                  <c:v>92.27951</c:v>
                </c:pt>
                <c:pt idx="183">
                  <c:v>92.36205</c:v>
                </c:pt>
                <c:pt idx="184">
                  <c:v>92.43506</c:v>
                </c:pt>
                <c:pt idx="185">
                  <c:v>92.50796</c:v>
                </c:pt>
                <c:pt idx="186">
                  <c:v>92.57921</c:v>
                </c:pt>
                <c:pt idx="187">
                  <c:v>92.65129</c:v>
                </c:pt>
                <c:pt idx="188">
                  <c:v>92.72513</c:v>
                </c:pt>
                <c:pt idx="189">
                  <c:v>92.80061</c:v>
                </c:pt>
                <c:pt idx="190">
                  <c:v>92.87351</c:v>
                </c:pt>
                <c:pt idx="191">
                  <c:v>92.94606</c:v>
                </c:pt>
                <c:pt idx="192">
                  <c:v>93.01907</c:v>
                </c:pt>
                <c:pt idx="193">
                  <c:v>93.09126</c:v>
                </c:pt>
                <c:pt idx="194">
                  <c:v>93.16228</c:v>
                </c:pt>
                <c:pt idx="195">
                  <c:v>93.23224</c:v>
                </c:pt>
                <c:pt idx="196">
                  <c:v>93.29761</c:v>
                </c:pt>
                <c:pt idx="197">
                  <c:v>93.36205</c:v>
                </c:pt>
                <c:pt idx="198">
                  <c:v>93.42836</c:v>
                </c:pt>
                <c:pt idx="199">
                  <c:v>93.49256</c:v>
                </c:pt>
                <c:pt idx="200">
                  <c:v>93.562588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F25D-4B43-B59A-497EB3C7CCCE}"/>
            </c:ext>
          </c:extLst>
        </c:ser>
        <c:ser>
          <c:idx val="1"/>
          <c:order val="1"/>
          <c:tx>
            <c:v>中心七区</c:v>
          </c:tx>
          <c:spPr>
            <a:ln w="24765">
              <a:solidFill>
                <a:srgbClr val="496B63"/>
              </a:solidFill>
              <a:prstDash val="solid"/>
            </a:ln>
          </c:spPr>
          <c:marker>
            <c:symbol val="none"/>
          </c:marker>
          <c:xVal>
            <c:numRef>
              <c:f>'Chart Data'!$C$2:$C$202</c:f>
              <c:numCache>
                <c:formatCode>General</c:formatCode>
                <c:ptCount val="20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  <c:pt idx="41">
                  <c:v>1.025</c:v>
                </c:pt>
                <c:pt idx="42">
                  <c:v>1.05</c:v>
                </c:pt>
                <c:pt idx="43">
                  <c:v>1.075</c:v>
                </c:pt>
                <c:pt idx="44">
                  <c:v>1.1</c:v>
                </c:pt>
                <c:pt idx="45">
                  <c:v>1.125</c:v>
                </c:pt>
                <c:pt idx="46">
                  <c:v>1.15</c:v>
                </c:pt>
                <c:pt idx="47">
                  <c:v>1.175</c:v>
                </c:pt>
                <c:pt idx="48">
                  <c:v>1.2</c:v>
                </c:pt>
                <c:pt idx="49">
                  <c:v>1.225</c:v>
                </c:pt>
                <c:pt idx="50">
                  <c:v>1.25</c:v>
                </c:pt>
                <c:pt idx="51">
                  <c:v>1.275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</c:v>
                </c:pt>
                <c:pt idx="60">
                  <c:v>1.5</c:v>
                </c:pt>
                <c:pt idx="61">
                  <c:v>1.525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</c:v>
                </c:pt>
                <c:pt idx="70">
                  <c:v>1.75</c:v>
                </c:pt>
                <c:pt idx="71">
                  <c:v>1.775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</c:v>
                </c:pt>
                <c:pt idx="80">
                  <c:v>2</c:v>
                </c:pt>
                <c:pt idx="81">
                  <c:v>2.025</c:v>
                </c:pt>
                <c:pt idx="82">
                  <c:v>2.05</c:v>
                </c:pt>
                <c:pt idx="83">
                  <c:v>2.075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2.175</c:v>
                </c:pt>
                <c:pt idx="88">
                  <c:v>2.2</c:v>
                </c:pt>
                <c:pt idx="89">
                  <c:v>2.225</c:v>
                </c:pt>
                <c:pt idx="90">
                  <c:v>2.25</c:v>
                </c:pt>
                <c:pt idx="91">
                  <c:v>2.275</c:v>
                </c:pt>
                <c:pt idx="92">
                  <c:v>2.3</c:v>
                </c:pt>
                <c:pt idx="93">
                  <c:v>2.325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2.425</c:v>
                </c:pt>
                <c:pt idx="98">
                  <c:v>2.45</c:v>
                </c:pt>
                <c:pt idx="99">
                  <c:v>2.475</c:v>
                </c:pt>
                <c:pt idx="100">
                  <c:v>2.5</c:v>
                </c:pt>
                <c:pt idx="101">
                  <c:v>2.525</c:v>
                </c:pt>
                <c:pt idx="102">
                  <c:v>2.55</c:v>
                </c:pt>
                <c:pt idx="103">
                  <c:v>2.575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2.675</c:v>
                </c:pt>
                <c:pt idx="108">
                  <c:v>2.7</c:v>
                </c:pt>
                <c:pt idx="109">
                  <c:v>2.725</c:v>
                </c:pt>
                <c:pt idx="110">
                  <c:v>2.75</c:v>
                </c:pt>
                <c:pt idx="111">
                  <c:v>2.775</c:v>
                </c:pt>
                <c:pt idx="112">
                  <c:v>2.8</c:v>
                </c:pt>
                <c:pt idx="113">
                  <c:v>2.825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2.925</c:v>
                </c:pt>
                <c:pt idx="118">
                  <c:v>2.95</c:v>
                </c:pt>
                <c:pt idx="119">
                  <c:v>2.975</c:v>
                </c:pt>
                <c:pt idx="120">
                  <c:v>3</c:v>
                </c:pt>
                <c:pt idx="121">
                  <c:v>3.025</c:v>
                </c:pt>
                <c:pt idx="122">
                  <c:v>3.05</c:v>
                </c:pt>
                <c:pt idx="123">
                  <c:v>3.075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3.175</c:v>
                </c:pt>
                <c:pt idx="128">
                  <c:v>3.2</c:v>
                </c:pt>
                <c:pt idx="129">
                  <c:v>3.225</c:v>
                </c:pt>
                <c:pt idx="130">
                  <c:v>3.25</c:v>
                </c:pt>
                <c:pt idx="131">
                  <c:v>3.275</c:v>
                </c:pt>
                <c:pt idx="132">
                  <c:v>3.3</c:v>
                </c:pt>
                <c:pt idx="133">
                  <c:v>3.325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3.425</c:v>
                </c:pt>
                <c:pt idx="138">
                  <c:v>3.45</c:v>
                </c:pt>
                <c:pt idx="139">
                  <c:v>3.475</c:v>
                </c:pt>
                <c:pt idx="140">
                  <c:v>3.5</c:v>
                </c:pt>
                <c:pt idx="141">
                  <c:v>3.525</c:v>
                </c:pt>
                <c:pt idx="142">
                  <c:v>3.55</c:v>
                </c:pt>
                <c:pt idx="143">
                  <c:v>3.575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3.675</c:v>
                </c:pt>
                <c:pt idx="148">
                  <c:v>3.7</c:v>
                </c:pt>
                <c:pt idx="149">
                  <c:v>3.725</c:v>
                </c:pt>
                <c:pt idx="150">
                  <c:v>3.75</c:v>
                </c:pt>
                <c:pt idx="151">
                  <c:v>3.775</c:v>
                </c:pt>
                <c:pt idx="152">
                  <c:v>3.8</c:v>
                </c:pt>
                <c:pt idx="153">
                  <c:v>3.825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3.925</c:v>
                </c:pt>
                <c:pt idx="158">
                  <c:v>3.95</c:v>
                </c:pt>
                <c:pt idx="159">
                  <c:v>3.975</c:v>
                </c:pt>
                <c:pt idx="160">
                  <c:v>4</c:v>
                </c:pt>
                <c:pt idx="161">
                  <c:v>4.025</c:v>
                </c:pt>
                <c:pt idx="162">
                  <c:v>4.05</c:v>
                </c:pt>
                <c:pt idx="163">
                  <c:v>4.075</c:v>
                </c:pt>
                <c:pt idx="164">
                  <c:v>4.1</c:v>
                </c:pt>
                <c:pt idx="165">
                  <c:v>4.125</c:v>
                </c:pt>
                <c:pt idx="166">
                  <c:v>4.15</c:v>
                </c:pt>
                <c:pt idx="167">
                  <c:v>4.175</c:v>
                </c:pt>
                <c:pt idx="168">
                  <c:v>4.2</c:v>
                </c:pt>
                <c:pt idx="169">
                  <c:v>4.225</c:v>
                </c:pt>
                <c:pt idx="170">
                  <c:v>4.25</c:v>
                </c:pt>
                <c:pt idx="171">
                  <c:v>4.275</c:v>
                </c:pt>
                <c:pt idx="172">
                  <c:v>4.3</c:v>
                </c:pt>
                <c:pt idx="173">
                  <c:v>4.325</c:v>
                </c:pt>
                <c:pt idx="174">
                  <c:v>4.35</c:v>
                </c:pt>
                <c:pt idx="175">
                  <c:v>4.375</c:v>
                </c:pt>
                <c:pt idx="176">
                  <c:v>4.4</c:v>
                </c:pt>
                <c:pt idx="177">
                  <c:v>4.425</c:v>
                </c:pt>
                <c:pt idx="178">
                  <c:v>4.45</c:v>
                </c:pt>
                <c:pt idx="179">
                  <c:v>4.475</c:v>
                </c:pt>
                <c:pt idx="180">
                  <c:v>4.5</c:v>
                </c:pt>
                <c:pt idx="181">
                  <c:v>4.525</c:v>
                </c:pt>
                <c:pt idx="182">
                  <c:v>4.55</c:v>
                </c:pt>
                <c:pt idx="183">
                  <c:v>4.575</c:v>
                </c:pt>
                <c:pt idx="184">
                  <c:v>4.6</c:v>
                </c:pt>
                <c:pt idx="185">
                  <c:v>4.625</c:v>
                </c:pt>
                <c:pt idx="186">
                  <c:v>4.65</c:v>
                </c:pt>
                <c:pt idx="187">
                  <c:v>4.675</c:v>
                </c:pt>
                <c:pt idx="188">
                  <c:v>4.7</c:v>
                </c:pt>
                <c:pt idx="189">
                  <c:v>4.725</c:v>
                </c:pt>
                <c:pt idx="190">
                  <c:v>4.75</c:v>
                </c:pt>
                <c:pt idx="191">
                  <c:v>4.775</c:v>
                </c:pt>
                <c:pt idx="192">
                  <c:v>4.8</c:v>
                </c:pt>
                <c:pt idx="193">
                  <c:v>4.825</c:v>
                </c:pt>
                <c:pt idx="194">
                  <c:v>4.85</c:v>
                </c:pt>
                <c:pt idx="195">
                  <c:v>4.875</c:v>
                </c:pt>
                <c:pt idx="196">
                  <c:v>4.9</c:v>
                </c:pt>
                <c:pt idx="197">
                  <c:v>4.925</c:v>
                </c:pt>
                <c:pt idx="198">
                  <c:v>4.95</c:v>
                </c:pt>
                <c:pt idx="199">
                  <c:v>4.975</c:v>
                </c:pt>
                <c:pt idx="200">
                  <c:v>5</c:v>
                </c:pt>
              </c:numCache>
            </c:numRef>
          </c:xVal>
          <c:yVal>
            <c:numRef>
              <c:f>'Chart Data'!$D$2:$D$202</c:f>
              <c:numCache>
                <c:formatCode>General</c:formatCode>
                <c:ptCount val="201"/>
                <c:pt idx="0">
                  <c:v>0</c:v>
                </c:pt>
                <c:pt idx="1">
                  <c:v>0.06775</c:v>
                </c:pt>
                <c:pt idx="2">
                  <c:v>0.26443</c:v>
                </c:pt>
                <c:pt idx="3">
                  <c:v>0.62793</c:v>
                </c:pt>
                <c:pt idx="4">
                  <c:v>1.164978</c:v>
                </c:pt>
                <c:pt idx="5">
                  <c:v>1.87213</c:v>
                </c:pt>
                <c:pt idx="6">
                  <c:v>2.76448</c:v>
                </c:pt>
                <c:pt idx="7">
                  <c:v>3.76538</c:v>
                </c:pt>
                <c:pt idx="8">
                  <c:v>4.93965</c:v>
                </c:pt>
                <c:pt idx="9">
                  <c:v>6.20861</c:v>
                </c:pt>
                <c:pt idx="10">
                  <c:v>7.630291</c:v>
                </c:pt>
                <c:pt idx="11">
                  <c:v>9.13336</c:v>
                </c:pt>
                <c:pt idx="12">
                  <c:v>10.704897</c:v>
                </c:pt>
                <c:pt idx="13">
                  <c:v>12.41067</c:v>
                </c:pt>
                <c:pt idx="14">
                  <c:v>14.21651</c:v>
                </c:pt>
                <c:pt idx="15">
                  <c:v>16.16294</c:v>
                </c:pt>
                <c:pt idx="16">
                  <c:v>18.20698</c:v>
                </c:pt>
                <c:pt idx="17">
                  <c:v>20.3246</c:v>
                </c:pt>
                <c:pt idx="18">
                  <c:v>22.53837</c:v>
                </c:pt>
                <c:pt idx="19">
                  <c:v>24.77035</c:v>
                </c:pt>
                <c:pt idx="20">
                  <c:v>27.031314</c:v>
                </c:pt>
                <c:pt idx="21">
                  <c:v>29.23505</c:v>
                </c:pt>
                <c:pt idx="22">
                  <c:v>31.51147</c:v>
                </c:pt>
                <c:pt idx="23">
                  <c:v>33.75511</c:v>
                </c:pt>
                <c:pt idx="24">
                  <c:v>35.90623</c:v>
                </c:pt>
                <c:pt idx="25">
                  <c:v>38.12146</c:v>
                </c:pt>
                <c:pt idx="26">
                  <c:v>40.28424</c:v>
                </c:pt>
                <c:pt idx="27">
                  <c:v>42.48855</c:v>
                </c:pt>
                <c:pt idx="28">
                  <c:v>44.63311</c:v>
                </c:pt>
                <c:pt idx="29">
                  <c:v>46.78424</c:v>
                </c:pt>
                <c:pt idx="30">
                  <c:v>48.95212</c:v>
                </c:pt>
                <c:pt idx="31">
                  <c:v>51.07265</c:v>
                </c:pt>
                <c:pt idx="32">
                  <c:v>53.182935</c:v>
                </c:pt>
                <c:pt idx="33">
                  <c:v>55.30497</c:v>
                </c:pt>
                <c:pt idx="34">
                  <c:v>57.41384</c:v>
                </c:pt>
                <c:pt idx="35">
                  <c:v>59.40398</c:v>
                </c:pt>
                <c:pt idx="36">
                  <c:v>61.32054</c:v>
                </c:pt>
                <c:pt idx="37">
                  <c:v>63.18393</c:v>
                </c:pt>
                <c:pt idx="38">
                  <c:v>64.98685</c:v>
                </c:pt>
                <c:pt idx="39">
                  <c:v>66.69289</c:v>
                </c:pt>
                <c:pt idx="40">
                  <c:v>68.335431</c:v>
                </c:pt>
                <c:pt idx="41">
                  <c:v>69.87405</c:v>
                </c:pt>
                <c:pt idx="42">
                  <c:v>71.30182</c:v>
                </c:pt>
                <c:pt idx="43">
                  <c:v>72.68661</c:v>
                </c:pt>
                <c:pt idx="44">
                  <c:v>74.0277</c:v>
                </c:pt>
                <c:pt idx="45">
                  <c:v>75.33454</c:v>
                </c:pt>
                <c:pt idx="46">
                  <c:v>76.59623</c:v>
                </c:pt>
                <c:pt idx="47">
                  <c:v>77.86374</c:v>
                </c:pt>
                <c:pt idx="48">
                  <c:v>79.07734</c:v>
                </c:pt>
                <c:pt idx="49">
                  <c:v>80.16274</c:v>
                </c:pt>
                <c:pt idx="50">
                  <c:v>81.16946</c:v>
                </c:pt>
                <c:pt idx="51">
                  <c:v>82.13976</c:v>
                </c:pt>
                <c:pt idx="52">
                  <c:v>83.05761</c:v>
                </c:pt>
                <c:pt idx="53">
                  <c:v>83.91282</c:v>
                </c:pt>
                <c:pt idx="54">
                  <c:v>84.70392</c:v>
                </c:pt>
                <c:pt idx="55">
                  <c:v>85.43529</c:v>
                </c:pt>
                <c:pt idx="56">
                  <c:v>86.10911</c:v>
                </c:pt>
                <c:pt idx="57">
                  <c:v>86.75525</c:v>
                </c:pt>
                <c:pt idx="58">
                  <c:v>87.35331</c:v>
                </c:pt>
                <c:pt idx="59">
                  <c:v>87.89892</c:v>
                </c:pt>
                <c:pt idx="60">
                  <c:v>88.434496</c:v>
                </c:pt>
                <c:pt idx="61">
                  <c:v>88.90273</c:v>
                </c:pt>
                <c:pt idx="62">
                  <c:v>89.34636</c:v>
                </c:pt>
                <c:pt idx="63">
                  <c:v>89.75065</c:v>
                </c:pt>
                <c:pt idx="64">
                  <c:v>90.10832</c:v>
                </c:pt>
                <c:pt idx="65">
                  <c:v>90.4303</c:v>
                </c:pt>
                <c:pt idx="66">
                  <c:v>90.72459</c:v>
                </c:pt>
                <c:pt idx="67">
                  <c:v>90.98465</c:v>
                </c:pt>
                <c:pt idx="68">
                  <c:v>91.21047</c:v>
                </c:pt>
                <c:pt idx="69">
                  <c:v>91.42537</c:v>
                </c:pt>
                <c:pt idx="70">
                  <c:v>91.62933</c:v>
                </c:pt>
                <c:pt idx="71">
                  <c:v>91.8333</c:v>
                </c:pt>
                <c:pt idx="72">
                  <c:v>92.02853</c:v>
                </c:pt>
                <c:pt idx="73">
                  <c:v>92.22157</c:v>
                </c:pt>
                <c:pt idx="74">
                  <c:v>92.37891</c:v>
                </c:pt>
                <c:pt idx="75">
                  <c:v>92.54136</c:v>
                </c:pt>
                <c:pt idx="76">
                  <c:v>92.69725</c:v>
                </c:pt>
                <c:pt idx="77">
                  <c:v>92.84804</c:v>
                </c:pt>
                <c:pt idx="78">
                  <c:v>92.99956</c:v>
                </c:pt>
                <c:pt idx="79">
                  <c:v>93.15617</c:v>
                </c:pt>
                <c:pt idx="80">
                  <c:v>93.324755</c:v>
                </c:pt>
                <c:pt idx="81">
                  <c:v>93.5</c:v>
                </c:pt>
                <c:pt idx="82">
                  <c:v>93.69159</c:v>
                </c:pt>
                <c:pt idx="83">
                  <c:v>93.86569</c:v>
                </c:pt>
                <c:pt idx="84">
                  <c:v>94.03178</c:v>
                </c:pt>
                <c:pt idx="85">
                  <c:v>94.19349</c:v>
                </c:pt>
                <c:pt idx="86">
                  <c:v>94.34064</c:v>
                </c:pt>
                <c:pt idx="87">
                  <c:v>94.48415</c:v>
                </c:pt>
                <c:pt idx="88">
                  <c:v>94.62328</c:v>
                </c:pt>
                <c:pt idx="89">
                  <c:v>94.75513</c:v>
                </c:pt>
                <c:pt idx="90">
                  <c:v>94.88334</c:v>
                </c:pt>
                <c:pt idx="91">
                  <c:v>95.02539</c:v>
                </c:pt>
                <c:pt idx="92">
                  <c:v>95.18637</c:v>
                </c:pt>
                <c:pt idx="93">
                  <c:v>95.34955</c:v>
                </c:pt>
                <c:pt idx="94">
                  <c:v>95.52511</c:v>
                </c:pt>
                <c:pt idx="95">
                  <c:v>95.71596</c:v>
                </c:pt>
                <c:pt idx="96">
                  <c:v>95.89152</c:v>
                </c:pt>
                <c:pt idx="97">
                  <c:v>96.05761</c:v>
                </c:pt>
                <c:pt idx="98">
                  <c:v>96.21932</c:v>
                </c:pt>
                <c:pt idx="99">
                  <c:v>96.38323</c:v>
                </c:pt>
                <c:pt idx="100">
                  <c:v>96.54203</c:v>
                </c:pt>
                <c:pt idx="101">
                  <c:v>96.69937</c:v>
                </c:pt>
                <c:pt idx="102">
                  <c:v>96.84142</c:v>
                </c:pt>
                <c:pt idx="103">
                  <c:v>96.974</c:v>
                </c:pt>
                <c:pt idx="104">
                  <c:v>97.08691</c:v>
                </c:pt>
                <c:pt idx="105">
                  <c:v>97.19691</c:v>
                </c:pt>
                <c:pt idx="106">
                  <c:v>97.29452</c:v>
                </c:pt>
                <c:pt idx="107">
                  <c:v>97.38412</c:v>
                </c:pt>
                <c:pt idx="108">
                  <c:v>97.4475</c:v>
                </c:pt>
                <c:pt idx="109">
                  <c:v>97.50359</c:v>
                </c:pt>
                <c:pt idx="110">
                  <c:v>97.57279</c:v>
                </c:pt>
                <c:pt idx="111">
                  <c:v>97.63398</c:v>
                </c:pt>
                <c:pt idx="112">
                  <c:v>97.68861</c:v>
                </c:pt>
                <c:pt idx="113">
                  <c:v>97.74908</c:v>
                </c:pt>
                <c:pt idx="114">
                  <c:v>97.81245</c:v>
                </c:pt>
                <c:pt idx="115">
                  <c:v>97.87874</c:v>
                </c:pt>
                <c:pt idx="116">
                  <c:v>97.94066</c:v>
                </c:pt>
                <c:pt idx="117">
                  <c:v>98.00549</c:v>
                </c:pt>
                <c:pt idx="118">
                  <c:v>98.08489</c:v>
                </c:pt>
                <c:pt idx="119">
                  <c:v>98.16357</c:v>
                </c:pt>
                <c:pt idx="120">
                  <c:v>98.257096</c:v>
                </c:pt>
                <c:pt idx="121">
                  <c:v>98.33184</c:v>
                </c:pt>
                <c:pt idx="122">
                  <c:v>98.40978</c:v>
                </c:pt>
                <c:pt idx="123">
                  <c:v>98.48846</c:v>
                </c:pt>
                <c:pt idx="124">
                  <c:v>98.56057</c:v>
                </c:pt>
                <c:pt idx="125">
                  <c:v>98.62395</c:v>
                </c:pt>
                <c:pt idx="126">
                  <c:v>98.68223</c:v>
                </c:pt>
                <c:pt idx="127">
                  <c:v>98.73176</c:v>
                </c:pt>
                <c:pt idx="128">
                  <c:v>98.7711</c:v>
                </c:pt>
                <c:pt idx="129">
                  <c:v>98.80388</c:v>
                </c:pt>
                <c:pt idx="130">
                  <c:v>98.83957</c:v>
                </c:pt>
                <c:pt idx="131">
                  <c:v>98.87672</c:v>
                </c:pt>
                <c:pt idx="132">
                  <c:v>98.91242</c:v>
                </c:pt>
                <c:pt idx="133">
                  <c:v>98.9554</c:v>
                </c:pt>
                <c:pt idx="134">
                  <c:v>99.00275</c:v>
                </c:pt>
                <c:pt idx="135">
                  <c:v>99.04427</c:v>
                </c:pt>
                <c:pt idx="136">
                  <c:v>99.08579</c:v>
                </c:pt>
                <c:pt idx="137">
                  <c:v>99.12513</c:v>
                </c:pt>
                <c:pt idx="138">
                  <c:v>99.16155</c:v>
                </c:pt>
                <c:pt idx="139">
                  <c:v>99.1987</c:v>
                </c:pt>
                <c:pt idx="140">
                  <c:v>99.23585</c:v>
                </c:pt>
                <c:pt idx="141">
                  <c:v>99.27737</c:v>
                </c:pt>
                <c:pt idx="142">
                  <c:v>99.31962</c:v>
                </c:pt>
                <c:pt idx="143">
                  <c:v>99.36115</c:v>
                </c:pt>
                <c:pt idx="144">
                  <c:v>99.39757</c:v>
                </c:pt>
                <c:pt idx="145">
                  <c:v>99.43545</c:v>
                </c:pt>
                <c:pt idx="146">
                  <c:v>99.47478</c:v>
                </c:pt>
                <c:pt idx="147">
                  <c:v>99.51412</c:v>
                </c:pt>
                <c:pt idx="148">
                  <c:v>99.55273</c:v>
                </c:pt>
                <c:pt idx="149">
                  <c:v>99.58988</c:v>
                </c:pt>
                <c:pt idx="150">
                  <c:v>99.61829</c:v>
                </c:pt>
                <c:pt idx="151">
                  <c:v>99.65326</c:v>
                </c:pt>
                <c:pt idx="152">
                  <c:v>99.68968</c:v>
                </c:pt>
                <c:pt idx="153">
                  <c:v>99.7261</c:v>
                </c:pt>
                <c:pt idx="154">
                  <c:v>99.75597</c:v>
                </c:pt>
                <c:pt idx="155">
                  <c:v>99.78438</c:v>
                </c:pt>
                <c:pt idx="156">
                  <c:v>99.81352</c:v>
                </c:pt>
                <c:pt idx="157">
                  <c:v>99.84193</c:v>
                </c:pt>
                <c:pt idx="158">
                  <c:v>99.86669</c:v>
                </c:pt>
                <c:pt idx="159">
                  <c:v>99.89073</c:v>
                </c:pt>
                <c:pt idx="160">
                  <c:v>99.91623</c:v>
                </c:pt>
                <c:pt idx="161">
                  <c:v>99.94245</c:v>
                </c:pt>
                <c:pt idx="162">
                  <c:v>99.96431</c:v>
                </c:pt>
                <c:pt idx="163">
                  <c:v>99.97815</c:v>
                </c:pt>
                <c:pt idx="164">
                  <c:v>99.98106</c:v>
                </c:pt>
                <c:pt idx="165">
                  <c:v>99.98325</c:v>
                </c:pt>
                <c:pt idx="166">
                  <c:v>99.98616</c:v>
                </c:pt>
                <c:pt idx="167">
                  <c:v>99.99272</c:v>
                </c:pt>
                <c:pt idx="168">
                  <c:v>99.99854</c:v>
                </c:pt>
                <c:pt idx="169">
                  <c:v>100</c:v>
                </c:pt>
                <c:pt idx="170">
                  <c:v>100</c:v>
                </c:pt>
                <c:pt idx="171">
                  <c:v>100</c:v>
                </c:pt>
                <c:pt idx="172">
                  <c:v>100</c:v>
                </c:pt>
                <c:pt idx="173">
                  <c:v>100</c:v>
                </c:pt>
                <c:pt idx="174">
                  <c:v>100</c:v>
                </c:pt>
                <c:pt idx="175">
                  <c:v>100</c:v>
                </c:pt>
                <c:pt idx="176">
                  <c:v>100</c:v>
                </c:pt>
                <c:pt idx="177">
                  <c:v>100</c:v>
                </c:pt>
                <c:pt idx="178">
                  <c:v>100</c:v>
                </c:pt>
                <c:pt idx="179">
                  <c:v>100</c:v>
                </c:pt>
                <c:pt idx="180">
                  <c:v>100</c:v>
                </c:pt>
                <c:pt idx="181">
                  <c:v>100</c:v>
                </c:pt>
                <c:pt idx="182">
                  <c:v>100</c:v>
                </c:pt>
                <c:pt idx="183">
                  <c:v>100</c:v>
                </c:pt>
                <c:pt idx="184">
                  <c:v>100</c:v>
                </c:pt>
                <c:pt idx="185">
                  <c:v>100</c:v>
                </c:pt>
                <c:pt idx="186">
                  <c:v>100</c:v>
                </c:pt>
                <c:pt idx="187">
                  <c:v>100</c:v>
                </c:pt>
                <c:pt idx="188">
                  <c:v>100</c:v>
                </c:pt>
                <c:pt idx="189">
                  <c:v>100</c:v>
                </c:pt>
                <c:pt idx="190">
                  <c:v>100</c:v>
                </c:pt>
                <c:pt idx="191">
                  <c:v>100</c:v>
                </c:pt>
                <c:pt idx="192">
                  <c:v>100</c:v>
                </c:pt>
                <c:pt idx="193">
                  <c:v>100</c:v>
                </c:pt>
                <c:pt idx="194">
                  <c:v>100</c:v>
                </c:pt>
                <c:pt idx="195">
                  <c:v>100</c:v>
                </c:pt>
                <c:pt idx="196">
                  <c:v>100</c:v>
                </c:pt>
                <c:pt idx="197">
                  <c:v>100</c:v>
                </c:pt>
                <c:pt idx="198">
                  <c:v>100</c:v>
                </c:pt>
                <c:pt idx="199">
                  <c:v>100</c:v>
                </c:pt>
                <c:pt idx="200">
                  <c:v>100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F25D-4B43-B59A-497EB3C7CCCE}"/>
            </c:ext>
          </c:extLst>
        </c:ser>
        <c:ser>
          <c:idx val="2"/>
          <c:order val="2"/>
          <c:tx>
            <c:v>全市候选</c:v>
          </c:tx>
          <c:spPr>
            <a:ln w="9525">
              <a:solidFill>
                <a:srgbClr val="8F3E35"/>
              </a:solidFill>
            </a:ln>
          </c:spPr>
          <c:marker>
            <c:symbol val="circle"/>
            <c:size val="7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Data'!$E$2:$E$2</c:f>
              <c:numCache>
                <c:formatCode>General</c:formatCode>
                <c:ptCount val="1"/>
                <c:pt idx="0">
                  <c:v>2.525</c:v>
                </c:pt>
              </c:numCache>
            </c:numRef>
          </c:xVal>
          <c:yVal>
            <c:numRef>
              <c:f>'Chart Data'!$F$2:$F$2</c:f>
              <c:numCache>
                <c:formatCode>General</c:formatCode>
                <c:ptCount val="1"/>
                <c:pt idx="0">
                  <c:v>73.39516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F25D-4B43-B59A-497EB3C7CCCE}"/>
            </c:ext>
          </c:extLst>
        </c:ser>
        <c:ser>
          <c:idx val="3"/>
          <c:order val="3"/>
          <c:tx>
            <c:v>全市85%</c:v>
          </c:tx>
          <c:spPr>
            <a:ln w="9525">
              <a:solidFill>
                <a:srgbClr val="8F3E35"/>
              </a:solidFill>
            </a:ln>
          </c:spPr>
          <c:marker>
            <c:symbol val="triangle"/>
            <c:size val="8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Data'!$G$2:$G$2</c:f>
              <c:numCache>
                <c:formatCode>General</c:formatCode>
                <c:ptCount val="1"/>
                <c:pt idx="0">
                  <c:v>3.420311</c:v>
                </c:pt>
              </c:numCache>
            </c:numRef>
          </c:xVal>
          <c:yVal>
            <c:numRef>
              <c:f>'Chart Data'!$H$2:$H$2</c:f>
              <c:numCache>
                <c:formatCode>General</c:formatCode>
                <c:ptCount val="1"/>
                <c:pt idx="0">
                  <c:v>85.002134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F25D-4B43-B59A-497EB3C7CCCE}"/>
            </c:ext>
          </c:extLst>
        </c:ser>
        <c:ser>
          <c:idx val="4"/>
          <c:order val="4"/>
          <c:tx>
            <c:v>七区候选</c:v>
          </c:tx>
          <c:spPr>
            <a:ln w="9525">
              <a:solidFill>
                <a:srgbClr val="496B63"/>
              </a:solidFill>
            </a:ln>
          </c:spPr>
          <c:marker>
            <c:symbol val="circle"/>
            <c:size val="7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Data'!$I$2:$I$2</c:f>
              <c:numCache>
                <c:formatCode>General</c:formatCode>
                <c:ptCount val="1"/>
                <c:pt idx="0">
                  <c:v>1.225</c:v>
                </c:pt>
              </c:numCache>
            </c:numRef>
          </c:xVal>
          <c:yVal>
            <c:numRef>
              <c:f>'Chart Data'!$J$2:$J$2</c:f>
              <c:numCache>
                <c:formatCode>General</c:formatCode>
                <c:ptCount val="1"/>
                <c:pt idx="0">
                  <c:v>80.160422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4-F25D-4B43-B59A-497EB3C7CCCE}"/>
            </c:ext>
          </c:extLst>
        </c:ser>
        <c:ser>
          <c:idx val="5"/>
          <c:order val="5"/>
          <c:tx>
            <c:v>七区85%</c:v>
          </c:tx>
          <c:spPr>
            <a:ln w="9525">
              <a:solidFill>
                <a:srgbClr val="496B63"/>
              </a:solidFill>
            </a:ln>
          </c:spPr>
          <c:marker>
            <c:symbol val="triangle"/>
            <c:size val="8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Data'!$K$2:$K$2</c:f>
              <c:numCache>
                <c:formatCode>General</c:formatCode>
                <c:ptCount val="1"/>
                <c:pt idx="0">
                  <c:v>1.360471</c:v>
                </c:pt>
              </c:numCache>
            </c:numRef>
          </c:xVal>
          <c:yVal>
            <c:numRef>
              <c:f>'Chart Data'!$L$2:$L$2</c:f>
              <c:numCache>
                <c:formatCode>General</c:formatCode>
                <c:ptCount val="1"/>
                <c:pt idx="0">
                  <c:v>85.01516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5-F25D-4B43-B59A-497EB3C7CCC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w="5715">
              <a:solidFill>
                <a:srgbClr val="DDD0C6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面积覆盖率（</a:t>
                </a:r>
                <a:r>
                  <a:rPr lang="en-US" altLang="zh-CN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%</a:t>
                </a:r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50112"/>
        <c:crosses val="autoZero"/>
        <c:crossBetween val="midCat"/>
        <c:majorUnit val="25"/>
      </c:valAx>
      <c:valAx>
        <c:axId val="48650112"/>
        <c:scaling>
          <c:orientation val="minMax"/>
          <c:max val="5"/>
          <c:min val="0"/>
        </c:scaling>
        <c:delete val="0"/>
        <c:axPos val="b"/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直线半径（公里）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CBB9AD"/>
            </a:solidFill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72768"/>
        <c:crosses val="autoZero"/>
        <c:crossBetween val="midCat"/>
        <c:majorUnit val="1"/>
      </c:valAx>
      <c:spPr>
        <a:solidFill>
          <a:srgbClr val="F5F0E9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5F0E9"/>
    </a:solidFill>
    <a:ln w="0">
      <a:noFill/>
    </a:ln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0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v>全市16区</c:v>
          </c:tx>
          <c:spPr>
            <a:ln w="24765">
              <a:solidFill>
                <a:srgbClr val="8F3E35"/>
              </a:solidFill>
              <a:prstDash val="solid"/>
            </a:ln>
          </c:spPr>
          <c:marker>
            <c:symbol val="none"/>
          </c:marker>
          <c:xVal>
            <c:numRef>
              <c:f>'Chart Data'!$A$2:$A$202</c:f>
              <c:numCache>
                <c:formatCode>General</c:formatCode>
                <c:ptCount val="20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  <c:pt idx="41">
                  <c:v>1.025</c:v>
                </c:pt>
                <c:pt idx="42">
                  <c:v>1.05</c:v>
                </c:pt>
                <c:pt idx="43">
                  <c:v>1.075</c:v>
                </c:pt>
                <c:pt idx="44">
                  <c:v>1.1</c:v>
                </c:pt>
                <c:pt idx="45">
                  <c:v>1.125</c:v>
                </c:pt>
                <c:pt idx="46">
                  <c:v>1.15</c:v>
                </c:pt>
                <c:pt idx="47">
                  <c:v>1.175</c:v>
                </c:pt>
                <c:pt idx="48">
                  <c:v>1.2</c:v>
                </c:pt>
                <c:pt idx="49">
                  <c:v>1.225</c:v>
                </c:pt>
                <c:pt idx="50">
                  <c:v>1.25</c:v>
                </c:pt>
                <c:pt idx="51">
                  <c:v>1.275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</c:v>
                </c:pt>
                <c:pt idx="60">
                  <c:v>1.5</c:v>
                </c:pt>
                <c:pt idx="61">
                  <c:v>1.525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</c:v>
                </c:pt>
                <c:pt idx="70">
                  <c:v>1.75</c:v>
                </c:pt>
                <c:pt idx="71">
                  <c:v>1.775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</c:v>
                </c:pt>
                <c:pt idx="80">
                  <c:v>2</c:v>
                </c:pt>
                <c:pt idx="81">
                  <c:v>2.025</c:v>
                </c:pt>
                <c:pt idx="82">
                  <c:v>2.05</c:v>
                </c:pt>
                <c:pt idx="83">
                  <c:v>2.075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2.175</c:v>
                </c:pt>
                <c:pt idx="88">
                  <c:v>2.2</c:v>
                </c:pt>
                <c:pt idx="89">
                  <c:v>2.225</c:v>
                </c:pt>
                <c:pt idx="90">
                  <c:v>2.25</c:v>
                </c:pt>
                <c:pt idx="91">
                  <c:v>2.275</c:v>
                </c:pt>
                <c:pt idx="92">
                  <c:v>2.3</c:v>
                </c:pt>
                <c:pt idx="93">
                  <c:v>2.325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2.425</c:v>
                </c:pt>
                <c:pt idx="98">
                  <c:v>2.45</c:v>
                </c:pt>
                <c:pt idx="99">
                  <c:v>2.475</c:v>
                </c:pt>
                <c:pt idx="100">
                  <c:v>2.5</c:v>
                </c:pt>
                <c:pt idx="101">
                  <c:v>2.525</c:v>
                </c:pt>
                <c:pt idx="102">
                  <c:v>2.55</c:v>
                </c:pt>
                <c:pt idx="103">
                  <c:v>2.575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2.675</c:v>
                </c:pt>
                <c:pt idx="108">
                  <c:v>2.7</c:v>
                </c:pt>
                <c:pt idx="109">
                  <c:v>2.725</c:v>
                </c:pt>
                <c:pt idx="110">
                  <c:v>2.75</c:v>
                </c:pt>
                <c:pt idx="111">
                  <c:v>2.775</c:v>
                </c:pt>
                <c:pt idx="112">
                  <c:v>2.8</c:v>
                </c:pt>
                <c:pt idx="113">
                  <c:v>2.825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2.925</c:v>
                </c:pt>
                <c:pt idx="118">
                  <c:v>2.95</c:v>
                </c:pt>
                <c:pt idx="119">
                  <c:v>2.975</c:v>
                </c:pt>
                <c:pt idx="120">
                  <c:v>3</c:v>
                </c:pt>
                <c:pt idx="121">
                  <c:v>3.025</c:v>
                </c:pt>
                <c:pt idx="122">
                  <c:v>3.05</c:v>
                </c:pt>
                <c:pt idx="123">
                  <c:v>3.075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3.175</c:v>
                </c:pt>
                <c:pt idx="128">
                  <c:v>3.2</c:v>
                </c:pt>
                <c:pt idx="129">
                  <c:v>3.225</c:v>
                </c:pt>
                <c:pt idx="130">
                  <c:v>3.25</c:v>
                </c:pt>
                <c:pt idx="131">
                  <c:v>3.275</c:v>
                </c:pt>
                <c:pt idx="132">
                  <c:v>3.3</c:v>
                </c:pt>
                <c:pt idx="133">
                  <c:v>3.325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3.425</c:v>
                </c:pt>
                <c:pt idx="138">
                  <c:v>3.45</c:v>
                </c:pt>
                <c:pt idx="139">
                  <c:v>3.475</c:v>
                </c:pt>
                <c:pt idx="140">
                  <c:v>3.5</c:v>
                </c:pt>
                <c:pt idx="141">
                  <c:v>3.525</c:v>
                </c:pt>
                <c:pt idx="142">
                  <c:v>3.55</c:v>
                </c:pt>
                <c:pt idx="143">
                  <c:v>3.575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3.675</c:v>
                </c:pt>
                <c:pt idx="148">
                  <c:v>3.7</c:v>
                </c:pt>
                <c:pt idx="149">
                  <c:v>3.725</c:v>
                </c:pt>
                <c:pt idx="150">
                  <c:v>3.75</c:v>
                </c:pt>
                <c:pt idx="151">
                  <c:v>3.775</c:v>
                </c:pt>
                <c:pt idx="152">
                  <c:v>3.8</c:v>
                </c:pt>
                <c:pt idx="153">
                  <c:v>3.825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3.925</c:v>
                </c:pt>
                <c:pt idx="158">
                  <c:v>3.95</c:v>
                </c:pt>
                <c:pt idx="159">
                  <c:v>3.975</c:v>
                </c:pt>
                <c:pt idx="160">
                  <c:v>4</c:v>
                </c:pt>
                <c:pt idx="161">
                  <c:v>4.025</c:v>
                </c:pt>
                <c:pt idx="162">
                  <c:v>4.05</c:v>
                </c:pt>
                <c:pt idx="163">
                  <c:v>4.075</c:v>
                </c:pt>
                <c:pt idx="164">
                  <c:v>4.1</c:v>
                </c:pt>
                <c:pt idx="165">
                  <c:v>4.125</c:v>
                </c:pt>
                <c:pt idx="166">
                  <c:v>4.15</c:v>
                </c:pt>
                <c:pt idx="167">
                  <c:v>4.175</c:v>
                </c:pt>
                <c:pt idx="168">
                  <c:v>4.2</c:v>
                </c:pt>
                <c:pt idx="169">
                  <c:v>4.225</c:v>
                </c:pt>
                <c:pt idx="170">
                  <c:v>4.25</c:v>
                </c:pt>
                <c:pt idx="171">
                  <c:v>4.275</c:v>
                </c:pt>
                <c:pt idx="172">
                  <c:v>4.3</c:v>
                </c:pt>
                <c:pt idx="173">
                  <c:v>4.325</c:v>
                </c:pt>
                <c:pt idx="174">
                  <c:v>4.35</c:v>
                </c:pt>
                <c:pt idx="175">
                  <c:v>4.375</c:v>
                </c:pt>
                <c:pt idx="176">
                  <c:v>4.4</c:v>
                </c:pt>
                <c:pt idx="177">
                  <c:v>4.425</c:v>
                </c:pt>
                <c:pt idx="178">
                  <c:v>4.45</c:v>
                </c:pt>
                <c:pt idx="179">
                  <c:v>4.475</c:v>
                </c:pt>
                <c:pt idx="180">
                  <c:v>4.5</c:v>
                </c:pt>
                <c:pt idx="181">
                  <c:v>4.525</c:v>
                </c:pt>
                <c:pt idx="182">
                  <c:v>4.55</c:v>
                </c:pt>
                <c:pt idx="183">
                  <c:v>4.575</c:v>
                </c:pt>
                <c:pt idx="184">
                  <c:v>4.6</c:v>
                </c:pt>
                <c:pt idx="185">
                  <c:v>4.625</c:v>
                </c:pt>
                <c:pt idx="186">
                  <c:v>4.65</c:v>
                </c:pt>
                <c:pt idx="187">
                  <c:v>4.675</c:v>
                </c:pt>
                <c:pt idx="188">
                  <c:v>4.7</c:v>
                </c:pt>
                <c:pt idx="189">
                  <c:v>4.725</c:v>
                </c:pt>
                <c:pt idx="190">
                  <c:v>4.75</c:v>
                </c:pt>
                <c:pt idx="191">
                  <c:v>4.775</c:v>
                </c:pt>
                <c:pt idx="192">
                  <c:v>4.8</c:v>
                </c:pt>
                <c:pt idx="193">
                  <c:v>4.825</c:v>
                </c:pt>
                <c:pt idx="194">
                  <c:v>4.85</c:v>
                </c:pt>
                <c:pt idx="195">
                  <c:v>4.875</c:v>
                </c:pt>
                <c:pt idx="196">
                  <c:v>4.9</c:v>
                </c:pt>
                <c:pt idx="197">
                  <c:v>4.925</c:v>
                </c:pt>
                <c:pt idx="198">
                  <c:v>4.95</c:v>
                </c:pt>
                <c:pt idx="199">
                  <c:v>4.975</c:v>
                </c:pt>
                <c:pt idx="200">
                  <c:v>5</c:v>
                </c:pt>
              </c:numCache>
            </c:numRef>
          </c:xVal>
          <c:yVal>
            <c:numRef>
              <c:f>'Chart Data'!$B$2:$B$202</c:f>
              <c:numCache>
                <c:formatCode>General</c:formatCode>
                <c:ptCount val="201"/>
                <c:pt idx="0">
                  <c:v>0</c:v>
                </c:pt>
                <c:pt idx="1">
                  <c:v>0.01705</c:v>
                </c:pt>
                <c:pt idx="2">
                  <c:v>0.07031</c:v>
                </c:pt>
                <c:pt idx="3">
                  <c:v>0.17343</c:v>
                </c:pt>
                <c:pt idx="4">
                  <c:v>0.335811</c:v>
                </c:pt>
                <c:pt idx="5">
                  <c:v>0.57507</c:v>
                </c:pt>
                <c:pt idx="6">
                  <c:v>0.88277</c:v>
                </c:pt>
                <c:pt idx="7">
                  <c:v>1.26431</c:v>
                </c:pt>
                <c:pt idx="8">
                  <c:v>1.70146</c:v>
                </c:pt>
                <c:pt idx="9">
                  <c:v>2.18647</c:v>
                </c:pt>
                <c:pt idx="10">
                  <c:v>2.715596</c:v>
                </c:pt>
                <c:pt idx="11">
                  <c:v>3.29981</c:v>
                </c:pt>
                <c:pt idx="12">
                  <c:v>3.925733</c:v>
                </c:pt>
                <c:pt idx="13">
                  <c:v>4.60351</c:v>
                </c:pt>
                <c:pt idx="14">
                  <c:v>5.32038</c:v>
                </c:pt>
                <c:pt idx="15">
                  <c:v>6.07546</c:v>
                </c:pt>
                <c:pt idx="16">
                  <c:v>6.85594</c:v>
                </c:pt>
                <c:pt idx="17">
                  <c:v>7.67181</c:v>
                </c:pt>
                <c:pt idx="18">
                  <c:v>8.51625</c:v>
                </c:pt>
                <c:pt idx="19">
                  <c:v>9.40044</c:v>
                </c:pt>
                <c:pt idx="20">
                  <c:v>10.327571</c:v>
                </c:pt>
                <c:pt idx="21">
                  <c:v>11.29414</c:v>
                </c:pt>
                <c:pt idx="22">
                  <c:v>12.28673</c:v>
                </c:pt>
                <c:pt idx="23">
                  <c:v>13.29519</c:v>
                </c:pt>
                <c:pt idx="24">
                  <c:v>14.33716</c:v>
                </c:pt>
                <c:pt idx="25">
                  <c:v>15.40053</c:v>
                </c:pt>
                <c:pt idx="26">
                  <c:v>16.48166</c:v>
                </c:pt>
                <c:pt idx="27">
                  <c:v>17.58371</c:v>
                </c:pt>
                <c:pt idx="28">
                  <c:v>18.70023</c:v>
                </c:pt>
                <c:pt idx="29">
                  <c:v>19.83238</c:v>
                </c:pt>
                <c:pt idx="30">
                  <c:v>20.97782</c:v>
                </c:pt>
                <c:pt idx="31">
                  <c:v>22.11397</c:v>
                </c:pt>
                <c:pt idx="32">
                  <c:v>23.253741</c:v>
                </c:pt>
                <c:pt idx="33">
                  <c:v>24.42402</c:v>
                </c:pt>
                <c:pt idx="34">
                  <c:v>25.57404</c:v>
                </c:pt>
                <c:pt idx="35">
                  <c:v>26.73206</c:v>
                </c:pt>
                <c:pt idx="36">
                  <c:v>27.89455</c:v>
                </c:pt>
                <c:pt idx="37">
                  <c:v>29.05598</c:v>
                </c:pt>
                <c:pt idx="38">
                  <c:v>30.21283</c:v>
                </c:pt>
                <c:pt idx="39">
                  <c:v>31.3625</c:v>
                </c:pt>
                <c:pt idx="40">
                  <c:v>32.504655</c:v>
                </c:pt>
                <c:pt idx="41">
                  <c:v>33.66972</c:v>
                </c:pt>
                <c:pt idx="42">
                  <c:v>34.8268</c:v>
                </c:pt>
                <c:pt idx="43">
                  <c:v>35.97412</c:v>
                </c:pt>
                <c:pt idx="44">
                  <c:v>37.10792</c:v>
                </c:pt>
                <c:pt idx="45">
                  <c:v>38.22268</c:v>
                </c:pt>
                <c:pt idx="46">
                  <c:v>39.31897</c:v>
                </c:pt>
                <c:pt idx="47">
                  <c:v>40.39221</c:v>
                </c:pt>
                <c:pt idx="48">
                  <c:v>41.45041</c:v>
                </c:pt>
                <c:pt idx="49">
                  <c:v>42.51778</c:v>
                </c:pt>
                <c:pt idx="50">
                  <c:v>43.5527</c:v>
                </c:pt>
                <c:pt idx="51">
                  <c:v>44.57245</c:v>
                </c:pt>
                <c:pt idx="52">
                  <c:v>45.5728</c:v>
                </c:pt>
                <c:pt idx="53">
                  <c:v>46.55586</c:v>
                </c:pt>
                <c:pt idx="54">
                  <c:v>47.54457</c:v>
                </c:pt>
                <c:pt idx="55">
                  <c:v>48.50306</c:v>
                </c:pt>
                <c:pt idx="56">
                  <c:v>49.43533</c:v>
                </c:pt>
                <c:pt idx="57">
                  <c:v>50.35044</c:v>
                </c:pt>
                <c:pt idx="58">
                  <c:v>51.23639</c:v>
                </c:pt>
                <c:pt idx="59">
                  <c:v>52.09823</c:v>
                </c:pt>
                <c:pt idx="60">
                  <c:v>52.928782</c:v>
                </c:pt>
                <c:pt idx="61">
                  <c:v>53.73914</c:v>
                </c:pt>
                <c:pt idx="62">
                  <c:v>54.5349</c:v>
                </c:pt>
                <c:pt idx="63">
                  <c:v>55.30892</c:v>
                </c:pt>
                <c:pt idx="64">
                  <c:v>56.0707</c:v>
                </c:pt>
                <c:pt idx="65">
                  <c:v>56.80697</c:v>
                </c:pt>
                <c:pt idx="66">
                  <c:v>57.54442</c:v>
                </c:pt>
                <c:pt idx="67">
                  <c:v>58.27187</c:v>
                </c:pt>
                <c:pt idx="68">
                  <c:v>58.98721</c:v>
                </c:pt>
                <c:pt idx="69">
                  <c:v>59.69091</c:v>
                </c:pt>
                <c:pt idx="70">
                  <c:v>60.37521</c:v>
                </c:pt>
                <c:pt idx="71">
                  <c:v>61.04576</c:v>
                </c:pt>
                <c:pt idx="72">
                  <c:v>61.70055</c:v>
                </c:pt>
                <c:pt idx="73">
                  <c:v>62.32829</c:v>
                </c:pt>
                <c:pt idx="74">
                  <c:v>62.94522</c:v>
                </c:pt>
                <c:pt idx="75">
                  <c:v>63.56603</c:v>
                </c:pt>
                <c:pt idx="76">
                  <c:v>64.17073</c:v>
                </c:pt>
                <c:pt idx="77">
                  <c:v>64.77567</c:v>
                </c:pt>
                <c:pt idx="78">
                  <c:v>65.38848</c:v>
                </c:pt>
                <c:pt idx="79">
                  <c:v>65.99436</c:v>
                </c:pt>
                <c:pt idx="80">
                  <c:v>66.576559</c:v>
                </c:pt>
                <c:pt idx="81">
                  <c:v>67.17213</c:v>
                </c:pt>
                <c:pt idx="82">
                  <c:v>67.74391</c:v>
                </c:pt>
                <c:pt idx="83">
                  <c:v>68.32098</c:v>
                </c:pt>
                <c:pt idx="84">
                  <c:v>68.88747</c:v>
                </c:pt>
                <c:pt idx="85">
                  <c:v>69.44432</c:v>
                </c:pt>
                <c:pt idx="86">
                  <c:v>69.98882</c:v>
                </c:pt>
                <c:pt idx="87">
                  <c:v>70.51568</c:v>
                </c:pt>
                <c:pt idx="88">
                  <c:v>71.0255</c:v>
                </c:pt>
                <c:pt idx="89">
                  <c:v>71.52403</c:v>
                </c:pt>
                <c:pt idx="90">
                  <c:v>72.00692</c:v>
                </c:pt>
                <c:pt idx="91">
                  <c:v>72.48052</c:v>
                </c:pt>
                <c:pt idx="92">
                  <c:v>72.92978</c:v>
                </c:pt>
                <c:pt idx="93">
                  <c:v>73.36764</c:v>
                </c:pt>
                <c:pt idx="94">
                  <c:v>73.79351</c:v>
                </c:pt>
                <c:pt idx="95">
                  <c:v>74.2035</c:v>
                </c:pt>
                <c:pt idx="96">
                  <c:v>74.60268</c:v>
                </c:pt>
                <c:pt idx="97">
                  <c:v>74.99386</c:v>
                </c:pt>
                <c:pt idx="98">
                  <c:v>75.37269</c:v>
                </c:pt>
                <c:pt idx="99">
                  <c:v>75.74412</c:v>
                </c:pt>
                <c:pt idx="100">
                  <c:v>76.10414</c:v>
                </c:pt>
                <c:pt idx="101">
                  <c:v>76.45664</c:v>
                </c:pt>
                <c:pt idx="102">
                  <c:v>76.80502</c:v>
                </c:pt>
                <c:pt idx="103">
                  <c:v>77.15622</c:v>
                </c:pt>
                <c:pt idx="104">
                  <c:v>77.50531</c:v>
                </c:pt>
                <c:pt idx="105">
                  <c:v>77.85075</c:v>
                </c:pt>
                <c:pt idx="106">
                  <c:v>78.18855</c:v>
                </c:pt>
                <c:pt idx="107">
                  <c:v>78.52283</c:v>
                </c:pt>
                <c:pt idx="108">
                  <c:v>78.86169</c:v>
                </c:pt>
                <c:pt idx="109">
                  <c:v>79.19149</c:v>
                </c:pt>
                <c:pt idx="110">
                  <c:v>79.51542</c:v>
                </c:pt>
                <c:pt idx="111">
                  <c:v>79.83276</c:v>
                </c:pt>
                <c:pt idx="112">
                  <c:v>80.14387</c:v>
                </c:pt>
                <c:pt idx="113">
                  <c:v>80.44722</c:v>
                </c:pt>
                <c:pt idx="114">
                  <c:v>80.75021</c:v>
                </c:pt>
                <c:pt idx="115">
                  <c:v>81.03899</c:v>
                </c:pt>
                <c:pt idx="116">
                  <c:v>81.32047</c:v>
                </c:pt>
                <c:pt idx="117">
                  <c:v>81.59948</c:v>
                </c:pt>
                <c:pt idx="118">
                  <c:v>81.88272</c:v>
                </c:pt>
                <c:pt idx="119">
                  <c:v>82.16385</c:v>
                </c:pt>
                <c:pt idx="120">
                  <c:v>82.457295</c:v>
                </c:pt>
                <c:pt idx="121">
                  <c:v>82.72575</c:v>
                </c:pt>
                <c:pt idx="122">
                  <c:v>83.00465</c:v>
                </c:pt>
                <c:pt idx="123">
                  <c:v>83.28095</c:v>
                </c:pt>
                <c:pt idx="124">
                  <c:v>83.55597</c:v>
                </c:pt>
                <c:pt idx="125">
                  <c:v>83.83039</c:v>
                </c:pt>
                <c:pt idx="126">
                  <c:v>84.10494</c:v>
                </c:pt>
                <c:pt idx="127">
                  <c:v>84.38983</c:v>
                </c:pt>
                <c:pt idx="128">
                  <c:v>84.66837</c:v>
                </c:pt>
                <c:pt idx="129">
                  <c:v>84.94503</c:v>
                </c:pt>
                <c:pt idx="130">
                  <c:v>85.20252</c:v>
                </c:pt>
                <c:pt idx="131">
                  <c:v>85.45296</c:v>
                </c:pt>
                <c:pt idx="132">
                  <c:v>85.70117</c:v>
                </c:pt>
                <c:pt idx="133">
                  <c:v>85.94514</c:v>
                </c:pt>
                <c:pt idx="134">
                  <c:v>86.1877</c:v>
                </c:pt>
                <c:pt idx="135">
                  <c:v>86.42356</c:v>
                </c:pt>
                <c:pt idx="136">
                  <c:v>86.65355</c:v>
                </c:pt>
                <c:pt idx="137">
                  <c:v>86.87988</c:v>
                </c:pt>
                <c:pt idx="138">
                  <c:v>87.09423</c:v>
                </c:pt>
                <c:pt idx="139">
                  <c:v>87.29987</c:v>
                </c:pt>
                <c:pt idx="140">
                  <c:v>87.49352</c:v>
                </c:pt>
                <c:pt idx="141">
                  <c:v>87.68811</c:v>
                </c:pt>
                <c:pt idx="142">
                  <c:v>87.88211</c:v>
                </c:pt>
                <c:pt idx="143">
                  <c:v>88.08141</c:v>
                </c:pt>
                <c:pt idx="144">
                  <c:v>88.27976</c:v>
                </c:pt>
                <c:pt idx="145">
                  <c:v>88.47482</c:v>
                </c:pt>
                <c:pt idx="146">
                  <c:v>88.65624</c:v>
                </c:pt>
                <c:pt idx="147">
                  <c:v>88.83108</c:v>
                </c:pt>
                <c:pt idx="148">
                  <c:v>89.00368</c:v>
                </c:pt>
                <c:pt idx="149">
                  <c:v>89.16535</c:v>
                </c:pt>
                <c:pt idx="150">
                  <c:v>89.33102</c:v>
                </c:pt>
                <c:pt idx="151">
                  <c:v>89.48399</c:v>
                </c:pt>
                <c:pt idx="152">
                  <c:v>89.63449</c:v>
                </c:pt>
                <c:pt idx="153">
                  <c:v>89.78781</c:v>
                </c:pt>
                <c:pt idx="154">
                  <c:v>89.94031</c:v>
                </c:pt>
                <c:pt idx="155">
                  <c:v>90.09128</c:v>
                </c:pt>
                <c:pt idx="156">
                  <c:v>90.23778</c:v>
                </c:pt>
                <c:pt idx="157">
                  <c:v>90.38157</c:v>
                </c:pt>
                <c:pt idx="158">
                  <c:v>90.51808</c:v>
                </c:pt>
                <c:pt idx="159">
                  <c:v>90.64612</c:v>
                </c:pt>
                <c:pt idx="160">
                  <c:v>90.77123</c:v>
                </c:pt>
                <c:pt idx="161">
                  <c:v>90.89868</c:v>
                </c:pt>
                <c:pt idx="162">
                  <c:v>91.03001</c:v>
                </c:pt>
                <c:pt idx="163">
                  <c:v>91.16053</c:v>
                </c:pt>
                <c:pt idx="164">
                  <c:v>91.28951</c:v>
                </c:pt>
                <c:pt idx="165">
                  <c:v>91.42002</c:v>
                </c:pt>
                <c:pt idx="166">
                  <c:v>91.55088</c:v>
                </c:pt>
                <c:pt idx="167">
                  <c:v>91.67716</c:v>
                </c:pt>
                <c:pt idx="168">
                  <c:v>91.80285</c:v>
                </c:pt>
                <c:pt idx="169">
                  <c:v>91.92513</c:v>
                </c:pt>
                <c:pt idx="170">
                  <c:v>92.04929</c:v>
                </c:pt>
                <c:pt idx="171">
                  <c:v>92.1684</c:v>
                </c:pt>
                <c:pt idx="172">
                  <c:v>92.28656</c:v>
                </c:pt>
                <c:pt idx="173">
                  <c:v>92.39579</c:v>
                </c:pt>
                <c:pt idx="174">
                  <c:v>92.50491</c:v>
                </c:pt>
                <c:pt idx="175">
                  <c:v>92.61331</c:v>
                </c:pt>
                <c:pt idx="176">
                  <c:v>92.71361</c:v>
                </c:pt>
                <c:pt idx="177">
                  <c:v>92.81555</c:v>
                </c:pt>
                <c:pt idx="178">
                  <c:v>92.91384</c:v>
                </c:pt>
                <c:pt idx="179">
                  <c:v>93.01719</c:v>
                </c:pt>
                <c:pt idx="180">
                  <c:v>93.12089</c:v>
                </c:pt>
                <c:pt idx="181">
                  <c:v>93.22413</c:v>
                </c:pt>
                <c:pt idx="182">
                  <c:v>93.31537</c:v>
                </c:pt>
                <c:pt idx="183">
                  <c:v>93.40202</c:v>
                </c:pt>
                <c:pt idx="184">
                  <c:v>93.48797</c:v>
                </c:pt>
                <c:pt idx="185">
                  <c:v>93.57321</c:v>
                </c:pt>
                <c:pt idx="186">
                  <c:v>93.65046</c:v>
                </c:pt>
                <c:pt idx="187">
                  <c:v>93.72689</c:v>
                </c:pt>
                <c:pt idx="188">
                  <c:v>93.7972</c:v>
                </c:pt>
                <c:pt idx="189">
                  <c:v>93.86563</c:v>
                </c:pt>
                <c:pt idx="190">
                  <c:v>93.93818</c:v>
                </c:pt>
                <c:pt idx="191">
                  <c:v>94.01072</c:v>
                </c:pt>
                <c:pt idx="192">
                  <c:v>94.08479</c:v>
                </c:pt>
                <c:pt idx="193">
                  <c:v>94.1564</c:v>
                </c:pt>
                <c:pt idx="194">
                  <c:v>94.22401</c:v>
                </c:pt>
                <c:pt idx="195">
                  <c:v>94.28738</c:v>
                </c:pt>
                <c:pt idx="196">
                  <c:v>94.35111</c:v>
                </c:pt>
                <c:pt idx="197">
                  <c:v>94.42048</c:v>
                </c:pt>
                <c:pt idx="198">
                  <c:v>94.49432</c:v>
                </c:pt>
                <c:pt idx="199">
                  <c:v>94.57286</c:v>
                </c:pt>
                <c:pt idx="200">
                  <c:v>94.660665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9C52-4CFA-837F-0C3F51216A0D}"/>
            </c:ext>
          </c:extLst>
        </c:ser>
        <c:ser>
          <c:idx val="1"/>
          <c:order val="1"/>
          <c:tx>
            <c:v>中心七区</c:v>
          </c:tx>
          <c:spPr>
            <a:ln w="24765">
              <a:solidFill>
                <a:srgbClr val="496B63"/>
              </a:solidFill>
              <a:prstDash val="solid"/>
            </a:ln>
          </c:spPr>
          <c:marker>
            <c:symbol val="none"/>
          </c:marker>
          <c:xVal>
            <c:numRef>
              <c:f>'Chart Data'!$C$2:$C$202</c:f>
              <c:numCache>
                <c:formatCode>General</c:formatCode>
                <c:ptCount val="20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  <c:pt idx="41">
                  <c:v>1.025</c:v>
                </c:pt>
                <c:pt idx="42">
                  <c:v>1.05</c:v>
                </c:pt>
                <c:pt idx="43">
                  <c:v>1.075</c:v>
                </c:pt>
                <c:pt idx="44">
                  <c:v>1.1</c:v>
                </c:pt>
                <c:pt idx="45">
                  <c:v>1.125</c:v>
                </c:pt>
                <c:pt idx="46">
                  <c:v>1.15</c:v>
                </c:pt>
                <c:pt idx="47">
                  <c:v>1.175</c:v>
                </c:pt>
                <c:pt idx="48">
                  <c:v>1.2</c:v>
                </c:pt>
                <c:pt idx="49">
                  <c:v>1.225</c:v>
                </c:pt>
                <c:pt idx="50">
                  <c:v>1.25</c:v>
                </c:pt>
                <c:pt idx="51">
                  <c:v>1.275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</c:v>
                </c:pt>
                <c:pt idx="60">
                  <c:v>1.5</c:v>
                </c:pt>
                <c:pt idx="61">
                  <c:v>1.525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</c:v>
                </c:pt>
                <c:pt idx="70">
                  <c:v>1.75</c:v>
                </c:pt>
                <c:pt idx="71">
                  <c:v>1.775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</c:v>
                </c:pt>
                <c:pt idx="80">
                  <c:v>2</c:v>
                </c:pt>
                <c:pt idx="81">
                  <c:v>2.025</c:v>
                </c:pt>
                <c:pt idx="82">
                  <c:v>2.05</c:v>
                </c:pt>
                <c:pt idx="83">
                  <c:v>2.075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2.175</c:v>
                </c:pt>
                <c:pt idx="88">
                  <c:v>2.2</c:v>
                </c:pt>
                <c:pt idx="89">
                  <c:v>2.225</c:v>
                </c:pt>
                <c:pt idx="90">
                  <c:v>2.25</c:v>
                </c:pt>
                <c:pt idx="91">
                  <c:v>2.275</c:v>
                </c:pt>
                <c:pt idx="92">
                  <c:v>2.3</c:v>
                </c:pt>
                <c:pt idx="93">
                  <c:v>2.325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2.425</c:v>
                </c:pt>
                <c:pt idx="98">
                  <c:v>2.45</c:v>
                </c:pt>
                <c:pt idx="99">
                  <c:v>2.475</c:v>
                </c:pt>
                <c:pt idx="100">
                  <c:v>2.5</c:v>
                </c:pt>
                <c:pt idx="101">
                  <c:v>2.525</c:v>
                </c:pt>
                <c:pt idx="102">
                  <c:v>2.55</c:v>
                </c:pt>
                <c:pt idx="103">
                  <c:v>2.575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2.675</c:v>
                </c:pt>
                <c:pt idx="108">
                  <c:v>2.7</c:v>
                </c:pt>
                <c:pt idx="109">
                  <c:v>2.725</c:v>
                </c:pt>
                <c:pt idx="110">
                  <c:v>2.75</c:v>
                </c:pt>
                <c:pt idx="111">
                  <c:v>2.775</c:v>
                </c:pt>
                <c:pt idx="112">
                  <c:v>2.8</c:v>
                </c:pt>
                <c:pt idx="113">
                  <c:v>2.825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2.925</c:v>
                </c:pt>
                <c:pt idx="118">
                  <c:v>2.95</c:v>
                </c:pt>
                <c:pt idx="119">
                  <c:v>2.975</c:v>
                </c:pt>
                <c:pt idx="120">
                  <c:v>3</c:v>
                </c:pt>
                <c:pt idx="121">
                  <c:v>3.025</c:v>
                </c:pt>
                <c:pt idx="122">
                  <c:v>3.05</c:v>
                </c:pt>
                <c:pt idx="123">
                  <c:v>3.075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3.175</c:v>
                </c:pt>
                <c:pt idx="128">
                  <c:v>3.2</c:v>
                </c:pt>
                <c:pt idx="129">
                  <c:v>3.225</c:v>
                </c:pt>
                <c:pt idx="130">
                  <c:v>3.25</c:v>
                </c:pt>
                <c:pt idx="131">
                  <c:v>3.275</c:v>
                </c:pt>
                <c:pt idx="132">
                  <c:v>3.3</c:v>
                </c:pt>
                <c:pt idx="133">
                  <c:v>3.325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3.425</c:v>
                </c:pt>
                <c:pt idx="138">
                  <c:v>3.45</c:v>
                </c:pt>
                <c:pt idx="139">
                  <c:v>3.475</c:v>
                </c:pt>
                <c:pt idx="140">
                  <c:v>3.5</c:v>
                </c:pt>
                <c:pt idx="141">
                  <c:v>3.525</c:v>
                </c:pt>
                <c:pt idx="142">
                  <c:v>3.55</c:v>
                </c:pt>
                <c:pt idx="143">
                  <c:v>3.575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3.675</c:v>
                </c:pt>
                <c:pt idx="148">
                  <c:v>3.7</c:v>
                </c:pt>
                <c:pt idx="149">
                  <c:v>3.725</c:v>
                </c:pt>
                <c:pt idx="150">
                  <c:v>3.75</c:v>
                </c:pt>
                <c:pt idx="151">
                  <c:v>3.775</c:v>
                </c:pt>
                <c:pt idx="152">
                  <c:v>3.8</c:v>
                </c:pt>
                <c:pt idx="153">
                  <c:v>3.825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3.925</c:v>
                </c:pt>
                <c:pt idx="158">
                  <c:v>3.95</c:v>
                </c:pt>
                <c:pt idx="159">
                  <c:v>3.975</c:v>
                </c:pt>
                <c:pt idx="160">
                  <c:v>4</c:v>
                </c:pt>
                <c:pt idx="161">
                  <c:v>4.025</c:v>
                </c:pt>
                <c:pt idx="162">
                  <c:v>4.05</c:v>
                </c:pt>
                <c:pt idx="163">
                  <c:v>4.075</c:v>
                </c:pt>
                <c:pt idx="164">
                  <c:v>4.1</c:v>
                </c:pt>
                <c:pt idx="165">
                  <c:v>4.125</c:v>
                </c:pt>
                <c:pt idx="166">
                  <c:v>4.15</c:v>
                </c:pt>
                <c:pt idx="167">
                  <c:v>4.175</c:v>
                </c:pt>
                <c:pt idx="168">
                  <c:v>4.2</c:v>
                </c:pt>
                <c:pt idx="169">
                  <c:v>4.225</c:v>
                </c:pt>
                <c:pt idx="170">
                  <c:v>4.25</c:v>
                </c:pt>
                <c:pt idx="171">
                  <c:v>4.275</c:v>
                </c:pt>
                <c:pt idx="172">
                  <c:v>4.3</c:v>
                </c:pt>
                <c:pt idx="173">
                  <c:v>4.325</c:v>
                </c:pt>
                <c:pt idx="174">
                  <c:v>4.35</c:v>
                </c:pt>
                <c:pt idx="175">
                  <c:v>4.375</c:v>
                </c:pt>
                <c:pt idx="176">
                  <c:v>4.4</c:v>
                </c:pt>
                <c:pt idx="177">
                  <c:v>4.425</c:v>
                </c:pt>
                <c:pt idx="178">
                  <c:v>4.45</c:v>
                </c:pt>
                <c:pt idx="179">
                  <c:v>4.475</c:v>
                </c:pt>
                <c:pt idx="180">
                  <c:v>4.5</c:v>
                </c:pt>
                <c:pt idx="181">
                  <c:v>4.525</c:v>
                </c:pt>
                <c:pt idx="182">
                  <c:v>4.55</c:v>
                </c:pt>
                <c:pt idx="183">
                  <c:v>4.575</c:v>
                </c:pt>
                <c:pt idx="184">
                  <c:v>4.6</c:v>
                </c:pt>
                <c:pt idx="185">
                  <c:v>4.625</c:v>
                </c:pt>
                <c:pt idx="186">
                  <c:v>4.65</c:v>
                </c:pt>
                <c:pt idx="187">
                  <c:v>4.675</c:v>
                </c:pt>
                <c:pt idx="188">
                  <c:v>4.7</c:v>
                </c:pt>
                <c:pt idx="189">
                  <c:v>4.725</c:v>
                </c:pt>
                <c:pt idx="190">
                  <c:v>4.75</c:v>
                </c:pt>
                <c:pt idx="191">
                  <c:v>4.775</c:v>
                </c:pt>
                <c:pt idx="192">
                  <c:v>4.8</c:v>
                </c:pt>
                <c:pt idx="193">
                  <c:v>4.825</c:v>
                </c:pt>
                <c:pt idx="194">
                  <c:v>4.85</c:v>
                </c:pt>
                <c:pt idx="195">
                  <c:v>4.875</c:v>
                </c:pt>
                <c:pt idx="196">
                  <c:v>4.9</c:v>
                </c:pt>
                <c:pt idx="197">
                  <c:v>4.925</c:v>
                </c:pt>
                <c:pt idx="198">
                  <c:v>4.95</c:v>
                </c:pt>
                <c:pt idx="199">
                  <c:v>4.975</c:v>
                </c:pt>
                <c:pt idx="200">
                  <c:v>5</c:v>
                </c:pt>
              </c:numCache>
            </c:numRef>
          </c:xVal>
          <c:yVal>
            <c:numRef>
              <c:f>'Chart Data'!$D$2:$D$202</c:f>
              <c:numCache>
                <c:formatCode>General</c:formatCode>
                <c:ptCount val="201"/>
                <c:pt idx="0">
                  <c:v>0</c:v>
                </c:pt>
                <c:pt idx="1">
                  <c:v>0.059</c:v>
                </c:pt>
                <c:pt idx="2">
                  <c:v>0.24185</c:v>
                </c:pt>
                <c:pt idx="3">
                  <c:v>0.55508</c:v>
                </c:pt>
                <c:pt idx="4">
                  <c:v>1.016851</c:v>
                </c:pt>
                <c:pt idx="5">
                  <c:v>1.66088</c:v>
                </c:pt>
                <c:pt idx="6">
                  <c:v>2.4629</c:v>
                </c:pt>
                <c:pt idx="7">
                  <c:v>3.46526</c:v>
                </c:pt>
                <c:pt idx="8">
                  <c:v>4.57979</c:v>
                </c:pt>
                <c:pt idx="9">
                  <c:v>5.77956</c:v>
                </c:pt>
                <c:pt idx="10">
                  <c:v>7.098177</c:v>
                </c:pt>
                <c:pt idx="11">
                  <c:v>8.51126</c:v>
                </c:pt>
                <c:pt idx="12">
                  <c:v>10.054468</c:v>
                </c:pt>
                <c:pt idx="13">
                  <c:v>11.70772</c:v>
                </c:pt>
                <c:pt idx="14">
                  <c:v>13.43561</c:v>
                </c:pt>
                <c:pt idx="15">
                  <c:v>15.28442</c:v>
                </c:pt>
                <c:pt idx="16">
                  <c:v>17.18205</c:v>
                </c:pt>
                <c:pt idx="17">
                  <c:v>19.13649</c:v>
                </c:pt>
                <c:pt idx="18">
                  <c:v>21.13391</c:v>
                </c:pt>
                <c:pt idx="19">
                  <c:v>23.16848</c:v>
                </c:pt>
                <c:pt idx="20">
                  <c:v>25.271567</c:v>
                </c:pt>
                <c:pt idx="21">
                  <c:v>27.42703</c:v>
                </c:pt>
                <c:pt idx="22">
                  <c:v>29.63206</c:v>
                </c:pt>
                <c:pt idx="23">
                  <c:v>31.84947</c:v>
                </c:pt>
                <c:pt idx="24">
                  <c:v>34.15794</c:v>
                </c:pt>
                <c:pt idx="25">
                  <c:v>36.52615</c:v>
                </c:pt>
                <c:pt idx="26">
                  <c:v>38.90601</c:v>
                </c:pt>
                <c:pt idx="27">
                  <c:v>41.31501</c:v>
                </c:pt>
                <c:pt idx="28">
                  <c:v>43.72109</c:v>
                </c:pt>
                <c:pt idx="29">
                  <c:v>46.10459</c:v>
                </c:pt>
                <c:pt idx="30">
                  <c:v>48.44657</c:v>
                </c:pt>
                <c:pt idx="31">
                  <c:v>50.7259</c:v>
                </c:pt>
                <c:pt idx="32">
                  <c:v>52.957699</c:v>
                </c:pt>
                <c:pt idx="33">
                  <c:v>55.24523</c:v>
                </c:pt>
                <c:pt idx="34">
                  <c:v>57.39563</c:v>
                </c:pt>
                <c:pt idx="35">
                  <c:v>59.47027</c:v>
                </c:pt>
                <c:pt idx="36">
                  <c:v>61.53179</c:v>
                </c:pt>
                <c:pt idx="37">
                  <c:v>63.52484</c:v>
                </c:pt>
                <c:pt idx="38">
                  <c:v>65.46617</c:v>
                </c:pt>
                <c:pt idx="39">
                  <c:v>67.33612</c:v>
                </c:pt>
                <c:pt idx="40">
                  <c:v>69.054475</c:v>
                </c:pt>
                <c:pt idx="41">
                  <c:v>70.86038</c:v>
                </c:pt>
                <c:pt idx="42">
                  <c:v>72.55476</c:v>
                </c:pt>
                <c:pt idx="43">
                  <c:v>74.19087</c:v>
                </c:pt>
                <c:pt idx="44">
                  <c:v>75.78691</c:v>
                </c:pt>
                <c:pt idx="45">
                  <c:v>77.28534</c:v>
                </c:pt>
                <c:pt idx="46">
                  <c:v>78.70219</c:v>
                </c:pt>
                <c:pt idx="47">
                  <c:v>80.06075</c:v>
                </c:pt>
                <c:pt idx="48">
                  <c:v>81.37561</c:v>
                </c:pt>
                <c:pt idx="49">
                  <c:v>82.67882</c:v>
                </c:pt>
                <c:pt idx="50">
                  <c:v>83.86474</c:v>
                </c:pt>
                <c:pt idx="51">
                  <c:v>85.02954</c:v>
                </c:pt>
                <c:pt idx="52">
                  <c:v>86.12076</c:v>
                </c:pt>
                <c:pt idx="53">
                  <c:v>87.12093</c:v>
                </c:pt>
                <c:pt idx="54">
                  <c:v>88.05772</c:v>
                </c:pt>
                <c:pt idx="55">
                  <c:v>88.87141</c:v>
                </c:pt>
                <c:pt idx="56">
                  <c:v>89.62171</c:v>
                </c:pt>
                <c:pt idx="57">
                  <c:v>90.33487</c:v>
                </c:pt>
                <c:pt idx="58">
                  <c:v>90.98611</c:v>
                </c:pt>
                <c:pt idx="59">
                  <c:v>91.58053</c:v>
                </c:pt>
                <c:pt idx="60">
                  <c:v>92.086343</c:v>
                </c:pt>
                <c:pt idx="61">
                  <c:v>92.57632</c:v>
                </c:pt>
                <c:pt idx="62">
                  <c:v>93.03452</c:v>
                </c:pt>
                <c:pt idx="63">
                  <c:v>93.48179</c:v>
                </c:pt>
                <c:pt idx="64">
                  <c:v>93.90502</c:v>
                </c:pt>
                <c:pt idx="65">
                  <c:v>94.2911</c:v>
                </c:pt>
                <c:pt idx="66">
                  <c:v>94.68957</c:v>
                </c:pt>
                <c:pt idx="67">
                  <c:v>95.07711</c:v>
                </c:pt>
                <c:pt idx="68">
                  <c:v>95.42968</c:v>
                </c:pt>
                <c:pt idx="69">
                  <c:v>95.74583</c:v>
                </c:pt>
                <c:pt idx="70">
                  <c:v>95.99787</c:v>
                </c:pt>
                <c:pt idx="71">
                  <c:v>96.22952</c:v>
                </c:pt>
                <c:pt idx="72">
                  <c:v>96.43057</c:v>
                </c:pt>
                <c:pt idx="73">
                  <c:v>96.6156</c:v>
                </c:pt>
                <c:pt idx="74">
                  <c:v>96.75838</c:v>
                </c:pt>
                <c:pt idx="75">
                  <c:v>96.88149</c:v>
                </c:pt>
                <c:pt idx="76">
                  <c:v>96.9944</c:v>
                </c:pt>
                <c:pt idx="77">
                  <c:v>97.09565</c:v>
                </c:pt>
                <c:pt idx="78">
                  <c:v>97.19108</c:v>
                </c:pt>
                <c:pt idx="79">
                  <c:v>97.27412</c:v>
                </c:pt>
                <c:pt idx="80">
                  <c:v>97.334259</c:v>
                </c:pt>
                <c:pt idx="81">
                  <c:v>97.39286</c:v>
                </c:pt>
                <c:pt idx="82">
                  <c:v>97.45478</c:v>
                </c:pt>
                <c:pt idx="83">
                  <c:v>97.51743</c:v>
                </c:pt>
                <c:pt idx="84">
                  <c:v>97.58809</c:v>
                </c:pt>
                <c:pt idx="85">
                  <c:v>97.65656</c:v>
                </c:pt>
                <c:pt idx="86">
                  <c:v>97.72285</c:v>
                </c:pt>
                <c:pt idx="87">
                  <c:v>97.79497</c:v>
                </c:pt>
                <c:pt idx="88">
                  <c:v>97.85907</c:v>
                </c:pt>
                <c:pt idx="89">
                  <c:v>97.92682</c:v>
                </c:pt>
                <c:pt idx="90">
                  <c:v>97.98291</c:v>
                </c:pt>
                <c:pt idx="91">
                  <c:v>98.0339</c:v>
                </c:pt>
                <c:pt idx="92">
                  <c:v>98.08708</c:v>
                </c:pt>
                <c:pt idx="93">
                  <c:v>98.1388</c:v>
                </c:pt>
                <c:pt idx="94">
                  <c:v>98.19198</c:v>
                </c:pt>
                <c:pt idx="95">
                  <c:v>98.2488</c:v>
                </c:pt>
                <c:pt idx="96">
                  <c:v>98.3129</c:v>
                </c:pt>
                <c:pt idx="97">
                  <c:v>98.38866</c:v>
                </c:pt>
                <c:pt idx="98">
                  <c:v>98.4666</c:v>
                </c:pt>
                <c:pt idx="99">
                  <c:v>98.54819</c:v>
                </c:pt>
                <c:pt idx="100">
                  <c:v>98.62614</c:v>
                </c:pt>
                <c:pt idx="101">
                  <c:v>98.70189</c:v>
                </c:pt>
                <c:pt idx="102">
                  <c:v>98.77547</c:v>
                </c:pt>
                <c:pt idx="103">
                  <c:v>98.84249</c:v>
                </c:pt>
                <c:pt idx="104">
                  <c:v>98.90732</c:v>
                </c:pt>
                <c:pt idx="105">
                  <c:v>98.96924</c:v>
                </c:pt>
                <c:pt idx="106">
                  <c:v>99.0246</c:v>
                </c:pt>
                <c:pt idx="107">
                  <c:v>99.07632</c:v>
                </c:pt>
                <c:pt idx="108">
                  <c:v>99.12586</c:v>
                </c:pt>
                <c:pt idx="109">
                  <c:v>99.1732</c:v>
                </c:pt>
                <c:pt idx="110">
                  <c:v>99.21983</c:v>
                </c:pt>
                <c:pt idx="111">
                  <c:v>99.25843</c:v>
                </c:pt>
                <c:pt idx="112">
                  <c:v>99.28903</c:v>
                </c:pt>
                <c:pt idx="113">
                  <c:v>99.31161</c:v>
                </c:pt>
                <c:pt idx="114">
                  <c:v>99.33128</c:v>
                </c:pt>
                <c:pt idx="115">
                  <c:v>99.35022</c:v>
                </c:pt>
                <c:pt idx="116">
                  <c:v>99.37499</c:v>
                </c:pt>
                <c:pt idx="117">
                  <c:v>99.3983</c:v>
                </c:pt>
                <c:pt idx="118">
                  <c:v>99.42889</c:v>
                </c:pt>
                <c:pt idx="119">
                  <c:v>99.4624</c:v>
                </c:pt>
                <c:pt idx="120">
                  <c:v>99.504344</c:v>
                </c:pt>
                <c:pt idx="121">
                  <c:v>99.53962</c:v>
                </c:pt>
                <c:pt idx="122">
                  <c:v>99.57385</c:v>
                </c:pt>
                <c:pt idx="123">
                  <c:v>99.60736</c:v>
                </c:pt>
                <c:pt idx="124">
                  <c:v>99.63723</c:v>
                </c:pt>
                <c:pt idx="125">
                  <c:v>99.66491</c:v>
                </c:pt>
                <c:pt idx="126">
                  <c:v>99.69114</c:v>
                </c:pt>
                <c:pt idx="127">
                  <c:v>99.71008</c:v>
                </c:pt>
                <c:pt idx="128">
                  <c:v>99.72683</c:v>
                </c:pt>
                <c:pt idx="129">
                  <c:v>99.74577</c:v>
                </c:pt>
                <c:pt idx="130">
                  <c:v>99.76544</c:v>
                </c:pt>
                <c:pt idx="131">
                  <c:v>99.78656</c:v>
                </c:pt>
                <c:pt idx="132">
                  <c:v>99.80769</c:v>
                </c:pt>
                <c:pt idx="133">
                  <c:v>99.83246</c:v>
                </c:pt>
                <c:pt idx="134">
                  <c:v>99.85285</c:v>
                </c:pt>
                <c:pt idx="135">
                  <c:v>99.87106</c:v>
                </c:pt>
                <c:pt idx="136">
                  <c:v>99.88126</c:v>
                </c:pt>
                <c:pt idx="137">
                  <c:v>99.88636</c:v>
                </c:pt>
                <c:pt idx="138">
                  <c:v>99.88709</c:v>
                </c:pt>
                <c:pt idx="139">
                  <c:v>99.88709</c:v>
                </c:pt>
                <c:pt idx="140">
                  <c:v>99.88709</c:v>
                </c:pt>
                <c:pt idx="141">
                  <c:v>99.88709</c:v>
                </c:pt>
                <c:pt idx="142">
                  <c:v>99.88782</c:v>
                </c:pt>
                <c:pt idx="143">
                  <c:v>99.89073</c:v>
                </c:pt>
                <c:pt idx="144">
                  <c:v>99.89656</c:v>
                </c:pt>
                <c:pt idx="145">
                  <c:v>99.90384</c:v>
                </c:pt>
                <c:pt idx="146">
                  <c:v>99.9155</c:v>
                </c:pt>
                <c:pt idx="147">
                  <c:v>99.92643</c:v>
                </c:pt>
                <c:pt idx="148">
                  <c:v>99.93735</c:v>
                </c:pt>
                <c:pt idx="149">
                  <c:v>99.94828</c:v>
                </c:pt>
                <c:pt idx="150">
                  <c:v>99.95848</c:v>
                </c:pt>
                <c:pt idx="151">
                  <c:v>99.9694</c:v>
                </c:pt>
                <c:pt idx="152">
                  <c:v>99.9796</c:v>
                </c:pt>
                <c:pt idx="153">
                  <c:v>99.98907</c:v>
                </c:pt>
                <c:pt idx="154">
                  <c:v>99.99636</c:v>
                </c:pt>
                <c:pt idx="155">
                  <c:v>99.99927</c:v>
                </c:pt>
                <c:pt idx="156">
                  <c:v>100</c:v>
                </c:pt>
                <c:pt idx="157">
                  <c:v>100</c:v>
                </c:pt>
                <c:pt idx="158">
                  <c:v>100</c:v>
                </c:pt>
                <c:pt idx="159">
                  <c:v>100</c:v>
                </c:pt>
                <c:pt idx="160">
                  <c:v>100</c:v>
                </c:pt>
                <c:pt idx="161">
                  <c:v>100</c:v>
                </c:pt>
                <c:pt idx="162">
                  <c:v>100</c:v>
                </c:pt>
                <c:pt idx="163">
                  <c:v>100</c:v>
                </c:pt>
                <c:pt idx="164">
                  <c:v>100</c:v>
                </c:pt>
                <c:pt idx="165">
                  <c:v>100</c:v>
                </c:pt>
                <c:pt idx="166">
                  <c:v>100</c:v>
                </c:pt>
                <c:pt idx="167">
                  <c:v>100</c:v>
                </c:pt>
                <c:pt idx="168">
                  <c:v>100</c:v>
                </c:pt>
                <c:pt idx="169">
                  <c:v>100</c:v>
                </c:pt>
                <c:pt idx="170">
                  <c:v>100</c:v>
                </c:pt>
                <c:pt idx="171">
                  <c:v>100</c:v>
                </c:pt>
                <c:pt idx="172">
                  <c:v>100</c:v>
                </c:pt>
                <c:pt idx="173">
                  <c:v>100</c:v>
                </c:pt>
                <c:pt idx="174">
                  <c:v>100</c:v>
                </c:pt>
                <c:pt idx="175">
                  <c:v>100</c:v>
                </c:pt>
                <c:pt idx="176">
                  <c:v>100</c:v>
                </c:pt>
                <c:pt idx="177">
                  <c:v>100</c:v>
                </c:pt>
                <c:pt idx="178">
                  <c:v>100</c:v>
                </c:pt>
                <c:pt idx="179">
                  <c:v>100</c:v>
                </c:pt>
                <c:pt idx="180">
                  <c:v>100</c:v>
                </c:pt>
                <c:pt idx="181">
                  <c:v>100</c:v>
                </c:pt>
                <c:pt idx="182">
                  <c:v>100</c:v>
                </c:pt>
                <c:pt idx="183">
                  <c:v>100</c:v>
                </c:pt>
                <c:pt idx="184">
                  <c:v>100</c:v>
                </c:pt>
                <c:pt idx="185">
                  <c:v>100</c:v>
                </c:pt>
                <c:pt idx="186">
                  <c:v>100</c:v>
                </c:pt>
                <c:pt idx="187">
                  <c:v>100</c:v>
                </c:pt>
                <c:pt idx="188">
                  <c:v>100</c:v>
                </c:pt>
                <c:pt idx="189">
                  <c:v>100</c:v>
                </c:pt>
                <c:pt idx="190">
                  <c:v>100</c:v>
                </c:pt>
                <c:pt idx="191">
                  <c:v>100</c:v>
                </c:pt>
                <c:pt idx="192">
                  <c:v>100</c:v>
                </c:pt>
                <c:pt idx="193">
                  <c:v>100</c:v>
                </c:pt>
                <c:pt idx="194">
                  <c:v>100</c:v>
                </c:pt>
                <c:pt idx="195">
                  <c:v>100</c:v>
                </c:pt>
                <c:pt idx="196">
                  <c:v>100</c:v>
                </c:pt>
                <c:pt idx="197">
                  <c:v>100</c:v>
                </c:pt>
                <c:pt idx="198">
                  <c:v>100</c:v>
                </c:pt>
                <c:pt idx="199">
                  <c:v>100</c:v>
                </c:pt>
                <c:pt idx="200">
                  <c:v>100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9C52-4CFA-837F-0C3F51216A0D}"/>
            </c:ext>
          </c:extLst>
        </c:ser>
        <c:ser>
          <c:idx val="2"/>
          <c:order val="2"/>
          <c:tx>
            <c:v>全市候选</c:v>
          </c:tx>
          <c:spPr>
            <a:ln w="9525">
              <a:solidFill>
                <a:srgbClr val="8F3E35"/>
              </a:solidFill>
            </a:ln>
          </c:spPr>
          <c:marker>
            <c:symbol val="circle"/>
            <c:size val="7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Data'!$E$2:$E$2</c:f>
              <c:numCache>
                <c:formatCode>General</c:formatCode>
                <c:ptCount val="1"/>
                <c:pt idx="0">
                  <c:v>2.275</c:v>
                </c:pt>
              </c:numCache>
            </c:numRef>
          </c:xVal>
          <c:yVal>
            <c:numRef>
              <c:f>'Chart Data'!$F$2:$F$2</c:f>
              <c:numCache>
                <c:formatCode>General</c:formatCode>
                <c:ptCount val="1"/>
                <c:pt idx="0">
                  <c:v>72.476529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9C52-4CFA-837F-0C3F51216A0D}"/>
            </c:ext>
          </c:extLst>
        </c:ser>
        <c:ser>
          <c:idx val="3"/>
          <c:order val="3"/>
          <c:tx>
            <c:v>全市85%</c:v>
          </c:tx>
          <c:spPr>
            <a:ln w="9525">
              <a:solidFill>
                <a:srgbClr val="8F3E35"/>
              </a:solidFill>
            </a:ln>
          </c:spPr>
          <c:marker>
            <c:symbol val="triangle"/>
            <c:size val="8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Data'!$G$2:$G$2</c:f>
              <c:numCache>
                <c:formatCode>General</c:formatCode>
                <c:ptCount val="1"/>
                <c:pt idx="0">
                  <c:v>3.229456</c:v>
                </c:pt>
              </c:numCache>
            </c:numRef>
          </c:xVal>
          <c:yVal>
            <c:numRef>
              <c:f>'Chart Data'!$H$2:$H$2</c:f>
              <c:numCache>
                <c:formatCode>General</c:formatCode>
                <c:ptCount val="1"/>
                <c:pt idx="0">
                  <c:v>85.001644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9C52-4CFA-837F-0C3F51216A0D}"/>
            </c:ext>
          </c:extLst>
        </c:ser>
        <c:ser>
          <c:idx val="4"/>
          <c:order val="4"/>
          <c:tx>
            <c:v>七区候选</c:v>
          </c:tx>
          <c:spPr>
            <a:ln w="9525">
              <a:solidFill>
                <a:srgbClr val="496B63"/>
              </a:solidFill>
            </a:ln>
          </c:spPr>
          <c:marker>
            <c:symbol val="circle"/>
            <c:size val="7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Data'!$I$2:$I$2</c:f>
              <c:numCache>
                <c:formatCode>General</c:formatCode>
                <c:ptCount val="1"/>
                <c:pt idx="0">
                  <c:v>1.125</c:v>
                </c:pt>
              </c:numCache>
            </c:numRef>
          </c:xVal>
          <c:yVal>
            <c:numRef>
              <c:f>'Chart Data'!$J$2:$J$2</c:f>
              <c:numCache>
                <c:formatCode>General</c:formatCode>
                <c:ptCount val="1"/>
                <c:pt idx="0">
                  <c:v>77.234316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4-9C52-4CFA-837F-0C3F51216A0D}"/>
            </c:ext>
          </c:extLst>
        </c:ser>
        <c:ser>
          <c:idx val="5"/>
          <c:order val="5"/>
          <c:tx>
            <c:v>七区85%</c:v>
          </c:tx>
          <c:spPr>
            <a:ln w="9525">
              <a:solidFill>
                <a:srgbClr val="496B63"/>
              </a:solidFill>
            </a:ln>
          </c:spPr>
          <c:marker>
            <c:symbol val="triangle"/>
            <c:size val="8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Data'!$K$2:$K$2</c:f>
              <c:numCache>
                <c:formatCode>General</c:formatCode>
                <c:ptCount val="1"/>
                <c:pt idx="0">
                  <c:v>1.275748</c:v>
                </c:pt>
              </c:numCache>
            </c:numRef>
          </c:xVal>
          <c:yVal>
            <c:numRef>
              <c:f>'Chart Data'!$L$2:$L$2</c:f>
              <c:numCache>
                <c:formatCode>General</c:formatCode>
                <c:ptCount val="1"/>
                <c:pt idx="0">
                  <c:v>85.027761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5-9C52-4CFA-837F-0C3F51216A0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w="5715">
              <a:solidFill>
                <a:srgbClr val="DDD0C6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面积覆盖率（</a:t>
                </a:r>
                <a:r>
                  <a:rPr lang="en-US" altLang="zh-CN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%</a:t>
                </a:r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50112"/>
        <c:crosses val="autoZero"/>
        <c:crossBetween val="midCat"/>
        <c:majorUnit val="25"/>
      </c:valAx>
      <c:valAx>
        <c:axId val="48650112"/>
        <c:scaling>
          <c:orientation val="minMax"/>
          <c:max val="5"/>
          <c:min val="0"/>
        </c:scaling>
        <c:delete val="0"/>
        <c:axPos val="b"/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直线半径（公里）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CBB9AD"/>
            </a:solidFill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72768"/>
        <c:crosses val="autoZero"/>
        <c:crossBetween val="midCat"/>
        <c:majorUnit val="1"/>
      </c:valAx>
      <c:spPr>
        <a:solidFill>
          <a:srgbClr val="F5F0E9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5F0E9"/>
    </a:solidFill>
    <a:ln w="0">
      <a:noFill/>
    </a:ln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我们先从上海社区公共服务切入，观察人民城市的理念怎样进入普通人的日常生活。</a:t>
            </a:r>
          </a:p>
          <a:p>
            <a:endParaRPr/>
          </a:p>
          <a:p>
            <a:r>
              <a:t>完整讲稿：D:/教学相长也/人民城市/人民城市的上海实践_补充插图版.docx</a:t>
            </a:r>
          </a:p>
          <a:p>
            <a:r>
              <a:t>来源：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6256654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2015年12月20日至21日召开的中央城市工作会议，已经明确提出坚持以人民为中心的发展思想，坚持人民城市为人民。这说明相关表述已经进入当时的中央城市工作部署。它与2019年完整重要理念的首次提出需要区分。</a:t>
            </a:r>
          </a:p>
          <a:p>
            <a:endParaRPr/>
          </a:p>
          <a:p>
            <a:r>
              <a:t>完整讲稿：D:/教学相长也/人民城市/人民城市的上海实践_补充插图版.docx</a:t>
            </a:r>
          </a:p>
          <a:p>
            <a:r>
              <a:t>来源：</a:t>
            </a:r>
          </a:p>
          <a:p>
            <a:r>
              <a:t>https://www.xinhuanet.com/politics/2015-12/22/c_1117545528.htm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102445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2019年11月2日下午，习近平总书记来到杨浦滨江公共空间杨树浦水厂滨江段考察，与休闲健身的市民交流，并提出人民城市人民建，人民城市为人民的重要理念。工业滨江转为市民可以使用的公共空间，是理解这一理念的具体场景。</a:t>
            </a:r>
          </a:p>
          <a:p>
            <a:endParaRPr/>
          </a:p>
          <a:p>
            <a:r>
              <a:t>完整讲稿：D:/教学相长也/人民城市/人民城市的上海实践_补充插图版.docx</a:t>
            </a:r>
          </a:p>
          <a:p>
            <a:r>
              <a:t>来源：</a:t>
            </a:r>
          </a:p>
          <a:p>
            <a:r>
              <a:t>https://cpc.people.com.cn/n1/2019/1103/c64094-31434692.html</a:t>
            </a:r>
          </a:p>
          <a:p>
            <a:r>
              <a:t>https://www.shanghai.gov.cn/nw4411/20241102/fcb650016bba4c0ebf1a633c9dbada9a.html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052609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2015.12 中央城市工作会议 明确人民城市为人民</a:t>
            </a:r>
          </a:p>
          <a:p>
            <a:r>
              <a:t>2019.11.02 杨浦滨江考察 提出完整重要理念</a:t>
            </a:r>
          </a:p>
          <a:p>
            <a:r>
              <a:t>2020.06.23 上海市委全会 部署五个人人城市</a:t>
            </a:r>
          </a:p>
          <a:p>
            <a:r>
              <a:t>2020.11.12 浦东开发开放30周年 强调宜居安居与治理</a:t>
            </a:r>
          </a:p>
          <a:p>
            <a:r>
              <a:t>2022.10.16 党的二十大报告 人民城市理念写入报告</a:t>
            </a:r>
          </a:p>
          <a:p>
            <a:r>
              <a:t>2023.11—12 上海考察 关注城市建设者住房</a:t>
            </a:r>
          </a:p>
          <a:p>
            <a:r>
              <a:t>2015年会议为12月20日至21日，报道12月22日。2019年考察11月2日，报道11月3日。二十大报告作于10月16日、全文10月25日发布。2023年考察11月28日至12月2日，建设者之家11月29日。2024年决定7月18日通过、7月21日发布。2025年7月14日讲话在2026年第2期求是发表。城市高质量发展意见8月15日落款、8月28日公开。</a:t>
            </a:r>
          </a:p>
          <a:p>
            <a:endParaRPr/>
          </a:p>
          <a:p>
            <a:r>
              <a:t>完整讲稿：D:/教学相长也/人民城市/人民城市的上海实践_补充插图版.docx</a:t>
            </a:r>
          </a:p>
          <a:p>
            <a:r>
              <a:t>来源：</a:t>
            </a:r>
          </a:p>
          <a:p>
            <a:r>
              <a:t>https://www.xinhuanet.com/politics/2015-12/22/c_1117545528.htm</a:t>
            </a:r>
          </a:p>
          <a:p>
            <a:r>
              <a:t>https://cpc.people.com.cn/n1/2019/1103/c64094-31434692.html</a:t>
            </a:r>
          </a:p>
          <a:p>
            <a:r>
              <a:t>https://www.shkjdw.gov.cn/c/2020-06-23/523645.shtml</a:t>
            </a:r>
          </a:p>
          <a:p>
            <a:r>
              <a:t>https://www.xinhuanet.com/politics/2020-11/12/c_1126732554.htm</a:t>
            </a:r>
          </a:p>
          <a:p>
            <a:r>
              <a:t>https://www.xinhuanet.com/politics/2022-10/25/c_1129079429.htm</a:t>
            </a:r>
          </a:p>
          <a:p>
            <a:r>
              <a:t>https://www.cac.gov.cn/2023-12/03/c_1703306405757560.htm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472594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2024.07.18 二十届三中全会 城市更新与治理改革</a:t>
            </a:r>
          </a:p>
          <a:p>
            <a:r>
              <a:t>2024.11.02 上海市委署名文章 总结理念提出五年实践</a:t>
            </a:r>
          </a:p>
          <a:p>
            <a:r>
              <a:t>2024.11.04报道 老杨树宣讲汇回信 鼓励市民参与城市治理</a:t>
            </a:r>
          </a:p>
          <a:p>
            <a:r>
              <a:t>2025.07.14—15 中央城市工作会议 建设现代化人民城市</a:t>
            </a:r>
          </a:p>
          <a:p>
            <a:r>
              <a:t>2025.08.15落款 城市高质量发展意见 明确2030和2035年目标</a:t>
            </a:r>
          </a:p>
          <a:p>
            <a:r>
              <a:t>2026.07.15 上海市民新村考察 更新问需问计问效于民</a:t>
            </a:r>
          </a:p>
          <a:p>
            <a:r>
              <a:t>2015年会议为12月20日至21日，报道12月22日。2019年考察11月2日，报道11月3日。二十大报告作于10月16日、全文10月25日发布。2023年考察11月28日至12月2日，建设者之家11月29日。2024年决定7月18日通过、7月21日发布。2025年7月14日讲话在2026年第2期求是发表。城市高质量发展意见8月15日落款、8月28日公开。</a:t>
            </a:r>
          </a:p>
          <a:p>
            <a:endParaRPr/>
          </a:p>
          <a:p>
            <a:r>
              <a:t>完整讲稿：D:/教学相长也/人民城市/人民城市的上海实践_补充插图版.docx</a:t>
            </a:r>
          </a:p>
          <a:p>
            <a:r>
              <a:t>来源：</a:t>
            </a:r>
          </a:p>
          <a:p>
            <a:r>
              <a:t>https://www.news.cn/politics/20240721/cec09ea2bde840dfb99331c48ab5523a/c.html</a:t>
            </a:r>
          </a:p>
          <a:p>
            <a:r>
              <a:t>https://www.shanghai.gov.cn/nw4411/20241102/fcb650016bba4c0ebf1a633c9dbada9a.html</a:t>
            </a:r>
          </a:p>
          <a:p>
            <a:r>
              <a:t>https://cpc.people.com.cn/n1/2024/1104/c64094-40353495.html</a:t>
            </a:r>
          </a:p>
          <a:p>
            <a:r>
              <a:t>https://www.qstheory.cn/20260115/d3e63b3075754be4a98c172afdf6d9b7/c.html</a:t>
            </a:r>
          </a:p>
          <a:p>
            <a:r>
              <a:t>https://www.mee.gov.cn/zcwj/zyygwj/202508/t20250828_1126302.shtml</a:t>
            </a:r>
          </a:p>
          <a:p>
            <a:r>
              <a:t>https://politics.people.com.cn/n1/2026/0716/c1024-40761422.html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532014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我们选取社区长者食堂、公园类绿地、市民健身中心、图书馆服务网点、社区文化活动中心和社区卫生服务中心，观察用餐、阅读、运动、休闲、文化学习和基本医疗。它们连接不同年龄人的生活，也包括户外空间和室内服务。</a:t>
            </a:r>
          </a:p>
          <a:p>
            <a:endParaRPr/>
          </a:p>
          <a:p>
            <a:r>
              <a:t>完整讲稿：D:/教学相长也/人民城市/人民城市的上海实践_补充插图版.docx</a:t>
            </a:r>
          </a:p>
          <a:p>
            <a:r>
              <a:t>来源：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8254384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截至2025年底，上海有521家社区长者食堂，中心图书馆一卡通体系259家机构和457个服务网点。2025年末公园名录1100座，2025年执行情况报告记载983座24小时开放。老年教育统计219所街镇老年学校、6317个居村学习点，全年线下学员累计146.73万人次。官方网络规模与本组空间测算样本的时点、筛选不同，不能直接相减推算停业数量。</a:t>
            </a:r>
          </a:p>
          <a:p>
            <a:endParaRPr/>
          </a:p>
          <a:p>
            <a:r>
              <a:t>完整讲稿：D:/教学相长也/人民城市/人民城市的上海实践_补充插图版.docx</a:t>
            </a:r>
          </a:p>
          <a:p>
            <a:r>
              <a:t>来源：</a:t>
            </a:r>
          </a:p>
          <a:p>
            <a:r>
              <a:t>https://mzj.sh.gov.cn/2026bsmz/20260716/846a1b55bf3a4f5381fe26a25c17353f.html</a:t>
            </a:r>
          </a:p>
          <a:p>
            <a:r>
              <a:t>https://www.shio.gov.cn/TrueCMS/shxwbgs/ywts/content/e2631e50-9d35-41d2-821b-6c638729964d.htm</a:t>
            </a:r>
          </a:p>
          <a:p>
            <a:r>
              <a:t>https://lhsr.sh.gov.cn/lhgl/20260116/dfec3bf8-19d3-4dcb-9975-5dbd0112639f.html</a:t>
            </a:r>
          </a:p>
          <a:p>
            <a:r>
              <a:t>https://mzj.sh.gov.cn/2026bsmz/20260515/aaa41ec3fec949c79d7958aad878aa6f.html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9217853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全市包括16区；中心七区为黄浦、徐汇、长宁、静安、普陀、虹口和杨浦，浦东只纳入全市。面积分母分别531.61和85.76平方公里。曲线由25米采样计算，关键覆盖节点以原始几何缓冲与住宅相交复核。折中候选采用95%上限与归一化弦距判据，不是唯一最优值。R85是达到85%样本住宅面积覆盖的最小统一直线半径。动画改变半径，不是时间变化。</a:t>
            </a:r>
          </a:p>
          <a:p>
            <a:endParaRPr/>
          </a:p>
          <a:p>
            <a:r>
              <a:t>完整讲稿：D:/教学相长也/人民城市/人民城市的上海实践_补充插图版.docx</a:t>
            </a:r>
          </a:p>
          <a:p>
            <a:r>
              <a:t>来源：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263809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社区长者食堂：全市纳入512个，R85 2.48公里；折中候选1.800公里，面积覆盖72.0%。中心七区纳入193个，R85 0.92公里；折中候选0.750公里，覆盖75.7%。动画从60%到88%覆盖，对应半径变化。60%、70%、80%、85%、88%关键节点以原始多边形计算核验；其他帧按25米采样曲线估算。图上250米/100米色格用于显示。点位名录与实际开放、收费分别核实。</a:t>
            </a:r>
          </a:p>
          <a:p>
            <a:r>
              <a:t>距离未计道路、围墙、过江、出入口、开放时间、费用及服务容量。85%与88%均不表示居民人口覆盖率，也不是官方15分钟步行可达率。</a:t>
            </a:r>
          </a:p>
          <a:p>
            <a:r>
              <a:t>资料文件：D:/教学相长也/人民城市/资料/（对应设施）/analysis.json、coverage_results.json；D:/教学相长也/人民城市/资料/覆盖折中点分析/tradeoff_results.json。</a:t>
            </a:r>
          </a:p>
          <a:p>
            <a:endParaRPr/>
          </a:p>
          <a:p>
            <a:r>
              <a:t>完整讲稿：D:/教学相长也/人民城市/人民城市的上海实践_补充插图版.docx</a:t>
            </a:r>
          </a:p>
          <a:p>
            <a:r>
              <a:t>来源：</a:t>
            </a:r>
          </a:p>
          <a:p>
            <a:r>
              <a:t>https://shyl.mzj.sh.gov.cn/agencyQuery</a:t>
            </a:r>
          </a:p>
          <a:p>
            <a:r>
              <a:t>https://www.library.sh.cn/guide/libraryLocation</a:t>
            </a:r>
          </a:p>
          <a:p>
            <a:r>
              <a:t>https://www.shggty.com.cn/facilityMap.html</a:t>
            </a:r>
          </a:p>
          <a:p>
            <a:r>
              <a:t>https://whlyj.sh.gov.cn/sqwhhdzx/20260818/c50581fd2b7541fb81824a485f3a368b.html</a:t>
            </a:r>
          </a:p>
          <a:p>
            <a:r>
              <a:t>https://wsjkw.sh.gov.cn/fwjg/20180601/0012-55892.html</a:t>
            </a:r>
          </a:p>
          <a:p>
            <a:r>
              <a:t>https://www.openstreetmap.org/copyright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292036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图书馆服务网点：全市纳入385个，R85 2.56公里；折中候选1.850公里，面积覆盖72.5%。中心七区纳入117个，R85 1.17公里；折中候选1.000公里，覆盖77.0%。动画从60%到88%覆盖，对应半径变化。60%、70%、80%、85%、88%关键节点以原始多边形计算核验；其他帧按25米采样曲线估算。图上250米/100米色格用于显示。服务网点不保证自习座位。</a:t>
            </a:r>
          </a:p>
          <a:p>
            <a:r>
              <a:t>距离未计道路、围墙、过江、出入口、开放时间、费用及服务容量。85%与88%均不表示居民人口覆盖率，也不是官方15分钟步行可达率。</a:t>
            </a:r>
          </a:p>
          <a:p>
            <a:r>
              <a:t>资料文件：D:/教学相长也/人民城市/资料/（对应设施）/analysis.json、coverage_results.json；D:/教学相长也/人民城市/资料/覆盖折中点分析/tradeoff_results.json。</a:t>
            </a:r>
          </a:p>
          <a:p>
            <a:endParaRPr/>
          </a:p>
          <a:p>
            <a:r>
              <a:t>完整讲稿：D:/教学相长也/人民城市/人民城市的上海实践_补充插图版.docx</a:t>
            </a:r>
          </a:p>
          <a:p>
            <a:r>
              <a:t>来源：</a:t>
            </a:r>
          </a:p>
          <a:p>
            <a:r>
              <a:t>https://shyl.mzj.sh.gov.cn/agencyQuery</a:t>
            </a:r>
          </a:p>
          <a:p>
            <a:r>
              <a:t>https://www.library.sh.cn/guide/libraryLocation</a:t>
            </a:r>
          </a:p>
          <a:p>
            <a:r>
              <a:t>https://www.shggty.com.cn/facilityMap.html</a:t>
            </a:r>
          </a:p>
          <a:p>
            <a:r>
              <a:t>https://whlyj.sh.gov.cn/sqwhhdzx/20260818/c50581fd2b7541fb81824a485f3a368b.html</a:t>
            </a:r>
          </a:p>
          <a:p>
            <a:r>
              <a:t>https://wsjkw.sh.gov.cn/fwjg/20180601/0012-55892.html</a:t>
            </a:r>
          </a:p>
          <a:p>
            <a:r>
              <a:t>https://www.openstreetmap.org/copyright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828606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市民健身中心：全市纳入217个，R85 4.02公里；折中候选2.625公里，面积覆盖70.9%。中心七区纳入77个，R85 1.38公里；折中候选1.200公里，覆盖76.2%。动画从60%到88%覆盖，对应半径变化。60%、70%、80%、85%、88%关键节点以原始多边形计算核验；其他帧按25米采样曲线估算。图上250米/100米色格用于显示。点位名录与实际开放、收费分别核实。</a:t>
            </a:r>
          </a:p>
          <a:p>
            <a:r>
              <a:t>距离未计道路、围墙、过江、出入口、开放时间、费用及服务容量。85%与88%均不表示居民人口覆盖率，也不是官方15分钟步行可达率。</a:t>
            </a:r>
          </a:p>
          <a:p>
            <a:r>
              <a:t>资料文件：D:/教学相长也/人民城市/资料/（对应设施）/analysis.json、coverage_results.json；D:/教学相长也/人民城市/资料/覆盖折中点分析/tradeoff_results.json。</a:t>
            </a:r>
          </a:p>
          <a:p>
            <a:endParaRPr/>
          </a:p>
          <a:p>
            <a:r>
              <a:t>完整讲稿：D:/教学相长也/人民城市/人民城市的上海实践_补充插图版.docx</a:t>
            </a:r>
          </a:p>
          <a:p>
            <a:r>
              <a:t>来源：</a:t>
            </a:r>
          </a:p>
          <a:p>
            <a:r>
              <a:t>https://shyl.mzj.sh.gov.cn/agencyQuery</a:t>
            </a:r>
          </a:p>
          <a:p>
            <a:r>
              <a:t>https://www.library.sh.cn/guide/libraryLocation</a:t>
            </a:r>
          </a:p>
          <a:p>
            <a:r>
              <a:t>https://www.shggty.com.cn/facilityMap.html</a:t>
            </a:r>
          </a:p>
          <a:p>
            <a:r>
              <a:t>https://whlyj.sh.gov.cn/sqwhhdzx/20260818/c50581fd2b7541fb81824a485f3a368b.html</a:t>
            </a:r>
          </a:p>
          <a:p>
            <a:r>
              <a:t>https://wsjkw.sh.gov.cn/fwjg/20180601/0012-55892.html</a:t>
            </a:r>
          </a:p>
          <a:p>
            <a:r>
              <a:t>https://www.openstreetmap.org/copyright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422476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公园类绿地 初版：全市纳入2067个，R85 1.36公里；折中候选0.975公里，面积覆盖76.5%。中心七区纳入517个，R85 0.56公里；折中候选0.450公里，覆盖72.5%。动画从60%到88%覆盖，对应半径变化。60%、70%、80%、85%、88%关键节点以原始多边形计算核验；其他帧按25米采样曲线估算。图上250米/100米色格用于显示。绿地按范围距离；实际开放与入口待核验。</a:t>
            </a:r>
          </a:p>
          <a:p>
            <a:r>
              <a:t>距离未计道路、围墙、过江、出入口、开放时间、费用及服务容量。85%与88%均不表示居民人口覆盖率，也不是官方15分钟步行可达率。</a:t>
            </a:r>
          </a:p>
          <a:p>
            <a:r>
              <a:t>资料文件：D:/教学相长也/人民城市/资料/（对应设施）/analysis.json、coverage_results.json；D:/教学相长也/人民城市/资料/覆盖折中点分析/tradeoff_results.json。</a:t>
            </a:r>
          </a:p>
          <a:p>
            <a:endParaRPr/>
          </a:p>
          <a:p>
            <a:r>
              <a:t>完整讲稿：D:/教学相长也/人民城市/人民城市的上海实践_补充插图版.docx</a:t>
            </a:r>
          </a:p>
          <a:p>
            <a:r>
              <a:t>来源：</a:t>
            </a:r>
          </a:p>
          <a:p>
            <a:r>
              <a:t>https://shyl.mzj.sh.gov.cn/agencyQuery</a:t>
            </a:r>
          </a:p>
          <a:p>
            <a:r>
              <a:t>https://www.library.sh.cn/guide/libraryLocation</a:t>
            </a:r>
          </a:p>
          <a:p>
            <a:r>
              <a:t>https://www.shggty.com.cn/facilityMap.html</a:t>
            </a:r>
          </a:p>
          <a:p>
            <a:r>
              <a:t>https://whlyj.sh.gov.cn/sqwhhdzx/20260818/c50581fd2b7541fb81824a485f3a368b.html</a:t>
            </a:r>
          </a:p>
          <a:p>
            <a:r>
              <a:t>https://wsjkw.sh.gov.cn/fwjg/20180601/0012-55892.html</a:t>
            </a:r>
          </a:p>
          <a:p>
            <a:r>
              <a:t>https://www.openstreetmap.org/copyright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499089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社区文化活动中心：全市纳入232个，R85 3.42公里；折中候选2.525公里，面积覆盖73.4%。中心七区纳入83个，R85 1.36公里；折中候选1.225公里，覆盖80.2%。动画从60%到88%覆盖，对应半径变化。60%、70%、80%、85%、88%关键节点以原始多边形计算核验；其他帧按25米采样曲线估算。图上250米/100米色格用于显示。登记同址不等于当前设有老年大学。文化中心名录221个主分组中55组与老年学校登记同址，约24.9%；中心七区27/77约35.1%。</a:t>
            </a:r>
          </a:p>
          <a:p>
            <a:r>
              <a:t>距离未计道路、围墙、过江、出入口、开放时间、费用及服务容量。85%与88%均不表示居民人口覆盖率，也不是官方15分钟步行可达率。</a:t>
            </a:r>
          </a:p>
          <a:p>
            <a:r>
              <a:t>资料文件：D:/教学相长也/人民城市/资料/（对应设施）/analysis.json、coverage_results.json；D:/教学相长也/人民城市/资料/覆盖折中点分析/tradeoff_results.json。</a:t>
            </a:r>
          </a:p>
          <a:p>
            <a:endParaRPr/>
          </a:p>
          <a:p>
            <a:r>
              <a:t>完整讲稿：D:/教学相长也/人民城市/人民城市的上海实践_补充插图版.docx</a:t>
            </a:r>
          </a:p>
          <a:p>
            <a:r>
              <a:t>来源：</a:t>
            </a:r>
          </a:p>
          <a:p>
            <a:r>
              <a:t>https://shyl.mzj.sh.gov.cn/agencyQuery</a:t>
            </a:r>
          </a:p>
          <a:p>
            <a:r>
              <a:t>https://www.library.sh.cn/guide/libraryLocation</a:t>
            </a:r>
          </a:p>
          <a:p>
            <a:r>
              <a:t>https://www.shggty.com.cn/facilityMap.html</a:t>
            </a:r>
          </a:p>
          <a:p>
            <a:r>
              <a:t>https://whlyj.sh.gov.cn/sqwhhdzx/20260818/c50581fd2b7541fb81824a485f3a368b.html</a:t>
            </a:r>
          </a:p>
          <a:p>
            <a:r>
              <a:t>https://wsjkw.sh.gov.cn/fwjg/20180601/0012-55892.html</a:t>
            </a:r>
          </a:p>
          <a:p>
            <a:r>
              <a:t>https://www.openstreetmap.org/copyright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87307861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社区卫生服务中心：全市纳入235个，R85 3.23公里；折中候选2.275公里，面积覆盖72.5%。中心七区纳入79个，R85 1.28公里；折中候选1.125公里，覆盖77.2%。动画从60%到88%覆盖，对应半径变化。60%、70%、80%、85%、88%关键节点以原始多边形计算核验；其他帧按25米采样曲线估算。图上250米/100米色格用于显示。只计已定位中心院址，不代表全部卫生服务站。</a:t>
            </a:r>
          </a:p>
          <a:p>
            <a:r>
              <a:t>距离未计道路、围墙、过江、出入口、开放时间、费用及服务容量。85%与88%均不表示居民人口覆盖率，也不是官方15分钟步行可达率。</a:t>
            </a:r>
          </a:p>
          <a:p>
            <a:r>
              <a:t>资料文件：D:/教学相长也/人民城市/资料/（对应设施）/analysis.json、coverage_results.json；D:/教学相长也/人民城市/资料/覆盖折中点分析/tradeoff_results.json。</a:t>
            </a:r>
          </a:p>
          <a:p>
            <a:endParaRPr/>
          </a:p>
          <a:p>
            <a:r>
              <a:t>完整讲稿：D:/教学相长也/人民城市/人民城市的上海实践_补充插图版.docx</a:t>
            </a:r>
          </a:p>
          <a:p>
            <a:r>
              <a:t>来源：</a:t>
            </a:r>
          </a:p>
          <a:p>
            <a:r>
              <a:t>https://shyl.mzj.sh.gov.cn/agencyQuery</a:t>
            </a:r>
          </a:p>
          <a:p>
            <a:r>
              <a:t>https://www.library.sh.cn/guide/libraryLocation</a:t>
            </a:r>
          </a:p>
          <a:p>
            <a:r>
              <a:t>https://www.shggty.com.cn/facilityMap.html</a:t>
            </a:r>
          </a:p>
          <a:p>
            <a:r>
              <a:t>https://whlyj.sh.gov.cn/sqwhhdzx/20260818/c50581fd2b7541fb81824a485f3a368b.html</a:t>
            </a:r>
          </a:p>
          <a:p>
            <a:r>
              <a:t>https://wsjkw.sh.gov.cn/fwjg/20180601/0012-55892.html</a:t>
            </a:r>
          </a:p>
          <a:p>
            <a:r>
              <a:t>https://www.openstreetmap.org/copyright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82236813"/>
      </p:ext>
    </p:extLst>
  </p:cSld>
  <p:clrMapOvr>
    <a:masterClrMapping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里展示我家所在街道的公共服务地图，可以在图上标注自己使用的图书馆、健身中心、食堂、绿地与卫生中心。周家桥街道位于长宁区北部，辖区呈狭长型，东起凯旋路、西至威宁路、北靠苏州河。长宁区人民政府2026年3月9日发布的《周家桥街道概况》给出辖区面积约2平方公里。本页采用这一官方概况的约数，表示整个行政辖区面积，不能与前面OSM已标注居住用地的样本面积直接比较。</a:t>
            </a:r>
          </a:p>
          <a:p xmlns:a="http://schemas.openxmlformats.org/drawingml/2006/main">
            <a:r>
              <a:t>来源：https://www.shcn.gov.cn/col7485/20260309/1306692.html</a:t>
            </a:r>
          </a:p>
          <a:p xmlns:a="http://schemas.openxmlformats.org/drawingml/2006/main">
            <a:r>
              <a:t>地图：用户原稿提供。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原稿提供的设施照片，拍摄日期未确定。公开名录所列开放时段为周一至周日8:30—20:30，节假日及临时调整以公告为准。文化活动中心整体开放时间为8:30—20:30，不代替各功能区开放时间。从个人体验看，附近的阅读和运动空间为日常生活提供便利。</a:t>
            </a:r>
          </a:p>
          <a:p>
            <a:endParaRPr/>
          </a:p>
          <a:p>
            <a:r>
              <a:t>完整讲稿：D:/教学相长也/人民城市/人民城市的上海实践_补充插图版.docx</a:t>
            </a:r>
          </a:p>
          <a:p>
            <a:r>
              <a:t>来源：</a:t>
            </a:r>
          </a:p>
          <a:p>
            <a:r>
              <a:t>https://www.library.sh.cn/guide/libraryLocation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4009862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原稿提供的设施照片，拍摄日期未确定。公开名录所列开放时段为工作日及周末7:00—22:00，节假日及临时调整以公告为准。文化活动中心整体开放时间为8:30—20:30，不代替各功能区开放时间。从个人体验看，附近的阅读和运动空间为日常生活提供便利。</a:t>
            </a:r>
          </a:p>
          <a:p>
            <a:endParaRPr/>
          </a:p>
          <a:p>
            <a:r>
              <a:t>完整讲稿：D:/教学相长也/人民城市/人民城市的上海实践_补充插图版.docx</a:t>
            </a:r>
          </a:p>
          <a:p>
            <a:r>
              <a:t>来源：</a:t>
            </a:r>
          </a:p>
          <a:p>
            <a:r>
              <a:t>https://www.shggty.com.cn/facilityMap.html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63372796"/>
      </p:ext>
    </p:extLst>
  </p:cSld>
  <p:clrMapOvr>
    <a:masterClrMapping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三张实景照片分别为社区食堂、公共绿地与社区卫生服务中心，由小组提供。用餐、散步与基本就医构成家门口公共服务的日常使用场景。照片中的拍摄日期、收费、服务项目和开放时间没有在本页作推断。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经过观察，我们小组尝试概括人民城市的内涵：以在城市生活和劳动的人为发展主体，通过公共制度，使城市空间、发展收益和基本服务广泛惠及居民，并保障人们能够负担生活、稳定居住、参与治理。这是小组理解，不作为官方定义。社区公共服务是理解这一理念的入口，后续衔接原PPT上海与纽约比较。</a:t>
            </a:r>
          </a:p>
          <a:p>
            <a:endParaRPr/>
          </a:p>
          <a:p>
            <a:r>
              <a:t>完整讲稿：D:/教学相长也/人民城市/人民城市的上海实践_补充插图版.docx</a:t>
            </a:r>
          </a:p>
          <a:p>
            <a:r>
              <a:t>来源：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811060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建议讲述：25秒</a:t>
            </a:r>
          </a:p>
          <a:p>
            <a:r>
              <a:t>15分钟讲述取舍：定义只说一句，不在封面解释所有分项。</a:t>
            </a:r>
          </a:p>
          <a:p>
            <a:endParaRPr/>
          </a:p>
          <a:p>
            <a:r>
              <a:t>讲稿原文</a:t>
            </a:r>
          </a:p>
          <a:p>
            <a:r>
              <a:t>人民城市强调以人民为中心，让城市建设和治理回应普通人的生活需要。今天把这个问题拆成一张日常生活的考卷：上海做了什么，纽约能不能交出一份合格的答卷？</a:t>
            </a:r>
          </a:p>
          <a:p>
            <a:endParaRPr/>
          </a:p>
          <a:p>
            <a:r>
              <a:t>数据来源与完整口径</a:t>
            </a:r>
          </a:p>
          <a:p>
            <a:r>
              <a:t>新华社《习近平：人民城市人民建，人民城市为人民》，中国政府网，2019-11-03</a:t>
            </a:r>
          </a:p>
          <a:p>
            <a:r>
              <a:t>https://www.gov.cn/xinwen/2019-11/03/content_5448082.htm</a:t>
            </a:r>
          </a:p>
          <a:p>
            <a:endParaRPr/>
          </a:p>
          <a:p>
            <a:r>
              <a:t>外滩滨江步道照片：d’n’c / Wikimedia Commons · CC BY-SA 2.0 · 2007</a:t>
            </a:r>
          </a:p>
          <a:p>
            <a:r>
              <a:t>https://commons.wikimedia.org/wiki/File:Promenade_-The_Bund_(Wai_Tan)_Shanghai-_(685405681).jpg</a:t>
            </a:r>
          </a:p>
          <a:p>
            <a:r>
              <a:t>https://creativecommons.org/licenses/by-sa/2.0</a:t>
            </a:r>
          </a:p>
          <a:p>
            <a:r>
              <a:t>本页为概念引入；第2页开始贴讲稿第1节。采用原彩色照片，未改变空间内容。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建议讲述：80秒</a:t>
            </a:r>
          </a:p>
          <a:p>
            <a:r>
              <a:t>15分钟讲述取舍：开场问题、改造实例、密度差异各一段；原文砍半敏感性计算可略。</a:t>
            </a:r>
          </a:p>
          <a:p>
            <a:endParaRPr/>
          </a:p>
          <a:p>
            <a:r>
              <a:t>讲稿原文</a:t>
            </a:r>
          </a:p>
          <a:p>
            <a:r>
              <a:t>先问大家一个问题：在纽约逛街，突然想上厕所，怎么办？</a:t>
            </a:r>
          </a:p>
          <a:p>
            <a:endParaRPr/>
          </a:p>
          <a:p>
            <a:r>
              <a:t>答案是，不太好办。纽约市政府管的公厕一共一千零六十多座，正常开放的不到一千座。纽约八百五十多万人，算下来将近九千人才摊到一座能用的。全天二十四小时开门的，整个纽约市只有八座。</a:t>
            </a:r>
          </a:p>
          <a:p>
            <a:endParaRPr/>
          </a:p>
          <a:p>
            <a:r>
              <a:t>上海这几年在公厕上是下了真功夫的。两千六百多座环卫公厕做了适老、适幼改造，一千二百多座配了第三卫生间；两千六百多座免费供应厕纸，两千多座冬天有热水。上海还在推动商场、地铁站、文化场馆的厕所向公众开放。</a:t>
            </a:r>
          </a:p>
          <a:p>
            <a:endParaRPr/>
          </a:p>
          <a:p>
            <a:r>
              <a:t>上海一共有多少处公厕？统计公报里查不到，开放平台上的公共厕所数据集记录了八千三百多处，大约三千人一处，密度是纽约的三倍左右。纽约那个数只算市政府管的，上海这个数据集统计得可能更宽；就算把这八千多处砍掉一半，也还是六千人一处，比纽约密。</a:t>
            </a:r>
          </a:p>
          <a:p>
            <a:endParaRPr/>
          </a:p>
          <a:p>
            <a:r>
              <a:t>公厕不赚钱，用得最多的是环卫工、快递员和上了年纪的人。看一座城市怎么管公厕，大致能看出它怎么对待普通人。</a:t>
            </a:r>
          </a:p>
          <a:p>
            <a:endParaRPr/>
          </a:p>
          <a:p>
            <a:r>
              <a:t>数据来源与完整口径</a:t>
            </a:r>
          </a:p>
          <a:p>
            <a:r>
              <a:t>https://data.sh.gov.cn/</a:t>
            </a:r>
          </a:p>
          <a:p>
            <a:endParaRPr/>
          </a:p>
          <a:p>
            <a:r>
              <a:t>https://lhsr.sh.gov.cn/ywdt/20260401/00d7c161-8280-490c-a0da-d6c995e85058.html</a:t>
            </a:r>
          </a:p>
          <a:p>
            <a:endParaRPr/>
          </a:p>
          <a:p>
            <a:r>
              <a:t>https://lhsr.sh.gov.cn/ywdt/20251204/b016509f-60a6-46cd-83fa-fdab372175c7.html</a:t>
            </a:r>
          </a:p>
          <a:p>
            <a:endParaRPr/>
          </a:p>
          <a:p>
            <a:r>
              <a:t>https://council.nyc.gov/data/public-restroom-analysis/</a:t>
            </a:r>
          </a:p>
          <a:p>
            <a:r>
              <a:t>上海记录元数据：开放平台“城市设施-公共厕所”接口元数据；2020–2025时间范围，2026-09-21更新；有条件开放。人口2485.41万人÷8325≈2985人/条；纽约8584629÷973≈8823人/座。上海尚未清洗明细，不能写成已核实公厕总数。</a:t>
            </a:r>
          </a:p>
          <a:p>
            <a:r>
              <a:t>截图保留原始色彩、文字和数值。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建议讲述：80秒</a:t>
            </a:r>
          </a:p>
          <a:p>
            <a:r>
              <a:t>15分钟讲述取舍：压缩 GDP、HDI、PPP 方法论铺垫；重点说政府管辖范围和收入量级。</a:t>
            </a:r>
          </a:p>
          <a:p>
            <a:endParaRPr/>
          </a:p>
          <a:p>
            <a:r>
              <a:t>讲稿原文</a:t>
            </a:r>
          </a:p>
          <a:p>
            <a:r>
              <a:t>今天的题目是：纽约能不能叫人民城市？</a:t>
            </a:r>
          </a:p>
          <a:p>
            <a:endParaRPr/>
          </a:p>
          <a:p>
            <a:r>
              <a:t>要回答它，不能看一座城市怎么称呼自己，得放到具体的生活里去比。</a:t>
            </a:r>
          </a:p>
          <a:p>
            <a:endParaRPr/>
          </a:p>
          <a:p>
            <a:r>
              <a:t>怎么比？最常用的尺子是 GDP 和人均收入，但它们有个毛病：房租、看病、上学、理发这些服务，价格都是本地定的，没法拿现金直接换算。联合国的人类发展指数把寿命、教育、收入放在一起算，还是太粗；购买力平价算了几十年，到现在也没有一个公认的版本。所以我们只能把日常生活拆开，一项一项地比，用普通人看得懂的指标。</a:t>
            </a:r>
          </a:p>
          <a:p>
            <a:endParaRPr/>
          </a:p>
          <a:p>
            <a:r>
              <a:t>比之前，先得说清楚比的是哪个纽约。纽约市有五个区，780 平方公里，850 多万人，面积只有上海的八分之一。上海全市 6,300 多平方公里，2,480 多万人，其中将近 1,000 万是外地来沪的常住人口。纽约都会区两千万人，规模更接近上海，但它跨了三个州，没有一个统一的政府。我们要看的是一座城市的政府怎么对待自己的市民，所以拿纽约市政府管的五个区，对比上海市政府管的全市，比较合适。面积差了八倍，比总量没有意义，所以下面凡是能算人均的，我们都算人均。</a:t>
            </a:r>
          </a:p>
          <a:p>
            <a:endParaRPr/>
          </a:p>
          <a:p>
            <a:r>
              <a:t>再看收入。2024 年，纽约一户人家的收入中位数是 8.1 万美元，折合人民币约 55 万元。上海 2025 年人均可支配收入 9.2 万元，一户平均 2.24 人，一户约 20.6 万元。纽约是上海的两倍半以上。纽约这个数是税前的，扣完税要缩水；上海这个数是平均数，普通家庭够不着平均数，也要缩水。两边都挤掉水分，还是两倍半上下。从手里的现金看，纽约比上海宽裕得多。</a:t>
            </a:r>
          </a:p>
          <a:p>
            <a:endParaRPr/>
          </a:p>
          <a:p>
            <a:r>
              <a:t>但收入差两倍半，不等于日子差两倍半。所以我们先比住、吃、穿、行四个基本项，再比医疗、治安、教育、文化四个加分项，最后单独看一题：怎么对待最穷的人。能找到上海具体做法的题，我们先讲上海做了什么，再看结果。</a:t>
            </a:r>
          </a:p>
          <a:p>
            <a:endParaRPr/>
          </a:p>
          <a:p>
            <a:r>
              <a:t>数据来源与完整口径</a:t>
            </a:r>
          </a:p>
          <a:p>
            <a:r>
              <a:t>https://tjj.sh.gov.cn/ydsj71/20260120/39ae4cd58421478d897b739d83f39c10.html</a:t>
            </a:r>
          </a:p>
          <a:p>
            <a:endParaRPr/>
          </a:p>
          <a:p>
            <a:r>
              <a:t>https://tjj.sh.gov.cn/tjgb/20260630/b74619258aee4912a55a1da928b5be30.html</a:t>
            </a:r>
          </a:p>
          <a:p>
            <a:endParaRPr/>
          </a:p>
          <a:p>
            <a:r>
              <a:t>https://rentguidelinesboard.cityofnewyork.us/wp-content/uploads/2026/04/2026-IA.pdf</a:t>
            </a:r>
          </a:p>
          <a:p>
            <a:endParaRPr/>
          </a:p>
          <a:p>
            <a:r>
              <a:t>https://tjj.sh.gov.cn/tjgb/20260330/e0772941e8e041eaaad2df850b44ef98.html</a:t>
            </a:r>
          </a:p>
          <a:p>
            <a:endParaRPr/>
          </a:p>
          <a:p>
            <a:r>
              <a:t>https://www.health.ny.gov/statistics/vital_statistics/2022/table02.htm</a:t>
            </a:r>
          </a:p>
          <a:p>
            <a:endParaRPr/>
          </a:p>
          <a:p>
            <a:r>
              <a:t>https://www.nyc.gov/content/planning/pages/planning/population</a:t>
            </a:r>
          </a:p>
          <a:p>
            <a:endParaRPr/>
          </a:p>
          <a:p>
            <a:r>
              <a:t>口径：</a:t>
            </a:r>
          </a:p>
          <a:p>
            <a:r>
              <a:t>纽约为税前户收入中位数；上海由人均可支配收入均值×家庭户规模估算。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建议讲述：75秒</a:t>
            </a:r>
          </a:p>
          <a:p>
            <a:r>
              <a:t>15分钟讲述取舍：先讲纽约住房压力，再讲上海举措与 59.0% 对 32.3%，末句明确胜负。</a:t>
            </a:r>
          </a:p>
          <a:p>
            <a:endParaRPr/>
          </a:p>
          <a:p>
            <a:r>
              <a:t>讲稿原文</a:t>
            </a:r>
          </a:p>
          <a:p>
            <a:r>
              <a:t>住是日常开销里最大的一块，也最值得比。</a:t>
            </a:r>
          </a:p>
          <a:p>
            <a:endParaRPr/>
          </a:p>
          <a:p>
            <a:r>
              <a:t>纽约的问题在于，大多数人住的房子不是自己的。2023 年，纽约市只有 32% 的家庭住在自己的房子里，三分之二租房；租房的家庭里，一半以上要把三成以上的收入交给房东。租房空置率只有 1.4%，是 1968 年以来最低。在纽约，连找到一套能租的房子都难。</a:t>
            </a:r>
          </a:p>
          <a:p>
            <a:endParaRPr/>
          </a:p>
          <a:p>
            <a:r>
              <a:t>上海的情况正好相反。2020 年人口普查，上海家庭的自有住房比例是 59%。这里面有一块，是当年房改时职工买下的原公有住房，算是住房政策留下的成果。普查只算家庭户，住集体宿舍的人没算进去，真实比例会低一些；但两边差了 27 个百分点，扣掉几个点也还是一大截。</a:t>
            </a:r>
          </a:p>
          <a:p>
            <a:endParaRPr/>
          </a:p>
          <a:p>
            <a:r>
              <a:t>没有自己房子的人，上海这几年也在管。2025 年一年筹措了 7.4 万套保障性租赁住房，给一线务工人员备下 3.2 万张床位。老小区也在修，一年给老楼加装了 3,000 多台电梯。</a:t>
            </a:r>
          </a:p>
          <a:p>
            <a:endParaRPr/>
          </a:p>
          <a:p>
            <a:r>
              <a:t>房租负担本来是更直接的指标，可上海统计部门不公布租金，商业网站上的数各说各话，这一项我们只好放弃，最后再说。</a:t>
            </a:r>
          </a:p>
          <a:p>
            <a:endParaRPr/>
          </a:p>
          <a:p>
            <a:r>
              <a:t>59% 对 32%，住这方面，上海有明显优势。</a:t>
            </a:r>
          </a:p>
          <a:p>
            <a:endParaRPr/>
          </a:p>
          <a:p>
            <a:r>
              <a:t>数据来源与完整口径</a:t>
            </a:r>
          </a:p>
          <a:p>
            <a:r>
              <a:t>https://tjj.sh.gov.cn/tjnj/2020rktjnj/BNJc-9-4.jpg</a:t>
            </a:r>
          </a:p>
          <a:p>
            <a:r>
              <a:t>https://www.nyc.gov/assets/hpd/downloads/pdfs/about/2023%20NYCHVS%20Selected%20Initial%20Findings.pdf</a:t>
            </a:r>
          </a:p>
          <a:p>
            <a:r>
              <a:t>https://tjj.sh.gov.cn/tjgb/20260330/e0772941e8e041eaaad2df850b44ef98.html</a:t>
            </a:r>
          </a:p>
          <a:p>
            <a:r>
              <a:t>上海为七普长表家庭户，纽约为HVS已入住住房；分母与年份不同。</a:t>
            </a:r>
          </a:p>
          <a:p>
            <a:r>
              <a:t>纽约租金负担51.6%为2024ACS，2026 RGB报告引用；租赁空置率1.41%来自2023 HVS。上海7.4万为建设筹措量，非全部交付量。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建议讲述：75秒</a:t>
            </a:r>
          </a:p>
          <a:p>
            <a:r>
              <a:t>15分钟讲述取舍：吃讲花销与价格效应，穿讲可贸易商品，避免连续重复 4.7 倍与 7 倍。</a:t>
            </a:r>
          </a:p>
          <a:p>
            <a:endParaRPr/>
          </a:p>
          <a:p>
            <a:r>
              <a:t>讲稿原文</a:t>
            </a:r>
          </a:p>
          <a:p>
            <a:r>
              <a:t>吃和穿，是上海的短板。纽约市没有单独的统计，我们用纽约州的数据：2025 年，纽约州人均一年在家吃饭花 4,389 美元，在外吃饭花 5,005 美元，加起来 9,394 美元，折合人民币 6.3 万元。上海 2024 年人均食品烟酒支出 1.35 万元，纽约是上海的 4.7 倍。</a:t>
            </a:r>
          </a:p>
          <a:p>
            <a:endParaRPr/>
          </a:p>
          <a:p>
            <a:r>
              <a:t>但这个 4.7 倍不能按字面来看。餐饮价格和工资关联很大，纽约工资高，同样一顿饭也贵得多，花的钱多不等于吃得好那么多。反过来，美国的基础农产品供应水平确实比我们高。所以吃这一项，纽约人比上海人吃得好一些，但优势没有数字看上去那么大。</a:t>
            </a:r>
          </a:p>
          <a:p>
            <a:endParaRPr/>
          </a:p>
          <a:p>
            <a:r>
              <a:t>穿就是压倒性的了。2024 年，上海人均一年买衣服花 1,936 元；2025 年，纽约州人均花 1,947 美元，折合人民币 1.3 万元，接近上海的 7 倍。这次不能拿购买力做借口：衣服是全球化程度最高的商品，同一件衣服在两地的价格差不了太多，花的钱差 7 倍，就是穿得差。这方面必须承认，纽约的水平高得多。</a:t>
            </a:r>
          </a:p>
          <a:p>
            <a:endParaRPr/>
          </a:p>
          <a:p>
            <a:r>
              <a:t>数据来源与完整口径</a:t>
            </a:r>
          </a:p>
          <a:p>
            <a:r>
              <a:t>https://apps.bea.gov/regional/zip/SAPCE.zip</a:t>
            </a:r>
          </a:p>
          <a:p>
            <a:r>
              <a:t>https://tjj.sh.gov.cn/tjnj/2025tjnj/C0905.htm</a:t>
            </a:r>
          </a:p>
          <a:p>
            <a:endParaRPr/>
          </a:p>
          <a:p>
            <a:r>
              <a:t>https://apps.bea.gov/regional/zip/SAPCE.zip</a:t>
            </a:r>
          </a:p>
          <a:p>
            <a:r>
              <a:t>https://tjj.sh.gov.cn/tjnj/2025tjnj/C0905.htm</a:t>
            </a:r>
          </a:p>
          <a:p>
            <a:r>
              <a:t>纽约州2025在家食品饮料4389美元，餐饮住宿5005美元（含住宿），合9394美元，折63249.802元；上海食品烟酒13550元。衣着纽约州1947美元×6.733=13109.151元，对上海1936元。不得把餐饮住宿写成纯餐饮。数据与图示为官方年度消费记录，不采用Wis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建议讲述：80秒</a:t>
            </a:r>
          </a:p>
          <a:p>
            <a:r>
              <a:t>15分钟讲述取舍：只保留一个票价折算例子；正文不报衣食住行“二比二”。备注仍完整保留新版第 5 节原文。</a:t>
            </a:r>
          </a:p>
          <a:p>
            <a:endParaRPr/>
          </a:p>
          <a:p>
            <a:r>
              <a:t>讲稿原文</a:t>
            </a:r>
          </a:p>
          <a:p>
            <a:r>
              <a:t>纽约是美国公共交通最好的城市。将近一半的纽约家庭靠公共交通出行，全美只有 4%。所以纽约都会区的家庭，花在交通上的钱只占消费的 14%，全美平均是 17%。</a:t>
            </a:r>
          </a:p>
          <a:p>
            <a:endParaRPr/>
          </a:p>
          <a:p>
            <a:r>
              <a:t>但放到上海面前，纽约这点优势就不够看了。上海第一条地铁 1993 年才开通，三十多年修了 22 条线、960 多公里，是纽约的两倍多；地铁和公交两小时内换乘，还能优惠 1 块钱。2025 年，上海地铁运了 37 亿人次，纽约将近 13 亿人次，按人头算，两边每人每年都坐 150 次左右，用得一样多。</a:t>
            </a:r>
          </a:p>
          <a:p>
            <a:endParaRPr/>
          </a:p>
          <a:p>
            <a:r>
              <a:t>差别在用不用得起。纽约坐一趟地铁 3 美元，合人民币 20 块钱；就算按两城两倍半的收入差距打个折，也相当于上海人花 7 块多钱坐一趟，上海只要 3 到 4 块。纽约一周通勤最多收 35 美元，打完折也要 90 块左右，上海按一周 10 趟、每趟 4 块算，是 40 块。上海还有 18 块钱的一日票、45 块钱的三日票，72 小时随便坐。上海交通加通信两项合计，只占消费的 10.6%，纽约光交通一项就是 14%。</a:t>
            </a:r>
          </a:p>
          <a:p>
            <a:endParaRPr/>
          </a:p>
          <a:p>
            <a:r>
              <a:t>对比下来，显然是上海的性价比更高。日常出行，上海是压倒性优势。</a:t>
            </a:r>
          </a:p>
          <a:p>
            <a:endParaRPr/>
          </a:p>
          <a:p>
            <a:r>
              <a:t>衣食住行四项比下来：上海出行领先得最多，住房明显占优；纽约穿衣差距最大，吃饭稍微胜出。双方各有一个压倒性优势，这四项算二比二打平。这只是给基本项收个尾，整张卷子我们不算总分，原因到计分表再说。</a:t>
            </a:r>
          </a:p>
          <a:p>
            <a:endParaRPr/>
          </a:p>
          <a:p>
            <a:r>
              <a:t>数据来源与完整口径</a:t>
            </a:r>
          </a:p>
          <a:p>
            <a:r>
              <a:t>https://portal.311.nyc.gov/article/?kanumber=KA-01014</a:t>
            </a:r>
          </a:p>
          <a:p>
            <a:r>
              <a:t>https://www.nyc.gov/site/opa/commuters/commuters.page</a:t>
            </a:r>
          </a:p>
          <a:p>
            <a:r>
              <a:t>https://service.shmetro.com/cpxz/3983.htm</a:t>
            </a:r>
          </a:p>
          <a:p>
            <a:r>
              <a:t>https://service.shmetro.com/pwyh/index.htm</a:t>
            </a:r>
          </a:p>
          <a:p>
            <a:r>
              <a:t>https://service.shmetro.com/cpxz/index.htm</a:t>
            </a:r>
          </a:p>
          <a:p>
            <a:r>
              <a:t>https://tjj.sh.gov.cn/tjnj/2025tjnj/C0913.htm</a:t>
            </a:r>
          </a:p>
          <a:p>
            <a:r>
              <a:t>https://www.bls.gov/regions/northeast/news-release/consumerexpenditures_newyork.htm</a:t>
            </a:r>
          </a:p>
          <a:p>
            <a:endParaRPr/>
          </a:p>
          <a:p>
            <a:r>
              <a:t>https://tjj.sh.gov.cn/ydsj71/20260120/39ae4cd58421478d897b739d83f39c10.html</a:t>
            </a:r>
          </a:p>
          <a:p>
            <a:endParaRPr/>
          </a:p>
          <a:p>
            <a:r>
              <a:t>https://tjj.sh.gov.cn/tjgb/20260630/b74619258aee4912a55a1da928b5be30.html</a:t>
            </a:r>
          </a:p>
          <a:p>
            <a:endParaRPr/>
          </a:p>
          <a:p>
            <a:r>
              <a:t>https://rentguidelinesboard.cityofnewyork.us/wp-content/uploads/2026/04/2026-IA.pdf</a:t>
            </a:r>
          </a:p>
          <a:p>
            <a:endParaRPr/>
          </a:p>
          <a:p>
            <a:r>
              <a:t>口径：</a:t>
            </a:r>
          </a:p>
          <a:p>
            <a:r>
              <a:t>票价按户收入差2.65倍折算；支出占比为纽约都会区交通（2022–23）对上海交通通信（2024）。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建议讲述：110秒</a:t>
            </a:r>
          </a:p>
          <a:p>
            <a:r>
              <a:t>15分钟讲述取舍：四行各约 25 秒：结果指标、判分和一句解释；原文投入、寿命、PISA、百老汇作备注参考，不逐字朗读。</a:t>
            </a:r>
          </a:p>
          <a:p>
            <a:endParaRPr/>
          </a:p>
          <a:p>
            <a:r>
              <a:t>讲稿原文</a:t>
            </a:r>
          </a:p>
          <a:p>
            <a:r>
              <a:t>上海在医疗上肯花钱：2024 年财政花在卫生健康上的是 732 亿元，参加医保的超过 2,000 万人。但钱花得值不值，不看投入，要看结果。</a:t>
            </a:r>
          </a:p>
          <a:p>
            <a:endParaRPr/>
          </a:p>
          <a:p>
            <a:r>
              <a:t>先看人均期望寿命：上海 83.18 岁，纽约 83.2 岁，几乎一样，分不出高下。上海这个数还停在 2022 年，这一点最后再说。</a:t>
            </a:r>
          </a:p>
          <a:p>
            <a:endParaRPr/>
          </a:p>
          <a:p>
            <a:r>
              <a:t>寿命分不出来，就看两个国际上衡量医疗体系最常用的指标：婴儿死亡率和孕产妇死亡率。它们看的是普通家庭生孩子、养孩子的时候，医疗体系兜不兜得住。</a:t>
            </a:r>
          </a:p>
          <a:p>
            <a:endParaRPr/>
          </a:p>
          <a:p>
            <a:r>
              <a:t>婴儿死亡率，上海 2025 年是千分之 2.34，纽约 2023 年是千分之 4.2，高出八成。孕产妇死亡率差得更远：上海 2025 年每 10 万名活产婴儿对应 1.85 例；纽约 2022 年同样算到产后 42 天，大约是 21 例，是上海的 10 倍以上。</a:t>
            </a:r>
          </a:p>
          <a:p>
            <a:endParaRPr/>
          </a:p>
          <a:p>
            <a:r>
              <a:t>婴儿差八成，产妇差十倍。寿命已经拉不开，这两项拉开了，所以医疗方面，上海优势明显。</a:t>
            </a:r>
          </a:p>
          <a:p>
            <a:endParaRPr/>
          </a:p>
          <a:p>
            <a:r>
              <a:t>治安更不用多说。2024 年，上海杀人案立案 46 起，平均八天一起，每 10 万人约 0.19 起。2025 年，纽约谋杀案 305 起，差不多每天一起，每 10 万人约 3.6 起，是上海的 19 倍。两边统计口径略有不同，但差了一个数量级，纽约在安全方面和上海没有可比性。</a:t>
            </a:r>
          </a:p>
          <a:p>
            <a:endParaRPr/>
          </a:p>
          <a:p>
            <a:r>
              <a:t>教育只比义务教育，也就是每个孩子都要上的那部分。</a:t>
            </a:r>
          </a:p>
          <a:p>
            <a:endParaRPr/>
          </a:p>
          <a:p>
            <a:r>
              <a:t>上海的小学和初中，净入学率都是 99.9%。上海学生在国际学生测评 PISA 里拿过两次第一：2009 年阅读 556 分，2012 年数学 613 分，同一年美国学生的数学是 481 分。不过这是十多年前的成绩，之后上海不再单独参加，只能当背景。</a:t>
            </a:r>
          </a:p>
          <a:p>
            <a:endParaRPr/>
          </a:p>
          <a:p>
            <a:r>
              <a:t>现在能比的是生师比，也就是一位老师平均带几个学生。上海中小学是 12.5 个，纽约公立学校是 13.2 个，差不多。</a:t>
            </a:r>
          </a:p>
          <a:p>
            <a:endParaRPr/>
          </a:p>
          <a:p>
            <a:r>
              <a:t>差别在区与区之间。纽约 32 个学区，最宽松的一位老师带 8.7 个学生，最紧的带 13.9 个。上海各区的小学也差得不小：人口还在往里涌的嘉定、松江、闵行，一位小学老师要带 15 个学生；黄浦、长宁这些老城区，只带 11 个左右。学生往哪里去，老师没有完全跟上。</a:t>
            </a:r>
          </a:p>
          <a:p>
            <a:endParaRPr/>
          </a:p>
          <a:p>
            <a:r>
              <a:t>教育方面，两城整体差不多，算打平。但上海最紧的区，一位老师带 15 个学生，比纽约最紧的学区还紧，区与区之间的均衡是上海要补的。</a:t>
            </a:r>
          </a:p>
          <a:p>
            <a:endParaRPr/>
          </a:p>
          <a:p>
            <a:r>
              <a:t>上海这几年在把文化往家门口搬。全市划出 1,600 个"15 分钟社区生活圈"，走十几分钟就能到文化、体育、养老设施；公园一年新开 127 座，2025 年全市营业性演出 6 万多场。</a:t>
            </a:r>
          </a:p>
          <a:p>
            <a:endParaRPr/>
          </a:p>
          <a:p>
            <a:r>
              <a:t>但文化是纽约的传统强项。百老汇一个演出季将近 1,460 万人次观众，不过那是生意，更值得比的是不赚钱的那部分：纽约三大公共图书馆系统有 200 多个网点，大约四万人就有一个；市政府今年资助了 1,171 家文化机构，其中 96% 提供免费或者有补贴的项目。</a:t>
            </a:r>
          </a:p>
          <a:p>
            <a:endParaRPr/>
          </a:p>
          <a:p>
            <a:r>
              <a:t>上海街道、乡镇图书馆分馆的全市数字，我们没找到；但光看由财政托底、向所有市民免费开放的文化项目，纽约做到了上千家机构的规模。文化方面，纽约领先。</a:t>
            </a:r>
          </a:p>
          <a:p>
            <a:endParaRPr/>
          </a:p>
          <a:p>
            <a:r>
              <a:t>数据来源与完整口径</a:t>
            </a:r>
          </a:p>
          <a:p>
            <a:r>
              <a:t>医疗</a:t>
            </a:r>
          </a:p>
          <a:p>
            <a:r>
              <a:t>https://tjj.sh.gov.cn/tjgb/20260330/e0772941e8e041eaaad2df850b44ef98.html</a:t>
            </a:r>
          </a:p>
          <a:p>
            <a:r>
              <a:t>https://wsjkw.sh.gov.cn/tjsj2/20260730/7154e5b1603642a8a3c7c0b2b8b3b149.html</a:t>
            </a:r>
          </a:p>
          <a:p>
            <a:r>
              <a:t>https://www.nyc.gov/assets/doh/downloads/pdf/vs/2023sum.pdf</a:t>
            </a:r>
          </a:p>
          <a:p>
            <a:r>
              <a:t>https://www.nyc.gov/assets/doh/downloads/pdf/data/maternal-mortality-annual-report-2025.pdf</a:t>
            </a:r>
          </a:p>
          <a:p>
            <a:endParaRPr/>
          </a:p>
          <a:p>
            <a:r>
              <a:t>治安</a:t>
            </a:r>
          </a:p>
          <a:p>
            <a:r>
              <a:t>https://tjj.sh.gov.cn/tjnj/2025tjnj/C2303.htm</a:t>
            </a:r>
          </a:p>
          <a:p>
            <a:r>
              <a:t>https://www.nyc.gov/site/nypd/news/PR001/nypd-safest-year-ever-gun-violence-fewest-shooting-incidents-shooting</a:t>
            </a:r>
          </a:p>
          <a:p>
            <a:endParaRPr/>
          </a:p>
          <a:p>
            <a:r>
              <a:t>教育</a:t>
            </a:r>
          </a:p>
          <a:p>
            <a:r>
              <a:t>https://tjj.sh.gov.cn/tjnj/2025tjnj/C2015.htm</a:t>
            </a:r>
          </a:p>
          <a:p>
            <a:r>
              <a:t>https://tjj.sh.gov.cn/tjnj/2025tjnj/C2013.htm</a:t>
            </a:r>
          </a:p>
          <a:p>
            <a:r>
              <a:t>https://tjj.sh.gov.cn/tjnj/2025tjnj/C2004.htm</a:t>
            </a:r>
          </a:p>
          <a:p>
            <a:r>
              <a:t>https://data.nysed.gov/studenteducator.php?year=2025&amp;instid=7889678368</a:t>
            </a:r>
          </a:p>
          <a:p>
            <a:endParaRPr/>
          </a:p>
          <a:p>
            <a:r>
              <a:t>文化</a:t>
            </a:r>
          </a:p>
          <a:p>
            <a:r>
              <a:t>https://www.nypl.org/about/locations</a:t>
            </a:r>
          </a:p>
          <a:p>
            <a:r>
              <a:t>https://www.bklynlibrary.org/browse-the-branches/about</a:t>
            </a:r>
          </a:p>
          <a:p>
            <a:r>
              <a:t>http://gis.nyc.gov/site/dcla/about/pressrelease/PR-2026-2-26-NYC-Department-of-Cultural-Affairs-Announces-74.3-Million-in-Grants-for-1171-Cultural-Organizations-Across-the-City.page</a:t>
            </a:r>
          </a:p>
          <a:p>
            <a:r>
              <a:t>https://tjj.sh.gov.cn/tjgb/20260330/e0772941e8e041eaaad2df850b44ef98.html</a:t>
            </a:r>
          </a:p>
          <a:p>
            <a:r>
              <a:t>https://english.shanghai.gov.cn/en-Latest-WhatsNew/20260212/af11d8de7fd24819bff50c940e428855.html</a:t>
            </a:r>
          </a:p>
          <a:p>
            <a:endParaRPr/>
          </a:p>
          <a:p>
            <a:r>
              <a:t>口径：</a:t>
            </a:r>
          </a:p>
          <a:p>
            <a:r>
              <a:t>纽约孕产妇死亡约21/10万由报告按产后42天折算；两项医疗结局统计年份不同。</a:t>
            </a:r>
          </a:p>
          <a:p>
            <a:r>
              <a:t>上海为杀人案立案，纽约为谋杀案；年份不同，比率由案件与人口计算。</a:t>
            </a:r>
          </a:p>
          <a:p>
            <a:r>
              <a:t>生师比由官方学生与教师数计算；上海中小学含高中，纽约为K–12。</a:t>
            </a:r>
          </a:p>
          <a:p>
            <a:r>
              <a:t>按公共图书馆网络与文化资助作判断；上海市区馆20个不用于与纽约全部网点硬比。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建议讲述：75秒</a:t>
            </a:r>
          </a:p>
          <a:p>
            <a:r>
              <a:t>15分钟讲述取舍：只报纽约总量与街头露宿人数，不再串报贫困率、收容所日均和庇护者人数。</a:t>
            </a:r>
          </a:p>
          <a:p>
            <a:endParaRPr/>
          </a:p>
          <a:p>
            <a:r>
              <a:t>讲稿原文</a:t>
            </a:r>
          </a:p>
          <a:p>
            <a:r>
              <a:t>最后一项，是两座城市怎么对待最穷的人。</a:t>
            </a:r>
          </a:p>
          <a:p>
            <a:endParaRPr/>
          </a:p>
          <a:p>
            <a:r>
              <a:t>上海的做法是先把网铺开，真穷到底了，有人接着。低保标准城乡统一，2026 年 7 月起是每人每月 1,690 元；吃饭有近 2,500 个老年助餐点，养老有社区为老服务中心，找工作有 500 多个家门口的就业服务站。</a:t>
            </a:r>
          </a:p>
          <a:p>
            <a:endParaRPr/>
          </a:p>
          <a:p>
            <a:r>
              <a:t>纽约这边，官方贫困率 18%，布朗克斯区接近 29%。2025 年 1 月联邦政府做了一次一夜点数，纽约市无家可归的有 12.6 万人，其中 4,600 多人直接睡在街上。</a:t>
            </a:r>
          </a:p>
          <a:p>
            <a:endParaRPr/>
          </a:p>
          <a:p>
            <a:r>
              <a:t>最让人想不通的是，纽约不是不知道这些人在哪里。收容所住了多少人，市政府每天公布，2026 年 3 月平均每天约八万五千人。问题出在出口上：全市租房空置率只有 1.4%，收容所里的人找不到房子可搬。人数数得清清楚楚，问题就是解决不了。</a:t>
            </a:r>
          </a:p>
          <a:p>
            <a:endParaRPr/>
          </a:p>
          <a:p>
            <a:r>
              <a:t>上海有多少人露宿街头？官方没有公布，我们不估。能比的，是两边的做法和纽约公布的结果：上海的托底从低保铺到了吃饭、养老、找工作；纽约自己公布的数字里，有十二万多人没有住处。对待最穷的人，上海做得好得多，这也是纽约失分最重的一题。</a:t>
            </a:r>
          </a:p>
          <a:p>
            <a:endParaRPr/>
          </a:p>
          <a:p>
            <a:r>
              <a:t>数据来源与完整口径</a:t>
            </a:r>
          </a:p>
          <a:p>
            <a:r>
              <a:t>https://files.hudexchange.info/reports/published/CoC_PopSub_CoC_NY-600-2025_NY_2025.pdf</a:t>
            </a:r>
          </a:p>
          <a:p>
            <a:r>
              <a:t>https://rentguidelinesboard.cityofnewyork.us/wp-content/uploads/2026/04/2026-IA.pdf</a:t>
            </a:r>
          </a:p>
          <a:p>
            <a:r>
              <a:t>https://www.nyc.gov/assets/dhs/downloads/pdf/dashboard/tables/FY26-DHS-Data-Dashboard-Data.pdf</a:t>
            </a:r>
          </a:p>
          <a:p>
            <a:r>
              <a:t>https://mzj.sh.gov.cn/MZ_zhuzhan277_0-2-8-15-55-229/20260702/d95374094d6041a19b2591fd241126cb.html</a:t>
            </a:r>
          </a:p>
          <a:p>
            <a:r>
              <a:t>https://tjj.sh.gov.cn/tjgb/20260330/e0772941e8e041eaaad2df850b44ef98.html</a:t>
            </a:r>
          </a:p>
          <a:p>
            <a:endParaRPr/>
          </a:p>
          <a:p>
            <a:r>
              <a:t>口径：</a:t>
            </a:r>
          </a:p>
          <a:p>
            <a:r>
              <a:t>纽约为HUD一夜点数；上海露宿人数未公开，判断结合托底制度与纽约结果。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建议讲述：35秒</a:t>
            </a:r>
          </a:p>
          <a:p>
            <a:r>
              <a:t>15分钟讲述取舍：从文化与养老接到“上海做了什么”；只说空间分布，四个百分比不逐个念。</a:t>
            </a:r>
          </a:p>
          <a:p>
            <a:endParaRPr/>
          </a:p>
          <a:p>
            <a:r>
              <a:t>讲稿原文</a:t>
            </a:r>
          </a:p>
          <a:p>
            <a:r>
              <a:t>九道题之外，再补两件上海做的事。先看托底的服务离居民有多近。我们拿开放地图的数据，在中心七区算了一笔账：住宅用地里，一公里内有社区长者食堂的占 87.5%，有图书馆服务点的占 77%，有市民健身中心的只占 64%。</a:t>
            </a:r>
          </a:p>
          <a:p>
            <a:r>
              <a:t>吃饭这件事，基本已经送到了家门口；健身设施还有三分之一多的住宅区够不着。这组数按直线距离算，看的是分布：哪里方便，哪里还要补，图上一目了然。</a:t>
            </a:r>
          </a:p>
          <a:p>
            <a:endParaRPr/>
          </a:p>
          <a:p>
            <a:r>
              <a:t>数据来源与完整口径</a:t>
            </a:r>
          </a:p>
          <a:p>
            <a:r>
              <a:t>地图由同学提供，快照2026-10-12</a:t>
            </a:r>
          </a:p>
          <a:p>
            <a:r>
              <a:t>https://shyl.mzj.sh.gov.cn/agencyQuery</a:t>
            </a:r>
          </a:p>
          <a:p>
            <a:r>
              <a:t>https://www.shggty.com.cn/facilityMap.html</a:t>
            </a:r>
          </a:p>
          <a:p>
            <a:r>
              <a:t>https://www.library.sh.cn/guide/libraryLocation</a:t>
            </a:r>
          </a:p>
          <a:p>
            <a:r>
              <a:t>https://www.openstreetmap.org/copyright</a:t>
            </a:r>
          </a:p>
          <a:p>
            <a:r>
              <a:t>补充材料口播：这四张图把家门口的服务落到空间上。食堂、绿地、健身中心和图书馆的分布不同，便于我们观察哪里更方便、哪里还需要补。</a:t>
            </a:r>
          </a:p>
          <a:p>
            <a:r>
              <a:t>统一中心七区：黄浦、徐汇、长宁、静安、普陀、虹口、杨浦；不含浦东。分母为OSM已标注residential面积85.75580078037885平方公里，非人口、非全市官方住宅用地。仅七区内部设施，有边缘效应。原面相交结果87.48193829834865%、99.32504463710123%、64.3537336960096%、77.01016818720243%。绿地517个面不是517座公园，按边界测距、开放状态未完全核验；其他按点测距。未建模路网、围墙、营业时间、容量。四项不可相加、平均成综合覆盖。保留地图原始色系，几何和数据不变。官方2024年15分钟步行可达覆盖率88%属另一口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建议讲述：30秒</a:t>
            </a:r>
          </a:p>
          <a:p>
            <a:r>
              <a:t>15分钟讲述取舍：每个例子一句，承接公共服务，同时为末尾数据透明作伏笔。</a:t>
            </a:r>
          </a:p>
          <a:p>
            <a:endParaRPr/>
          </a:p>
          <a:p>
            <a:r>
              <a:t>讲稿原文</a:t>
            </a:r>
          </a:p>
          <a:p>
            <a:r>
              <a:t>上海这几年也在改办事的过程。"一网通办"接了 3,800 多项服务，实际网办率 89.53%，很多事已经不用再去窗口排队。</a:t>
            </a:r>
          </a:p>
          <a:p>
            <a:r>
              <a:t>建设上，居民也插得上话。普陀区泰山人民坊改造，动工前开了 12 场座谈会，收回 3,826 份问卷；方案拿出来，又开了 5 轮专题论证；建成以后，还请居民开了 3 场评议会。从提需求、定方案到建成后的评价，居民每一步都有发言的机会。</a:t>
            </a:r>
          </a:p>
          <a:p>
            <a:endParaRPr/>
          </a:p>
          <a:p>
            <a:r>
              <a:t>数据来源与完整口径</a:t>
            </a:r>
          </a:p>
          <a:p>
            <a:r>
              <a:t>https://tjj.sh.gov.cn/tjgb/20260330/e0772941e8e041eaaad2df850b44ef98.html</a:t>
            </a:r>
          </a:p>
          <a:p>
            <a:endParaRPr/>
          </a:p>
          <a:p>
            <a:r>
              <a:t>https://ghzyj.sh.gov.cn/gzdt/20251224/f5b8e34f5c834200910639b27717dfdf.html</a:t>
            </a:r>
          </a:p>
          <a:p>
            <a:r>
              <a:t>补充材料口播：上海不仅增加设施，也在改变服务的过程。一网通办减少线下跑腿；泰山人民坊让居民从提出需要、论证方案一直参与到建成后的评议。</a:t>
            </a:r>
          </a:p>
          <a:p>
            <a:r>
              <a:t>实际网办率89.53%，好评率99.94%，不写成89.53%的事项可从头到尾网办。泰山人民坊：12场专项座谈、3826份问卷，5轮专题论证，3场事后评议。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建议讲述：35秒</a:t>
            </a:r>
          </a:p>
          <a:p>
            <a:r>
              <a:t>15分钟讲述取舍：挑两条摘录口播，其他留给观众阅读；用个人体验呼应前面的统计。</a:t>
            </a:r>
          </a:p>
          <a:p>
            <a:endParaRPr/>
          </a:p>
          <a:p>
            <a:r>
              <a:t>讲稿原文</a:t>
            </a:r>
          </a:p>
          <a:p>
            <a:endParaRPr/>
          </a:p>
          <a:p>
            <a:endParaRPr/>
          </a:p>
          <a:p>
            <a:r>
              <a:t>数据来源与完整口径</a:t>
            </a:r>
          </a:p>
          <a:p>
            <a:r>
              <a:t>原始微信截图和访谈文字整理由组员保存。</a:t>
            </a:r>
          </a:p>
          <a:p>
            <a:r>
              <a:t>本页补充讲稿：一位在纽约生活的同学，谈到住房、通勤、公共空间和应急保障。这里挑两条原话：公共空间很多，但突发事件中的生活保障仍需要个人储蓄或商业保险。个人体验与前面的统计相互补充。</a:t>
            </a:r>
          </a:p>
          <a:p>
            <a:r>
              <a:t>摘录定位：住房20:34:33、通勤20:35:38、公共空间20:44:09、应急20:46:18。右侧另涉及心理健康20:37:05、养老助残20:42:49、无障碍20:45:34。只依据整理记录，不推断居住年限、区域、年龄、职业。公共空间地铁/驾车可达不等同15分钟步行；储蓄和保险不表示公共救助只有自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建议讲述：45秒</a:t>
            </a:r>
          </a:p>
          <a:p>
            <a:r>
              <a:t>15分钟讲述取舍：不重新念九行数据，不报上海几胜、纽约几胜或基本项二比二；概括各自强项，转到答题是否完整。</a:t>
            </a:r>
          </a:p>
          <a:p>
            <a:endParaRPr/>
          </a:p>
          <a:p>
            <a:r>
              <a:t>讲稿原文</a:t>
            </a:r>
          </a:p>
          <a:p>
            <a:r>
              <a:t>把九道题放到一张表上。</a:t>
            </a:r>
          </a:p>
          <a:p>
            <a:endParaRPr/>
          </a:p>
          <a:p>
            <a:r>
              <a:t>| | 题 | 胜方 | 程度 | 依据 |</a:t>
            </a:r>
          </a:p>
          <a:p>
            <a:r>
              <a:t>|---|---|---|---|---|</a:t>
            </a:r>
          </a:p>
          <a:p>
            <a:r>
              <a:t>| 基本项 | 住 | 上海 | 明显 | 自有住房率：上海 59%，纽约 32% |</a:t>
            </a:r>
          </a:p>
          <a:p>
            <a:r>
              <a:t>| | 吃 | 纽约 | 稍胜 | 人均吃的花销：纽约州 6.3 万元，上海 1.35 万元；餐饮价格随工资走，实际差距小于账面 |</a:t>
            </a:r>
          </a:p>
          <a:p>
            <a:r>
              <a:t>| | 穿 | 纽约 | 压倒性 | 人均衣着支出：纽约州接近上海的 7 倍 |</a:t>
            </a:r>
          </a:p>
          <a:p>
            <a:r>
              <a:t>| | 行 | 上海 | 压倒性 | 票价按收入折算约为纽约一半；交通支出占比更低 |</a:t>
            </a:r>
          </a:p>
          <a:p>
            <a:r>
              <a:t>| 加分项 | 医疗 | 上海 | 明显 | 婴儿死亡率：上海 2.34‰，纽约 4.2‰；孕产妇死亡率差 10 倍以上 |</a:t>
            </a:r>
          </a:p>
          <a:p>
            <a:r>
              <a:t>| | 治安 | 上海 | 压倒性 | 每 10 万人杀人案：上海 0.19 起，纽约 3.6 起 |</a:t>
            </a:r>
          </a:p>
          <a:p>
            <a:r>
              <a:t>| | 教育 | 打平 | — | 生师比：上海 12.5，纽约 13.2 |</a:t>
            </a:r>
          </a:p>
          <a:p>
            <a:r>
              <a:t>| | 文化 | 纽约 | 明显 | 公共图书馆网络和文化资助 |</a:t>
            </a:r>
          </a:p>
          <a:p>
            <a:r>
              <a:t>| 单列 | 对待底层 | 上海 | 压倒性 | 纽约无家可归 12.6 万人 |</a:t>
            </a:r>
          </a:p>
          <a:p>
            <a:endParaRPr/>
          </a:p>
          <a:p>
            <a:r>
              <a:t>除了教育打平，每一题都分了胜负，但我们不加总分。各题差距的大小不一样，穿衣是压倒性的，吃饭只是稍胜，一个总比分会把这些差别抹平。</a:t>
            </a:r>
          </a:p>
          <a:p>
            <a:endParaRPr/>
          </a:p>
          <a:p>
            <a:r>
              <a:t>数据来源与完整口径</a:t>
            </a:r>
          </a:p>
          <a:p>
            <a:r>
              <a:t>住：https://tjj.sh.gov.cn/tjnj/2020rktjnj/BNJc-9-4.jpg</a:t>
            </a:r>
          </a:p>
          <a:p>
            <a:r>
              <a:t>https://www.nyc.gov/assets/hpd/downloads/pdfs/about/2023%20NYCHVS%20Selected%20Initial%20Findings.pdf</a:t>
            </a:r>
          </a:p>
          <a:p>
            <a:r>
              <a:t>https://tjj.sh.gov.cn/tjgb/20260330/e0772941e8e041eaaad2df850b44ef98.html</a:t>
            </a:r>
          </a:p>
          <a:p>
            <a:endParaRPr/>
          </a:p>
          <a:p>
            <a:r>
              <a:t>吃：https://apps.bea.gov/regional/zip/SAPCE.zip</a:t>
            </a:r>
          </a:p>
          <a:p>
            <a:r>
              <a:t>https://tjj.sh.gov.cn/tjnj/2025tjnj/C0905.htm</a:t>
            </a:r>
          </a:p>
          <a:p>
            <a:endParaRPr/>
          </a:p>
          <a:p>
            <a:r>
              <a:t>穿：https://apps.bea.gov/regional/zip/SAPCE.zip</a:t>
            </a:r>
          </a:p>
          <a:p>
            <a:r>
              <a:t>https://tjj.sh.gov.cn/tjnj/2025tjnj/C0905.htm</a:t>
            </a:r>
          </a:p>
          <a:p>
            <a:endParaRPr/>
          </a:p>
          <a:p>
            <a:r>
              <a:t>行：https://portal.311.nyc.gov/article/?kanumber=KA-01014</a:t>
            </a:r>
          </a:p>
          <a:p>
            <a:r>
              <a:t>https://www.nyc.gov/site/opa/commuters/commuters.page</a:t>
            </a:r>
          </a:p>
          <a:p>
            <a:r>
              <a:t>https://service.shmetro.com/cpxz/3983.htm</a:t>
            </a:r>
          </a:p>
          <a:p>
            <a:r>
              <a:t>https://service.shmetro.com/pwyh/index.htm</a:t>
            </a:r>
          </a:p>
          <a:p>
            <a:r>
              <a:t>https://service.shmetro.com/cpxz/index.htm</a:t>
            </a:r>
          </a:p>
          <a:p>
            <a:r>
              <a:t>https://tjj.sh.gov.cn/tjnj/2025tjnj/C0913.htm</a:t>
            </a:r>
          </a:p>
          <a:p>
            <a:r>
              <a:t>https://www.bls.gov/regions/northeast/news-release/consumerexpenditures_newyork.htm</a:t>
            </a:r>
          </a:p>
          <a:p>
            <a:endParaRPr/>
          </a:p>
          <a:p>
            <a:r>
              <a:t>医疗：https://tjj.sh.gov.cn/tjgb/20260330/e0772941e8e041eaaad2df850b44ef98.html</a:t>
            </a:r>
          </a:p>
          <a:p>
            <a:r>
              <a:t>https://wsjkw.sh.gov.cn/tjsj2/20260730/7154e5b1603642a8a3c7c0b2b8b3b149.html</a:t>
            </a:r>
          </a:p>
          <a:p>
            <a:r>
              <a:t>https://www.nyc.gov/assets/doh/downloads/pdf/vs/2023sum.pdf</a:t>
            </a:r>
          </a:p>
          <a:p>
            <a:r>
              <a:t>https://www.nyc.gov/assets/doh/downloads/pdf/data/maternal-mortality-annual-report-2025.pdf</a:t>
            </a:r>
          </a:p>
          <a:p>
            <a:endParaRPr/>
          </a:p>
          <a:p>
            <a:r>
              <a:t>治安：https://tjj.sh.gov.cn/tjnj/2025tjnj/C2303.htm</a:t>
            </a:r>
          </a:p>
          <a:p>
            <a:r>
              <a:t>https://www.nyc.gov/site/nypd/news/PR001/nypd-safest-year-ever-gun-violence-fewest-shooting-incidents-shooting</a:t>
            </a:r>
          </a:p>
          <a:p>
            <a:endParaRPr/>
          </a:p>
          <a:p>
            <a:r>
              <a:t>教育：https://tjj.sh.gov.cn/tjnj/2025tjnj/C2015.htm</a:t>
            </a:r>
          </a:p>
          <a:p>
            <a:r>
              <a:t>https://tjj.sh.gov.cn/tjnj/2025tjnj/C2013.htm</a:t>
            </a:r>
          </a:p>
          <a:p>
            <a:r>
              <a:t>https://tjj.sh.gov.cn/tjnj/2025tjnj/C2004.htm</a:t>
            </a:r>
          </a:p>
          <a:p>
            <a:r>
              <a:t>https://data.nysed.gov/studenteducator.php?year=2025&amp;instid=7889678368</a:t>
            </a:r>
          </a:p>
          <a:p>
            <a:endParaRPr/>
          </a:p>
          <a:p>
            <a:r>
              <a:t>文化：https://www.nypl.org/about/locations</a:t>
            </a:r>
          </a:p>
          <a:p>
            <a:r>
              <a:t>https://www.bklynlibrary.org/browse-the-branches/about</a:t>
            </a:r>
          </a:p>
          <a:p>
            <a:r>
              <a:t>http://gis.nyc.gov/site/dcla/about/pressrelease/PR-2026-2-26-NYC-Department-of-Cultural-Affairs-Announces-74.3-Million-in-Grants-for-1171-Cultural-Organizations-Across-the-City.page</a:t>
            </a:r>
          </a:p>
          <a:p>
            <a:r>
              <a:t>https://tjj.sh.gov.cn/tjgb/20260330/e0772941e8e041eaaad2df850b44ef98.html</a:t>
            </a:r>
          </a:p>
          <a:p>
            <a:r>
              <a:t>https://english.shanghai.gov.cn/en-Latest-WhatsNew/20260212/af11d8de7fd24819bff50c940e428855.html</a:t>
            </a:r>
          </a:p>
          <a:p>
            <a:endParaRPr/>
          </a:p>
          <a:p>
            <a:r>
              <a:t>对待底层：https://files.hudexchange.info/reports/published/CoC_PopSub_CoC_NY-600-2025_NY_2025.pdf</a:t>
            </a:r>
          </a:p>
          <a:p>
            <a:r>
              <a:t>https://rentguidelinesboard.cityofnewyork.us/wp-content/uploads/2026/04/2026-IA.pdf</a:t>
            </a:r>
          </a:p>
          <a:p>
            <a:r>
              <a:t>https://www.nyc.gov/assets/dhs/downloads/pdf/dashboard/tables/FY26-DHS-Data-Dashboard-Data.pdf</a:t>
            </a:r>
          </a:p>
          <a:p>
            <a:r>
              <a:t>https://mzj.sh.gov.cn/MZ_zhuzhan277_0-2-8-15-55-229/20260702/d95374094d6041a19b2591fd241126cb.html</a:t>
            </a:r>
          </a:p>
          <a:p>
            <a:r>
              <a:t>https://tjj.sh.gov.cn/tjgb/20260330/e0772941e8e041eaaad2df850b44ef98.html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建议讲述：50秒</a:t>
            </a:r>
          </a:p>
          <a:p>
            <a:r>
              <a:t>15分钟讲述取舍：直接回答纽约还不算及格、上海答得更完整但透明需补，再说两城能比本身就是进步；两国范围说明用一句，全国对照数据留在原文备注中参考。</a:t>
            </a:r>
          </a:p>
          <a:p>
            <a:endParaRPr/>
          </a:p>
          <a:p>
            <a:r>
              <a:t>讲稿原文</a:t>
            </a:r>
          </a:p>
          <a:p>
            <a:r>
              <a:t>回到开头的问题：纽约能不能叫人民城市？</a:t>
            </a:r>
          </a:p>
          <a:p>
            <a:endParaRPr/>
          </a:p>
          <a:p>
            <a:r>
              <a:t>拿同一张考卷来看，纽约有几道题答得好：吃穿用度和公共文化，它比上海强；数据公开，它也比上海做得好，这一点最后单独说。但最该答好的那道题，怎么对待最底层的人，它没有答好：十二万多人无家可归，三分之二的家庭租房，这些都是纽约自己公布的数字。所以我们的回答是：这张卷子，纽约还不算及格。</a:t>
            </a:r>
          </a:p>
          <a:p>
            <a:endParaRPr/>
          </a:p>
          <a:p>
            <a:r>
              <a:t>上海这张卷子答得更完整，住、行、医疗、治安和托底都拿了分。但人民城市人民建，前提是人民看得到账本，数据公开这一题，上海还得补。</a:t>
            </a:r>
          </a:p>
          <a:p>
            <a:endParaRPr/>
          </a:p>
          <a:p>
            <a:r>
              <a:t>比完这一圈，我们觉得更值得说的是，两座城市真的已经能放在一张卷子上比了，而且有输有赢。上海第一条地铁 1993 年才开通，三十多年后，上海人一年坐地铁的次数已经和纽约人一样多。三十多年前，这样的比较是比不起来的。这本身就是进步。</a:t>
            </a:r>
          </a:p>
          <a:p>
            <a:endParaRPr/>
          </a:p>
          <a:p>
            <a:r>
              <a:t>但这个比较不能往大了说，更不能拿两座城市去概括两个国家。</a:t>
            </a:r>
          </a:p>
          <a:p>
            <a:endParaRPr/>
          </a:p>
          <a:p>
            <a:r>
              <a:t>纽约输给上海的住和底层，在美国也是出了名的差：全美租房空置率 7% 左右，纽约只有 1.4%；纽约人口不到全美的 3%，无家可归的人却占了全美的六分之一。医疗和治安反过来，纽约比全美还好一些：婴儿死亡率纽约是千分之 4.2，全美是 5.61；谋杀率纽约每 10 万人 3.6 起，全美 4.1 起。纽约在这两项上输给上海，输的是美国的整体水平。</a:t>
            </a:r>
          </a:p>
          <a:p>
            <a:endParaRPr/>
          </a:p>
          <a:p>
            <a:r>
              <a:t>上海也一样。输给纽约的吃和穿，在国内已经排在前面，人均吃的花销是全国平均的 1.6 倍，穿是 1.3 倍。纽约在美国不典型，上海在中国也不典型。</a:t>
            </a:r>
          </a:p>
          <a:p>
            <a:endParaRPr/>
          </a:p>
          <a:p>
            <a:r>
              <a:t>数据来源与完整口径</a:t>
            </a:r>
          </a:p>
          <a:p>
            <a:r>
              <a:t>https://tjj.sh.gov.cn/tjnj/2020rktjnj/BNJc-9-4.jpg</a:t>
            </a:r>
          </a:p>
          <a:p>
            <a:r>
              <a:t>https://www.nyc.gov/assets/hpd/downloads/pdfs/about/2023%20NYCHVS%20Selected%20Initial%20Findings.pdf</a:t>
            </a:r>
          </a:p>
          <a:p>
            <a:r>
              <a:t>https://tjj.sh.gov.cn/tjgb/20260330/e0772941e8e041eaaad2df850b44ef98.html</a:t>
            </a:r>
          </a:p>
          <a:p>
            <a:endParaRPr/>
          </a:p>
          <a:p>
            <a:r>
              <a:t>https://portal.311.nyc.gov/article/?kanumber=KA-01014</a:t>
            </a:r>
          </a:p>
          <a:p>
            <a:r>
              <a:t>https://www.nyc.gov/site/opa/commuters/commuters.page</a:t>
            </a:r>
          </a:p>
          <a:p>
            <a:r>
              <a:t>https://service.shmetro.com/cpxz/3983.htm</a:t>
            </a:r>
          </a:p>
          <a:p>
            <a:r>
              <a:t>https://service.shmetro.com/pwyh/index.htm</a:t>
            </a:r>
          </a:p>
          <a:p>
            <a:r>
              <a:t>https://service.shmetro.com/cpxz/index.htm</a:t>
            </a:r>
          </a:p>
          <a:p>
            <a:r>
              <a:t>https://tjj.sh.gov.cn/tjnj/2025tjnj/C0913.htm</a:t>
            </a:r>
          </a:p>
          <a:p>
            <a:r>
              <a:t>https://www.bls.gov/regions/northeast/news-release/consumerexpenditures_newyork.htm</a:t>
            </a:r>
          </a:p>
          <a:p>
            <a:endParaRPr/>
          </a:p>
          <a:p>
            <a:r>
              <a:t>https://files.hudexchange.info/reports/published/CoC_PopSub_CoC_NY-600-2025_NY_2025.pdf</a:t>
            </a:r>
          </a:p>
          <a:p>
            <a:r>
              <a:t>https://rentguidelinesboard.cityofnewyork.us/wp-content/uploads/2026/04/2026-IA.pdf</a:t>
            </a:r>
          </a:p>
          <a:p>
            <a:r>
              <a:t>https://www.nyc.gov/assets/dhs/downloads/pdf/dashboard/tables/FY26-DHS-Data-Dashboard-Data.pdf</a:t>
            </a:r>
          </a:p>
          <a:p>
            <a:r>
              <a:t>https://mzj.sh.gov.cn/MZ_zhuzhan277_0-2-8-15-55-229/20260702/d95374094d6041a19b2591fd241126cb.html</a:t>
            </a:r>
          </a:p>
          <a:p>
            <a:r>
              <a:t>https://tjj.sh.gov.cn/tjgb/20260330/e0772941e8e041eaaad2df850b44ef98.html</a:t>
            </a:r>
          </a:p>
          <a:p>
            <a:endParaRPr/>
          </a:p>
          <a:p>
            <a:r>
              <a:t>https://data.sh.gov.cn/</a:t>
            </a:r>
          </a:p>
          <a:p>
            <a:endParaRPr/>
          </a:p>
          <a:p>
            <a:r>
              <a:t>https://tjj.sh.gov.cn/tjgb/20260330/e0772941e8e041eaaad2df850b44ef98.html</a:t>
            </a:r>
          </a:p>
          <a:p>
            <a:endParaRPr/>
          </a:p>
          <a:p>
            <a:r>
              <a:t>https://wsjkw.sh.gov.cn/2022wsjkzkbg/index.html</a:t>
            </a:r>
          </a:p>
          <a:p>
            <a:endParaRPr/>
          </a:p>
          <a:p>
            <a:r>
              <a:t>https://wsjkw.sh.gov.cn/2023wsjkzkbg/index.html</a:t>
            </a:r>
          </a:p>
          <a:p>
            <a:endParaRPr/>
          </a:p>
          <a:p>
            <a:r>
              <a:t>https://wsjkw.sh.gov.cn/2024wsjkzkbg/index.html</a:t>
            </a:r>
          </a:p>
          <a:p>
            <a:endParaRPr/>
          </a:p>
          <a:p>
            <a:r>
              <a:t>https://opendata.cityofnewyork.us/open-data-law/</a:t>
            </a:r>
          </a:p>
          <a:p>
            <a:endParaRPr/>
          </a:p>
          <a:p>
            <a:r>
              <a:t>https://data.cityofnewyork.us/Social-Services/DHS-Daily-Report/k46n-sa2m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建议讲述：40秒</a:t>
            </a:r>
          </a:p>
          <a:p>
            <a:r>
              <a:t>15分钟讲述取舍：四个缺口各一句；一网通办便利已在第 10 页讲过，此处对照一句即可。</a:t>
            </a:r>
          </a:p>
          <a:p>
            <a:endParaRPr/>
          </a:p>
          <a:p>
            <a:r>
              <a:t>讲稿原文</a:t>
            </a:r>
          </a:p>
          <a:p>
            <a:r>
              <a:t>最后单独说数据透明。这一题不在计分表里，但前面说过，纽约领先。</a:t>
            </a:r>
          </a:p>
          <a:p>
            <a:endParaRPr/>
          </a:p>
          <a:p>
            <a:r>
              <a:t>上海做得好的先说。在上海办事是真方便，"一网通办"接了 3,800 多项服务，近九成能在网上从头办到尾，好评率 99.94%，高到小数点后两位。</a:t>
            </a:r>
          </a:p>
          <a:p>
            <a:endParaRPr/>
          </a:p>
          <a:p>
            <a:r>
              <a:t>可一到查数据，就换了一张脸。做这份 pre，我们找上海数据花的时间，比找纽约的多得多，好几道题最后只能拿替代的数。开场的公厕，统计公报和统计年鉴里都没有总数，开放平台的数据集标着"有条件开放"，明细要写申请才能看。住这一题，上海没有租金统计，只能用 2020 年人口普查的自有住房比例。底层这一题，露宿街头的人数没有公布。医疗这一题，户籍人口的期望寿命，2022 年以后就没有再公布。</a:t>
            </a:r>
          </a:p>
          <a:p>
            <a:endParaRPr/>
          </a:p>
          <a:p>
            <a:r>
              <a:t>数据来源与完整口径</a:t>
            </a:r>
          </a:p>
          <a:p>
            <a:r>
              <a:t>https://data.sh.gov.cn/</a:t>
            </a:r>
          </a:p>
          <a:p>
            <a:endParaRPr/>
          </a:p>
          <a:p>
            <a:r>
              <a:t>https://tjj.sh.gov.cn/tjgb/20260330/e0772941e8e041eaaad2df850b44ef98.html</a:t>
            </a:r>
          </a:p>
          <a:p>
            <a:endParaRPr/>
          </a:p>
          <a:p>
            <a:r>
              <a:t>https://wsjkw.sh.gov.cn/2022wsjkzkbg/index.html</a:t>
            </a:r>
          </a:p>
          <a:p>
            <a:endParaRPr/>
          </a:p>
          <a:p>
            <a:r>
              <a:t>https://wsjkw.sh.gov.cn/2023wsjkzkbg/index.html</a:t>
            </a:r>
          </a:p>
          <a:p>
            <a:endParaRPr/>
          </a:p>
          <a:p>
            <a:r>
              <a:t>https://wsjkw.sh.gov.cn/2024wsjkzkbg/index.html</a:t>
            </a:r>
          </a:p>
          <a:p>
            <a:endParaRPr/>
          </a:p>
          <a:p>
            <a:r>
              <a:t>https://opendata.cityofnewyork.us/open-data-law/</a:t>
            </a:r>
          </a:p>
          <a:p>
            <a:endParaRPr/>
          </a:p>
          <a:p>
            <a:r>
              <a:t>https://data.cityofnewyork.us/Social-Services/DHS-Daily-Report/k46n-sa2m</a:t>
            </a:r>
          </a:p>
          <a:p>
            <a:r>
              <a:t>“未公开/缺少”均按项目检索与用户锁定材料表述；不是将单个接口概括为整个平台。实际网办率89.53%，新版口播“近九成能网上从头办到尾”存在指标混称，PPT正文已用真实指标名称。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建议讲述：60秒</a:t>
            </a:r>
          </a:p>
          <a:p>
            <a:r>
              <a:t>15分钟讲述取舍：用住房和托底两个具体例子说明透明为何重要，最后一句收束。</a:t>
            </a:r>
          </a:p>
          <a:p>
            <a:endParaRPr/>
          </a:p>
          <a:p>
            <a:r>
              <a:t>讲稿原文</a:t>
            </a:r>
          </a:p>
          <a:p>
            <a:r>
              <a:t>纽约在 2012 年就立了法：政府数据默认公开，不公开要说明理由。收容所里住了多少人，每天更新。</a:t>
            </a:r>
          </a:p>
          <a:p>
            <a:endParaRPr/>
          </a:p>
          <a:p>
            <a:r>
              <a:t>这件事为什么重要？一项住房政策有没有用，要看房租负担降没降；一套托底制度托住了多少人，要看还有多少人睡在街上。如果市民总是拿替代的数、估算的数去了解自己的城市，政策就很难得到理性的反馈：做得不够的地方没人知道，做得好的地方也拿不出证据。</a:t>
            </a:r>
          </a:p>
          <a:p>
            <a:endParaRPr/>
          </a:p>
          <a:p>
            <a:r>
              <a:t>人民城市人民建。真想让人民参与建设，就应该尽量把城市运行的数据摆出来。谢谢大家。</a:t>
            </a:r>
          </a:p>
          <a:p>
            <a:endParaRPr/>
          </a:p>
          <a:p>
            <a:r>
              <a:t>数据来源与完整口径</a:t>
            </a:r>
          </a:p>
          <a:p>
            <a:r>
              <a:t>https://data.sh.gov.cn/</a:t>
            </a:r>
          </a:p>
          <a:p>
            <a:endParaRPr/>
          </a:p>
          <a:p>
            <a:r>
              <a:t>https://tjj.sh.gov.cn/tjgb/20260330/e0772941e8e041eaaad2df850b44ef98.html</a:t>
            </a:r>
          </a:p>
          <a:p>
            <a:endParaRPr/>
          </a:p>
          <a:p>
            <a:r>
              <a:t>https://wsjkw.sh.gov.cn/2022wsjkzkbg/index.html</a:t>
            </a:r>
          </a:p>
          <a:p>
            <a:endParaRPr/>
          </a:p>
          <a:p>
            <a:r>
              <a:t>https://wsjkw.sh.gov.cn/2023wsjkzkbg/index.html</a:t>
            </a:r>
          </a:p>
          <a:p>
            <a:endParaRPr/>
          </a:p>
          <a:p>
            <a:r>
              <a:t>https://wsjkw.sh.gov.cn/2024wsjkzkbg/index.html</a:t>
            </a:r>
          </a:p>
          <a:p>
            <a:endParaRPr/>
          </a:p>
          <a:p>
            <a:r>
              <a:t>https://opendata.cityofnewyork.us/open-data-law/</a:t>
            </a:r>
          </a:p>
          <a:p>
            <a:endParaRPr/>
          </a:p>
          <a:p>
            <a:r>
              <a:t>https://data.cityofnewyork.us/Social-Services/DHS-Daily-Report/k46n-sa2m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建议讲述：5秒</a:t>
            </a:r>
          </a:p>
          <a:p>
            <a:r>
              <a:t>15分钟讲述取舍：收束，不增加新观点。</a:t>
            </a:r>
          </a:p>
          <a:p>
            <a:endParaRPr/>
          </a:p>
          <a:p>
            <a:r>
              <a:t>讲稿原文</a:t>
            </a:r>
          </a:p>
          <a:p>
            <a:r>
              <a:t>谢谢大家。</a:t>
            </a:r>
          </a:p>
          <a:p>
            <a:endParaRPr/>
          </a:p>
          <a:p>
            <a:r>
              <a:t>数据来源与完整口径</a:t>
            </a:r>
          </a:p>
          <a:p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答辩依据：data/data-table.md；script/口径表.md；script/答辩卡.md。</a:t>
            </a:r>
          </a:p>
          <a:p>
            <a:endParaRPr/>
          </a:p>
          <a:p>
            <a:r>
              <a:t>问：为什么不用纽约都会区？</a:t>
            </a:r>
          </a:p>
          <a:p>
            <a:r>
              <a:t>答：我们比的是城市政府怎么对待市民，纽约市政府只管五个区。都会区跨三个州，自有住房率等数据也取不全（NY-C6）</a:t>
            </a:r>
          </a:p>
          <a:p>
            <a:r>
              <a:t>问：收入能直接比吗？</a:t>
            </a:r>
          </a:p>
          <a:p>
            <a:r>
              <a:t>答：纽约是户收入中位数、税前；上海是人均可支配收入乘户均人口，是均值、到手。前者偏高，后者也偏高（均值高于中位数），所以只取"两倍半上下"这个量级（CALC-2）</a:t>
            </a:r>
          </a:p>
          <a:p>
            <a:r>
              <a:t>问：上海 59% 自有住房率可靠吗？</a:t>
            </a:r>
          </a:p>
          <a:p>
            <a:r>
              <a:t>答：2020 年七普长表，按家庭户统计，不含集体户，所以偏高。纽约 32.3% 是 2023 年住房与空置调查（SH-C1、NY-C5）</a:t>
            </a:r>
          </a:p>
          <a:p>
            <a:r>
              <a:t>问：为什么不比房租负担？</a:t>
            </a:r>
          </a:p>
          <a:p>
            <a:r>
              <a:t>答：纽约有官方数（租房户房租收入比中位数约 31%），上海统计部门没有公布租金；商业网站和行业报告的数口径不一致，算不出可比的负担</a:t>
            </a:r>
          </a:p>
          <a:p>
            <a:r>
              <a:t>问：吃的花销口径一样吗？</a:t>
            </a:r>
          </a:p>
          <a:p>
            <a:r>
              <a:t>答：纽约的"餐饮住宿"含住宿，上海的"食品烟酒"含烟酒，两边都偏高一点，不改变量级</a:t>
            </a:r>
          </a:p>
          <a:p>
            <a:r>
              <a:t>问：吃和穿为什么用纽约州？</a:t>
            </a:r>
          </a:p>
          <a:p>
            <a:r>
              <a:t>答：纽约市没有单独的消费分项统计，用的是美国商务部经济分析局的州级数据；它的分母含雇主和政府代付的医疗等，比住户调查宽，纽约的比例偏低（3.6 节）</a:t>
            </a:r>
          </a:p>
          <a:p>
            <a:r>
              <a:t>问：孕产妇死亡率口径一样吗？</a:t>
            </a:r>
          </a:p>
          <a:p>
            <a:r>
              <a:t>答：纽约原始口径算到产后一年（32.2/10 万，2022）；按纽约报告里的死亡时间分布截到 42 天约 21/10 万，与上海口径一致（NY-H11）</a:t>
            </a:r>
          </a:p>
          <a:p>
            <a:r>
              <a:t>问：上海公厕 8,325 处包括哪些？</a:t>
            </a:r>
          </a:p>
          <a:p>
            <a:r>
              <a:t>答：这是开放平台"城市设施-公共厕所"数据集的记录条数，由市绿化市容局提供，平台没有写明统计范围，样例里还有已撤销的"闸北区"。纽约 1,064 座只算市政府管理的公厕。所以"三倍"只说明量级（SH-T1、NY-G5、CALC-7）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问：期望寿命为什么不判分？</a:t>
            </a:r>
          </a:p>
          <a:p>
            <a:r>
              <a:t>答：上海 83.18 岁是 2022 年户籍人口，之后未公布；纽约 83.2 岁是 2024 年全体居民的临时数。年份和人群都不同</a:t>
            </a:r>
          </a:p>
          <a:p>
            <a:r>
              <a:t>问：孕产妇死亡率口径一样吗？</a:t>
            </a:r>
          </a:p>
          <a:p>
            <a:r>
              <a:t>答：纽约原始口径算到产后一年（32.2/10 万，2022）；按纽约报告里的死亡时间分布截到 42 天约 21/10 万，与上海口径一致（NY-H11）</a:t>
            </a:r>
          </a:p>
          <a:p>
            <a:r>
              <a:t>问：杀人案能比吗？</a:t>
            </a:r>
          </a:p>
          <a:p>
            <a:r>
              <a:t>答：上海是公安立案的杀人案，纽约是谋杀案，口径略有不同，但差约 19 倍（SH-H10、NY-H4a）</a:t>
            </a:r>
          </a:p>
          <a:p>
            <a:r>
              <a:t>问：文化为什么判纽约胜？</a:t>
            </a:r>
          </a:p>
          <a:p>
            <a:r>
              <a:t>答：纽约有三大图书馆系统 200 多个网点、财政资助 1,171 家机构且 96% 有免费或补贴项目；上海只查到市、区两级图书馆 20 个，街镇分馆和免费场馆的全市统一数字没有找到。按能查到的数据判</a:t>
            </a:r>
          </a:p>
          <a:p>
            <a:endParaRPr/>
          </a:p>
          <a:p>
            <a:r>
              <a:t>口径：</a:t>
            </a:r>
          </a:p>
          <a:p>
            <a:r>
              <a:t>纽约孕产妇死亡约21/10万由报告按产后42天折算；两项医疗结局统计年份不同。</a:t>
            </a:r>
          </a:p>
          <a:p>
            <a:r>
              <a:t>上海为杀人案立案，纽约为谋杀案；年份不同，比率由案件与人口计算。</a:t>
            </a:r>
          </a:p>
          <a:p>
            <a:r>
              <a:t>生师比由官方学生与教师数计算；上海中小学含高中，纽约为K–12。</a:t>
            </a:r>
          </a:p>
          <a:p>
            <a:r>
              <a:t>按公共图书馆网络与文化资助作判断；上海市区馆20个不用于与纽约全部网点硬比。</a:t>
            </a:r>
          </a:p>
          <a:p>
            <a:r>
              <a:t>来源：</a:t>
            </a:r>
          </a:p>
          <a:p>
            <a:r>
              <a:t>https://tjj.sh.gov.cn/tjgb/20260330/e0772941e8e041eaaad2df850b44ef98.html</a:t>
            </a:r>
          </a:p>
          <a:p>
            <a:r>
              <a:t>https://wsjkw.sh.gov.cn/tjsj2/20260730/7154e5b1603642a8a3c7c0b2b8b3b149.html</a:t>
            </a:r>
          </a:p>
          <a:p>
            <a:r>
              <a:t>https://www.nyc.gov/assets/doh/downloads/pdf/vs/2023sum.pdf</a:t>
            </a:r>
          </a:p>
          <a:p>
            <a:r>
              <a:t>https://www.nyc.gov/assets/doh/downloads/pdf/data/maternal-mortality-annual-report-2025.pdf</a:t>
            </a:r>
          </a:p>
          <a:p>
            <a:r>
              <a:t>https://tjj.sh.gov.cn/tjnj/2025tjnj/C2303.htm</a:t>
            </a:r>
          </a:p>
          <a:p>
            <a:r>
              <a:t>https://www.nyc.gov/site/nypd/news/PR001/nypd-safest-year-ever-gun-violence-fewest-shooting-incidents-shooting</a:t>
            </a:r>
          </a:p>
          <a:p>
            <a:r>
              <a:t>https://tjj.sh.gov.cn/tjnj/2025tjnj/C2015.htm</a:t>
            </a:r>
          </a:p>
          <a:p>
            <a:r>
              <a:t>https://tjj.sh.gov.cn/tjnj/2025tjnj/C2013.htm</a:t>
            </a:r>
          </a:p>
          <a:p>
            <a:r>
              <a:t>https://tjj.sh.gov.cn/tjnj/2025tjnj/C2004.htm</a:t>
            </a:r>
          </a:p>
          <a:p>
            <a:r>
              <a:t>https://data.nysed.gov/studenteducator.php?year=2025&amp;instid=7889678368</a:t>
            </a:r>
          </a:p>
          <a:p>
            <a:r>
              <a:t>https://www.nypl.org/about/locations</a:t>
            </a:r>
          </a:p>
          <a:p>
            <a:r>
              <a:t>https://www.bklynlibrary.org/browse-the-branches/about</a:t>
            </a:r>
          </a:p>
          <a:p>
            <a:r>
              <a:t>http://gis.nyc.gov/site/dcla/about/pressrelease/PR-2026-2-26-NYC-Department-of-Cultural-Affairs-Announces-74.3-Million-in-Grants-for-1171-Cultural-Organizations-Across-the-City.page</a:t>
            </a:r>
          </a:p>
          <a:p>
            <a:r>
              <a:t>https://english.shanghai.gov.cn/en-Latest-WhatsNew/20260212/af11d8de7fd24819bff50c940e428855.html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原资料截图于2026-10-10采集；黑框为采集者添加。地图快照2026-10-12，原始HTML由同学提供，本版恢复地图原始色系，保留几何、点位和数值。</a:t>
            </a:r>
          </a:p>
          <a:p>
            <a:endParaRPr/>
          </a:p>
          <a:p>
            <a:r>
              <a:t>口径：</a:t>
            </a:r>
          </a:p>
          <a:p>
            <a:r>
              <a:t>纽约为税前户收入中位数；上海由人均可支配收入均值×家庭户规模估算。</a:t>
            </a:r>
          </a:p>
          <a:p>
            <a:r>
              <a:t>上海为开放平台记录，纽约为市政运营公厕；只比较量级。</a:t>
            </a:r>
          </a:p>
          <a:p>
            <a:r>
              <a:t>上海为七普长表家庭户，纽约为HVS已入住住房；分母与年份不同。</a:t>
            </a:r>
          </a:p>
          <a:p>
            <a:r>
              <a:t>纽约州在家食品饮料＋餐饮住宿，上海食品烟酒；价格与分类差异使实际差距小于账面。</a:t>
            </a:r>
          </a:p>
          <a:p>
            <a:r>
              <a:t>纽约使用州级数据；按2026-10-09汇率换算。</a:t>
            </a:r>
          </a:p>
          <a:p>
            <a:r>
              <a:t>票价按户收入差2.65倍折算；支出占比为纽约都会区交通（2022–23）对上海交通通信（2024）。</a:t>
            </a:r>
          </a:p>
          <a:p>
            <a:r>
              <a:t>纽约孕产妇死亡约21/10万由报告按产后42天折算；两项医疗结局统计年份不同。</a:t>
            </a:r>
          </a:p>
          <a:p>
            <a:r>
              <a:t>上海为杀人案立案，纽约为谋杀案；年份不同，比率由案件与人口计算。</a:t>
            </a:r>
          </a:p>
          <a:p>
            <a:r>
              <a:t>生师比由官方学生与教师数计算；上海中小学含高中，纽约为K–12。</a:t>
            </a:r>
          </a:p>
          <a:p>
            <a:r>
              <a:t>按公共图书馆网络与文化资助作判断；上海市区馆20个不用于与纽约全部网点硬比。</a:t>
            </a:r>
          </a:p>
          <a:p>
            <a:r>
              <a:t>纽约为HUD一夜点数；上海露宿人数未公开，判断结合托底制度与纽约结果。</a:t>
            </a:r>
          </a:p>
          <a:p>
            <a:r>
              <a:t>来源：</a:t>
            </a:r>
          </a:p>
          <a:p>
            <a:r>
              <a:t>https://tjj.sh.gov.cn/tjgb/20260330/e0772941e8e041eaaad2df850b44ef98.html</a:t>
            </a:r>
          </a:p>
          <a:p>
            <a:r>
              <a:t>https://www.health.ny.gov/statistics/vital_statistics/2022/table02.htm</a:t>
            </a:r>
          </a:p>
          <a:p>
            <a:r>
              <a:t>https://www.nyc.gov/content/planning/pages/planning/population</a:t>
            </a:r>
          </a:p>
          <a:p>
            <a:r>
              <a:t>https://rentguidelinesboard.cityofnewyork.us/wp-content/uploads/2026/04/2026-IA.pdf</a:t>
            </a:r>
          </a:p>
          <a:p>
            <a:r>
              <a:t>https://tjj.sh.gov.cn/ydsj71/20260120/39ae4cd58421478d897b739d83f39c10.html</a:t>
            </a:r>
          </a:p>
          <a:p>
            <a:r>
              <a:t>https://tjj.sh.gov.cn/tjgb/20260630/b74619258aee4912a55a1da928b5be30.html</a:t>
            </a:r>
          </a:p>
          <a:p>
            <a:r>
              <a:t>https://data.sh.gov.cn/</a:t>
            </a:r>
          </a:p>
          <a:p>
            <a:r>
              <a:t>https://lhsr.sh.gov.cn/ywdt/20260401/00d7c161-8280-490c-a0da-d6c995e85058.html</a:t>
            </a:r>
          </a:p>
          <a:p>
            <a:r>
              <a:t>https://lhsr.sh.gov.cn/ywdt/20251204/b016509f-60a6-46cd-83fa-fdab372175c7.html</a:t>
            </a:r>
          </a:p>
          <a:p>
            <a:r>
              <a:t>https://council.nyc.gov/data/public-restroom-analysis/</a:t>
            </a:r>
          </a:p>
          <a:p>
            <a:r>
              <a:t>https://tjj.sh.gov.cn/tjnj/2020rktjnj/BNJc-9-4.jpg</a:t>
            </a:r>
          </a:p>
          <a:p>
            <a:r>
              <a:t>https://www.nyc.gov/assets/hpd/downloads/pdfs/about/2023%20NYCHVS%20Selected%20Initial%20Findings.pdf</a:t>
            </a:r>
          </a:p>
          <a:p>
            <a:r>
              <a:t>https://apps.bea.gov/regional/zip/SAPCE.zip</a:t>
            </a:r>
          </a:p>
          <a:p>
            <a:r>
              <a:t>https://tjj.sh.gov.cn/tjnj/2025tjnj/C0905.htm</a:t>
            </a:r>
          </a:p>
          <a:p>
            <a:r>
              <a:t>https://portal.311.nyc.gov/article/?kanumber=KA-01014</a:t>
            </a:r>
          </a:p>
          <a:p>
            <a:r>
              <a:t>https://www.nyc.gov/site/opa/commuters/commuters.page</a:t>
            </a:r>
          </a:p>
          <a:p>
            <a:r>
              <a:t>https://service.shmetro.com/cpxz/3983.htm</a:t>
            </a:r>
          </a:p>
          <a:p>
            <a:r>
              <a:t>https://service.shmetro.com/pwyh/index.htm</a:t>
            </a:r>
          </a:p>
          <a:p>
            <a:r>
              <a:t>https://service.shmetro.com/cpxz/index.htm</a:t>
            </a:r>
          </a:p>
          <a:p>
            <a:r>
              <a:t>https://tjj.sh.gov.cn/tjnj/2025tjnj/C0913.htm</a:t>
            </a:r>
          </a:p>
          <a:p>
            <a:r>
              <a:t>https://www.bls.gov/regions/northeast/news-release/consumerexpenditures_newyork.htm</a:t>
            </a:r>
          </a:p>
          <a:p>
            <a:r>
              <a:t>https://wsjkw.sh.gov.cn/tjsj2/20260730/7154e5b1603642a8a3c7c0b2b8b3b149.html</a:t>
            </a:r>
          </a:p>
          <a:p>
            <a:r>
              <a:t>https://www.nyc.gov/assets/doh/downloads/pdf/vs/2023sum.pdf</a:t>
            </a:r>
          </a:p>
          <a:p>
            <a:r>
              <a:t>https://www.nyc.gov/assets/doh/downloads/pdf/data/maternal-mortality-annual-report-2025.pdf</a:t>
            </a:r>
          </a:p>
          <a:p>
            <a:r>
              <a:t>https://tjj.sh.gov.cn/tjnj/2025tjnj/C2303.htm</a:t>
            </a:r>
          </a:p>
          <a:p>
            <a:r>
              <a:t>https://www.nyc.gov/site/nypd/news/PR001/nypd-safest-year-ever-gun-violence-fewest-shooting-incidents-shooting</a:t>
            </a:r>
          </a:p>
          <a:p>
            <a:r>
              <a:t>https://tjj.sh.gov.cn/tjnj/2025tjnj/C2015.htm</a:t>
            </a:r>
          </a:p>
          <a:p>
            <a:r>
              <a:t>https://tjj.sh.gov.cn/tjnj/2025tjnj/C2013.htm</a:t>
            </a:r>
          </a:p>
          <a:p>
            <a:r>
              <a:t>https://tjj.sh.gov.cn/tjnj/2025tjnj/C2004.htm</a:t>
            </a:r>
          </a:p>
          <a:p>
            <a:r>
              <a:t>https://data.nysed.gov/studenteducator.php?year=2025&amp;instid=7889678368</a:t>
            </a:r>
          </a:p>
          <a:p>
            <a:r>
              <a:t>https://www.nypl.org/about/locations</a:t>
            </a:r>
          </a:p>
          <a:p>
            <a:r>
              <a:t>https://www.bklynlibrary.org/browse-the-branches/about</a:t>
            </a:r>
          </a:p>
          <a:p>
            <a:r>
              <a:t>http://gis.nyc.gov/site/dcla/about/pressrelease/PR-2026-2-26-NYC-Department-of-Cultural-Affairs-Announces-74.3-Million-in-Grants-for-1171-Cultural-Organizations-Across-the-City.page</a:t>
            </a:r>
          </a:p>
          <a:p>
            <a:r>
              <a:t>https://english.shanghai.gov.cn/en-Latest-WhatsNew/20260212/af11d8de7fd24819bff50c940e428855.html</a:t>
            </a:r>
          </a:p>
          <a:p>
            <a:r>
              <a:t>https://files.hudexchange.info/reports/published/CoC_PopSub_CoC_NY-600-2025_NY_2025.pdf</a:t>
            </a:r>
          </a:p>
          <a:p>
            <a:r>
              <a:t>https://www.nyc.gov/assets/dhs/downloads/pdf/dashboard/tables/FY26-DHS-Data-Dashboard-Data.pdf</a:t>
            </a:r>
          </a:p>
          <a:p>
            <a:r>
              <a:t>https://mzj.sh.gov.cn/MZ_zhuzhan277_0-2-8-15-55-229/20260702/d95374094d6041a19b2591fd241126cb.html</a:t>
            </a:r>
          </a:p>
          <a:p>
            <a:r>
              <a:t>https://wsjkw.sh.gov.cn/2022wsjkzkbg/index.html</a:t>
            </a:r>
          </a:p>
          <a:p>
            <a:r>
              <a:t>https://wsjkw.sh.gov.cn/2023wsjkzkbg/index.html</a:t>
            </a:r>
          </a:p>
          <a:p>
            <a:r>
              <a:t>https://wsjkw.sh.gov.cn/2024wsjkzkbg/index.html</a:t>
            </a:r>
          </a:p>
          <a:p>
            <a:r>
              <a:t>https://opendata.cityofnewyork.us/open-data-law/</a:t>
            </a:r>
          </a:p>
          <a:p>
            <a:r>
              <a:t>https://data.cityofnewyork.us/Social-Services/DHS-Daily-Report/k46n-sa2m</a:t>
            </a:r>
          </a:p>
          <a:p>
            <a:r>
              <a:t>https://ghzyj.sh.gov.cn/gzdt/20251224/f5b8e34f5c834200910639b27717dfdf.html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146FE35-2976-4418-8A70-29B1CA91B0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9866BFA6-9969-48EF-B426-45FBA3E63A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4022E1FF-EA2F-406A-8A66-C3AEF1A4F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441A096-88B5-49A6-8277-DC9D44C89E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BA5D26C0-037D-4B9F-B706-A864A41969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2D527F0A-2EF3-455B-AA7A-43601FDBB9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66A3B089-61B2-4E7F-9ACA-35C5E17760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9ABD53D7-B77B-4D40-AA3B-6BE377BBDCE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259656D-95CA-4FDB-8779-C84A456A7F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6FACBA60-FE24-454D-A8C4-1505E5B624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DengXian"/>
          <a:ea typeface="DengXian"/>
          <a:cs typeface="DengXian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DengXian"/>
          <a:ea typeface="DengXian"/>
          <a:cs typeface="DengXian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DengXian"/>
          <a:ea typeface="DengXian"/>
          <a:cs typeface="DengXian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DengXian"/>
          <a:ea typeface="DengXian"/>
          <a:cs typeface="DengXian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DengXian"/>
          <a:ea typeface="DengXian"/>
          <a:cs typeface="DengXian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DengXian"/>
          <a:ea typeface="DengXian"/>
          <a:cs typeface="DengXian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DengXian"/>
          <a:ea typeface="DengXian"/>
          <a:cs typeface="DengXian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DengXian"/>
          <a:ea typeface="DengXian"/>
          <a:cs typeface="DengXian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DengXian"/>
          <a:ea typeface="DengXian"/>
          <a:cs typeface="DengXian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DengXian"/>
          <a:ea typeface="DengXian"/>
          <a:cs typeface="DengXian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1pPr>
      <a:lvl2pPr marL="4572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2pPr>
      <a:lvl3pPr marL="9144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3pPr>
      <a:lvl4pPr marL="13716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4pPr>
      <a:lvl5pPr marL="18288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5pPr>
      <a:lvl6pPr marL="22860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6pPr>
      <a:lvl7pPr marL="27432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7pPr>
      <a:lvl8pPr marL="32004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8pPr>
      <a:lvl9pPr marL="36576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ab985595828a4f58"/><Relationship Type="http://schemas.openxmlformats.org/officeDocument/2006/relationships/image" Target="/ppt/media/formal-slide1-image1.png" Id="Ra207a1868be44267"/><Relationship Type="http://schemas.openxmlformats.org/officeDocument/2006/relationships/notesSlide" Target="/ppt/notesSlides/notesSlide1.xml" Id="R358da7a2700a4f59"/><Relationship Id="rIdRiveDemo1" Type="http://schemas.openxmlformats.org/officeDocument/2006/relationships/image" Target="/ppt/media/rive-demo-page01.gif"/></Relationships>
</file>

<file path=ppt/slides/_rels/slide2.xml.rels><?xml version='1.0' encoding='UTF-8' standalone='yes'?>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RiveDemo2" Type="http://schemas.openxmlformats.org/officeDocument/2006/relationships/image" Target="/ppt/media/rive-demo-page02.gif"/></Relationships>
</file>

<file path=ppt/slides/_rels/slide3.xml.rels><?xml version='1.0' encoding='UTF-8' standalone='yes'?>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RiveDemo3" Type="http://schemas.openxmlformats.org/officeDocument/2006/relationships/image" Target="/ppt/media/rive-demo-page03.gif"/></Relationships>
</file>

<file path=ppt/slides/_rels/slide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c107476171f74677"/><Relationship Type="http://schemas.openxmlformats.org/officeDocument/2006/relationships/image" Target="/ppt/media/rive-timeline-1.gif" Id="R3c47485d97f3472c"/><Relationship Type="http://schemas.openxmlformats.org/officeDocument/2006/relationships/notesSlide" Target="/ppt/notesSlides/notesSlide4.xml" Id="Rd61dcfa4c70f4dce"/></Relationships>
</file>

<file path=ppt/slides/_rels/slide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f21d5d72c2ab4ae7"/><Relationship Type="http://schemas.openxmlformats.org/officeDocument/2006/relationships/image" Target="/ppt/media/rive-timeline-2.gif" Id="R442a285f56094df6"/><Relationship Type="http://schemas.openxmlformats.org/officeDocument/2006/relationships/notesSlide" Target="/ppt/notesSlides/notesSlide5.xml" Id="R707c3df276244643"/></Relationships>
</file>

<file path=ppt/slides/_rels/slide6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RiveDemo6" Type="http://schemas.openxmlformats.org/officeDocument/2006/relationships/image" Target="/ppt/media/rive-demo-page06.gif"/></Relationships>
</file>

<file path=ppt/slides/_rels/slide7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RiveDemo7" Type="http://schemas.openxmlformats.org/officeDocument/2006/relationships/image" Target="/ppt/media/rive-demo-page07.gif"/></Relationships>
</file>

<file path=ppt/slides/_rels/slide8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Relationship Id="rIdRiveDemo8" Type="http://schemas.openxmlformats.org/officeDocument/2006/relationships/image" Target="/ppt/media/rive-demo-page08.gi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gi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Relationship Id="rId4" Type="http://schemas.openxmlformats.org/officeDocument/2006/relationships/chart" Target="../charts/char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gi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Relationship Id="rId4" Type="http://schemas.openxmlformats.org/officeDocument/2006/relationships/chart" Target="../charts/char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gi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Relationship Id="rId4" Type="http://schemas.openxmlformats.org/officeDocument/2006/relationships/chart" Target="../charts/char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gi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Relationship Id="rId4" Type="http://schemas.openxmlformats.org/officeDocument/2006/relationships/chart" Target="../charts/char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gi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Relationship Id="rId4" Type="http://schemas.openxmlformats.org/officeDocument/2006/relationships/chart" Target="../charts/char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gif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Relationship Id="rId4" Type="http://schemas.openxmlformats.org/officeDocument/2006/relationships/chart" Target="../charts/chart6.xml"/></Relationships>
</file>

<file path=ppt/slides/_rels/slide1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2b2749f414b44f73"/><Relationship Type="http://schemas.openxmlformats.org/officeDocument/2006/relationships/image" Target="/ppt/media/formal-slide15-image1.png" Id="R2129dc0a62164761"/><Relationship Type="http://schemas.openxmlformats.org/officeDocument/2006/relationships/notesSlide" Target="/ppt/notesSlides/notesSlide15.xml" Id="R284f54088040488b"/></Relationships>
</file>

<file path=ppt/slides/_rels/slide16.xml.rels><?xml version='1.0' encoding='UTF-8' standalone='yes'?>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Relationship Id="rIdRiveDemo16" Type="http://schemas.openxmlformats.org/officeDocument/2006/relationships/image" Target="/ppt/media/rive-demo-page16.gif"/></Relationships>
</file>

<file path=ppt/slides/_rels/slide17.xml.rels><?xml version='1.0' encoding='UTF-8' standalone='yes'?>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Relationship Id="rIdRiveDemo17" Type="http://schemas.openxmlformats.org/officeDocument/2006/relationships/image" Target="/ppt/media/rive-demo-page17.gif"/></Relationships>
</file>

<file path=ppt/slides/_rels/slide1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4dfe196fcda44014"/><Relationship Type="http://schemas.openxmlformats.org/officeDocument/2006/relationships/image" Target="/ppt/media/formal-slide18-image1.jpeg" Id="Re318d054814b4c27"/><Relationship Type="http://schemas.openxmlformats.org/officeDocument/2006/relationships/image" Target="/ppt/media/formal-slide18-image2.jpeg" Id="R0bbbb4a6a1764e36"/><Relationship Type="http://schemas.openxmlformats.org/officeDocument/2006/relationships/image" Target="/ppt/media/formal-slide18-image3.png" Id="Rd2f1e94136c440c0"/><Relationship Type="http://schemas.openxmlformats.org/officeDocument/2006/relationships/notesSlide" Target="/ppt/notesSlides/notesSlide18.xml" Id="R3e42078411d043f5"/><Relationship Id="rIdRiveDemo18" Type="http://schemas.openxmlformats.org/officeDocument/2006/relationships/image" Target="/ppt/media/rive-demo-page18.gif"/></Relationships>
</file>

<file path=ppt/slides/_rels/slide19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5e57e7f0a3e04148"/><Relationship Type="http://schemas.openxmlformats.org/officeDocument/2006/relationships/notesSlide" Target="/ppt/notesSlides/notesSlide19.xml" Id="Rd9a08c1d8e6b4c2c"/><Relationship Id="rIdRiveDemo19" Type="http://schemas.openxmlformats.org/officeDocument/2006/relationships/image" Target="/ppt/media/rive-demo-page19.gif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4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2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4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8F3E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本组社区公共服务研究与生活观察">
            <a:extLst xmlns:a="http://schemas.openxmlformats.org/drawingml/2006/main">
              <a:ext uri="{FF2B5EF4-FFF2-40B4-BE49-F238E27FC236}">
                <a16:creationId xmlns:a16="http://schemas.microsoft.com/office/drawing/2014/main" id="{3B9F89CF-1944-4B7C-8B14-8C08771D2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29350"/>
            <a:ext cx="10525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本组社区公共服务研究与生活观察</a:t>
            </a:r>
          </a:p>
        </p:txBody>
      </p:sp>
      <p:sp>
        <p:nvSpPr>
          <p:cNvPr id="2" name="01">
            <a:extLst xmlns:a="http://schemas.openxmlformats.org/drawingml/2006/main">
              <a:ext uri="{FF2B5EF4-FFF2-40B4-BE49-F238E27FC236}">
                <a16:creationId xmlns:a16="http://schemas.microsoft.com/office/drawing/2014/main" id="{D75CABFE-71B3-4AA5-BED6-42DBC7002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01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DE0B61-2B3F-49C3-B1BB-59644F1798E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07a1868be44267"/>
          <a:srcRect xmlns:a="http://schemas.openxmlformats.org/drawingml/2006/main" l="25201" t="0" r="2520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86600" y="0"/>
            <a:ext cx="5105400" cy="6858000"/>
          </a:xfrm>
          <a:prstGeom xmlns:a="http://schemas.openxmlformats.org/drawingml/2006/main" prst="rect">
            <a:avLst/>
          </a:prstGeom>
        </p:spPr>
      </p:pic>
      <p:sp>
        <p:nvSpPr>
          <p:cNvPr id="4" name="人民城市的&#10;上海实践">
            <a:extLst xmlns:a="http://schemas.openxmlformats.org/drawingml/2006/main">
              <a:ext uri="{FF2B5EF4-FFF2-40B4-BE49-F238E27FC236}">
                <a16:creationId xmlns:a16="http://schemas.microsoft.com/office/drawing/2014/main" id="{1FC9ED5C-3D71-459C-BA06-262B2EB6C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57250"/>
            <a:ext cx="6096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9pPr>
          </a:lstStyle>
          <a:p xmlns:a="http://schemas.openxmlformats.org/drawingml/2006/main">
            <a: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人民城市的</a:t>
            </a:r>
          </a:p>
          <a:p xmlns:a="http://schemas.openxmlformats.org/drawingml/2006/main">
            <a: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上海实践</a:t>
            </a:r>
          </a:p>
        </p:txBody>
      </p:sp>
      <p:sp>
        <p:nvSpPr>
          <p:cNvPr id="5" name="家门口的公共服务">
            <a:extLst xmlns:a="http://schemas.openxmlformats.org/drawingml/2006/main">
              <a:ext uri="{FF2B5EF4-FFF2-40B4-BE49-F238E27FC236}">
                <a16:creationId xmlns:a16="http://schemas.microsoft.com/office/drawing/2014/main" id="{00E21BF9-B0EA-4FDF-AFAC-184409D09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0"/>
            <a:ext cx="6000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9pPr>
          </a:lstStyle>
          <a:p xmlns:a="http://schemas.openxmlformats.org/drawingml/2006/main">
            <a: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家门口的公共服务</a:t>
            </a:r>
          </a:p>
        </p:txBody>
      </p:sp>
      <p:sp>
        <p:nvSpPr>
          <p:cNvPr id="6" name="15分钟生活圈的空间观察">
            <a:extLst xmlns:a="http://schemas.openxmlformats.org/drawingml/2006/main">
              <a:ext uri="{FF2B5EF4-FFF2-40B4-BE49-F238E27FC236}">
                <a16:creationId xmlns:a16="http://schemas.microsoft.com/office/drawing/2014/main" id="{B9290C1B-6B67-4387-824B-62D0BEC33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67150"/>
            <a:ext cx="6000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217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15分钟生活圈的空间观察</a:t>
            </a:r>
          </a:p>
        </p:txBody>
      </p:sp>
      <p:sp>
        <p:nvSpPr>
          <p:cNvPr id="7" name="六类设施的地图、距离与覆盖">
            <a:extLst xmlns:a="http://schemas.openxmlformats.org/drawingml/2006/main">
              <a:ext uri="{FF2B5EF4-FFF2-40B4-BE49-F238E27FC236}">
                <a16:creationId xmlns:a16="http://schemas.microsoft.com/office/drawing/2014/main" id="{71FDAB54-BED1-4D29-B043-49EEC319B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24450"/>
            <a:ext cx="600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六类设施的地图、距离与覆盖</a:t>
            </a:r>
          </a:p>
        </p:txBody>
      </p:sp>
      <p:pic>
        <p:nvPicPr>
          <p:cNvPr id="9" name="Rive第1页演示（隐藏后可编辑下层）">
            <a:extLst xmlns:a="http://schemas.openxmlformats.org/drawingml/2006/main">
              <a:ext uri="{FF2B5EF4-FFF2-40B4-BE49-F238E27FC236}">
                <a16:creationId xmlns:a16="http://schemas.microsoft.com/office/drawing/2014/main" id="{6B776E3D-4BDE-4B45-82B1-0F0EEC7AC41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IdRiveDemo1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485984"/>
      </p:ext>
    </p:extLst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2015年的相关表述">
            <a:extLst>
              <a:ext uri="{FF2B5EF4-FFF2-40B4-BE49-F238E27FC236}">
                <a16:creationId xmlns:a16="http://schemas.microsoft.com/office/drawing/2014/main" id="{99B998CF-6232-4C5A-923A-9EF5AFB8B9C9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2015年的相关表述</a:t>
            </a:r>
          </a:p>
        </p:txBody>
      </p:sp>
      <p:sp>
        <p:nvSpPr>
          <p:cNvPr id="2" name="来源：新华社《中央城市工作会议在北京举行》，2015-12-22">
            <a:extLst>
              <a:ext uri="{FF2B5EF4-FFF2-40B4-BE49-F238E27FC236}">
                <a16:creationId xmlns:a16="http://schemas.microsoft.com/office/drawing/2014/main" id="{491BFA58-030B-43E5-A22B-955062D1E000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来源：新华社《中央城市工作会议在北京举行》，2015-12-22</a:t>
            </a:r>
          </a:p>
        </p:txBody>
      </p:sp>
      <p:sp>
        <p:nvSpPr>
          <p:cNvPr id="3" name="02">
            <a:extLst>
              <a:ext uri="{FF2B5EF4-FFF2-40B4-BE49-F238E27FC236}">
                <a16:creationId xmlns:a16="http://schemas.microsoft.com/office/drawing/2014/main" id="{9DC9DC5C-EF72-4424-BD2B-C55C7879C92F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02</a:t>
            </a:r>
          </a:p>
        </p:txBody>
      </p:sp>
      <p:sp>
        <p:nvSpPr>
          <p:cNvPr id="4" name="中央城市工作会议">
            <a:extLst>
              <a:ext uri="{FF2B5EF4-FFF2-40B4-BE49-F238E27FC236}">
                <a16:creationId xmlns:a16="http://schemas.microsoft.com/office/drawing/2014/main" id="{BBD3A0C0-06FE-445C-A1E5-A148AD382416}"/>
              </a:ext>
            </a:extLst>
          </p:cNvPr>
          <p:cNvSpPr>
            <a:spLocks noGrp="1"/>
          </p:cNvSpPr>
          <p:nvPr/>
        </p:nvSpPr>
        <p:spPr>
          <a:xfrm>
            <a:off x="571500" y="1352550"/>
            <a:ext cx="110490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中央城市工作会议</a:t>
            </a:r>
          </a:p>
        </p:txBody>
      </p:sp>
      <p:sp>
        <p:nvSpPr>
          <p:cNvPr id="5" name="坚持以人民为中心的发展思想&#10;坚持人民城市为人民">
            <a:extLst>
              <a:ext uri="{FF2B5EF4-FFF2-40B4-BE49-F238E27FC236}">
                <a16:creationId xmlns:a16="http://schemas.microsoft.com/office/drawing/2014/main" id="{3281E2E8-4F13-44CA-BD0F-F60B5766E853}"/>
              </a:ext>
            </a:extLst>
          </p:cNvPr>
          <p:cNvSpPr>
            <a:spLocks noGrp="1"/>
          </p:cNvSpPr>
          <p:nvPr/>
        </p:nvSpPr>
        <p:spPr>
          <a:xfrm>
            <a:off x="571500" y="2095500"/>
            <a:ext cx="11049000" cy="1190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8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坚持以人民为中心的发展思想</a:t>
            </a:r>
          </a:p>
          <a:p>
            <a: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8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坚持人民城市为人民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82DDB510-3319-4424-93F5-94112D3CB9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502287" y="3714750"/>
            <a:ext cx="9187427" cy="2305050"/>
          </a:xfrm>
          <a:prstGeom prst="rect">
            <a:avLst/>
          </a:prstGeom>
        </p:spPr>
      </p:pic>
      <p:pic>
        <p:nvPicPr>
          <p:cNvPr id="8" name="Rive第2页演示（隐藏后可编辑下层）">
            <a:extLst>
              <a:ext uri="{FF2B5EF4-FFF2-40B4-BE49-F238E27FC236}">
                <a16:creationId xmlns:a16="http://schemas.microsoft.com/office/drawing/2014/main" id="{DBBC68D8-88F6-4337-8C7C-608ED9254E16}"/>
              </a:ext>
            </a:extLst>
          </p:cNvPr>
          <p:cNvPicPr>
            <a:picLocks noChangeAspect="1"/>
          </p:cNvPicPr>
          <p:nvPr/>
        </p:nvPicPr>
        <p:blipFill>
          <a:blip r:embed="rIdRiveDemo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545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2019年杨浦滨江的提出场景">
            <a:extLst>
              <a:ext uri="{FF2B5EF4-FFF2-40B4-BE49-F238E27FC236}">
                <a16:creationId xmlns:a16="http://schemas.microsoft.com/office/drawing/2014/main" id="{174A1513-D9A9-4AE4-A687-8E8322A93DA2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2019年杨浦滨江的提出场景</a:t>
            </a:r>
          </a:p>
        </p:txBody>
      </p:sp>
      <p:sp>
        <p:nvSpPr>
          <p:cNvPr id="2" name="来源：新华社，2019-11-03；摄影：鞠鹏、谢环驰；人民网转">
            <a:extLst>
              <a:ext uri="{FF2B5EF4-FFF2-40B4-BE49-F238E27FC236}">
                <a16:creationId xmlns:a16="http://schemas.microsoft.com/office/drawing/2014/main" id="{F6D119AE-EBE7-4E33-BBE3-BAC35B93FDDF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来源：新华社，2019-11-03；摄影：鞠鹏、谢环驰；人民网转载</a:t>
            </a:r>
          </a:p>
        </p:txBody>
      </p:sp>
      <p:sp>
        <p:nvSpPr>
          <p:cNvPr id="3" name="03">
            <a:extLst>
              <a:ext uri="{FF2B5EF4-FFF2-40B4-BE49-F238E27FC236}">
                <a16:creationId xmlns:a16="http://schemas.microsoft.com/office/drawing/2014/main" id="{18C6347F-7CA1-407E-BD08-14FE46E52D88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03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941D17B3-DF61-4036-9594-73584268E9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82993" y="1333500"/>
            <a:ext cx="5663514" cy="4572000"/>
          </a:xfrm>
          <a:prstGeom prst="rect">
            <a:avLst/>
          </a:prstGeom>
        </p:spPr>
      </p:pic>
      <p:sp>
        <p:nvSpPr>
          <p:cNvPr id="5" name="2019年11月2日">
            <a:extLst>
              <a:ext uri="{FF2B5EF4-FFF2-40B4-BE49-F238E27FC236}">
                <a16:creationId xmlns:a16="http://schemas.microsoft.com/office/drawing/2014/main" id="{578A5864-7C0D-46C2-AC19-027C7E2C0B7A}"/>
              </a:ext>
            </a:extLst>
          </p:cNvPr>
          <p:cNvSpPr>
            <a:spLocks noGrp="1"/>
          </p:cNvSpPr>
          <p:nvPr/>
        </p:nvSpPr>
        <p:spPr>
          <a:xfrm>
            <a:off x="7334250" y="1485900"/>
            <a:ext cx="42862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1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2019年11月2日</a:t>
            </a:r>
          </a:p>
        </p:txBody>
      </p:sp>
      <p:sp>
        <p:nvSpPr>
          <p:cNvPr id="6" name="人民城市人民建&#10;人民城市为人民">
            <a:extLst>
              <a:ext uri="{FF2B5EF4-FFF2-40B4-BE49-F238E27FC236}">
                <a16:creationId xmlns:a16="http://schemas.microsoft.com/office/drawing/2014/main" id="{4E8F9291-D550-4A96-83F2-00EABC9B92D4}"/>
              </a:ext>
            </a:extLst>
          </p:cNvPr>
          <p:cNvSpPr>
            <a:spLocks noGrp="1"/>
          </p:cNvSpPr>
          <p:nvPr/>
        </p:nvSpPr>
        <p:spPr>
          <a:xfrm>
            <a:off x="7334250" y="2314575"/>
            <a:ext cx="4286250" cy="1238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7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人民城市人民建</a:t>
            </a:r>
          </a:p>
          <a:p>
            <a: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7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人民城市为人民</a:t>
            </a:r>
          </a:p>
        </p:txBody>
      </p:sp>
      <p:sp>
        <p:nvSpPr>
          <p:cNvPr id="7" name="杨树浦水厂滨江段&#10;工业滨江转为市民公共空间">
            <a:extLst>
              <a:ext uri="{FF2B5EF4-FFF2-40B4-BE49-F238E27FC236}">
                <a16:creationId xmlns:a16="http://schemas.microsoft.com/office/drawing/2014/main" id="{A08F0B8F-CFD9-4EF3-8E7E-30027352014E}"/>
              </a:ext>
            </a:extLst>
          </p:cNvPr>
          <p:cNvSpPr>
            <a:spLocks noGrp="1"/>
          </p:cNvSpPr>
          <p:nvPr/>
        </p:nvSpPr>
        <p:spPr>
          <a:xfrm>
            <a:off x="7334250" y="4114800"/>
            <a:ext cx="4286250" cy="1047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杨树浦水厂滨江段</a:t>
            </a:r>
          </a:p>
          <a:p>
            <a: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工业滨江转为市民公共空间</a:t>
            </a:r>
          </a:p>
        </p:txBody>
      </p:sp>
      <p:pic>
        <p:nvPicPr>
          <p:cNvPr id="9" name="Rive第3页演示（隐藏后可编辑下层）">
            <a:extLst>
              <a:ext uri="{FF2B5EF4-FFF2-40B4-BE49-F238E27FC236}">
                <a16:creationId xmlns:a16="http://schemas.microsoft.com/office/drawing/2014/main" id="{DB87CC73-6D7C-4A67-9764-A020E3177B9D}"/>
              </a:ext>
            </a:extLst>
          </p:cNvPr>
          <p:cNvPicPr>
            <a:picLocks noChangeAspect="1"/>
          </p:cNvPicPr>
          <p:nvPr/>
        </p:nvPicPr>
        <p:blipFill>
          <a:blip r:embed="rIdRiveDemo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176822"/>
      </p:ext>
    </p:extLst>
  </p:cSld>
  <p:clrMapOvr>
    <a:masterClrMapping/>
  </p:clrMapOvr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0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人民城市的政策时间线 2015至2023">
            <a:extLst xmlns:a="http://schemas.openxmlformats.org/drawingml/2006/main">
              <a:ext uri="{FF2B5EF4-FFF2-40B4-BE49-F238E27FC236}">
                <a16:creationId xmlns:a16="http://schemas.microsoft.com/office/drawing/2014/main" id="{B39CF07C-3831-4342-AF5D-32D301669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 xmlns:a="http://schemas.openxmlformats.org/drawingml/2006/main">
            <a: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人民城市的政策时间线 2015至2023</a:t>
            </a:r>
          </a:p>
        </p:txBody>
      </p:sp>
      <p:sp>
        <p:nvSpPr>
          <p:cNvPr id="2" name="来源：新华社、上海市委、《求是》、中央文件；完整链接与日期说明见备注">
            <a:extLst xmlns:a="http://schemas.openxmlformats.org/drawingml/2006/main">
              <a:ext uri="{FF2B5EF4-FFF2-40B4-BE49-F238E27FC236}">
                <a16:creationId xmlns:a16="http://schemas.microsoft.com/office/drawing/2014/main" id="{555924D8-1C6D-4139-9E8F-95596A94E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29350"/>
            <a:ext cx="10525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来源：新华社、上海市委、《求是》、中央文件；完整链接与日期说明见备注</a:t>
            </a:r>
          </a:p>
        </p:txBody>
      </p:sp>
      <p:sp>
        <p:nvSpPr>
          <p:cNvPr id="3" name="04">
            <a:extLst xmlns:a="http://schemas.openxmlformats.org/drawingml/2006/main">
              <a:ext uri="{FF2B5EF4-FFF2-40B4-BE49-F238E27FC236}">
                <a16:creationId xmlns:a16="http://schemas.microsoft.com/office/drawing/2014/main" id="{55DADB61-DE6B-4EBD-9C71-1EFE6584B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04</a:t>
            </a:r>
          </a:p>
        </p:txBody>
      </p:sp>
      <p:sp>
        <p:nvSpPr>
          <p:cNvPr id="4" name="可编辑纵轴">
            <a:extLst xmlns:a="http://schemas.openxmlformats.org/drawingml/2006/main">
              <a:ext uri="{FF2B5EF4-FFF2-40B4-BE49-F238E27FC236}">
                <a16:creationId xmlns:a16="http://schemas.microsoft.com/office/drawing/2014/main" id="{6B1A2278-E387-4FAC-8082-0DCA5DA5B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1713" y="1238250"/>
            <a:ext cx="28575" cy="457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3E35"/>
          </a:solidFill>
          <a:ln xmlns:a="http://schemas.openxmlformats.org/drawingml/2006/main" w="0">
            <a:noFill/>
          </a:ln>
        </p:spPr>
      </p:sp>
      <p:sp>
        <p:nvSpPr>
          <p:cNvPr id="5" name="可编辑事件连接线">
            <a:extLst xmlns:a="http://schemas.openxmlformats.org/drawingml/2006/main">
              <a:ext uri="{FF2B5EF4-FFF2-40B4-BE49-F238E27FC236}">
                <a16:creationId xmlns:a16="http://schemas.microsoft.com/office/drawing/2014/main" id="{43F712A4-DCF0-40C1-8EEB-0BB23DDBB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1516856"/>
            <a:ext cx="6477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B9AD"/>
          </a:solidFill>
          <a:ln xmlns:a="http://schemas.openxmlformats.org/drawingml/2006/main" w="0">
            <a:noFill/>
          </a:ln>
        </p:spPr>
      </p:sp>
      <p:sp>
        <p:nvSpPr>
          <p:cNvPr id="6" name="可编辑节点底色">
            <a:extLst xmlns:a="http://schemas.openxmlformats.org/drawingml/2006/main">
              <a:ext uri="{FF2B5EF4-FFF2-40B4-BE49-F238E27FC236}">
                <a16:creationId xmlns:a16="http://schemas.microsoft.com/office/drawing/2014/main" id="{DECF99A0-C1A3-4CE7-9F3C-A5194E0BE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14573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F0E9"/>
          </a:solidFill>
          <a:ln xmlns:a="http://schemas.openxmlformats.org/drawingml/2006/main" w="0">
            <a:noFill/>
          </a:ln>
        </p:spPr>
      </p:sp>
      <p:sp>
        <p:nvSpPr>
          <p:cNvPr id="7" name="可编辑年份节点">
            <a:extLst xmlns:a="http://schemas.openxmlformats.org/drawingml/2006/main">
              <a:ext uri="{FF2B5EF4-FFF2-40B4-BE49-F238E27FC236}">
                <a16:creationId xmlns:a16="http://schemas.microsoft.com/office/drawing/2014/main" id="{3C7E504E-9218-43D1-A897-71057B303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3138" y="1481138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F3E35"/>
          </a:solidFill>
          <a:ln xmlns:a="http://schemas.openxmlformats.org/drawingml/2006/main" w="0">
            <a:noFill/>
          </a:ln>
        </p:spPr>
      </p:sp>
      <p:sp>
        <p:nvSpPr>
          <p:cNvPr id="8" name="2015.12">
            <a:extLst xmlns:a="http://schemas.openxmlformats.org/drawingml/2006/main">
              <a:ext uri="{FF2B5EF4-FFF2-40B4-BE49-F238E27FC236}">
                <a16:creationId xmlns:a16="http://schemas.microsoft.com/office/drawing/2014/main" id="{816361F0-AAC9-4043-9637-E591D7EAB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00150"/>
            <a:ext cx="43243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2015.12</a:t>
            </a:r>
          </a:p>
        </p:txBody>
      </p:sp>
      <p:sp>
        <p:nvSpPr>
          <p:cNvPr id="9" name="中央城市工作会议">
            <a:extLst xmlns:a="http://schemas.openxmlformats.org/drawingml/2006/main">
              <a:ext uri="{FF2B5EF4-FFF2-40B4-BE49-F238E27FC236}">
                <a16:creationId xmlns:a16="http://schemas.microsoft.com/office/drawing/2014/main" id="{4E0DEEB4-7FCC-45E5-9801-8032A1522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485900"/>
            <a:ext cx="4324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中央城市工作会议</a:t>
            </a:r>
          </a:p>
        </p:txBody>
      </p:sp>
      <p:sp>
        <p:nvSpPr>
          <p:cNvPr id="10" name="明确人民城市为人民">
            <a:extLst xmlns:a="http://schemas.openxmlformats.org/drawingml/2006/main">
              <a:ext uri="{FF2B5EF4-FFF2-40B4-BE49-F238E27FC236}">
                <a16:creationId xmlns:a16="http://schemas.microsoft.com/office/drawing/2014/main" id="{2EBA60AF-691D-47D3-943B-19C36EB0B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09750"/>
            <a:ext cx="43243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明确人民城市为人民</a:t>
            </a:r>
          </a:p>
        </p:txBody>
      </p:sp>
      <p:sp>
        <p:nvSpPr>
          <p:cNvPr id="11" name="可编辑事件连接线">
            <a:extLst xmlns:a="http://schemas.openxmlformats.org/drawingml/2006/main">
              <a:ext uri="{FF2B5EF4-FFF2-40B4-BE49-F238E27FC236}">
                <a16:creationId xmlns:a16="http://schemas.microsoft.com/office/drawing/2014/main" id="{04D1D605-5F15-4866-9F2B-C07C8C0BC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316956"/>
            <a:ext cx="6477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B9AD"/>
          </a:solidFill>
          <a:ln xmlns:a="http://schemas.openxmlformats.org/drawingml/2006/main" w="0">
            <a:noFill/>
          </a:ln>
        </p:spPr>
      </p:sp>
      <p:sp>
        <p:nvSpPr>
          <p:cNvPr id="12" name="可编辑节点底色">
            <a:extLst xmlns:a="http://schemas.openxmlformats.org/drawingml/2006/main">
              <a:ext uri="{FF2B5EF4-FFF2-40B4-BE49-F238E27FC236}">
                <a16:creationId xmlns:a16="http://schemas.microsoft.com/office/drawing/2014/main" id="{92C4A9B6-76B0-4E6F-8E3E-5C0DBCADB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2574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F0E9"/>
          </a:solidFill>
          <a:ln xmlns:a="http://schemas.openxmlformats.org/drawingml/2006/main" w="0">
            <a:noFill/>
          </a:ln>
        </p:spPr>
      </p:sp>
      <p:sp>
        <p:nvSpPr>
          <p:cNvPr id="13" name="可编辑年份节点">
            <a:extLst xmlns:a="http://schemas.openxmlformats.org/drawingml/2006/main">
              <a:ext uri="{FF2B5EF4-FFF2-40B4-BE49-F238E27FC236}">
                <a16:creationId xmlns:a16="http://schemas.microsoft.com/office/drawing/2014/main" id="{90BA1DC1-ED4F-4271-8408-2353B35E6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3138" y="2281238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F3E35"/>
          </a:solidFill>
          <a:ln xmlns:a="http://schemas.openxmlformats.org/drawingml/2006/main" w="0">
            <a:noFill/>
          </a:ln>
        </p:spPr>
      </p:sp>
      <p:sp>
        <p:nvSpPr>
          <p:cNvPr id="14" name="2019.11.02">
            <a:extLst xmlns:a="http://schemas.openxmlformats.org/drawingml/2006/main">
              <a:ext uri="{FF2B5EF4-FFF2-40B4-BE49-F238E27FC236}">
                <a16:creationId xmlns:a16="http://schemas.microsoft.com/office/drawing/2014/main" id="{266B4FAA-258D-4F2F-8F4F-D27FE7439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000250"/>
            <a:ext cx="43243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2019.11.02</a:t>
            </a:r>
          </a:p>
        </p:txBody>
      </p:sp>
      <p:sp>
        <p:nvSpPr>
          <p:cNvPr id="15" name="杨浦滨江考察">
            <a:extLst xmlns:a="http://schemas.openxmlformats.org/drawingml/2006/main">
              <a:ext uri="{FF2B5EF4-FFF2-40B4-BE49-F238E27FC236}">
                <a16:creationId xmlns:a16="http://schemas.microsoft.com/office/drawing/2014/main" id="{9FBE077D-53E5-48AD-B18D-0405C26CA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286000"/>
            <a:ext cx="4324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杨浦滨江考察</a:t>
            </a:r>
          </a:p>
        </p:txBody>
      </p:sp>
      <p:sp>
        <p:nvSpPr>
          <p:cNvPr id="16" name="提出完整重要理念">
            <a:extLst xmlns:a="http://schemas.openxmlformats.org/drawingml/2006/main">
              <a:ext uri="{FF2B5EF4-FFF2-40B4-BE49-F238E27FC236}">
                <a16:creationId xmlns:a16="http://schemas.microsoft.com/office/drawing/2014/main" id="{78588BF4-7629-4F55-AD31-AD99242AC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609850"/>
            <a:ext cx="43243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提出完整重要理念</a:t>
            </a:r>
          </a:p>
        </p:txBody>
      </p:sp>
      <p:sp>
        <p:nvSpPr>
          <p:cNvPr id="17" name="可编辑事件连接线">
            <a:extLst xmlns:a="http://schemas.openxmlformats.org/drawingml/2006/main">
              <a:ext uri="{FF2B5EF4-FFF2-40B4-BE49-F238E27FC236}">
                <a16:creationId xmlns:a16="http://schemas.microsoft.com/office/drawing/2014/main" id="{19F36BD3-AA4B-4726-88DA-F1A79F91D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117056"/>
            <a:ext cx="6477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B9AD"/>
          </a:solidFill>
          <a:ln xmlns:a="http://schemas.openxmlformats.org/drawingml/2006/main" w="0">
            <a:noFill/>
          </a:ln>
        </p:spPr>
      </p:sp>
      <p:sp>
        <p:nvSpPr>
          <p:cNvPr id="18" name="可编辑节点底色">
            <a:extLst xmlns:a="http://schemas.openxmlformats.org/drawingml/2006/main">
              <a:ext uri="{FF2B5EF4-FFF2-40B4-BE49-F238E27FC236}">
                <a16:creationId xmlns:a16="http://schemas.microsoft.com/office/drawing/2014/main" id="{496EABAD-5BBF-4521-B596-E0B3A68BF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0575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F0E9"/>
          </a:solidFill>
          <a:ln xmlns:a="http://schemas.openxmlformats.org/drawingml/2006/main" w="0">
            <a:noFill/>
          </a:ln>
        </p:spPr>
      </p:sp>
      <p:sp>
        <p:nvSpPr>
          <p:cNvPr id="19" name="可编辑年份节点">
            <a:extLst xmlns:a="http://schemas.openxmlformats.org/drawingml/2006/main">
              <a:ext uri="{FF2B5EF4-FFF2-40B4-BE49-F238E27FC236}">
                <a16:creationId xmlns:a16="http://schemas.microsoft.com/office/drawing/2014/main" id="{EB14AA70-77D3-4F4F-85AA-7E770B907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3138" y="3081338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F3E35"/>
          </a:solidFill>
          <a:ln xmlns:a="http://schemas.openxmlformats.org/drawingml/2006/main" w="0">
            <a:noFill/>
          </a:ln>
        </p:spPr>
      </p:sp>
      <p:sp>
        <p:nvSpPr>
          <p:cNvPr id="20" name="2020.06.23">
            <a:extLst xmlns:a="http://schemas.openxmlformats.org/drawingml/2006/main">
              <a:ext uri="{FF2B5EF4-FFF2-40B4-BE49-F238E27FC236}">
                <a16:creationId xmlns:a16="http://schemas.microsoft.com/office/drawing/2014/main" id="{C49445D7-3F8C-4B31-861F-564285DD9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00350"/>
            <a:ext cx="43243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2020.06.23</a:t>
            </a:r>
          </a:p>
        </p:txBody>
      </p:sp>
      <p:sp>
        <p:nvSpPr>
          <p:cNvPr id="21" name="上海市委全会">
            <a:extLst xmlns:a="http://schemas.openxmlformats.org/drawingml/2006/main">
              <a:ext uri="{FF2B5EF4-FFF2-40B4-BE49-F238E27FC236}">
                <a16:creationId xmlns:a16="http://schemas.microsoft.com/office/drawing/2014/main" id="{BD4683E3-E490-4381-AAD7-FC0C773C5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86100"/>
            <a:ext cx="4324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上海市委全会</a:t>
            </a:r>
          </a:p>
        </p:txBody>
      </p:sp>
      <p:sp>
        <p:nvSpPr>
          <p:cNvPr id="22" name="部署五个人人城市">
            <a:extLst xmlns:a="http://schemas.openxmlformats.org/drawingml/2006/main">
              <a:ext uri="{FF2B5EF4-FFF2-40B4-BE49-F238E27FC236}">
                <a16:creationId xmlns:a16="http://schemas.microsoft.com/office/drawing/2014/main" id="{693140CF-2711-40AD-B265-CCEEECC0F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09950"/>
            <a:ext cx="43243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部署五个人人城市</a:t>
            </a:r>
          </a:p>
        </p:txBody>
      </p:sp>
      <p:sp>
        <p:nvSpPr>
          <p:cNvPr id="23" name="可编辑事件连接线">
            <a:extLst xmlns:a="http://schemas.openxmlformats.org/drawingml/2006/main">
              <a:ext uri="{FF2B5EF4-FFF2-40B4-BE49-F238E27FC236}">
                <a16:creationId xmlns:a16="http://schemas.microsoft.com/office/drawing/2014/main" id="{1EF6D7A7-F285-48DA-BE63-C2EE6889D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17156"/>
            <a:ext cx="6477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B9AD"/>
          </a:solidFill>
          <a:ln xmlns:a="http://schemas.openxmlformats.org/drawingml/2006/main" w="0">
            <a:noFill/>
          </a:ln>
        </p:spPr>
      </p:sp>
      <p:sp>
        <p:nvSpPr>
          <p:cNvPr id="24" name="可编辑节点底色">
            <a:extLst xmlns:a="http://schemas.openxmlformats.org/drawingml/2006/main">
              <a:ext uri="{FF2B5EF4-FFF2-40B4-BE49-F238E27FC236}">
                <a16:creationId xmlns:a16="http://schemas.microsoft.com/office/drawing/2014/main" id="{1766395C-95F1-4B80-8B7E-D145F7FC6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8576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F0E9"/>
          </a:solidFill>
          <a:ln xmlns:a="http://schemas.openxmlformats.org/drawingml/2006/main" w="0">
            <a:noFill/>
          </a:ln>
        </p:spPr>
      </p:sp>
      <p:sp>
        <p:nvSpPr>
          <p:cNvPr id="25" name="可编辑年份节点">
            <a:extLst xmlns:a="http://schemas.openxmlformats.org/drawingml/2006/main">
              <a:ext uri="{FF2B5EF4-FFF2-40B4-BE49-F238E27FC236}">
                <a16:creationId xmlns:a16="http://schemas.microsoft.com/office/drawing/2014/main" id="{B903CDAC-33E6-42F1-9F4A-151B83EAF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3138" y="3881438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F3E35"/>
          </a:solidFill>
          <a:ln xmlns:a="http://schemas.openxmlformats.org/drawingml/2006/main" w="0">
            <a:noFill/>
          </a:ln>
        </p:spPr>
      </p:sp>
      <p:sp>
        <p:nvSpPr>
          <p:cNvPr id="26" name="2020.11.12">
            <a:extLst xmlns:a="http://schemas.openxmlformats.org/drawingml/2006/main">
              <a:ext uri="{FF2B5EF4-FFF2-40B4-BE49-F238E27FC236}">
                <a16:creationId xmlns:a16="http://schemas.microsoft.com/office/drawing/2014/main" id="{08E6A759-B20B-4B78-A82C-5E748A108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600450"/>
            <a:ext cx="43243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2020.11.12</a:t>
            </a:r>
          </a:p>
        </p:txBody>
      </p:sp>
      <p:sp>
        <p:nvSpPr>
          <p:cNvPr id="27" name="浦东开发开放30周年">
            <a:extLst xmlns:a="http://schemas.openxmlformats.org/drawingml/2006/main">
              <a:ext uri="{FF2B5EF4-FFF2-40B4-BE49-F238E27FC236}">
                <a16:creationId xmlns:a16="http://schemas.microsoft.com/office/drawing/2014/main" id="{CD4B1920-420A-4ECD-A571-24D6F6BEF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886200"/>
            <a:ext cx="4324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浦东开发开放30周年</a:t>
            </a:r>
          </a:p>
        </p:txBody>
      </p:sp>
      <p:sp>
        <p:nvSpPr>
          <p:cNvPr id="28" name="强调宜居安居与治理">
            <a:extLst xmlns:a="http://schemas.openxmlformats.org/drawingml/2006/main">
              <a:ext uri="{FF2B5EF4-FFF2-40B4-BE49-F238E27FC236}">
                <a16:creationId xmlns:a16="http://schemas.microsoft.com/office/drawing/2014/main" id="{48973029-ACAF-4A73-A3B4-610BE9B7D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210050"/>
            <a:ext cx="43243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强调宜居安居与治理</a:t>
            </a:r>
          </a:p>
        </p:txBody>
      </p:sp>
      <p:sp>
        <p:nvSpPr>
          <p:cNvPr id="29" name="可编辑事件连接线">
            <a:extLst xmlns:a="http://schemas.openxmlformats.org/drawingml/2006/main">
              <a:ext uri="{FF2B5EF4-FFF2-40B4-BE49-F238E27FC236}">
                <a16:creationId xmlns:a16="http://schemas.microsoft.com/office/drawing/2014/main" id="{B5FF84BF-B1E2-4B8F-AE7F-E6393BF55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4717256"/>
            <a:ext cx="6477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B9AD"/>
          </a:solidFill>
          <a:ln xmlns:a="http://schemas.openxmlformats.org/drawingml/2006/main" w="0">
            <a:noFill/>
          </a:ln>
        </p:spPr>
      </p:sp>
      <p:sp>
        <p:nvSpPr>
          <p:cNvPr id="30" name="可编辑节点底色">
            <a:extLst xmlns:a="http://schemas.openxmlformats.org/drawingml/2006/main">
              <a:ext uri="{FF2B5EF4-FFF2-40B4-BE49-F238E27FC236}">
                <a16:creationId xmlns:a16="http://schemas.microsoft.com/office/drawing/2014/main" id="{9904F0FA-83DE-4205-9D9C-E940AC083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6577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F0E9"/>
          </a:solidFill>
          <a:ln xmlns:a="http://schemas.openxmlformats.org/drawingml/2006/main" w="0">
            <a:noFill/>
          </a:ln>
        </p:spPr>
      </p:sp>
      <p:sp>
        <p:nvSpPr>
          <p:cNvPr id="31" name="可编辑年份节点">
            <a:extLst xmlns:a="http://schemas.openxmlformats.org/drawingml/2006/main">
              <a:ext uri="{FF2B5EF4-FFF2-40B4-BE49-F238E27FC236}">
                <a16:creationId xmlns:a16="http://schemas.microsoft.com/office/drawing/2014/main" id="{30703506-66AC-4D3E-9D52-F0F081F96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3138" y="4681538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F3E35"/>
          </a:solidFill>
          <a:ln xmlns:a="http://schemas.openxmlformats.org/drawingml/2006/main" w="0">
            <a:noFill/>
          </a:ln>
        </p:spPr>
      </p:sp>
      <p:sp>
        <p:nvSpPr>
          <p:cNvPr id="32" name="2022.10.16">
            <a:extLst xmlns:a="http://schemas.openxmlformats.org/drawingml/2006/main">
              <a:ext uri="{FF2B5EF4-FFF2-40B4-BE49-F238E27FC236}">
                <a16:creationId xmlns:a16="http://schemas.microsoft.com/office/drawing/2014/main" id="{03A7F58D-B3E0-4FF7-B20C-8E1B3CB3E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00550"/>
            <a:ext cx="43243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2022.10.16</a:t>
            </a:r>
          </a:p>
        </p:txBody>
      </p:sp>
      <p:sp>
        <p:nvSpPr>
          <p:cNvPr id="33" name="党的二十大报告">
            <a:extLst xmlns:a="http://schemas.openxmlformats.org/drawingml/2006/main">
              <a:ext uri="{FF2B5EF4-FFF2-40B4-BE49-F238E27FC236}">
                <a16:creationId xmlns:a16="http://schemas.microsoft.com/office/drawing/2014/main" id="{C85BA38F-A744-464B-96FE-656E58D13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86300"/>
            <a:ext cx="4324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党的二十大报告</a:t>
            </a:r>
          </a:p>
        </p:txBody>
      </p:sp>
      <p:sp>
        <p:nvSpPr>
          <p:cNvPr id="34" name="人民城市理念写入报告">
            <a:extLst xmlns:a="http://schemas.openxmlformats.org/drawingml/2006/main">
              <a:ext uri="{FF2B5EF4-FFF2-40B4-BE49-F238E27FC236}">
                <a16:creationId xmlns:a16="http://schemas.microsoft.com/office/drawing/2014/main" id="{30B20556-150A-413C-BD6C-126D8477E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10150"/>
            <a:ext cx="43243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人民城市理念写入报告</a:t>
            </a:r>
          </a:p>
        </p:txBody>
      </p:sp>
      <p:sp>
        <p:nvSpPr>
          <p:cNvPr id="35" name="可编辑事件连接线">
            <a:extLst xmlns:a="http://schemas.openxmlformats.org/drawingml/2006/main">
              <a:ext uri="{FF2B5EF4-FFF2-40B4-BE49-F238E27FC236}">
                <a16:creationId xmlns:a16="http://schemas.microsoft.com/office/drawing/2014/main" id="{761BB6F0-0580-406F-9473-F51B06FEF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517356"/>
            <a:ext cx="6477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B9AD"/>
          </a:solidFill>
          <a:ln xmlns:a="http://schemas.openxmlformats.org/drawingml/2006/main" w="0">
            <a:noFill/>
          </a:ln>
        </p:spPr>
      </p:sp>
      <p:sp>
        <p:nvSpPr>
          <p:cNvPr id="36" name="可编辑节点底色">
            <a:extLst xmlns:a="http://schemas.openxmlformats.org/drawingml/2006/main">
              <a:ext uri="{FF2B5EF4-FFF2-40B4-BE49-F238E27FC236}">
                <a16:creationId xmlns:a16="http://schemas.microsoft.com/office/drawing/2014/main" id="{FDF3E454-F6A6-413E-8881-72F1DAC61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4578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F0E9"/>
          </a:solidFill>
          <a:ln xmlns:a="http://schemas.openxmlformats.org/drawingml/2006/main" w="0">
            <a:noFill/>
          </a:ln>
        </p:spPr>
      </p:sp>
      <p:sp>
        <p:nvSpPr>
          <p:cNvPr id="37" name="可编辑年份节点">
            <a:extLst xmlns:a="http://schemas.openxmlformats.org/drawingml/2006/main">
              <a:ext uri="{FF2B5EF4-FFF2-40B4-BE49-F238E27FC236}">
                <a16:creationId xmlns:a16="http://schemas.microsoft.com/office/drawing/2014/main" id="{DD8FB028-F1C9-4939-919E-5BA427C07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3138" y="5481638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F3E35"/>
          </a:solidFill>
          <a:ln xmlns:a="http://schemas.openxmlformats.org/drawingml/2006/main" w="0">
            <a:noFill/>
          </a:ln>
        </p:spPr>
      </p:sp>
      <p:sp>
        <p:nvSpPr>
          <p:cNvPr id="38" name="2023.11—12">
            <a:extLst xmlns:a="http://schemas.openxmlformats.org/drawingml/2006/main">
              <a:ext uri="{FF2B5EF4-FFF2-40B4-BE49-F238E27FC236}">
                <a16:creationId xmlns:a16="http://schemas.microsoft.com/office/drawing/2014/main" id="{5A8A4238-39F1-4146-8872-06980F622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5200650"/>
            <a:ext cx="43243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2023.11—12</a:t>
            </a:r>
          </a:p>
        </p:txBody>
      </p:sp>
      <p:sp>
        <p:nvSpPr>
          <p:cNvPr id="39" name="上海考察">
            <a:extLst xmlns:a="http://schemas.openxmlformats.org/drawingml/2006/main">
              <a:ext uri="{FF2B5EF4-FFF2-40B4-BE49-F238E27FC236}">
                <a16:creationId xmlns:a16="http://schemas.microsoft.com/office/drawing/2014/main" id="{97B34D12-9B01-4EF4-8063-01C32EF8A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5486400"/>
            <a:ext cx="4324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上海考察</a:t>
            </a:r>
          </a:p>
        </p:txBody>
      </p:sp>
      <p:sp>
        <p:nvSpPr>
          <p:cNvPr id="40" name="关注城市建设者住房">
            <a:extLst xmlns:a="http://schemas.openxmlformats.org/drawingml/2006/main">
              <a:ext uri="{FF2B5EF4-FFF2-40B4-BE49-F238E27FC236}">
                <a16:creationId xmlns:a16="http://schemas.microsoft.com/office/drawing/2014/main" id="{5979CA66-0688-4EAD-A58D-C1BB6BEBB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5810250"/>
            <a:ext cx="43243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关注城市建设者住房</a:t>
            </a:r>
          </a:p>
        </p:txBody>
      </p:sp>
      <p:pic>
        <p:nvPicPr>
          <p:cNvPr id="41" name="Rive时间线动画（移走后编辑下层）">
            <a:extLst xmlns:a="http://schemas.openxmlformats.org/drawingml/2006/main">
              <a:ext uri="{FF2B5EF4-FFF2-40B4-BE49-F238E27FC236}">
                <a16:creationId xmlns:a16="http://schemas.microsoft.com/office/drawing/2014/main" id="{20B77283-B914-4284-9B4A-A53546FE6B8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47485d97f3472c"/>
          <a:stretch xmlns:a="http://schemas.openxmlformats.org/drawingml/2006/main"/>
        </p:blipFill>
        <p:spPr>
          <a:xfrm xmlns:a="http://schemas.openxmlformats.org/drawingml/2006/main">
            <a:off x="571500" y="1104900"/>
            <a:ext cx="11049000" cy="5048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345613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0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人民城市的政策时间线 2024至2026">
            <a:extLst xmlns:a="http://schemas.openxmlformats.org/drawingml/2006/main">
              <a:ext uri="{FF2B5EF4-FFF2-40B4-BE49-F238E27FC236}">
                <a16:creationId xmlns:a16="http://schemas.microsoft.com/office/drawing/2014/main" id="{0B5FEB91-74B4-40C7-9038-A618A842D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 xmlns:a="http://schemas.openxmlformats.org/drawingml/2006/main">
            <a: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人民城市的政策时间线 2024至2026</a:t>
            </a:r>
          </a:p>
        </p:txBody>
      </p:sp>
      <p:sp>
        <p:nvSpPr>
          <p:cNvPr id="2" name="来源：新华社、上海市委、《求是》、中央文件；完整链接与日期说明见备注">
            <a:extLst xmlns:a="http://schemas.openxmlformats.org/drawingml/2006/main">
              <a:ext uri="{FF2B5EF4-FFF2-40B4-BE49-F238E27FC236}">
                <a16:creationId xmlns:a16="http://schemas.microsoft.com/office/drawing/2014/main" id="{E857543B-3366-4778-A6AC-70F2B4022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29350"/>
            <a:ext cx="10525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来源：新华社、上海市委、《求是》、中央文件；完整链接与日期说明见备注</a:t>
            </a:r>
          </a:p>
        </p:txBody>
      </p:sp>
      <p:sp>
        <p:nvSpPr>
          <p:cNvPr id="3" name="05">
            <a:extLst xmlns:a="http://schemas.openxmlformats.org/drawingml/2006/main">
              <a:ext uri="{FF2B5EF4-FFF2-40B4-BE49-F238E27FC236}">
                <a16:creationId xmlns:a16="http://schemas.microsoft.com/office/drawing/2014/main" id="{C564F83F-33E3-4BE7-B132-4D64AC903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05</a:t>
            </a:r>
          </a:p>
        </p:txBody>
      </p:sp>
      <p:sp>
        <p:nvSpPr>
          <p:cNvPr id="4" name="可编辑纵轴">
            <a:extLst xmlns:a="http://schemas.openxmlformats.org/drawingml/2006/main">
              <a:ext uri="{FF2B5EF4-FFF2-40B4-BE49-F238E27FC236}">
                <a16:creationId xmlns:a16="http://schemas.microsoft.com/office/drawing/2014/main" id="{D7034A26-6022-41D6-9BAC-3C4C6AD49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1713" y="1238250"/>
            <a:ext cx="28575" cy="457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3E35"/>
          </a:solidFill>
          <a:ln xmlns:a="http://schemas.openxmlformats.org/drawingml/2006/main" w="0">
            <a:noFill/>
          </a:ln>
        </p:spPr>
      </p:sp>
      <p:sp>
        <p:nvSpPr>
          <p:cNvPr id="5" name="可编辑事件连接线">
            <a:extLst xmlns:a="http://schemas.openxmlformats.org/drawingml/2006/main">
              <a:ext uri="{FF2B5EF4-FFF2-40B4-BE49-F238E27FC236}">
                <a16:creationId xmlns:a16="http://schemas.microsoft.com/office/drawing/2014/main" id="{9A2F2206-E27C-4248-9CAC-206026179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1516856"/>
            <a:ext cx="6477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B9AD"/>
          </a:solidFill>
          <a:ln xmlns:a="http://schemas.openxmlformats.org/drawingml/2006/main" w="0">
            <a:noFill/>
          </a:ln>
        </p:spPr>
      </p:sp>
      <p:sp>
        <p:nvSpPr>
          <p:cNvPr id="6" name="可编辑节点底色">
            <a:extLst xmlns:a="http://schemas.openxmlformats.org/drawingml/2006/main">
              <a:ext uri="{FF2B5EF4-FFF2-40B4-BE49-F238E27FC236}">
                <a16:creationId xmlns:a16="http://schemas.microsoft.com/office/drawing/2014/main" id="{FEA0CCB3-AE50-4112-9CBA-4FABCBC8F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14573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F0E9"/>
          </a:solidFill>
          <a:ln xmlns:a="http://schemas.openxmlformats.org/drawingml/2006/main" w="0">
            <a:noFill/>
          </a:ln>
        </p:spPr>
      </p:sp>
      <p:sp>
        <p:nvSpPr>
          <p:cNvPr id="7" name="可编辑年份节点">
            <a:extLst xmlns:a="http://schemas.openxmlformats.org/drawingml/2006/main">
              <a:ext uri="{FF2B5EF4-FFF2-40B4-BE49-F238E27FC236}">
                <a16:creationId xmlns:a16="http://schemas.microsoft.com/office/drawing/2014/main" id="{4062E9BA-6A2E-4E00-951B-3391C8533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3138" y="1481138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F3E35"/>
          </a:solidFill>
          <a:ln xmlns:a="http://schemas.openxmlformats.org/drawingml/2006/main" w="0">
            <a:noFill/>
          </a:ln>
        </p:spPr>
      </p:sp>
      <p:sp>
        <p:nvSpPr>
          <p:cNvPr id="8" name="2024.07.18">
            <a:extLst xmlns:a="http://schemas.openxmlformats.org/drawingml/2006/main">
              <a:ext uri="{FF2B5EF4-FFF2-40B4-BE49-F238E27FC236}">
                <a16:creationId xmlns:a16="http://schemas.microsoft.com/office/drawing/2014/main" id="{E7CA26CA-FF28-484F-9CBD-A56A09C89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00150"/>
            <a:ext cx="43243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2024.07.18</a:t>
            </a:r>
          </a:p>
        </p:txBody>
      </p:sp>
      <p:sp>
        <p:nvSpPr>
          <p:cNvPr id="9" name="二十届三中全会">
            <a:extLst xmlns:a="http://schemas.openxmlformats.org/drawingml/2006/main">
              <a:ext uri="{FF2B5EF4-FFF2-40B4-BE49-F238E27FC236}">
                <a16:creationId xmlns:a16="http://schemas.microsoft.com/office/drawing/2014/main" id="{7016156D-406C-4710-A55E-27D294889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485900"/>
            <a:ext cx="4324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二十届三中全会</a:t>
            </a:r>
          </a:p>
        </p:txBody>
      </p:sp>
      <p:sp>
        <p:nvSpPr>
          <p:cNvPr id="10" name="城市更新与治理改革">
            <a:extLst xmlns:a="http://schemas.openxmlformats.org/drawingml/2006/main">
              <a:ext uri="{FF2B5EF4-FFF2-40B4-BE49-F238E27FC236}">
                <a16:creationId xmlns:a16="http://schemas.microsoft.com/office/drawing/2014/main" id="{CB1C4E86-F1C6-42F6-A256-ACEDE72D0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09750"/>
            <a:ext cx="43243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城市更新与治理改革</a:t>
            </a:r>
          </a:p>
        </p:txBody>
      </p:sp>
      <p:sp>
        <p:nvSpPr>
          <p:cNvPr id="11" name="可编辑事件连接线">
            <a:extLst xmlns:a="http://schemas.openxmlformats.org/drawingml/2006/main">
              <a:ext uri="{FF2B5EF4-FFF2-40B4-BE49-F238E27FC236}">
                <a16:creationId xmlns:a16="http://schemas.microsoft.com/office/drawing/2014/main" id="{77E673EB-0524-43E6-BAB9-564C6324B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316956"/>
            <a:ext cx="6477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B9AD"/>
          </a:solidFill>
          <a:ln xmlns:a="http://schemas.openxmlformats.org/drawingml/2006/main" w="0">
            <a:noFill/>
          </a:ln>
        </p:spPr>
      </p:sp>
      <p:sp>
        <p:nvSpPr>
          <p:cNvPr id="12" name="可编辑节点底色">
            <a:extLst xmlns:a="http://schemas.openxmlformats.org/drawingml/2006/main">
              <a:ext uri="{FF2B5EF4-FFF2-40B4-BE49-F238E27FC236}">
                <a16:creationId xmlns:a16="http://schemas.microsoft.com/office/drawing/2014/main" id="{C09F4557-83D2-4C15-9B23-F8E5FEE36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2574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F0E9"/>
          </a:solidFill>
          <a:ln xmlns:a="http://schemas.openxmlformats.org/drawingml/2006/main" w="0">
            <a:noFill/>
          </a:ln>
        </p:spPr>
      </p:sp>
      <p:sp>
        <p:nvSpPr>
          <p:cNvPr id="13" name="可编辑年份节点">
            <a:extLst xmlns:a="http://schemas.openxmlformats.org/drawingml/2006/main">
              <a:ext uri="{FF2B5EF4-FFF2-40B4-BE49-F238E27FC236}">
                <a16:creationId xmlns:a16="http://schemas.microsoft.com/office/drawing/2014/main" id="{423E4772-1EB2-40FA-B50A-2DF02423A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3138" y="2281238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F3E35"/>
          </a:solidFill>
          <a:ln xmlns:a="http://schemas.openxmlformats.org/drawingml/2006/main" w="0">
            <a:noFill/>
          </a:ln>
        </p:spPr>
      </p:sp>
      <p:sp>
        <p:nvSpPr>
          <p:cNvPr id="14" name="2024.11.02">
            <a:extLst xmlns:a="http://schemas.openxmlformats.org/drawingml/2006/main">
              <a:ext uri="{FF2B5EF4-FFF2-40B4-BE49-F238E27FC236}">
                <a16:creationId xmlns:a16="http://schemas.microsoft.com/office/drawing/2014/main" id="{ED42A8B0-6DFB-4507-BD7A-5A35D66F2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000250"/>
            <a:ext cx="43243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2024.11.02</a:t>
            </a:r>
          </a:p>
        </p:txBody>
      </p:sp>
      <p:sp>
        <p:nvSpPr>
          <p:cNvPr id="15" name="上海市委署名文章">
            <a:extLst xmlns:a="http://schemas.openxmlformats.org/drawingml/2006/main">
              <a:ext uri="{FF2B5EF4-FFF2-40B4-BE49-F238E27FC236}">
                <a16:creationId xmlns:a16="http://schemas.microsoft.com/office/drawing/2014/main" id="{723698B1-3202-4B46-B7AD-D93139254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286000"/>
            <a:ext cx="4324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上海市委署名文章</a:t>
            </a:r>
          </a:p>
        </p:txBody>
      </p:sp>
      <p:sp>
        <p:nvSpPr>
          <p:cNvPr id="16" name="总结理念提出五年实践">
            <a:extLst xmlns:a="http://schemas.openxmlformats.org/drawingml/2006/main">
              <a:ext uri="{FF2B5EF4-FFF2-40B4-BE49-F238E27FC236}">
                <a16:creationId xmlns:a16="http://schemas.microsoft.com/office/drawing/2014/main" id="{8A50FFD1-DC6F-427F-ADBC-40F66713E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609850"/>
            <a:ext cx="43243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总结理念提出五年实践</a:t>
            </a:r>
          </a:p>
        </p:txBody>
      </p:sp>
      <p:sp>
        <p:nvSpPr>
          <p:cNvPr id="17" name="可编辑事件连接线">
            <a:extLst xmlns:a="http://schemas.openxmlformats.org/drawingml/2006/main">
              <a:ext uri="{FF2B5EF4-FFF2-40B4-BE49-F238E27FC236}">
                <a16:creationId xmlns:a16="http://schemas.microsoft.com/office/drawing/2014/main" id="{041A7B39-D1B6-43D3-99CC-1B3F1F635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117056"/>
            <a:ext cx="6477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B9AD"/>
          </a:solidFill>
          <a:ln xmlns:a="http://schemas.openxmlformats.org/drawingml/2006/main" w="0">
            <a:noFill/>
          </a:ln>
        </p:spPr>
      </p:sp>
      <p:sp>
        <p:nvSpPr>
          <p:cNvPr id="18" name="可编辑节点底色">
            <a:extLst xmlns:a="http://schemas.openxmlformats.org/drawingml/2006/main">
              <a:ext uri="{FF2B5EF4-FFF2-40B4-BE49-F238E27FC236}">
                <a16:creationId xmlns:a16="http://schemas.microsoft.com/office/drawing/2014/main" id="{EC5BA332-ABF1-45F0-B591-F50C35CB7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0575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F0E9"/>
          </a:solidFill>
          <a:ln xmlns:a="http://schemas.openxmlformats.org/drawingml/2006/main" w="0">
            <a:noFill/>
          </a:ln>
        </p:spPr>
      </p:sp>
      <p:sp>
        <p:nvSpPr>
          <p:cNvPr id="19" name="可编辑年份节点">
            <a:extLst xmlns:a="http://schemas.openxmlformats.org/drawingml/2006/main">
              <a:ext uri="{FF2B5EF4-FFF2-40B4-BE49-F238E27FC236}">
                <a16:creationId xmlns:a16="http://schemas.microsoft.com/office/drawing/2014/main" id="{C06257E7-E160-4A23-AE3B-6496FE19C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3138" y="3081338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F3E35"/>
          </a:solidFill>
          <a:ln xmlns:a="http://schemas.openxmlformats.org/drawingml/2006/main" w="0">
            <a:noFill/>
          </a:ln>
        </p:spPr>
      </p:sp>
      <p:sp>
        <p:nvSpPr>
          <p:cNvPr id="20" name="2024.11.04报道">
            <a:extLst xmlns:a="http://schemas.openxmlformats.org/drawingml/2006/main">
              <a:ext uri="{FF2B5EF4-FFF2-40B4-BE49-F238E27FC236}">
                <a16:creationId xmlns:a16="http://schemas.microsoft.com/office/drawing/2014/main" id="{B667E4AF-4256-4549-A04C-1E50BADD9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00350"/>
            <a:ext cx="43243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2024.11.04报道</a:t>
            </a:r>
          </a:p>
        </p:txBody>
      </p:sp>
      <p:sp>
        <p:nvSpPr>
          <p:cNvPr id="21" name="老杨树宣讲汇回信">
            <a:extLst xmlns:a="http://schemas.openxmlformats.org/drawingml/2006/main">
              <a:ext uri="{FF2B5EF4-FFF2-40B4-BE49-F238E27FC236}">
                <a16:creationId xmlns:a16="http://schemas.microsoft.com/office/drawing/2014/main" id="{2EB1A50C-6744-4C7E-B4BB-848F9E152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86100"/>
            <a:ext cx="4324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老杨树宣讲汇回信</a:t>
            </a:r>
          </a:p>
        </p:txBody>
      </p:sp>
      <p:sp>
        <p:nvSpPr>
          <p:cNvPr id="22" name="鼓励市民参与城市治理">
            <a:extLst xmlns:a="http://schemas.openxmlformats.org/drawingml/2006/main">
              <a:ext uri="{FF2B5EF4-FFF2-40B4-BE49-F238E27FC236}">
                <a16:creationId xmlns:a16="http://schemas.microsoft.com/office/drawing/2014/main" id="{CA91E6CA-6614-44C2-A2DF-BC5B76FF6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09950"/>
            <a:ext cx="43243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鼓励市民参与城市治理</a:t>
            </a:r>
          </a:p>
        </p:txBody>
      </p:sp>
      <p:sp>
        <p:nvSpPr>
          <p:cNvPr id="23" name="可编辑事件连接线">
            <a:extLst xmlns:a="http://schemas.openxmlformats.org/drawingml/2006/main">
              <a:ext uri="{FF2B5EF4-FFF2-40B4-BE49-F238E27FC236}">
                <a16:creationId xmlns:a16="http://schemas.microsoft.com/office/drawing/2014/main" id="{0D201E69-0F2E-4EA1-87F6-C8FC7287A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17156"/>
            <a:ext cx="6477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B9AD"/>
          </a:solidFill>
          <a:ln xmlns:a="http://schemas.openxmlformats.org/drawingml/2006/main" w="0">
            <a:noFill/>
          </a:ln>
        </p:spPr>
      </p:sp>
      <p:sp>
        <p:nvSpPr>
          <p:cNvPr id="24" name="可编辑节点底色">
            <a:extLst xmlns:a="http://schemas.openxmlformats.org/drawingml/2006/main">
              <a:ext uri="{FF2B5EF4-FFF2-40B4-BE49-F238E27FC236}">
                <a16:creationId xmlns:a16="http://schemas.microsoft.com/office/drawing/2014/main" id="{9CC94D18-9B0F-4B07-A74B-2F82C4305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8576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F0E9"/>
          </a:solidFill>
          <a:ln xmlns:a="http://schemas.openxmlformats.org/drawingml/2006/main" w="0">
            <a:noFill/>
          </a:ln>
        </p:spPr>
      </p:sp>
      <p:sp>
        <p:nvSpPr>
          <p:cNvPr id="25" name="可编辑年份节点">
            <a:extLst xmlns:a="http://schemas.openxmlformats.org/drawingml/2006/main">
              <a:ext uri="{FF2B5EF4-FFF2-40B4-BE49-F238E27FC236}">
                <a16:creationId xmlns:a16="http://schemas.microsoft.com/office/drawing/2014/main" id="{4D047978-E096-4362-885E-AEE1B9BF4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3138" y="3881438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F3E35"/>
          </a:solidFill>
          <a:ln xmlns:a="http://schemas.openxmlformats.org/drawingml/2006/main" w="0">
            <a:noFill/>
          </a:ln>
        </p:spPr>
      </p:sp>
      <p:sp>
        <p:nvSpPr>
          <p:cNvPr id="26" name="2025.07.14—15">
            <a:extLst xmlns:a="http://schemas.openxmlformats.org/drawingml/2006/main">
              <a:ext uri="{FF2B5EF4-FFF2-40B4-BE49-F238E27FC236}">
                <a16:creationId xmlns:a16="http://schemas.microsoft.com/office/drawing/2014/main" id="{4A0427DC-7193-4968-9B80-CE8F11196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600450"/>
            <a:ext cx="43243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2025.07.14—15</a:t>
            </a:r>
          </a:p>
        </p:txBody>
      </p:sp>
      <p:sp>
        <p:nvSpPr>
          <p:cNvPr id="27" name="中央城市工作会议">
            <a:extLst xmlns:a="http://schemas.openxmlformats.org/drawingml/2006/main">
              <a:ext uri="{FF2B5EF4-FFF2-40B4-BE49-F238E27FC236}">
                <a16:creationId xmlns:a16="http://schemas.microsoft.com/office/drawing/2014/main" id="{C3CDAC31-7F71-42FE-BBE1-CF01D081E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886200"/>
            <a:ext cx="4324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中央城市工作会议</a:t>
            </a:r>
          </a:p>
        </p:txBody>
      </p:sp>
      <p:sp>
        <p:nvSpPr>
          <p:cNvPr id="28" name="建设现代化人民城市">
            <a:extLst xmlns:a="http://schemas.openxmlformats.org/drawingml/2006/main">
              <a:ext uri="{FF2B5EF4-FFF2-40B4-BE49-F238E27FC236}">
                <a16:creationId xmlns:a16="http://schemas.microsoft.com/office/drawing/2014/main" id="{CA1C7D28-64F1-406D-B96A-26B5F2F99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210050"/>
            <a:ext cx="43243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建设现代化人民城市</a:t>
            </a:r>
          </a:p>
        </p:txBody>
      </p:sp>
      <p:sp>
        <p:nvSpPr>
          <p:cNvPr id="29" name="可编辑事件连接线">
            <a:extLst xmlns:a="http://schemas.openxmlformats.org/drawingml/2006/main">
              <a:ext uri="{FF2B5EF4-FFF2-40B4-BE49-F238E27FC236}">
                <a16:creationId xmlns:a16="http://schemas.microsoft.com/office/drawing/2014/main" id="{9E9D114B-DD61-4F0B-894F-1EE0DB371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4717256"/>
            <a:ext cx="6477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B9AD"/>
          </a:solidFill>
          <a:ln xmlns:a="http://schemas.openxmlformats.org/drawingml/2006/main" w="0">
            <a:noFill/>
          </a:ln>
        </p:spPr>
      </p:sp>
      <p:sp>
        <p:nvSpPr>
          <p:cNvPr id="30" name="可编辑节点底色">
            <a:extLst xmlns:a="http://schemas.openxmlformats.org/drawingml/2006/main">
              <a:ext uri="{FF2B5EF4-FFF2-40B4-BE49-F238E27FC236}">
                <a16:creationId xmlns:a16="http://schemas.microsoft.com/office/drawing/2014/main" id="{3AF91812-4CB2-47FD-99F5-275221235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6577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F0E9"/>
          </a:solidFill>
          <a:ln xmlns:a="http://schemas.openxmlformats.org/drawingml/2006/main" w="0">
            <a:noFill/>
          </a:ln>
        </p:spPr>
      </p:sp>
      <p:sp>
        <p:nvSpPr>
          <p:cNvPr id="31" name="可编辑年份节点">
            <a:extLst xmlns:a="http://schemas.openxmlformats.org/drawingml/2006/main">
              <a:ext uri="{FF2B5EF4-FFF2-40B4-BE49-F238E27FC236}">
                <a16:creationId xmlns:a16="http://schemas.microsoft.com/office/drawing/2014/main" id="{08E7C3C3-0DC2-45B8-89C0-16F58B783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3138" y="4681538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F3E35"/>
          </a:solidFill>
          <a:ln xmlns:a="http://schemas.openxmlformats.org/drawingml/2006/main" w="0">
            <a:noFill/>
          </a:ln>
        </p:spPr>
      </p:sp>
      <p:sp>
        <p:nvSpPr>
          <p:cNvPr id="32" name="2025.08.15落款">
            <a:extLst xmlns:a="http://schemas.openxmlformats.org/drawingml/2006/main">
              <a:ext uri="{FF2B5EF4-FFF2-40B4-BE49-F238E27FC236}">
                <a16:creationId xmlns:a16="http://schemas.microsoft.com/office/drawing/2014/main" id="{0AFB8DE7-536F-4834-B09E-89F891BA8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00550"/>
            <a:ext cx="43243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2025.08.15落款</a:t>
            </a:r>
          </a:p>
        </p:txBody>
      </p:sp>
      <p:sp>
        <p:nvSpPr>
          <p:cNvPr id="33" name="城市高质量发展意见">
            <a:extLst xmlns:a="http://schemas.openxmlformats.org/drawingml/2006/main">
              <a:ext uri="{FF2B5EF4-FFF2-40B4-BE49-F238E27FC236}">
                <a16:creationId xmlns:a16="http://schemas.microsoft.com/office/drawing/2014/main" id="{FFA77713-833B-4C95-AE20-9E259431E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86300"/>
            <a:ext cx="4324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城市高质量发展意见</a:t>
            </a:r>
          </a:p>
        </p:txBody>
      </p:sp>
      <p:sp>
        <p:nvSpPr>
          <p:cNvPr id="34" name="明确2030和2035年目标">
            <a:extLst xmlns:a="http://schemas.openxmlformats.org/drawingml/2006/main">
              <a:ext uri="{FF2B5EF4-FFF2-40B4-BE49-F238E27FC236}">
                <a16:creationId xmlns:a16="http://schemas.microsoft.com/office/drawing/2014/main" id="{DA2C141A-3165-4B58-8745-BB4314B29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10150"/>
            <a:ext cx="43243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明确2030和2035年目标</a:t>
            </a:r>
          </a:p>
        </p:txBody>
      </p:sp>
      <p:sp>
        <p:nvSpPr>
          <p:cNvPr id="35" name="可编辑事件连接线">
            <a:extLst xmlns:a="http://schemas.openxmlformats.org/drawingml/2006/main">
              <a:ext uri="{FF2B5EF4-FFF2-40B4-BE49-F238E27FC236}">
                <a16:creationId xmlns:a16="http://schemas.microsoft.com/office/drawing/2014/main" id="{0BB62A05-9F53-4B51-9A47-587C24F08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517356"/>
            <a:ext cx="6477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B9AD"/>
          </a:solidFill>
          <a:ln xmlns:a="http://schemas.openxmlformats.org/drawingml/2006/main" w="0">
            <a:noFill/>
          </a:ln>
        </p:spPr>
      </p:sp>
      <p:sp>
        <p:nvSpPr>
          <p:cNvPr id="36" name="可编辑节点底色">
            <a:extLst xmlns:a="http://schemas.openxmlformats.org/drawingml/2006/main">
              <a:ext uri="{FF2B5EF4-FFF2-40B4-BE49-F238E27FC236}">
                <a16:creationId xmlns:a16="http://schemas.microsoft.com/office/drawing/2014/main" id="{976DF896-CDFE-4E52-92E6-C1AF5E09D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4578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F0E9"/>
          </a:solidFill>
          <a:ln xmlns:a="http://schemas.openxmlformats.org/drawingml/2006/main" w="0">
            <a:noFill/>
          </a:ln>
        </p:spPr>
      </p:sp>
      <p:sp>
        <p:nvSpPr>
          <p:cNvPr id="37" name="可编辑年份节点">
            <a:extLst xmlns:a="http://schemas.openxmlformats.org/drawingml/2006/main">
              <a:ext uri="{FF2B5EF4-FFF2-40B4-BE49-F238E27FC236}">
                <a16:creationId xmlns:a16="http://schemas.microsoft.com/office/drawing/2014/main" id="{9670623A-81DE-4997-AB56-88CF20034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3138" y="5481638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F3E35"/>
          </a:solidFill>
          <a:ln xmlns:a="http://schemas.openxmlformats.org/drawingml/2006/main" w="0">
            <a:noFill/>
          </a:ln>
        </p:spPr>
      </p:sp>
      <p:sp>
        <p:nvSpPr>
          <p:cNvPr id="38" name="2026.07.15">
            <a:extLst xmlns:a="http://schemas.openxmlformats.org/drawingml/2006/main">
              <a:ext uri="{FF2B5EF4-FFF2-40B4-BE49-F238E27FC236}">
                <a16:creationId xmlns:a16="http://schemas.microsoft.com/office/drawing/2014/main" id="{64CA3B64-0E99-4B49-896D-FD41FDB70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5200650"/>
            <a:ext cx="43243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2026.07.15</a:t>
            </a:r>
          </a:p>
        </p:txBody>
      </p:sp>
      <p:sp>
        <p:nvSpPr>
          <p:cNvPr id="39" name="上海市民新村考察">
            <a:extLst xmlns:a="http://schemas.openxmlformats.org/drawingml/2006/main">
              <a:ext uri="{FF2B5EF4-FFF2-40B4-BE49-F238E27FC236}">
                <a16:creationId xmlns:a16="http://schemas.microsoft.com/office/drawing/2014/main" id="{28AAEA69-757D-41D4-A784-E317532BE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5486400"/>
            <a:ext cx="4324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上海市民新村考察</a:t>
            </a:r>
          </a:p>
        </p:txBody>
      </p:sp>
      <p:sp>
        <p:nvSpPr>
          <p:cNvPr id="40" name="更新问需问计问效于民">
            <a:extLst xmlns:a="http://schemas.openxmlformats.org/drawingml/2006/main">
              <a:ext uri="{FF2B5EF4-FFF2-40B4-BE49-F238E27FC236}">
                <a16:creationId xmlns:a16="http://schemas.microsoft.com/office/drawing/2014/main" id="{F7534852-5A55-41CC-8B0B-67EFC2082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5810250"/>
            <a:ext cx="43243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更新问需问计问效于民</a:t>
            </a:r>
          </a:p>
        </p:txBody>
      </p:sp>
      <p:pic>
        <p:nvPicPr>
          <p:cNvPr id="41" name="Rive时间线动画（移走后编辑下层）">
            <a:extLst xmlns:a="http://schemas.openxmlformats.org/drawingml/2006/main">
              <a:ext uri="{FF2B5EF4-FFF2-40B4-BE49-F238E27FC236}">
                <a16:creationId xmlns:a16="http://schemas.microsoft.com/office/drawing/2014/main" id="{80F105DF-D283-4F61-90FC-7BBC8DC80C4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2a285f56094df6"/>
          <a:stretch xmlns:a="http://schemas.openxmlformats.org/drawingml/2006/main"/>
        </p:blipFill>
        <p:spPr>
          <a:xfrm xmlns:a="http://schemas.openxmlformats.org/drawingml/2006/main">
            <a:off x="571500" y="1104900"/>
            <a:ext cx="11049000" cy="5048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2211156"/>
      </p:ext>
    </p:extLst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15分钟生活圈中的六类服务">
            <a:extLst>
              <a:ext uri="{FF2B5EF4-FFF2-40B4-BE49-F238E27FC236}">
                <a16:creationId xmlns:a16="http://schemas.microsoft.com/office/drawing/2014/main" id="{FEA92B58-648C-47A6-BED4-84E50EEBF3D7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15分钟生活圈中的六类服务</a:t>
            </a:r>
          </a:p>
        </p:txBody>
      </p:sp>
      <p:sp>
        <p:nvSpPr>
          <p:cNvPr id="2" name="选取范围：社区公共服务；健身限市民健身中心分类">
            <a:extLst>
              <a:ext uri="{FF2B5EF4-FFF2-40B4-BE49-F238E27FC236}">
                <a16:creationId xmlns:a16="http://schemas.microsoft.com/office/drawing/2014/main" id="{B2DB1CF4-8D1C-4A22-86BB-1370B938FCB1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选取范围：社区公共服务；健身限市民健身中心分类</a:t>
            </a:r>
          </a:p>
        </p:txBody>
      </p:sp>
      <p:sp>
        <p:nvSpPr>
          <p:cNvPr id="3" name="06">
            <a:extLst>
              <a:ext uri="{FF2B5EF4-FFF2-40B4-BE49-F238E27FC236}">
                <a16:creationId xmlns:a16="http://schemas.microsoft.com/office/drawing/2014/main" id="{6AEF28E7-0BB8-4780-9C28-F338932CD471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06</a:t>
            </a:r>
          </a:p>
        </p:txBody>
      </p:sp>
      <p:sp>
        <p:nvSpPr>
          <p:cNvPr id="4" name="社区长者食堂">
            <a:extLst>
              <a:ext uri="{FF2B5EF4-FFF2-40B4-BE49-F238E27FC236}">
                <a16:creationId xmlns:a16="http://schemas.microsoft.com/office/drawing/2014/main" id="{8F7A9C1D-B91C-41DC-8E1E-45DB1B381435}"/>
              </a:ext>
            </a:extLst>
          </p:cNvPr>
          <p:cNvSpPr>
            <a:spLocks noGrp="1"/>
          </p:cNvSpPr>
          <p:nvPr/>
        </p:nvSpPr>
        <p:spPr>
          <a:xfrm>
            <a:off x="571500" y="1524000"/>
            <a:ext cx="5238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社区长者食堂</a:t>
            </a:r>
          </a:p>
        </p:txBody>
      </p:sp>
      <p:sp>
        <p:nvSpPr>
          <p:cNvPr id="5" name="用餐与老年助餐">
            <a:extLst>
              <a:ext uri="{FF2B5EF4-FFF2-40B4-BE49-F238E27FC236}">
                <a16:creationId xmlns:a16="http://schemas.microsoft.com/office/drawing/2014/main" id="{D9382C7C-27DF-4CA6-A627-9EB2CF8E48E4}"/>
              </a:ext>
            </a:extLst>
          </p:cNvPr>
          <p:cNvSpPr>
            <a:spLocks noGrp="1"/>
          </p:cNvSpPr>
          <p:nvPr/>
        </p:nvSpPr>
        <p:spPr>
          <a:xfrm>
            <a:off x="571500" y="2114550"/>
            <a:ext cx="5238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用餐与老年助餐</a:t>
            </a:r>
          </a:p>
        </p:txBody>
      </p:sp>
      <p:sp>
        <p:nvSpPr>
          <p:cNvPr id="6" name="图书馆服务网点">
            <a:extLst>
              <a:ext uri="{FF2B5EF4-FFF2-40B4-BE49-F238E27FC236}">
                <a16:creationId xmlns:a16="http://schemas.microsoft.com/office/drawing/2014/main" id="{DB6E92CB-87B0-4103-9097-C632A64E2FE7}"/>
              </a:ext>
            </a:extLst>
          </p:cNvPr>
          <p:cNvSpPr>
            <a:spLocks noGrp="1"/>
          </p:cNvSpPr>
          <p:nvPr/>
        </p:nvSpPr>
        <p:spPr>
          <a:xfrm>
            <a:off x="6381750" y="1524000"/>
            <a:ext cx="5238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图书馆服务网点</a:t>
            </a:r>
          </a:p>
        </p:txBody>
      </p:sp>
      <p:sp>
        <p:nvSpPr>
          <p:cNvPr id="7" name="借阅、阅读与学习空间">
            <a:extLst>
              <a:ext uri="{FF2B5EF4-FFF2-40B4-BE49-F238E27FC236}">
                <a16:creationId xmlns:a16="http://schemas.microsoft.com/office/drawing/2014/main" id="{5BC56C98-256D-4548-866A-B2605A5F6CF7}"/>
              </a:ext>
            </a:extLst>
          </p:cNvPr>
          <p:cNvSpPr>
            <a:spLocks noGrp="1"/>
          </p:cNvSpPr>
          <p:nvPr/>
        </p:nvSpPr>
        <p:spPr>
          <a:xfrm>
            <a:off x="6381750" y="2114550"/>
            <a:ext cx="5238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借阅、阅读与学习空间</a:t>
            </a:r>
          </a:p>
        </p:txBody>
      </p:sp>
      <p:sp>
        <p:nvSpPr>
          <p:cNvPr id="8" name="市民健身中心">
            <a:extLst>
              <a:ext uri="{FF2B5EF4-FFF2-40B4-BE49-F238E27FC236}">
                <a16:creationId xmlns:a16="http://schemas.microsoft.com/office/drawing/2014/main" id="{1EDC1D62-6B00-4705-B1A1-DE8355E8EBD8}"/>
              </a:ext>
            </a:extLst>
          </p:cNvPr>
          <p:cNvSpPr>
            <a:spLocks noGrp="1"/>
          </p:cNvSpPr>
          <p:nvPr/>
        </p:nvSpPr>
        <p:spPr>
          <a:xfrm>
            <a:off x="571500" y="2971800"/>
            <a:ext cx="5238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市民健身中心</a:t>
            </a:r>
          </a:p>
        </p:txBody>
      </p:sp>
      <p:sp>
        <p:nvSpPr>
          <p:cNvPr id="9" name="公共体育平台对应分类">
            <a:extLst>
              <a:ext uri="{FF2B5EF4-FFF2-40B4-BE49-F238E27FC236}">
                <a16:creationId xmlns:a16="http://schemas.microsoft.com/office/drawing/2014/main" id="{DA7B5468-CAC3-4C5E-9BB5-4EA1A627DFC7}"/>
              </a:ext>
            </a:extLst>
          </p:cNvPr>
          <p:cNvSpPr>
            <a:spLocks noGrp="1"/>
          </p:cNvSpPr>
          <p:nvPr/>
        </p:nvSpPr>
        <p:spPr>
          <a:xfrm>
            <a:off x="571500" y="3562350"/>
            <a:ext cx="5238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公共体育平台对应分类</a:t>
            </a:r>
          </a:p>
        </p:txBody>
      </p:sp>
      <p:sp>
        <p:nvSpPr>
          <p:cNvPr id="10" name="公园类绿地">
            <a:extLst>
              <a:ext uri="{FF2B5EF4-FFF2-40B4-BE49-F238E27FC236}">
                <a16:creationId xmlns:a16="http://schemas.microsoft.com/office/drawing/2014/main" id="{00889EC5-4FB1-4C11-9059-8869269C4B29}"/>
              </a:ext>
            </a:extLst>
          </p:cNvPr>
          <p:cNvSpPr>
            <a:spLocks noGrp="1"/>
          </p:cNvSpPr>
          <p:nvPr/>
        </p:nvSpPr>
        <p:spPr>
          <a:xfrm>
            <a:off x="6381750" y="2971800"/>
            <a:ext cx="5238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公园类绿地</a:t>
            </a:r>
          </a:p>
        </p:txBody>
      </p:sp>
      <p:sp>
        <p:nvSpPr>
          <p:cNvPr id="11" name="散步、休闲和户外活动">
            <a:extLst>
              <a:ext uri="{FF2B5EF4-FFF2-40B4-BE49-F238E27FC236}">
                <a16:creationId xmlns:a16="http://schemas.microsoft.com/office/drawing/2014/main" id="{84EA36A5-FD3E-46B9-B366-8DD27065B389}"/>
              </a:ext>
            </a:extLst>
          </p:cNvPr>
          <p:cNvSpPr>
            <a:spLocks noGrp="1"/>
          </p:cNvSpPr>
          <p:nvPr/>
        </p:nvSpPr>
        <p:spPr>
          <a:xfrm>
            <a:off x="6381750" y="3562350"/>
            <a:ext cx="5238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散步、休闲和户外活动</a:t>
            </a:r>
          </a:p>
        </p:txBody>
      </p:sp>
      <p:sp>
        <p:nvSpPr>
          <p:cNvPr id="12" name="社区文化活动中心">
            <a:extLst>
              <a:ext uri="{FF2B5EF4-FFF2-40B4-BE49-F238E27FC236}">
                <a16:creationId xmlns:a16="http://schemas.microsoft.com/office/drawing/2014/main" id="{B9558F8A-FC06-4418-8F44-22E504BB483D}"/>
              </a:ext>
            </a:extLst>
          </p:cNvPr>
          <p:cNvSpPr>
            <a:spLocks noGrp="1"/>
          </p:cNvSpPr>
          <p:nvPr/>
        </p:nvSpPr>
        <p:spPr>
          <a:xfrm>
            <a:off x="571500" y="4419600"/>
            <a:ext cx="5238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社区文化活动中心</a:t>
            </a:r>
          </a:p>
        </p:txBody>
      </p:sp>
      <p:sp>
        <p:nvSpPr>
          <p:cNvPr id="13" name="文化活动与社区学习">
            <a:extLst>
              <a:ext uri="{FF2B5EF4-FFF2-40B4-BE49-F238E27FC236}">
                <a16:creationId xmlns:a16="http://schemas.microsoft.com/office/drawing/2014/main" id="{22B41EE6-881D-425E-B640-E051F9353D95}"/>
              </a:ext>
            </a:extLst>
          </p:cNvPr>
          <p:cNvSpPr>
            <a:spLocks noGrp="1"/>
          </p:cNvSpPr>
          <p:nvPr/>
        </p:nvSpPr>
        <p:spPr>
          <a:xfrm>
            <a:off x="571500" y="5010150"/>
            <a:ext cx="5238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文化活动与社区学习</a:t>
            </a:r>
          </a:p>
        </p:txBody>
      </p:sp>
      <p:sp>
        <p:nvSpPr>
          <p:cNvPr id="14" name="社区卫生服务中心">
            <a:extLst>
              <a:ext uri="{FF2B5EF4-FFF2-40B4-BE49-F238E27FC236}">
                <a16:creationId xmlns:a16="http://schemas.microsoft.com/office/drawing/2014/main" id="{43D6DD9D-096F-4965-A95E-12EB03CB7B5D}"/>
              </a:ext>
            </a:extLst>
          </p:cNvPr>
          <p:cNvSpPr>
            <a:spLocks noGrp="1"/>
          </p:cNvSpPr>
          <p:nvPr/>
        </p:nvSpPr>
        <p:spPr>
          <a:xfrm>
            <a:off x="6381750" y="4419600"/>
            <a:ext cx="5238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社区卫生服务中心</a:t>
            </a:r>
          </a:p>
        </p:txBody>
      </p:sp>
      <p:sp>
        <p:nvSpPr>
          <p:cNvPr id="15" name="基本医疗与公共卫生">
            <a:extLst>
              <a:ext uri="{FF2B5EF4-FFF2-40B4-BE49-F238E27FC236}">
                <a16:creationId xmlns:a16="http://schemas.microsoft.com/office/drawing/2014/main" id="{809CC210-3557-4B0E-9B80-0B5130A1761A}"/>
              </a:ext>
            </a:extLst>
          </p:cNvPr>
          <p:cNvSpPr>
            <a:spLocks noGrp="1"/>
          </p:cNvSpPr>
          <p:nvPr/>
        </p:nvSpPr>
        <p:spPr>
          <a:xfrm>
            <a:off x="6381750" y="5010150"/>
            <a:ext cx="5238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基本医疗与公共卫生</a:t>
            </a:r>
          </a:p>
        </p:txBody>
      </p:sp>
      <p:sp>
        <p:nvSpPr>
          <p:cNvPr id="17" name="六类服务连接轴">
            <a:extLst>
              <a:ext uri="{FF2B5EF4-FFF2-40B4-BE49-F238E27FC236}">
                <a16:creationId xmlns:a16="http://schemas.microsoft.com/office/drawing/2014/main" id="{9B657793-4AFC-4749-AF24-ED27DEC0ABFA}"/>
              </a:ext>
            </a:extLst>
          </p:cNvPr>
          <p:cNvSpPr>
            <a:spLocks noGrp="1"/>
          </p:cNvSpPr>
          <p:nvPr/>
        </p:nvSpPr>
        <p:spPr>
          <a:xfrm>
            <a:off x="6086475" y="1695450"/>
            <a:ext cx="19050" cy="2895600"/>
          </a:xfrm>
          <a:prstGeom prst="rect">
            <a:avLst/>
          </a:prstGeom>
          <a:solidFill>
            <a:srgbClr val="DBCAC2"/>
          </a:solidFill>
          <a:ln w="0">
            <a:noFill/>
          </a:ln>
        </p:spPr>
      </p:sp>
      <p:sp>
        <p:nvSpPr>
          <p:cNvPr id="18" name="服务连接线">
            <a:extLst>
              <a:ext uri="{FF2B5EF4-FFF2-40B4-BE49-F238E27FC236}">
                <a16:creationId xmlns:a16="http://schemas.microsoft.com/office/drawing/2014/main" id="{DF172E73-0B59-47AC-9051-6D27C5743272}"/>
              </a:ext>
            </a:extLst>
          </p:cNvPr>
          <p:cNvSpPr>
            <a:spLocks noGrp="1"/>
          </p:cNvSpPr>
          <p:nvPr/>
        </p:nvSpPr>
        <p:spPr>
          <a:xfrm>
            <a:off x="5905500" y="1685925"/>
            <a:ext cx="190500" cy="190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</p:sp>
      <p:sp>
        <p:nvSpPr>
          <p:cNvPr id="19" name="服务节点">
            <a:extLst>
              <a:ext uri="{FF2B5EF4-FFF2-40B4-BE49-F238E27FC236}">
                <a16:creationId xmlns:a16="http://schemas.microsoft.com/office/drawing/2014/main" id="{770D8876-34E7-45B0-94E2-E7ABC7298905}"/>
              </a:ext>
            </a:extLst>
          </p:cNvPr>
          <p:cNvSpPr>
            <a:spLocks noGrp="1"/>
          </p:cNvSpPr>
          <p:nvPr/>
        </p:nvSpPr>
        <p:spPr>
          <a:xfrm>
            <a:off x="5867400" y="1657350"/>
            <a:ext cx="76200" cy="76200"/>
          </a:xfrm>
          <a:prstGeom prst="ellipse">
            <a:avLst/>
          </a:prstGeom>
          <a:solidFill>
            <a:srgbClr val="496B63"/>
          </a:solidFill>
          <a:ln w="0">
            <a:noFill/>
          </a:ln>
        </p:spPr>
      </p:sp>
      <p:sp>
        <p:nvSpPr>
          <p:cNvPr id="20" name="服务连接线">
            <a:extLst>
              <a:ext uri="{FF2B5EF4-FFF2-40B4-BE49-F238E27FC236}">
                <a16:creationId xmlns:a16="http://schemas.microsoft.com/office/drawing/2014/main" id="{041B26D9-8086-4E83-864A-4964CC37F894}"/>
              </a:ext>
            </a:extLst>
          </p:cNvPr>
          <p:cNvSpPr>
            <a:spLocks noGrp="1"/>
          </p:cNvSpPr>
          <p:nvPr/>
        </p:nvSpPr>
        <p:spPr>
          <a:xfrm>
            <a:off x="6096000" y="1685925"/>
            <a:ext cx="190500" cy="190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</p:sp>
      <p:sp>
        <p:nvSpPr>
          <p:cNvPr id="21" name="服务节点">
            <a:extLst>
              <a:ext uri="{FF2B5EF4-FFF2-40B4-BE49-F238E27FC236}">
                <a16:creationId xmlns:a16="http://schemas.microsoft.com/office/drawing/2014/main" id="{B8E96AA3-58FB-4231-9F45-F2C771B2EE23}"/>
              </a:ext>
            </a:extLst>
          </p:cNvPr>
          <p:cNvSpPr>
            <a:spLocks noGrp="1"/>
          </p:cNvSpPr>
          <p:nvPr/>
        </p:nvSpPr>
        <p:spPr>
          <a:xfrm>
            <a:off x="6248400" y="1657350"/>
            <a:ext cx="76200" cy="76200"/>
          </a:xfrm>
          <a:prstGeom prst="ellipse">
            <a:avLst/>
          </a:prstGeom>
          <a:solidFill>
            <a:srgbClr val="496B63"/>
          </a:solidFill>
          <a:ln w="0">
            <a:noFill/>
          </a:ln>
        </p:spPr>
      </p:sp>
      <p:sp>
        <p:nvSpPr>
          <p:cNvPr id="22" name="服务连接线">
            <a:extLst>
              <a:ext uri="{FF2B5EF4-FFF2-40B4-BE49-F238E27FC236}">
                <a16:creationId xmlns:a16="http://schemas.microsoft.com/office/drawing/2014/main" id="{8CE3F327-C5AE-4BF0-823C-C5B212A48E35}"/>
              </a:ext>
            </a:extLst>
          </p:cNvPr>
          <p:cNvSpPr>
            <a:spLocks noGrp="1"/>
          </p:cNvSpPr>
          <p:nvPr/>
        </p:nvSpPr>
        <p:spPr>
          <a:xfrm>
            <a:off x="5905500" y="3133725"/>
            <a:ext cx="190500" cy="190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</p:sp>
      <p:sp>
        <p:nvSpPr>
          <p:cNvPr id="23" name="服务节点">
            <a:extLst>
              <a:ext uri="{FF2B5EF4-FFF2-40B4-BE49-F238E27FC236}">
                <a16:creationId xmlns:a16="http://schemas.microsoft.com/office/drawing/2014/main" id="{54A348B8-D02E-40E8-8114-AF2D86918B99}"/>
              </a:ext>
            </a:extLst>
          </p:cNvPr>
          <p:cNvSpPr>
            <a:spLocks noGrp="1"/>
          </p:cNvSpPr>
          <p:nvPr/>
        </p:nvSpPr>
        <p:spPr>
          <a:xfrm>
            <a:off x="5867400" y="3105150"/>
            <a:ext cx="76200" cy="76200"/>
          </a:xfrm>
          <a:prstGeom prst="ellipse">
            <a:avLst/>
          </a:prstGeom>
          <a:solidFill>
            <a:srgbClr val="496B63"/>
          </a:solidFill>
          <a:ln w="0">
            <a:noFill/>
          </a:ln>
        </p:spPr>
      </p:sp>
      <p:sp>
        <p:nvSpPr>
          <p:cNvPr id="24" name="服务连接线">
            <a:extLst>
              <a:ext uri="{FF2B5EF4-FFF2-40B4-BE49-F238E27FC236}">
                <a16:creationId xmlns:a16="http://schemas.microsoft.com/office/drawing/2014/main" id="{5475EEE1-C86B-4309-8A42-6F6D80E14F86}"/>
              </a:ext>
            </a:extLst>
          </p:cNvPr>
          <p:cNvSpPr>
            <a:spLocks noGrp="1"/>
          </p:cNvSpPr>
          <p:nvPr/>
        </p:nvSpPr>
        <p:spPr>
          <a:xfrm>
            <a:off x="6096000" y="3133725"/>
            <a:ext cx="190500" cy="190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</p:sp>
      <p:sp>
        <p:nvSpPr>
          <p:cNvPr id="25" name="服务节点">
            <a:extLst>
              <a:ext uri="{FF2B5EF4-FFF2-40B4-BE49-F238E27FC236}">
                <a16:creationId xmlns:a16="http://schemas.microsoft.com/office/drawing/2014/main" id="{F1EF6EC1-69ED-43E7-8482-01716E063815}"/>
              </a:ext>
            </a:extLst>
          </p:cNvPr>
          <p:cNvSpPr>
            <a:spLocks noGrp="1"/>
          </p:cNvSpPr>
          <p:nvPr/>
        </p:nvSpPr>
        <p:spPr>
          <a:xfrm>
            <a:off x="6248400" y="3105150"/>
            <a:ext cx="76200" cy="76200"/>
          </a:xfrm>
          <a:prstGeom prst="ellipse">
            <a:avLst/>
          </a:prstGeom>
          <a:solidFill>
            <a:srgbClr val="496B63"/>
          </a:solidFill>
          <a:ln w="0">
            <a:noFill/>
          </a:ln>
        </p:spPr>
      </p:sp>
      <p:sp>
        <p:nvSpPr>
          <p:cNvPr id="26" name="服务连接线">
            <a:extLst>
              <a:ext uri="{FF2B5EF4-FFF2-40B4-BE49-F238E27FC236}">
                <a16:creationId xmlns:a16="http://schemas.microsoft.com/office/drawing/2014/main" id="{8AD5914F-4F0B-4DD1-B892-4F46F213F6FD}"/>
              </a:ext>
            </a:extLst>
          </p:cNvPr>
          <p:cNvSpPr>
            <a:spLocks noGrp="1"/>
          </p:cNvSpPr>
          <p:nvPr/>
        </p:nvSpPr>
        <p:spPr>
          <a:xfrm>
            <a:off x="5905500" y="4581525"/>
            <a:ext cx="190500" cy="190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</p:sp>
      <p:sp>
        <p:nvSpPr>
          <p:cNvPr id="27" name="服务节点">
            <a:extLst>
              <a:ext uri="{FF2B5EF4-FFF2-40B4-BE49-F238E27FC236}">
                <a16:creationId xmlns:a16="http://schemas.microsoft.com/office/drawing/2014/main" id="{73C7795F-714E-4CDA-9DEB-53E3284593F0}"/>
              </a:ext>
            </a:extLst>
          </p:cNvPr>
          <p:cNvSpPr>
            <a:spLocks noGrp="1"/>
          </p:cNvSpPr>
          <p:nvPr/>
        </p:nvSpPr>
        <p:spPr>
          <a:xfrm>
            <a:off x="5867400" y="4552950"/>
            <a:ext cx="76200" cy="76200"/>
          </a:xfrm>
          <a:prstGeom prst="ellipse">
            <a:avLst/>
          </a:prstGeom>
          <a:solidFill>
            <a:srgbClr val="496B63"/>
          </a:solidFill>
          <a:ln w="0">
            <a:noFill/>
          </a:ln>
        </p:spPr>
      </p:sp>
      <p:sp>
        <p:nvSpPr>
          <p:cNvPr id="28" name="服务连接线">
            <a:extLst>
              <a:ext uri="{FF2B5EF4-FFF2-40B4-BE49-F238E27FC236}">
                <a16:creationId xmlns:a16="http://schemas.microsoft.com/office/drawing/2014/main" id="{08ECDA3E-7239-4CB7-92E4-727761BAA2FE}"/>
              </a:ext>
            </a:extLst>
          </p:cNvPr>
          <p:cNvSpPr>
            <a:spLocks noGrp="1"/>
          </p:cNvSpPr>
          <p:nvPr/>
        </p:nvSpPr>
        <p:spPr>
          <a:xfrm>
            <a:off x="6096000" y="4581525"/>
            <a:ext cx="190500" cy="190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</p:sp>
      <p:sp>
        <p:nvSpPr>
          <p:cNvPr id="29" name="服务节点">
            <a:extLst>
              <a:ext uri="{FF2B5EF4-FFF2-40B4-BE49-F238E27FC236}">
                <a16:creationId xmlns:a16="http://schemas.microsoft.com/office/drawing/2014/main" id="{26EBA05A-CD76-459F-B1B4-48CF13600BE4}"/>
              </a:ext>
            </a:extLst>
          </p:cNvPr>
          <p:cNvSpPr>
            <a:spLocks noGrp="1"/>
          </p:cNvSpPr>
          <p:nvPr/>
        </p:nvSpPr>
        <p:spPr>
          <a:xfrm>
            <a:off x="6248400" y="4552950"/>
            <a:ext cx="76200" cy="76200"/>
          </a:xfrm>
          <a:prstGeom prst="ellipse">
            <a:avLst/>
          </a:prstGeom>
          <a:solidFill>
            <a:srgbClr val="496B63"/>
          </a:solidFill>
          <a:ln w="0">
            <a:noFill/>
          </a:ln>
        </p:spPr>
      </p:sp>
      <p:pic>
        <p:nvPicPr>
          <p:cNvPr id="30" name="Rive第6页演示（隐藏后可编辑下层）">
            <a:extLst>
              <a:ext uri="{FF2B5EF4-FFF2-40B4-BE49-F238E27FC236}">
                <a16:creationId xmlns:a16="http://schemas.microsoft.com/office/drawing/2014/main" id="{3134678C-FFE9-4607-A9CF-4C894CB6AC46}"/>
              </a:ext>
            </a:extLst>
          </p:cNvPr>
          <p:cNvPicPr>
            <a:picLocks noChangeAspect="1"/>
          </p:cNvPicPr>
          <p:nvPr/>
        </p:nvPicPr>
        <p:blipFill>
          <a:blip r:embed="rIdRiveDemo6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4766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公共服务网络的规模">
            <a:extLst>
              <a:ext uri="{FF2B5EF4-FFF2-40B4-BE49-F238E27FC236}">
                <a16:creationId xmlns:a16="http://schemas.microsoft.com/office/drawing/2014/main" id="{EC567E56-70A5-43B4-AB16-6C84B386F523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公共服务网络的规模</a:t>
            </a:r>
          </a:p>
        </p:txBody>
      </p:sp>
      <p:sp>
        <p:nvSpPr>
          <p:cNvPr id="2" name="来源：市民政局、市政府新闻办、市绿化市容局；均为2025年末或年">
            <a:extLst>
              <a:ext uri="{FF2B5EF4-FFF2-40B4-BE49-F238E27FC236}">
                <a16:creationId xmlns:a16="http://schemas.microsoft.com/office/drawing/2014/main" id="{49C86FA7-5406-456E-B8FB-C2D700AF8E43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来源：市民政局、市政府新闻办、市绿化市容局；均为2025年末或年度口径</a:t>
            </a:r>
          </a:p>
        </p:txBody>
      </p:sp>
      <p:sp>
        <p:nvSpPr>
          <p:cNvPr id="3" name="07">
            <a:extLst>
              <a:ext uri="{FF2B5EF4-FFF2-40B4-BE49-F238E27FC236}">
                <a16:creationId xmlns:a16="http://schemas.microsoft.com/office/drawing/2014/main" id="{F3DDE0E1-C655-4205-A7EA-CD7EA092F72C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07</a:t>
            </a:r>
          </a:p>
        </p:txBody>
      </p:sp>
      <p:sp>
        <p:nvSpPr>
          <p:cNvPr id="4" name="521">
            <a:extLst>
              <a:ext uri="{FF2B5EF4-FFF2-40B4-BE49-F238E27FC236}">
                <a16:creationId xmlns:a16="http://schemas.microsoft.com/office/drawing/2014/main" id="{56819959-C345-4520-A33E-E1D31D54A746}"/>
              </a:ext>
            </a:extLst>
          </p:cNvPr>
          <p:cNvSpPr>
            <a:spLocks noGrp="1"/>
          </p:cNvSpPr>
          <p:nvPr/>
        </p:nvSpPr>
        <p:spPr>
          <a:xfrm>
            <a:off x="571500" y="1714500"/>
            <a:ext cx="2571750" cy="971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5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521</a:t>
            </a:r>
          </a:p>
        </p:txBody>
      </p:sp>
      <p:sp>
        <p:nvSpPr>
          <p:cNvPr id="5" name="家社区长者食堂">
            <a:extLst>
              <a:ext uri="{FF2B5EF4-FFF2-40B4-BE49-F238E27FC236}">
                <a16:creationId xmlns:a16="http://schemas.microsoft.com/office/drawing/2014/main" id="{01FB4878-9975-4085-99C7-AE3374CBE339}"/>
              </a:ext>
            </a:extLst>
          </p:cNvPr>
          <p:cNvSpPr>
            <a:spLocks noGrp="1"/>
          </p:cNvSpPr>
          <p:nvPr/>
        </p:nvSpPr>
        <p:spPr>
          <a:xfrm>
            <a:off x="571500" y="2933700"/>
            <a:ext cx="25717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家社区长者食堂</a:t>
            </a:r>
          </a:p>
        </p:txBody>
      </p:sp>
      <p:sp>
        <p:nvSpPr>
          <p:cNvPr id="6" name="优先服务老年助餐">
            <a:extLst>
              <a:ext uri="{FF2B5EF4-FFF2-40B4-BE49-F238E27FC236}">
                <a16:creationId xmlns:a16="http://schemas.microsoft.com/office/drawing/2014/main" id="{6DDBB88F-7E3D-4102-B212-D1F00EB74626}"/>
              </a:ext>
            </a:extLst>
          </p:cNvPr>
          <p:cNvSpPr>
            <a:spLocks noGrp="1"/>
          </p:cNvSpPr>
          <p:nvPr/>
        </p:nvSpPr>
        <p:spPr>
          <a:xfrm>
            <a:off x="571500" y="4000500"/>
            <a:ext cx="257175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优先服务老年助餐</a:t>
            </a:r>
          </a:p>
        </p:txBody>
      </p:sp>
      <p:sp>
        <p:nvSpPr>
          <p:cNvPr id="7" name="457">
            <a:extLst>
              <a:ext uri="{FF2B5EF4-FFF2-40B4-BE49-F238E27FC236}">
                <a16:creationId xmlns:a16="http://schemas.microsoft.com/office/drawing/2014/main" id="{03C50703-05BD-4C0D-BF89-0A2C453FBB8C}"/>
              </a:ext>
            </a:extLst>
          </p:cNvPr>
          <p:cNvSpPr>
            <a:spLocks noGrp="1"/>
          </p:cNvSpPr>
          <p:nvPr/>
        </p:nvSpPr>
        <p:spPr>
          <a:xfrm>
            <a:off x="3409950" y="1714500"/>
            <a:ext cx="2571750" cy="971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5250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457</a:t>
            </a:r>
          </a:p>
        </p:txBody>
      </p:sp>
      <p:sp>
        <p:nvSpPr>
          <p:cNvPr id="8" name="个公共阅读网点">
            <a:extLst>
              <a:ext uri="{FF2B5EF4-FFF2-40B4-BE49-F238E27FC236}">
                <a16:creationId xmlns:a16="http://schemas.microsoft.com/office/drawing/2014/main" id="{B1F1D1BD-7857-4771-A5FA-3A707258A979}"/>
              </a:ext>
            </a:extLst>
          </p:cNvPr>
          <p:cNvSpPr>
            <a:spLocks noGrp="1"/>
          </p:cNvSpPr>
          <p:nvPr/>
        </p:nvSpPr>
        <p:spPr>
          <a:xfrm>
            <a:off x="3409950" y="2933700"/>
            <a:ext cx="25717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个公共阅读网点</a:t>
            </a:r>
          </a:p>
        </p:txBody>
      </p:sp>
      <p:sp>
        <p:nvSpPr>
          <p:cNvPr id="9" name="一卡通体系259家机构">
            <a:extLst>
              <a:ext uri="{FF2B5EF4-FFF2-40B4-BE49-F238E27FC236}">
                <a16:creationId xmlns:a16="http://schemas.microsoft.com/office/drawing/2014/main" id="{03BEC4FD-12F5-468D-8ED9-7BAEF19D64A8}"/>
              </a:ext>
            </a:extLst>
          </p:cNvPr>
          <p:cNvSpPr>
            <a:spLocks noGrp="1"/>
          </p:cNvSpPr>
          <p:nvPr/>
        </p:nvSpPr>
        <p:spPr>
          <a:xfrm>
            <a:off x="3409950" y="4000500"/>
            <a:ext cx="257175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一卡通体系259家机构</a:t>
            </a:r>
          </a:p>
        </p:txBody>
      </p:sp>
      <p:sp>
        <p:nvSpPr>
          <p:cNvPr id="10" name="1100">
            <a:extLst>
              <a:ext uri="{FF2B5EF4-FFF2-40B4-BE49-F238E27FC236}">
                <a16:creationId xmlns:a16="http://schemas.microsoft.com/office/drawing/2014/main" id="{934CFFC9-2CF9-4F71-B0C4-F31F98AA52CF}"/>
              </a:ext>
            </a:extLst>
          </p:cNvPr>
          <p:cNvSpPr>
            <a:spLocks noGrp="1"/>
          </p:cNvSpPr>
          <p:nvPr/>
        </p:nvSpPr>
        <p:spPr>
          <a:xfrm>
            <a:off x="6248400" y="1714500"/>
            <a:ext cx="2571750" cy="971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5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1100</a:t>
            </a:r>
          </a:p>
        </p:txBody>
      </p:sp>
      <p:sp>
        <p:nvSpPr>
          <p:cNvPr id="11" name="座各类公园">
            <a:extLst>
              <a:ext uri="{FF2B5EF4-FFF2-40B4-BE49-F238E27FC236}">
                <a16:creationId xmlns:a16="http://schemas.microsoft.com/office/drawing/2014/main" id="{829F2CE1-E767-405F-B011-9D082870C712}"/>
              </a:ext>
            </a:extLst>
          </p:cNvPr>
          <p:cNvSpPr>
            <a:spLocks noGrp="1"/>
          </p:cNvSpPr>
          <p:nvPr/>
        </p:nvSpPr>
        <p:spPr>
          <a:xfrm>
            <a:off x="6248400" y="2933700"/>
            <a:ext cx="25717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座各类公园</a:t>
            </a:r>
          </a:p>
        </p:txBody>
      </p:sp>
      <p:sp>
        <p:nvSpPr>
          <p:cNvPr id="12" name="983座24小时开放">
            <a:extLst>
              <a:ext uri="{FF2B5EF4-FFF2-40B4-BE49-F238E27FC236}">
                <a16:creationId xmlns:a16="http://schemas.microsoft.com/office/drawing/2014/main" id="{2F4A92FC-22B2-45CA-AAE3-4107A123B13C}"/>
              </a:ext>
            </a:extLst>
          </p:cNvPr>
          <p:cNvSpPr>
            <a:spLocks noGrp="1"/>
          </p:cNvSpPr>
          <p:nvPr/>
        </p:nvSpPr>
        <p:spPr>
          <a:xfrm>
            <a:off x="6248400" y="4000500"/>
            <a:ext cx="257175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983座24小时开放</a:t>
            </a:r>
          </a:p>
        </p:txBody>
      </p:sp>
      <p:sp>
        <p:nvSpPr>
          <p:cNvPr id="13" name="219">
            <a:extLst>
              <a:ext uri="{FF2B5EF4-FFF2-40B4-BE49-F238E27FC236}">
                <a16:creationId xmlns:a16="http://schemas.microsoft.com/office/drawing/2014/main" id="{F12F93F1-19DA-46FE-960D-7BB00CAD3386}"/>
              </a:ext>
            </a:extLst>
          </p:cNvPr>
          <p:cNvSpPr>
            <a:spLocks noGrp="1"/>
          </p:cNvSpPr>
          <p:nvPr/>
        </p:nvSpPr>
        <p:spPr>
          <a:xfrm>
            <a:off x="9086850" y="1714500"/>
            <a:ext cx="2571750" cy="971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5250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219</a:t>
            </a:r>
          </a:p>
        </p:txBody>
      </p:sp>
      <p:sp>
        <p:nvSpPr>
          <p:cNvPr id="14" name="所街镇老年学校">
            <a:extLst>
              <a:ext uri="{FF2B5EF4-FFF2-40B4-BE49-F238E27FC236}">
                <a16:creationId xmlns:a16="http://schemas.microsoft.com/office/drawing/2014/main" id="{B03A1E6C-8C89-4BC2-A0CD-F562AC307DAF}"/>
              </a:ext>
            </a:extLst>
          </p:cNvPr>
          <p:cNvSpPr>
            <a:spLocks noGrp="1"/>
          </p:cNvSpPr>
          <p:nvPr/>
        </p:nvSpPr>
        <p:spPr>
          <a:xfrm>
            <a:off x="9086850" y="2933700"/>
            <a:ext cx="25717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所街镇老年学校</a:t>
            </a:r>
          </a:p>
        </p:txBody>
      </p:sp>
      <p:sp>
        <p:nvSpPr>
          <p:cNvPr id="15" name="另有6317个居村学习点">
            <a:extLst>
              <a:ext uri="{FF2B5EF4-FFF2-40B4-BE49-F238E27FC236}">
                <a16:creationId xmlns:a16="http://schemas.microsoft.com/office/drawing/2014/main" id="{BE21B1E0-D199-498E-A215-68F3812AF2D2}"/>
              </a:ext>
            </a:extLst>
          </p:cNvPr>
          <p:cNvSpPr>
            <a:spLocks noGrp="1"/>
          </p:cNvSpPr>
          <p:nvPr/>
        </p:nvSpPr>
        <p:spPr>
          <a:xfrm>
            <a:off x="9086850" y="4000500"/>
            <a:ext cx="257175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另有6317个居村学习点</a:t>
            </a:r>
          </a:p>
        </p:txBody>
      </p:sp>
      <p:sp>
        <p:nvSpPr>
          <p:cNvPr id="16" name="不同单位分别展示，数量不能相加">
            <a:extLst>
              <a:ext uri="{FF2B5EF4-FFF2-40B4-BE49-F238E27FC236}">
                <a16:creationId xmlns:a16="http://schemas.microsoft.com/office/drawing/2014/main" id="{DF7CE2B2-9028-46A5-9DD7-624885178F6B}"/>
              </a:ext>
            </a:extLst>
          </p:cNvPr>
          <p:cNvSpPr>
            <a:spLocks noGrp="1"/>
          </p:cNvSpPr>
          <p:nvPr/>
        </p:nvSpPr>
        <p:spPr>
          <a:xfrm>
            <a:off x="571500" y="5505450"/>
            <a:ext cx="110490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不同单位分别展示，数量不能相加</a:t>
            </a:r>
          </a:p>
        </p:txBody>
      </p:sp>
      <p:pic>
        <p:nvPicPr>
          <p:cNvPr id="18" name="Rive第7页演示（隐藏后可编辑下层）">
            <a:extLst>
              <a:ext uri="{FF2B5EF4-FFF2-40B4-BE49-F238E27FC236}">
                <a16:creationId xmlns:a16="http://schemas.microsoft.com/office/drawing/2014/main" id="{4C36703C-8864-4011-BA8A-D1FD2C91B69F}"/>
              </a:ext>
            </a:extLst>
          </p:cNvPr>
          <p:cNvPicPr>
            <a:picLocks noChangeAspect="1"/>
          </p:cNvPicPr>
          <p:nvPr/>
        </p:nvPicPr>
        <p:blipFill>
          <a:blip r:embed="rIdRiveDemo7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77268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地图与折中曲线怎样读">
            <a:extLst>
              <a:ext uri="{FF2B5EF4-FFF2-40B4-BE49-F238E27FC236}">
                <a16:creationId xmlns:a16="http://schemas.microsoft.com/office/drawing/2014/main" id="{35C9827D-575F-429B-8BE8-BAC5480E6738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地图与折中曲线怎样读</a:t>
            </a:r>
          </a:p>
        </p:txBody>
      </p:sp>
      <p:sp>
        <p:nvSpPr>
          <p:cNvPr id="2" name="本组测算：OSM已标注居住用地面积；直线距离；两套范围分别计算">
            <a:extLst>
              <a:ext uri="{FF2B5EF4-FFF2-40B4-BE49-F238E27FC236}">
                <a16:creationId xmlns:a16="http://schemas.microsoft.com/office/drawing/2014/main" id="{00740F8E-C650-4E11-B12F-7CAB17D5FBB0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本组测算：OSM已标注居住用地面积；直线距离；两套范围分别计算</a:t>
            </a:r>
          </a:p>
        </p:txBody>
      </p:sp>
      <p:sp>
        <p:nvSpPr>
          <p:cNvPr id="3" name="08">
            <a:extLst>
              <a:ext uri="{FF2B5EF4-FFF2-40B4-BE49-F238E27FC236}">
                <a16:creationId xmlns:a16="http://schemas.microsoft.com/office/drawing/2014/main" id="{25A3C44B-ED71-4290-A50D-680DEC491FAF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08</a:t>
            </a:r>
          </a:p>
        </p:txBody>
      </p:sp>
      <p:sp>
        <p:nvSpPr>
          <p:cNvPr id="4" name="地图">
            <a:extLst>
              <a:ext uri="{FF2B5EF4-FFF2-40B4-BE49-F238E27FC236}">
                <a16:creationId xmlns:a16="http://schemas.microsoft.com/office/drawing/2014/main" id="{F4FE0D1E-8A1A-4AF3-B309-375D155E1675}"/>
              </a:ext>
            </a:extLst>
          </p:cNvPr>
          <p:cNvSpPr>
            <a:spLocks noGrp="1"/>
          </p:cNvSpPr>
          <p:nvPr/>
        </p:nvSpPr>
        <p:spPr>
          <a:xfrm>
            <a:off x="571500" y="1476375"/>
            <a:ext cx="47625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地图</a:t>
            </a:r>
          </a:p>
        </p:txBody>
      </p:sp>
      <p:sp>
        <p:nvSpPr>
          <p:cNvPr id="5" name="全市16区与中心七区并排看&#10;服务半径逐步扩大&#10;显示样本居住用地的">
            <a:extLst>
              <a:ext uri="{FF2B5EF4-FFF2-40B4-BE49-F238E27FC236}">
                <a16:creationId xmlns:a16="http://schemas.microsoft.com/office/drawing/2014/main" id="{9B5E68CD-E02A-4762-B43F-F2489F377DD3}"/>
              </a:ext>
            </a:extLst>
          </p:cNvPr>
          <p:cNvSpPr>
            <a:spLocks noGrp="1"/>
          </p:cNvSpPr>
          <p:nvPr/>
        </p:nvSpPr>
        <p:spPr>
          <a:xfrm>
            <a:off x="571500" y="2247900"/>
            <a:ext cx="5286375" cy="2000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全市16区与中心七区并排看</a:t>
            </a:r>
          </a:p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服务半径逐步扩大</a:t>
            </a:r>
          </a:p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显示样本居住用地的覆盖变化</a:t>
            </a:r>
          </a:p>
        </p:txBody>
      </p:sp>
      <p:sp>
        <p:nvSpPr>
          <p:cNvPr id="6" name="折中曲线">
            <a:extLst>
              <a:ext uri="{FF2B5EF4-FFF2-40B4-BE49-F238E27FC236}">
                <a16:creationId xmlns:a16="http://schemas.microsoft.com/office/drawing/2014/main" id="{50B6AEC9-9772-4573-808B-778C955CBC92}"/>
              </a:ext>
            </a:extLst>
          </p:cNvPr>
          <p:cNvSpPr>
            <a:spLocks noGrp="1"/>
          </p:cNvSpPr>
          <p:nvPr/>
        </p:nvSpPr>
        <p:spPr>
          <a:xfrm>
            <a:off x="6667500" y="1476375"/>
            <a:ext cx="49530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折中曲线</a:t>
            </a:r>
          </a:p>
        </p:txBody>
      </p:sp>
      <p:sp>
        <p:nvSpPr>
          <p:cNvPr id="7" name="横轴 直线半径　纵轴 面积覆盖率&#10;圆点 折中候选　△ 85%目标">
            <a:extLst>
              <a:ext uri="{FF2B5EF4-FFF2-40B4-BE49-F238E27FC236}">
                <a16:creationId xmlns:a16="http://schemas.microsoft.com/office/drawing/2014/main" id="{A3737197-7669-40A7-B20C-18407748D4CF}"/>
              </a:ext>
            </a:extLst>
          </p:cNvPr>
          <p:cNvSpPr>
            <a:spLocks noGrp="1"/>
          </p:cNvSpPr>
          <p:nvPr/>
        </p:nvSpPr>
        <p:spPr>
          <a:xfrm>
            <a:off x="6667500" y="2247900"/>
            <a:ext cx="4953000" cy="2000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横轴 直线半径　纵轴 面积覆盖率</a:t>
            </a:r>
          </a:p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圆点 折中候选　△ 85%目标</a:t>
            </a:r>
          </a:p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两条曲线采用共同坐标尺度</a:t>
            </a:r>
          </a:p>
        </p:txBody>
      </p:sp>
      <p:sp>
        <p:nvSpPr>
          <p:cNvPr id="8" name="同一时点数据，半径从约60%覆盖扩展到约88%覆盖">
            <a:extLst>
              <a:ext uri="{FF2B5EF4-FFF2-40B4-BE49-F238E27FC236}">
                <a16:creationId xmlns:a16="http://schemas.microsoft.com/office/drawing/2014/main" id="{5526E8DD-7780-45F9-8E06-549AA1BFD02A}"/>
              </a:ext>
            </a:extLst>
          </p:cNvPr>
          <p:cNvSpPr>
            <a:spLocks noGrp="1"/>
          </p:cNvSpPr>
          <p:nvPr/>
        </p:nvSpPr>
        <p:spPr>
          <a:xfrm>
            <a:off x="571500" y="4953000"/>
            <a:ext cx="11049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同一时点数据，半径从约60%覆盖扩展到约88%覆盖</a:t>
            </a:r>
          </a:p>
        </p:txBody>
      </p:sp>
      <p:sp>
        <p:nvSpPr>
          <p:cNvPr id="9" name="全市分母531.61平方公里　中心七区85.76平方公里">
            <a:extLst>
              <a:ext uri="{FF2B5EF4-FFF2-40B4-BE49-F238E27FC236}">
                <a16:creationId xmlns:a16="http://schemas.microsoft.com/office/drawing/2014/main" id="{BEDB2596-A2C5-4D7D-A555-D85816881CEA}"/>
              </a:ext>
            </a:extLst>
          </p:cNvPr>
          <p:cNvSpPr>
            <a:spLocks noGrp="1"/>
          </p:cNvSpPr>
          <p:nvPr/>
        </p:nvSpPr>
        <p:spPr>
          <a:xfrm>
            <a:off x="571500" y="5572125"/>
            <a:ext cx="11049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全市分母531.61平方公里　中心七区85.76平方公里</a:t>
            </a:r>
          </a:p>
        </p:txBody>
      </p:sp>
      <p:pic>
        <p:nvPicPr>
          <p:cNvPr id="11" name="Rive第8页演示（隐藏后可编辑下层）">
            <a:extLst>
              <a:ext uri="{FF2B5EF4-FFF2-40B4-BE49-F238E27FC236}">
                <a16:creationId xmlns:a16="http://schemas.microsoft.com/office/drawing/2014/main" id="{2B64504C-2646-4DF7-854A-81646BA365DF}"/>
              </a:ext>
            </a:extLst>
          </p:cNvPr>
          <p:cNvPicPr>
            <a:picLocks noChangeAspect="1"/>
          </p:cNvPicPr>
          <p:nvPr/>
        </p:nvPicPr>
        <p:blipFill>
          <a:blip r:embed="rIdRiveDemo8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08194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社区长者食堂的地图与折中曲线">
            <a:extLst>
              <a:ext uri="{FF2B5EF4-FFF2-40B4-BE49-F238E27FC236}">
                <a16:creationId xmlns:a16="http://schemas.microsoft.com/office/drawing/2014/main" id="{A63E0811-5018-424B-A425-0D020B102863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社区长者食堂的地图与折中曲线</a:t>
            </a:r>
          </a:p>
        </p:txBody>
      </p:sp>
      <p:sp>
        <p:nvSpPr>
          <p:cNvPr id="2" name="本组测算；名录/点位快照 2026-10-12；© OpenSt">
            <a:extLst>
              <a:ext uri="{FF2B5EF4-FFF2-40B4-BE49-F238E27FC236}">
                <a16:creationId xmlns:a16="http://schemas.microsoft.com/office/drawing/2014/main" id="{543EEB6F-19FE-4243-9FA2-94C2AB06FD71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本组测算；名录/点位快照 2026-10-12；© OpenStreetMap contributors，ODbL</a:t>
            </a:r>
          </a:p>
        </p:txBody>
      </p:sp>
      <p:sp>
        <p:nvSpPr>
          <p:cNvPr id="3" name="09">
            <a:extLst>
              <a:ext uri="{FF2B5EF4-FFF2-40B4-BE49-F238E27FC236}">
                <a16:creationId xmlns:a16="http://schemas.microsoft.com/office/drawing/2014/main" id="{EBBD42F5-04CC-4048-9AB2-6CFF6615AB08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09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950C5666-F162-4312-81A3-64BE5A4EC9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524000"/>
            <a:ext cx="6096000" cy="4000500"/>
          </a:xfrm>
          <a:prstGeom prst="rect">
            <a:avLst/>
          </a:prstGeom>
        </p:spPr>
      </p:pic>
      <p:sp>
        <p:nvSpPr>
          <p:cNvPr id="5" name="全市16区">
            <a:extLst>
              <a:ext uri="{FF2B5EF4-FFF2-40B4-BE49-F238E27FC236}">
                <a16:creationId xmlns:a16="http://schemas.microsoft.com/office/drawing/2014/main" id="{D8284F5B-087F-43E9-B4A9-DFD61614E389}"/>
              </a:ext>
            </a:extLst>
          </p:cNvPr>
          <p:cNvSpPr>
            <a:spLocks noGrp="1"/>
          </p:cNvSpPr>
          <p:nvPr/>
        </p:nvSpPr>
        <p:spPr>
          <a:xfrm>
            <a:off x="7143750" y="1219200"/>
            <a:ext cx="2047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全市16区</a:t>
            </a:r>
          </a:p>
        </p:txBody>
      </p:sp>
      <p:sp>
        <p:nvSpPr>
          <p:cNvPr id="6" name="中心七区">
            <a:extLst>
              <a:ext uri="{FF2B5EF4-FFF2-40B4-BE49-F238E27FC236}">
                <a16:creationId xmlns:a16="http://schemas.microsoft.com/office/drawing/2014/main" id="{836EC492-4829-4A66-9A7A-D17184569E88}"/>
              </a:ext>
            </a:extLst>
          </p:cNvPr>
          <p:cNvSpPr>
            <a:spLocks noGrp="1"/>
          </p:cNvSpPr>
          <p:nvPr/>
        </p:nvSpPr>
        <p:spPr>
          <a:xfrm>
            <a:off x="9525000" y="1219200"/>
            <a:ext cx="2095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中心七区</a:t>
            </a:r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45C83F61-6F09-4A4F-A9E7-7908A742F61D}"/>
              </a:ext>
            </a:extLst>
          </p:cNvPr>
          <p:cNvGraphicFramePr/>
          <p:nvPr/>
        </p:nvGraphicFramePr>
        <p:xfrm>
          <a:off x="6896100" y="1657350"/>
          <a:ext cx="4762500" cy="3000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● 折中候选　△ 85%目标">
            <a:extLst>
              <a:ext uri="{FF2B5EF4-FFF2-40B4-BE49-F238E27FC236}">
                <a16:creationId xmlns:a16="http://schemas.microsoft.com/office/drawing/2014/main" id="{B0EBAF60-37C6-44E7-AE4F-746111FEE5D2}"/>
              </a:ext>
            </a:extLst>
          </p:cNvPr>
          <p:cNvSpPr>
            <a:spLocks noGrp="1"/>
          </p:cNvSpPr>
          <p:nvPr/>
        </p:nvSpPr>
        <p:spPr>
          <a:xfrm>
            <a:off x="7143750" y="4686300"/>
            <a:ext cx="4381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● 折中候选　△ 85%目标</a:t>
            </a:r>
          </a:p>
        </p:txBody>
      </p:sp>
      <p:sp>
        <p:nvSpPr>
          <p:cNvPr id="9" name="全市 候选 1.80公里 / 72.0%">
            <a:extLst>
              <a:ext uri="{FF2B5EF4-FFF2-40B4-BE49-F238E27FC236}">
                <a16:creationId xmlns:a16="http://schemas.microsoft.com/office/drawing/2014/main" id="{7293AD9C-2817-465B-B83C-4F8FDCCAFF9D}"/>
              </a:ext>
            </a:extLst>
          </p:cNvPr>
          <p:cNvSpPr>
            <a:spLocks noGrp="1"/>
          </p:cNvSpPr>
          <p:nvPr/>
        </p:nvSpPr>
        <p:spPr>
          <a:xfrm>
            <a:off x="6953250" y="5095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 候选 1.80公里 / 72.0%</a:t>
            </a:r>
          </a:p>
        </p:txBody>
      </p:sp>
      <p:sp>
        <p:nvSpPr>
          <p:cNvPr id="10" name="七区 候选 0.75公里 / 75.7%">
            <a:extLst>
              <a:ext uri="{FF2B5EF4-FFF2-40B4-BE49-F238E27FC236}">
                <a16:creationId xmlns:a16="http://schemas.microsoft.com/office/drawing/2014/main" id="{A3B8D81C-474F-4314-8C46-E2E856B75B85}"/>
              </a:ext>
            </a:extLst>
          </p:cNvPr>
          <p:cNvSpPr>
            <a:spLocks noGrp="1"/>
          </p:cNvSpPr>
          <p:nvPr/>
        </p:nvSpPr>
        <p:spPr>
          <a:xfrm>
            <a:off x="6953250" y="5476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七区 候选 0.75公里 / 75.7%</a:t>
            </a:r>
          </a:p>
        </p:txBody>
      </p:sp>
      <p:sp>
        <p:nvSpPr>
          <p:cNvPr id="11" name="同一时点半径变化　点位名录与实际开放、收费分别核实">
            <a:extLst>
              <a:ext uri="{FF2B5EF4-FFF2-40B4-BE49-F238E27FC236}">
                <a16:creationId xmlns:a16="http://schemas.microsoft.com/office/drawing/2014/main" id="{6F32D1E0-6B78-4B30-BFA0-E60B5642A47A}"/>
              </a:ext>
            </a:extLst>
          </p:cNvPr>
          <p:cNvSpPr>
            <a:spLocks noGrp="1"/>
          </p:cNvSpPr>
          <p:nvPr/>
        </p:nvSpPr>
        <p:spPr>
          <a:xfrm>
            <a:off x="571500" y="5762625"/>
            <a:ext cx="11049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同一时点半径变化　点位名录与实际开放、收费分别核实</a:t>
            </a:r>
          </a:p>
        </p:txBody>
      </p:sp>
    </p:spTree>
    <p:extLst>
      <p:ext uri="{BB962C8B-B14F-4D97-AF65-F5344CB8AC3E}">
        <p14:creationId xmlns:p14="http://schemas.microsoft.com/office/powerpoint/2010/main" val="4630095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图书馆服务网点的地图与折中曲线">
            <a:extLst>
              <a:ext uri="{FF2B5EF4-FFF2-40B4-BE49-F238E27FC236}">
                <a16:creationId xmlns:a16="http://schemas.microsoft.com/office/drawing/2014/main" id="{0E60D48E-5144-41B3-A281-5723B15B5646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图书馆服务网点的地图与折中曲线</a:t>
            </a:r>
          </a:p>
        </p:txBody>
      </p:sp>
      <p:sp>
        <p:nvSpPr>
          <p:cNvPr id="2" name="本组测算；名录/点位快照 2026-10-12；© OpenSt">
            <a:extLst>
              <a:ext uri="{FF2B5EF4-FFF2-40B4-BE49-F238E27FC236}">
                <a16:creationId xmlns:a16="http://schemas.microsoft.com/office/drawing/2014/main" id="{3BB849C6-8EEC-4F5A-83D8-AF5A30411CEE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本组测算；名录/点位快照 2026-10-12；© OpenStreetMap contributors，ODbL</a:t>
            </a:r>
          </a:p>
        </p:txBody>
      </p:sp>
      <p:sp>
        <p:nvSpPr>
          <p:cNvPr id="3" name="10">
            <a:extLst>
              <a:ext uri="{FF2B5EF4-FFF2-40B4-BE49-F238E27FC236}">
                <a16:creationId xmlns:a16="http://schemas.microsoft.com/office/drawing/2014/main" id="{426F4126-A7AB-4EA8-B48F-CA045BA44772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10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4049A1A5-4503-49CC-8704-29CD1D323D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524000"/>
            <a:ext cx="6096000" cy="4000500"/>
          </a:xfrm>
          <a:prstGeom prst="rect">
            <a:avLst/>
          </a:prstGeom>
        </p:spPr>
      </p:pic>
      <p:sp>
        <p:nvSpPr>
          <p:cNvPr id="5" name="全市16区">
            <a:extLst>
              <a:ext uri="{FF2B5EF4-FFF2-40B4-BE49-F238E27FC236}">
                <a16:creationId xmlns:a16="http://schemas.microsoft.com/office/drawing/2014/main" id="{9404FC02-5E82-4EFB-BF5A-56284C202266}"/>
              </a:ext>
            </a:extLst>
          </p:cNvPr>
          <p:cNvSpPr>
            <a:spLocks noGrp="1"/>
          </p:cNvSpPr>
          <p:nvPr/>
        </p:nvSpPr>
        <p:spPr>
          <a:xfrm>
            <a:off x="7143750" y="1219200"/>
            <a:ext cx="2047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全市16区</a:t>
            </a:r>
          </a:p>
        </p:txBody>
      </p:sp>
      <p:sp>
        <p:nvSpPr>
          <p:cNvPr id="6" name="中心七区">
            <a:extLst>
              <a:ext uri="{FF2B5EF4-FFF2-40B4-BE49-F238E27FC236}">
                <a16:creationId xmlns:a16="http://schemas.microsoft.com/office/drawing/2014/main" id="{87DFBA9B-E488-45B2-9529-0AEB03695433}"/>
              </a:ext>
            </a:extLst>
          </p:cNvPr>
          <p:cNvSpPr>
            <a:spLocks noGrp="1"/>
          </p:cNvSpPr>
          <p:nvPr/>
        </p:nvSpPr>
        <p:spPr>
          <a:xfrm>
            <a:off x="9525000" y="1219200"/>
            <a:ext cx="2095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中心七区</a:t>
            </a:r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47EEEAA6-C771-484B-8D21-EDBE2D0CC41F}"/>
              </a:ext>
            </a:extLst>
          </p:cNvPr>
          <p:cNvGraphicFramePr/>
          <p:nvPr/>
        </p:nvGraphicFramePr>
        <p:xfrm>
          <a:off x="6896100" y="1657350"/>
          <a:ext cx="4762500" cy="3000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● 折中候选　△ 85%目标">
            <a:extLst>
              <a:ext uri="{FF2B5EF4-FFF2-40B4-BE49-F238E27FC236}">
                <a16:creationId xmlns:a16="http://schemas.microsoft.com/office/drawing/2014/main" id="{8E749EC4-8867-40CE-9BD3-8A70CB7CE1D6}"/>
              </a:ext>
            </a:extLst>
          </p:cNvPr>
          <p:cNvSpPr>
            <a:spLocks noGrp="1"/>
          </p:cNvSpPr>
          <p:nvPr/>
        </p:nvSpPr>
        <p:spPr>
          <a:xfrm>
            <a:off x="7143750" y="4686300"/>
            <a:ext cx="4381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● 折中候选　△ 85%目标</a:t>
            </a:r>
          </a:p>
        </p:txBody>
      </p:sp>
      <p:sp>
        <p:nvSpPr>
          <p:cNvPr id="9" name="全市 候选 1.85公里 / 72.5%">
            <a:extLst>
              <a:ext uri="{FF2B5EF4-FFF2-40B4-BE49-F238E27FC236}">
                <a16:creationId xmlns:a16="http://schemas.microsoft.com/office/drawing/2014/main" id="{0054BD84-D600-4C01-B957-2939AE64EAD0}"/>
              </a:ext>
            </a:extLst>
          </p:cNvPr>
          <p:cNvSpPr>
            <a:spLocks noGrp="1"/>
          </p:cNvSpPr>
          <p:nvPr/>
        </p:nvSpPr>
        <p:spPr>
          <a:xfrm>
            <a:off x="6953250" y="5095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 候选 1.85公里 / 72.5%</a:t>
            </a:r>
          </a:p>
        </p:txBody>
      </p:sp>
      <p:sp>
        <p:nvSpPr>
          <p:cNvPr id="10" name="七区 候选 1.00公里 / 77.0%">
            <a:extLst>
              <a:ext uri="{FF2B5EF4-FFF2-40B4-BE49-F238E27FC236}">
                <a16:creationId xmlns:a16="http://schemas.microsoft.com/office/drawing/2014/main" id="{3F08CB27-31FD-4AEE-94DD-B8DC08850494}"/>
              </a:ext>
            </a:extLst>
          </p:cNvPr>
          <p:cNvSpPr>
            <a:spLocks noGrp="1"/>
          </p:cNvSpPr>
          <p:nvPr/>
        </p:nvSpPr>
        <p:spPr>
          <a:xfrm>
            <a:off x="6953250" y="5476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七区 候选 1.00公里 / 77.0%</a:t>
            </a:r>
          </a:p>
        </p:txBody>
      </p:sp>
      <p:sp>
        <p:nvSpPr>
          <p:cNvPr id="11" name="同一时点半径变化　服务网点不保证自习座位">
            <a:extLst>
              <a:ext uri="{FF2B5EF4-FFF2-40B4-BE49-F238E27FC236}">
                <a16:creationId xmlns:a16="http://schemas.microsoft.com/office/drawing/2014/main" id="{F833FC4C-7EEB-4FB9-A214-DCD735E9D665}"/>
              </a:ext>
            </a:extLst>
          </p:cNvPr>
          <p:cNvSpPr>
            <a:spLocks noGrp="1"/>
          </p:cNvSpPr>
          <p:nvPr/>
        </p:nvSpPr>
        <p:spPr>
          <a:xfrm>
            <a:off x="571500" y="5762625"/>
            <a:ext cx="11049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同一时点半径变化　服务网点不保证自习座位</a:t>
            </a:r>
          </a:p>
        </p:txBody>
      </p:sp>
    </p:spTree>
    <p:extLst>
      <p:ext uri="{BB962C8B-B14F-4D97-AF65-F5344CB8AC3E}">
        <p14:creationId xmlns:p14="http://schemas.microsoft.com/office/powerpoint/2010/main" val="5095608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市民健身中心的地图与折中曲线">
            <a:extLst>
              <a:ext uri="{FF2B5EF4-FFF2-40B4-BE49-F238E27FC236}">
                <a16:creationId xmlns:a16="http://schemas.microsoft.com/office/drawing/2014/main" id="{511C682D-0A07-430B-91B6-27B147A1FDE0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市民健身中心的地图与折中曲线</a:t>
            </a:r>
          </a:p>
        </p:txBody>
      </p:sp>
      <p:sp>
        <p:nvSpPr>
          <p:cNvPr id="2" name="本组测算；名录/点位快照 2026-10-12；© OpenSt">
            <a:extLst>
              <a:ext uri="{FF2B5EF4-FFF2-40B4-BE49-F238E27FC236}">
                <a16:creationId xmlns:a16="http://schemas.microsoft.com/office/drawing/2014/main" id="{AD4E82BB-BB60-4EB2-8D75-B06097204FCA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本组测算；名录/点位快照 2026-10-12；© OpenStreetMap contributors，ODbL</a:t>
            </a:r>
          </a:p>
        </p:txBody>
      </p:sp>
      <p:sp>
        <p:nvSpPr>
          <p:cNvPr id="3" name="11">
            <a:extLst>
              <a:ext uri="{FF2B5EF4-FFF2-40B4-BE49-F238E27FC236}">
                <a16:creationId xmlns:a16="http://schemas.microsoft.com/office/drawing/2014/main" id="{D7F63AF0-06C5-4CAB-BE99-E34B2C1510F9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11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6D4A62FF-A683-4188-9A8C-74103195AA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524000"/>
            <a:ext cx="6096000" cy="4000500"/>
          </a:xfrm>
          <a:prstGeom prst="rect">
            <a:avLst/>
          </a:prstGeom>
        </p:spPr>
      </p:pic>
      <p:sp>
        <p:nvSpPr>
          <p:cNvPr id="5" name="全市16区">
            <a:extLst>
              <a:ext uri="{FF2B5EF4-FFF2-40B4-BE49-F238E27FC236}">
                <a16:creationId xmlns:a16="http://schemas.microsoft.com/office/drawing/2014/main" id="{45A97EFE-CC21-418E-BE30-8901AF38431F}"/>
              </a:ext>
            </a:extLst>
          </p:cNvPr>
          <p:cNvSpPr>
            <a:spLocks noGrp="1"/>
          </p:cNvSpPr>
          <p:nvPr/>
        </p:nvSpPr>
        <p:spPr>
          <a:xfrm>
            <a:off x="7143750" y="1219200"/>
            <a:ext cx="2047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全市16区</a:t>
            </a:r>
          </a:p>
        </p:txBody>
      </p:sp>
      <p:sp>
        <p:nvSpPr>
          <p:cNvPr id="6" name="中心七区">
            <a:extLst>
              <a:ext uri="{FF2B5EF4-FFF2-40B4-BE49-F238E27FC236}">
                <a16:creationId xmlns:a16="http://schemas.microsoft.com/office/drawing/2014/main" id="{EA2DA549-E07F-4FFC-9304-D31DF00E47F7}"/>
              </a:ext>
            </a:extLst>
          </p:cNvPr>
          <p:cNvSpPr>
            <a:spLocks noGrp="1"/>
          </p:cNvSpPr>
          <p:nvPr/>
        </p:nvSpPr>
        <p:spPr>
          <a:xfrm>
            <a:off x="9525000" y="1219200"/>
            <a:ext cx="2095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中心七区</a:t>
            </a:r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CE3794E0-BBE0-4676-9E69-DA58D59FD24B}"/>
              </a:ext>
            </a:extLst>
          </p:cNvPr>
          <p:cNvGraphicFramePr/>
          <p:nvPr/>
        </p:nvGraphicFramePr>
        <p:xfrm>
          <a:off x="6896100" y="1657350"/>
          <a:ext cx="4762500" cy="3000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● 折中候选　△ 85%目标">
            <a:extLst>
              <a:ext uri="{FF2B5EF4-FFF2-40B4-BE49-F238E27FC236}">
                <a16:creationId xmlns:a16="http://schemas.microsoft.com/office/drawing/2014/main" id="{2AED65EF-FD15-4D8B-B4A0-7CEBCA8E9029}"/>
              </a:ext>
            </a:extLst>
          </p:cNvPr>
          <p:cNvSpPr>
            <a:spLocks noGrp="1"/>
          </p:cNvSpPr>
          <p:nvPr/>
        </p:nvSpPr>
        <p:spPr>
          <a:xfrm>
            <a:off x="7143750" y="4686300"/>
            <a:ext cx="4381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● 折中候选　△ 85%目标</a:t>
            </a:r>
          </a:p>
        </p:txBody>
      </p:sp>
      <p:sp>
        <p:nvSpPr>
          <p:cNvPr id="9" name="全市 候选 2.63公里 / 70.9%">
            <a:extLst>
              <a:ext uri="{FF2B5EF4-FFF2-40B4-BE49-F238E27FC236}">
                <a16:creationId xmlns:a16="http://schemas.microsoft.com/office/drawing/2014/main" id="{3A0D2C22-68BC-43E6-8F69-1605F2C7EE99}"/>
              </a:ext>
            </a:extLst>
          </p:cNvPr>
          <p:cNvSpPr>
            <a:spLocks noGrp="1"/>
          </p:cNvSpPr>
          <p:nvPr/>
        </p:nvSpPr>
        <p:spPr>
          <a:xfrm>
            <a:off x="6953250" y="5095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 候选 2.63公里 / 70.9%</a:t>
            </a:r>
          </a:p>
        </p:txBody>
      </p:sp>
      <p:sp>
        <p:nvSpPr>
          <p:cNvPr id="10" name="七区 候选 1.20公里 / 76.2%">
            <a:extLst>
              <a:ext uri="{FF2B5EF4-FFF2-40B4-BE49-F238E27FC236}">
                <a16:creationId xmlns:a16="http://schemas.microsoft.com/office/drawing/2014/main" id="{822CC2EC-2664-42A4-A340-3FD38B71F321}"/>
              </a:ext>
            </a:extLst>
          </p:cNvPr>
          <p:cNvSpPr>
            <a:spLocks noGrp="1"/>
          </p:cNvSpPr>
          <p:nvPr/>
        </p:nvSpPr>
        <p:spPr>
          <a:xfrm>
            <a:off x="6953250" y="5476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七区 候选 1.20公里 / 76.2%</a:t>
            </a:r>
          </a:p>
        </p:txBody>
      </p:sp>
      <p:sp>
        <p:nvSpPr>
          <p:cNvPr id="11" name="同一时点半径变化　点位名录与实际开放、收费分别核实">
            <a:extLst>
              <a:ext uri="{FF2B5EF4-FFF2-40B4-BE49-F238E27FC236}">
                <a16:creationId xmlns:a16="http://schemas.microsoft.com/office/drawing/2014/main" id="{7949B7F5-C433-46E8-93C6-CFD2A029EE40}"/>
              </a:ext>
            </a:extLst>
          </p:cNvPr>
          <p:cNvSpPr>
            <a:spLocks noGrp="1"/>
          </p:cNvSpPr>
          <p:nvPr/>
        </p:nvSpPr>
        <p:spPr>
          <a:xfrm>
            <a:off x="571500" y="5762625"/>
            <a:ext cx="11049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同一时点半径变化　点位名录与实际开放、收费分别核实</a:t>
            </a:r>
          </a:p>
        </p:txBody>
      </p:sp>
    </p:spTree>
    <p:extLst>
      <p:ext uri="{BB962C8B-B14F-4D97-AF65-F5344CB8AC3E}">
        <p14:creationId xmlns:p14="http://schemas.microsoft.com/office/powerpoint/2010/main" val="504560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公园类绿地 初版的地图与折中曲线">
            <a:extLst>
              <a:ext uri="{FF2B5EF4-FFF2-40B4-BE49-F238E27FC236}">
                <a16:creationId xmlns:a16="http://schemas.microsoft.com/office/drawing/2014/main" id="{2167BEB7-E0C7-4814-A38B-48E8386BC5BE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公园类绿地 初版的地图与折中曲线</a:t>
            </a:r>
          </a:p>
        </p:txBody>
      </p:sp>
      <p:sp>
        <p:nvSpPr>
          <p:cNvPr id="2" name="本组测算；名录/点位快照 2026-10-12；© OpenSt">
            <a:extLst>
              <a:ext uri="{FF2B5EF4-FFF2-40B4-BE49-F238E27FC236}">
                <a16:creationId xmlns:a16="http://schemas.microsoft.com/office/drawing/2014/main" id="{59A530FB-059A-45AA-ACBB-2B0E465410CC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本组测算；名录/点位快照 2026-10-12；© OpenStreetMap contributors，ODbL</a:t>
            </a:r>
          </a:p>
        </p:txBody>
      </p:sp>
      <p:sp>
        <p:nvSpPr>
          <p:cNvPr id="3" name="12">
            <a:extLst>
              <a:ext uri="{FF2B5EF4-FFF2-40B4-BE49-F238E27FC236}">
                <a16:creationId xmlns:a16="http://schemas.microsoft.com/office/drawing/2014/main" id="{3FB7FD2C-BFB8-47B2-B758-87BF40F6D234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12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39FC89C8-3857-4324-BD9E-1D9696D095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524000"/>
            <a:ext cx="6096000" cy="4000500"/>
          </a:xfrm>
          <a:prstGeom prst="rect">
            <a:avLst/>
          </a:prstGeom>
        </p:spPr>
      </p:pic>
      <p:sp>
        <p:nvSpPr>
          <p:cNvPr id="5" name="全市16区">
            <a:extLst>
              <a:ext uri="{FF2B5EF4-FFF2-40B4-BE49-F238E27FC236}">
                <a16:creationId xmlns:a16="http://schemas.microsoft.com/office/drawing/2014/main" id="{D70BDF96-A8FD-4ED2-8F88-1ABC33C983EF}"/>
              </a:ext>
            </a:extLst>
          </p:cNvPr>
          <p:cNvSpPr>
            <a:spLocks noGrp="1"/>
          </p:cNvSpPr>
          <p:nvPr/>
        </p:nvSpPr>
        <p:spPr>
          <a:xfrm>
            <a:off x="7143750" y="1219200"/>
            <a:ext cx="2047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全市16区</a:t>
            </a:r>
          </a:p>
        </p:txBody>
      </p:sp>
      <p:sp>
        <p:nvSpPr>
          <p:cNvPr id="6" name="中心七区">
            <a:extLst>
              <a:ext uri="{FF2B5EF4-FFF2-40B4-BE49-F238E27FC236}">
                <a16:creationId xmlns:a16="http://schemas.microsoft.com/office/drawing/2014/main" id="{12FFDFFD-7C3B-4727-A5A5-9F5EFE91792D}"/>
              </a:ext>
            </a:extLst>
          </p:cNvPr>
          <p:cNvSpPr>
            <a:spLocks noGrp="1"/>
          </p:cNvSpPr>
          <p:nvPr/>
        </p:nvSpPr>
        <p:spPr>
          <a:xfrm>
            <a:off x="9525000" y="1219200"/>
            <a:ext cx="2095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中心七区</a:t>
            </a:r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8D265113-2415-4BFB-AF72-151A3EF231D6}"/>
              </a:ext>
            </a:extLst>
          </p:cNvPr>
          <p:cNvGraphicFramePr/>
          <p:nvPr/>
        </p:nvGraphicFramePr>
        <p:xfrm>
          <a:off x="6896100" y="1657350"/>
          <a:ext cx="4762500" cy="3000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● 折中候选　△ 85%目标">
            <a:extLst>
              <a:ext uri="{FF2B5EF4-FFF2-40B4-BE49-F238E27FC236}">
                <a16:creationId xmlns:a16="http://schemas.microsoft.com/office/drawing/2014/main" id="{B59224D4-F356-4914-8C85-BA965972CF22}"/>
              </a:ext>
            </a:extLst>
          </p:cNvPr>
          <p:cNvSpPr>
            <a:spLocks noGrp="1"/>
          </p:cNvSpPr>
          <p:nvPr/>
        </p:nvSpPr>
        <p:spPr>
          <a:xfrm>
            <a:off x="7143750" y="4686300"/>
            <a:ext cx="4381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● 折中候选　△ 85%目标</a:t>
            </a:r>
          </a:p>
        </p:txBody>
      </p:sp>
      <p:sp>
        <p:nvSpPr>
          <p:cNvPr id="9" name="全市 候选 0.97公里 / 76.5%">
            <a:extLst>
              <a:ext uri="{FF2B5EF4-FFF2-40B4-BE49-F238E27FC236}">
                <a16:creationId xmlns:a16="http://schemas.microsoft.com/office/drawing/2014/main" id="{6D145848-640F-4BEB-B4A9-2B3DC4A76A78}"/>
              </a:ext>
            </a:extLst>
          </p:cNvPr>
          <p:cNvSpPr>
            <a:spLocks noGrp="1"/>
          </p:cNvSpPr>
          <p:nvPr/>
        </p:nvSpPr>
        <p:spPr>
          <a:xfrm>
            <a:off x="6953250" y="5095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 候选 0.97公里 / 76.5%</a:t>
            </a:r>
          </a:p>
        </p:txBody>
      </p:sp>
      <p:sp>
        <p:nvSpPr>
          <p:cNvPr id="10" name="七区 候选 0.45公里 / 72.5%">
            <a:extLst>
              <a:ext uri="{FF2B5EF4-FFF2-40B4-BE49-F238E27FC236}">
                <a16:creationId xmlns:a16="http://schemas.microsoft.com/office/drawing/2014/main" id="{B1609C74-308D-4E8E-976F-B26E1B5F2E06}"/>
              </a:ext>
            </a:extLst>
          </p:cNvPr>
          <p:cNvSpPr>
            <a:spLocks noGrp="1"/>
          </p:cNvSpPr>
          <p:nvPr/>
        </p:nvSpPr>
        <p:spPr>
          <a:xfrm>
            <a:off x="6953250" y="5476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七区 候选 0.45公里 / 72.5%</a:t>
            </a:r>
          </a:p>
        </p:txBody>
      </p:sp>
      <p:sp>
        <p:nvSpPr>
          <p:cNvPr id="11" name="同一时点半径变化　绿地按范围距离；实际开放与入口待核验">
            <a:extLst>
              <a:ext uri="{FF2B5EF4-FFF2-40B4-BE49-F238E27FC236}">
                <a16:creationId xmlns:a16="http://schemas.microsoft.com/office/drawing/2014/main" id="{6E9BB25E-1E85-48E8-B893-BBF5628C1C17}"/>
              </a:ext>
            </a:extLst>
          </p:cNvPr>
          <p:cNvSpPr>
            <a:spLocks noGrp="1"/>
          </p:cNvSpPr>
          <p:nvPr/>
        </p:nvSpPr>
        <p:spPr>
          <a:xfrm>
            <a:off x="571500" y="5762625"/>
            <a:ext cx="11049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同一时点半径变化　绿地按范围距离；实际开放与入口待核验</a:t>
            </a:r>
          </a:p>
        </p:txBody>
      </p:sp>
    </p:spTree>
    <p:extLst>
      <p:ext uri="{BB962C8B-B14F-4D97-AF65-F5344CB8AC3E}">
        <p14:creationId xmlns:p14="http://schemas.microsoft.com/office/powerpoint/2010/main" val="1917549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社区文化活动中心的地图与折中曲线">
            <a:extLst>
              <a:ext uri="{FF2B5EF4-FFF2-40B4-BE49-F238E27FC236}">
                <a16:creationId xmlns:a16="http://schemas.microsoft.com/office/drawing/2014/main" id="{5D7945C1-DCCC-43CA-BEBD-13A83FA23BEC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社区文化活动中心的地图与折中曲线</a:t>
            </a:r>
          </a:p>
        </p:txBody>
      </p:sp>
      <p:sp>
        <p:nvSpPr>
          <p:cNvPr id="2" name="本组测算；名录/点位快照 2026-10-21；© OpenSt">
            <a:extLst>
              <a:ext uri="{FF2B5EF4-FFF2-40B4-BE49-F238E27FC236}">
                <a16:creationId xmlns:a16="http://schemas.microsoft.com/office/drawing/2014/main" id="{A0496757-2EAD-4173-8144-BA1306FB8F9D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本组测算；名录/点位快照 2026-10-21；© OpenStreetMap contributors，ODbL</a:t>
            </a:r>
          </a:p>
        </p:txBody>
      </p:sp>
      <p:sp>
        <p:nvSpPr>
          <p:cNvPr id="3" name="13">
            <a:extLst>
              <a:ext uri="{FF2B5EF4-FFF2-40B4-BE49-F238E27FC236}">
                <a16:creationId xmlns:a16="http://schemas.microsoft.com/office/drawing/2014/main" id="{130FD35C-C001-4FEA-903A-1B043E91FD04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13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6FD41F30-5B9E-4A54-8114-943594071D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524000"/>
            <a:ext cx="6096000" cy="4000500"/>
          </a:xfrm>
          <a:prstGeom prst="rect">
            <a:avLst/>
          </a:prstGeom>
        </p:spPr>
      </p:pic>
      <p:sp>
        <p:nvSpPr>
          <p:cNvPr id="5" name="全市16区">
            <a:extLst>
              <a:ext uri="{FF2B5EF4-FFF2-40B4-BE49-F238E27FC236}">
                <a16:creationId xmlns:a16="http://schemas.microsoft.com/office/drawing/2014/main" id="{123F574D-BB8F-41BF-95FE-444641C99DBD}"/>
              </a:ext>
            </a:extLst>
          </p:cNvPr>
          <p:cNvSpPr>
            <a:spLocks noGrp="1"/>
          </p:cNvSpPr>
          <p:nvPr/>
        </p:nvSpPr>
        <p:spPr>
          <a:xfrm>
            <a:off x="7143750" y="1219200"/>
            <a:ext cx="2047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全市16区</a:t>
            </a:r>
          </a:p>
        </p:txBody>
      </p:sp>
      <p:sp>
        <p:nvSpPr>
          <p:cNvPr id="6" name="中心七区">
            <a:extLst>
              <a:ext uri="{FF2B5EF4-FFF2-40B4-BE49-F238E27FC236}">
                <a16:creationId xmlns:a16="http://schemas.microsoft.com/office/drawing/2014/main" id="{9AA94FA4-6CD3-461C-B167-4147B45570A5}"/>
              </a:ext>
            </a:extLst>
          </p:cNvPr>
          <p:cNvSpPr>
            <a:spLocks noGrp="1"/>
          </p:cNvSpPr>
          <p:nvPr/>
        </p:nvSpPr>
        <p:spPr>
          <a:xfrm>
            <a:off x="9525000" y="1219200"/>
            <a:ext cx="2095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中心七区</a:t>
            </a:r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8B8286B7-94DE-407A-A260-941E806A123A}"/>
              </a:ext>
            </a:extLst>
          </p:cNvPr>
          <p:cNvGraphicFramePr/>
          <p:nvPr/>
        </p:nvGraphicFramePr>
        <p:xfrm>
          <a:off x="6896100" y="1657350"/>
          <a:ext cx="4762500" cy="3000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● 折中候选　△ 85%目标">
            <a:extLst>
              <a:ext uri="{FF2B5EF4-FFF2-40B4-BE49-F238E27FC236}">
                <a16:creationId xmlns:a16="http://schemas.microsoft.com/office/drawing/2014/main" id="{DFDBD8AD-B91C-4851-A057-FC44F83C02A7}"/>
              </a:ext>
            </a:extLst>
          </p:cNvPr>
          <p:cNvSpPr>
            <a:spLocks noGrp="1"/>
          </p:cNvSpPr>
          <p:nvPr/>
        </p:nvSpPr>
        <p:spPr>
          <a:xfrm>
            <a:off x="7143750" y="4686300"/>
            <a:ext cx="4381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● 折中候选　△ 85%目标</a:t>
            </a:r>
          </a:p>
        </p:txBody>
      </p:sp>
      <p:sp>
        <p:nvSpPr>
          <p:cNvPr id="9" name="全市 候选 2.52公里 / 73.4%">
            <a:extLst>
              <a:ext uri="{FF2B5EF4-FFF2-40B4-BE49-F238E27FC236}">
                <a16:creationId xmlns:a16="http://schemas.microsoft.com/office/drawing/2014/main" id="{084576CB-1A46-4220-B3F6-FB018D6F3F31}"/>
              </a:ext>
            </a:extLst>
          </p:cNvPr>
          <p:cNvSpPr>
            <a:spLocks noGrp="1"/>
          </p:cNvSpPr>
          <p:nvPr/>
        </p:nvSpPr>
        <p:spPr>
          <a:xfrm>
            <a:off x="6953250" y="5095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 候选 2.52公里 / 73.4%</a:t>
            </a:r>
          </a:p>
        </p:txBody>
      </p:sp>
      <p:sp>
        <p:nvSpPr>
          <p:cNvPr id="10" name="七区 候选 1.23公里 / 80.2%">
            <a:extLst>
              <a:ext uri="{FF2B5EF4-FFF2-40B4-BE49-F238E27FC236}">
                <a16:creationId xmlns:a16="http://schemas.microsoft.com/office/drawing/2014/main" id="{0A174D9A-9A32-402F-A9E2-31A4FA6EAAB3}"/>
              </a:ext>
            </a:extLst>
          </p:cNvPr>
          <p:cNvSpPr>
            <a:spLocks noGrp="1"/>
          </p:cNvSpPr>
          <p:nvPr/>
        </p:nvSpPr>
        <p:spPr>
          <a:xfrm>
            <a:off x="6953250" y="5476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七区 候选 1.23公里 / 80.2%</a:t>
            </a:r>
          </a:p>
        </p:txBody>
      </p:sp>
      <p:sp>
        <p:nvSpPr>
          <p:cNvPr id="11" name="同一时点半径变化　登记同址不等于当前设有老年大学">
            <a:extLst>
              <a:ext uri="{FF2B5EF4-FFF2-40B4-BE49-F238E27FC236}">
                <a16:creationId xmlns:a16="http://schemas.microsoft.com/office/drawing/2014/main" id="{5D436CB7-4D84-4AE1-B6CF-D09720CDC562}"/>
              </a:ext>
            </a:extLst>
          </p:cNvPr>
          <p:cNvSpPr>
            <a:spLocks noGrp="1"/>
          </p:cNvSpPr>
          <p:nvPr/>
        </p:nvSpPr>
        <p:spPr>
          <a:xfrm>
            <a:off x="571500" y="5762625"/>
            <a:ext cx="11049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同一时点半径变化　登记同址不等于当前设有老年大学</a:t>
            </a:r>
          </a:p>
        </p:txBody>
      </p:sp>
    </p:spTree>
    <p:extLst>
      <p:ext uri="{BB962C8B-B14F-4D97-AF65-F5344CB8AC3E}">
        <p14:creationId xmlns:p14="http://schemas.microsoft.com/office/powerpoint/2010/main" val="8868497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社区卫生服务中心的地图与折中曲线">
            <a:extLst>
              <a:ext uri="{FF2B5EF4-FFF2-40B4-BE49-F238E27FC236}">
                <a16:creationId xmlns:a16="http://schemas.microsoft.com/office/drawing/2014/main" id="{60230A4A-C819-40B3-BD67-619018B1BF9E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社区卫生服务中心的地图与折中曲线</a:t>
            </a:r>
          </a:p>
        </p:txBody>
      </p:sp>
      <p:sp>
        <p:nvSpPr>
          <p:cNvPr id="2" name="本组测算；名录/点位快照 2026-10-21；© OpenSt">
            <a:extLst>
              <a:ext uri="{FF2B5EF4-FFF2-40B4-BE49-F238E27FC236}">
                <a16:creationId xmlns:a16="http://schemas.microsoft.com/office/drawing/2014/main" id="{12E23821-9D1D-4B8A-A43F-84503FC0FB42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本组测算；名录/点位快照 2026-10-21；© OpenStreetMap contributors，ODbL</a:t>
            </a:r>
          </a:p>
        </p:txBody>
      </p:sp>
      <p:sp>
        <p:nvSpPr>
          <p:cNvPr id="3" name="14">
            <a:extLst>
              <a:ext uri="{FF2B5EF4-FFF2-40B4-BE49-F238E27FC236}">
                <a16:creationId xmlns:a16="http://schemas.microsoft.com/office/drawing/2014/main" id="{F6E14609-C807-4A3B-9AEA-10B6F060C37B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14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8633B0FC-5F59-4DCA-A0CB-9A38B20FE9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524000"/>
            <a:ext cx="6096000" cy="4000500"/>
          </a:xfrm>
          <a:prstGeom prst="rect">
            <a:avLst/>
          </a:prstGeom>
        </p:spPr>
      </p:pic>
      <p:sp>
        <p:nvSpPr>
          <p:cNvPr id="5" name="全市16区">
            <a:extLst>
              <a:ext uri="{FF2B5EF4-FFF2-40B4-BE49-F238E27FC236}">
                <a16:creationId xmlns:a16="http://schemas.microsoft.com/office/drawing/2014/main" id="{319E9220-6D24-4FCF-BE89-C6FBDD9371A0}"/>
              </a:ext>
            </a:extLst>
          </p:cNvPr>
          <p:cNvSpPr>
            <a:spLocks noGrp="1"/>
          </p:cNvSpPr>
          <p:nvPr/>
        </p:nvSpPr>
        <p:spPr>
          <a:xfrm>
            <a:off x="7143750" y="1219200"/>
            <a:ext cx="2047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全市16区</a:t>
            </a:r>
          </a:p>
        </p:txBody>
      </p:sp>
      <p:sp>
        <p:nvSpPr>
          <p:cNvPr id="6" name="中心七区">
            <a:extLst>
              <a:ext uri="{FF2B5EF4-FFF2-40B4-BE49-F238E27FC236}">
                <a16:creationId xmlns:a16="http://schemas.microsoft.com/office/drawing/2014/main" id="{284EBA1C-02B6-4881-854F-1A045B71BCED}"/>
              </a:ext>
            </a:extLst>
          </p:cNvPr>
          <p:cNvSpPr>
            <a:spLocks noGrp="1"/>
          </p:cNvSpPr>
          <p:nvPr/>
        </p:nvSpPr>
        <p:spPr>
          <a:xfrm>
            <a:off x="9525000" y="1219200"/>
            <a:ext cx="2095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中心七区</a:t>
            </a:r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97F7D935-83BE-4ED9-92CC-589B059A0EA5}"/>
              </a:ext>
            </a:extLst>
          </p:cNvPr>
          <p:cNvGraphicFramePr/>
          <p:nvPr/>
        </p:nvGraphicFramePr>
        <p:xfrm>
          <a:off x="6896100" y="1657350"/>
          <a:ext cx="4762500" cy="3000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● 折中候选　△ 85%目标">
            <a:extLst>
              <a:ext uri="{FF2B5EF4-FFF2-40B4-BE49-F238E27FC236}">
                <a16:creationId xmlns:a16="http://schemas.microsoft.com/office/drawing/2014/main" id="{15250582-2BF4-476B-AAD7-CB916B5BC40D}"/>
              </a:ext>
            </a:extLst>
          </p:cNvPr>
          <p:cNvSpPr>
            <a:spLocks noGrp="1"/>
          </p:cNvSpPr>
          <p:nvPr/>
        </p:nvSpPr>
        <p:spPr>
          <a:xfrm>
            <a:off x="7143750" y="4686300"/>
            <a:ext cx="4381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● 折中候选　△ 85%目标</a:t>
            </a:r>
          </a:p>
        </p:txBody>
      </p:sp>
      <p:sp>
        <p:nvSpPr>
          <p:cNvPr id="9" name="全市 候选 2.27公里 / 72.5%">
            <a:extLst>
              <a:ext uri="{FF2B5EF4-FFF2-40B4-BE49-F238E27FC236}">
                <a16:creationId xmlns:a16="http://schemas.microsoft.com/office/drawing/2014/main" id="{1881189B-7A58-4605-9610-2844C17252BE}"/>
              </a:ext>
            </a:extLst>
          </p:cNvPr>
          <p:cNvSpPr>
            <a:spLocks noGrp="1"/>
          </p:cNvSpPr>
          <p:nvPr/>
        </p:nvSpPr>
        <p:spPr>
          <a:xfrm>
            <a:off x="6953250" y="5095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 候选 2.27公里 / 72.5%</a:t>
            </a:r>
          </a:p>
        </p:txBody>
      </p:sp>
      <p:sp>
        <p:nvSpPr>
          <p:cNvPr id="10" name="七区 候选 1.13公里 / 77.2%">
            <a:extLst>
              <a:ext uri="{FF2B5EF4-FFF2-40B4-BE49-F238E27FC236}">
                <a16:creationId xmlns:a16="http://schemas.microsoft.com/office/drawing/2014/main" id="{124628A5-E763-4BE9-B6E3-3F2C7D6F0015}"/>
              </a:ext>
            </a:extLst>
          </p:cNvPr>
          <p:cNvSpPr>
            <a:spLocks noGrp="1"/>
          </p:cNvSpPr>
          <p:nvPr/>
        </p:nvSpPr>
        <p:spPr>
          <a:xfrm>
            <a:off x="6953250" y="5476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七区 候选 1.13公里 / 77.2%</a:t>
            </a:r>
          </a:p>
        </p:txBody>
      </p:sp>
      <p:sp>
        <p:nvSpPr>
          <p:cNvPr id="11" name="同一时点半径变化　只计已定位中心院址，不代表全部卫生服务站">
            <a:extLst>
              <a:ext uri="{FF2B5EF4-FFF2-40B4-BE49-F238E27FC236}">
                <a16:creationId xmlns:a16="http://schemas.microsoft.com/office/drawing/2014/main" id="{054102E0-8685-474F-A200-23DDD22D037C}"/>
              </a:ext>
            </a:extLst>
          </p:cNvPr>
          <p:cNvSpPr>
            <a:spLocks noGrp="1"/>
          </p:cNvSpPr>
          <p:nvPr/>
        </p:nvSpPr>
        <p:spPr>
          <a:xfrm>
            <a:off x="571500" y="5762625"/>
            <a:ext cx="11049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同一时点半径变化　只计已定位中心院址，不代表全部卫生服务站</a:t>
            </a:r>
          </a:p>
        </p:txBody>
      </p:sp>
    </p:spTree>
    <p:extLst>
      <p:ext uri="{BB962C8B-B14F-4D97-AF65-F5344CB8AC3E}">
        <p14:creationId xmlns:p14="http://schemas.microsoft.com/office/powerpoint/2010/main" val="4172318342"/>
      </p:ext>
    </p:extLst>
  </p:cSld>
  <p:clrMapOvr>
    <a:masterClrMapping/>
  </p:clrMapOvr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5F0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我家所在街道的公共服务">
            <a:extLst xmlns:a="http://schemas.openxmlformats.org/drawingml/2006/main">
              <a:ext uri="{FF2B5EF4-FFF2-40B4-BE49-F238E27FC236}">
                <a16:creationId xmlns:a16="http://schemas.microsoft.com/office/drawing/2014/main" id="{8E194085-0D2E-4398-BAAD-3CE0FD377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 xmlns:a="http://schemas.openxmlformats.org/drawingml/2006/main"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我家所在街道的公共服务</a:t>
            </a:r>
          </a:p>
        </p:txBody>
      </p:sp>
      <p:sp>
        <p:nvSpPr>
          <p:cNvPr id="2" name="图片：小组提供；面积：长宁区政府街道概况，2026-03-09&#10;辖区总面积口径">
            <a:extLst xmlns:a="http://schemas.openxmlformats.org/drawingml/2006/main">
              <a:ext uri="{FF2B5EF4-FFF2-40B4-BE49-F238E27FC236}">
                <a16:creationId xmlns:a16="http://schemas.microsoft.com/office/drawing/2014/main" id="{F1DFB1E4-BFB6-4950-9157-51BDE56EC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29350"/>
            <a:ext cx="10525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图片：小组提供；面积：长宁区政府街道概况，2026-03-09</a:t>
            </a:r>
          </a:p>
          <a:p xmlns:a="http://schemas.openxmlformats.org/drawingml/2006/main"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辖区总面积口径</a:t>
            </a:r>
          </a:p>
        </p:txBody>
      </p:sp>
      <p:sp>
        <p:nvSpPr>
          <p:cNvPr id="3" name="15">
            <a:extLst xmlns:a="http://schemas.openxmlformats.org/drawingml/2006/main">
              <a:ext uri="{FF2B5EF4-FFF2-40B4-BE49-F238E27FC236}">
                <a16:creationId xmlns:a16="http://schemas.microsoft.com/office/drawing/2014/main" id="{269F2E5F-42DE-4F99-A4DD-EB6BFD88C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15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6C5B12-9881-4C7D-ADAA-CFA8BB3C0BC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29dc0a62164761"/>
          <a:stretch xmlns:a="http://schemas.openxmlformats.org/drawingml/2006/main"/>
        </p:blipFill>
        <p:spPr>
          <a:xfrm xmlns:a="http://schemas.openxmlformats.org/drawingml/2006/main">
            <a:off x="571500" y="1266825"/>
            <a:ext cx="8572500" cy="4738688"/>
          </a:xfrm>
          <a:prstGeom xmlns:a="http://schemas.openxmlformats.org/drawingml/2006/main" prst="rect">
            <a:avLst/>
          </a:prstGeom>
        </p:spPr>
      </p:pic>
      <p:sp>
        <p:nvSpPr>
          <p:cNvPr id="5" name="自行标注">
            <a:extLst xmlns:a="http://schemas.openxmlformats.org/drawingml/2006/main">
              <a:ext uri="{FF2B5EF4-FFF2-40B4-BE49-F238E27FC236}">
                <a16:creationId xmlns:a16="http://schemas.microsoft.com/office/drawing/2014/main" id="{2FFF8C31-6926-476A-82D4-815B8BB72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1476375"/>
            <a:ext cx="2057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自行标注</a:t>
            </a:r>
          </a:p>
        </p:txBody>
      </p:sp>
      <p:sp>
        <p:nvSpPr>
          <p:cNvPr id="6" name="图书馆&#10;健身中心&#10;社区食堂&#10;公共绿地&#10;卫生中心">
            <a:extLst xmlns:a="http://schemas.openxmlformats.org/drawingml/2006/main">
              <a:ext uri="{FF2B5EF4-FFF2-40B4-BE49-F238E27FC236}">
                <a16:creationId xmlns:a16="http://schemas.microsoft.com/office/drawing/2014/main" id="{F192DEDA-C78E-4F10-8DBE-426E8DFA9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152650"/>
            <a:ext cx="2057400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图书馆</a:t>
            </a:r>
          </a:p>
          <a:p xmlns:a="http://schemas.openxmlformats.org/drawingml/2006/main"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健身中心</a:t>
            </a:r>
          </a:p>
          <a:p xmlns:a="http://schemas.openxmlformats.org/drawingml/2006/main"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社区食堂</a:t>
            </a:r>
          </a:p>
          <a:p xmlns:a="http://schemas.openxmlformats.org/drawingml/2006/main"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公共绿地</a:t>
            </a:r>
          </a:p>
          <a:p xmlns:a="http://schemas.openxmlformats.org/drawingml/2006/main"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卫生中心</a:t>
            </a:r>
          </a:p>
        </p:txBody>
      </p:sp>
      <p:sp>
        <p:nvSpPr>
          <p:cNvPr id="7" name="辖区面积">
            <a:extLst xmlns:a="http://schemas.openxmlformats.org/drawingml/2006/main">
              <a:ext uri="{FF2B5EF4-FFF2-40B4-BE49-F238E27FC236}">
                <a16:creationId xmlns:a16="http://schemas.microsoft.com/office/drawing/2014/main" id="{1E163551-95EA-4526-ACAC-9869C4568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505325"/>
            <a:ext cx="2057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辖区面积</a:t>
            </a:r>
          </a:p>
        </p:txBody>
      </p:sp>
      <p:sp>
        <p:nvSpPr>
          <p:cNvPr id="8" name="约2">
            <a:extLst xmlns:a="http://schemas.openxmlformats.org/drawingml/2006/main">
              <a:ext uri="{FF2B5EF4-FFF2-40B4-BE49-F238E27FC236}">
                <a16:creationId xmlns:a16="http://schemas.microsoft.com/office/drawing/2014/main" id="{2A63487D-FD1B-4140-9CDD-39FF46098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905375"/>
            <a:ext cx="20574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 xmlns:a="http://schemas.openxmlformats.org/drawingml/2006/main">
            <a: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约2</a:t>
            </a:r>
          </a:p>
        </p:txBody>
      </p:sp>
      <p:sp>
        <p:nvSpPr>
          <p:cNvPr id="9" name="平方公里">
            <a:extLst xmlns:a="http://schemas.openxmlformats.org/drawingml/2006/main">
              <a:ext uri="{FF2B5EF4-FFF2-40B4-BE49-F238E27FC236}">
                <a16:creationId xmlns:a16="http://schemas.microsoft.com/office/drawing/2014/main" id="{F447FE9E-D74B-423C-8E0D-0505E2D34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5600700"/>
            <a:ext cx="2057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平方公里</a:t>
            </a:r>
          </a:p>
        </p:txBody>
      </p:sp>
    </p:spTree>
    <p:extLst>
      <p:ext uri="{BB962C8B-B14F-4D97-AF65-F5344CB8AC3E}">
        <p14:creationId xmlns:p14="http://schemas.microsoft.com/office/powerpoint/2010/main" val="165031430"/>
      </p:ext>
    </p:extLst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图书馆：家附近的阅读与学习空间">
            <a:extLst>
              <a:ext uri="{FF2B5EF4-FFF2-40B4-BE49-F238E27FC236}">
                <a16:creationId xmlns:a16="http://schemas.microsoft.com/office/drawing/2014/main" id="{AD0947CE-BF3B-42B1-9A54-505A9C62E596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图书馆：家附近的阅读与学习空间</a:t>
            </a:r>
          </a:p>
        </p:txBody>
      </p:sp>
      <p:sp>
        <p:nvSpPr>
          <p:cNvPr id="2" name="图片：原稿提供；开放时段：上海图书馆服务网点公开记录，2026-">
            <a:extLst>
              <a:ext uri="{FF2B5EF4-FFF2-40B4-BE49-F238E27FC236}">
                <a16:creationId xmlns:a16="http://schemas.microsoft.com/office/drawing/2014/main" id="{F9A221A6-B000-4365-85AE-C11F3BF99B47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图片：原稿提供；开放时段：上海图书馆服务网点公开记录，2026-10-12</a:t>
            </a:r>
          </a:p>
        </p:txBody>
      </p:sp>
      <p:sp>
        <p:nvSpPr>
          <p:cNvPr id="3" name="16">
            <a:extLst>
              <a:ext uri="{FF2B5EF4-FFF2-40B4-BE49-F238E27FC236}">
                <a16:creationId xmlns:a16="http://schemas.microsoft.com/office/drawing/2014/main" id="{4D648CC4-A536-4437-844E-C8A8011CD35E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16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5740F293-F38A-4D1F-A227-3099141492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28768" y="1381125"/>
            <a:ext cx="6724465" cy="4476750"/>
          </a:xfrm>
          <a:prstGeom prst="rect">
            <a:avLst/>
          </a:prstGeom>
        </p:spPr>
      </p:pic>
      <p:sp>
        <p:nvSpPr>
          <p:cNvPr id="5" name="8:30—20:30">
            <a:extLst>
              <a:ext uri="{FF2B5EF4-FFF2-40B4-BE49-F238E27FC236}">
                <a16:creationId xmlns:a16="http://schemas.microsoft.com/office/drawing/2014/main" id="{44656C19-4A45-4A10-AB6E-7E1DF2D0F905}"/>
              </a:ext>
            </a:extLst>
          </p:cNvPr>
          <p:cNvSpPr>
            <a:spLocks noGrp="1"/>
          </p:cNvSpPr>
          <p:nvPr/>
        </p:nvSpPr>
        <p:spPr>
          <a:xfrm>
            <a:off x="8334375" y="1857375"/>
            <a:ext cx="3286125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4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8:30—20:30</a:t>
            </a:r>
          </a:p>
        </p:txBody>
      </p:sp>
      <p:sp>
        <p:nvSpPr>
          <p:cNvPr id="6" name="周一至周日">
            <a:extLst>
              <a:ext uri="{FF2B5EF4-FFF2-40B4-BE49-F238E27FC236}">
                <a16:creationId xmlns:a16="http://schemas.microsoft.com/office/drawing/2014/main" id="{8E7723D3-A12A-43A9-9713-97349EDAAFC5}"/>
              </a:ext>
            </a:extLst>
          </p:cNvPr>
          <p:cNvSpPr>
            <a:spLocks noGrp="1"/>
          </p:cNvSpPr>
          <p:nvPr/>
        </p:nvSpPr>
        <p:spPr>
          <a:xfrm>
            <a:off x="8334375" y="2943225"/>
            <a:ext cx="3286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周一至周日</a:t>
            </a:r>
          </a:p>
        </p:txBody>
      </p:sp>
      <p:sp>
        <p:nvSpPr>
          <p:cNvPr id="7" name="阅览与借阅&#10;自习功能以实际场馆为准">
            <a:extLst>
              <a:ext uri="{FF2B5EF4-FFF2-40B4-BE49-F238E27FC236}">
                <a16:creationId xmlns:a16="http://schemas.microsoft.com/office/drawing/2014/main" id="{DD2B5816-8A71-4C76-9162-E15AA4D3B153}"/>
              </a:ext>
            </a:extLst>
          </p:cNvPr>
          <p:cNvSpPr>
            <a:spLocks noGrp="1"/>
          </p:cNvSpPr>
          <p:nvPr/>
        </p:nvSpPr>
        <p:spPr>
          <a:xfrm>
            <a:off x="8334375" y="4010025"/>
            <a:ext cx="3286125" cy="1123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阅览与借阅</a:t>
            </a:r>
          </a:p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自习功能以实际场馆为准</a:t>
            </a:r>
          </a:p>
        </p:txBody>
      </p:sp>
      <p:sp>
        <p:nvSpPr>
          <p:cNvPr id="8" name="节假日及临时调整&#10;以场馆公告为准">
            <a:extLst>
              <a:ext uri="{FF2B5EF4-FFF2-40B4-BE49-F238E27FC236}">
                <a16:creationId xmlns:a16="http://schemas.microsoft.com/office/drawing/2014/main" id="{1EF6C09B-59AF-4A54-8B9C-C61848160F69}"/>
              </a:ext>
            </a:extLst>
          </p:cNvPr>
          <p:cNvSpPr>
            <a:spLocks noGrp="1"/>
          </p:cNvSpPr>
          <p:nvPr/>
        </p:nvSpPr>
        <p:spPr>
          <a:xfrm>
            <a:off x="8334375" y="5314950"/>
            <a:ext cx="3286125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50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节假日及临时调整</a:t>
            </a:r>
          </a:p>
          <a:p>
            <a: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50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以场馆公告为准</a:t>
            </a:r>
          </a:p>
        </p:txBody>
      </p:sp>
      <p:sp>
        <p:nvSpPr>
          <p:cNvPr id="10" name="24小时时间刻度">
            <a:extLst>
              <a:ext uri="{FF2B5EF4-FFF2-40B4-BE49-F238E27FC236}">
                <a16:creationId xmlns:a16="http://schemas.microsoft.com/office/drawing/2014/main" id="{8EF9E946-A51E-45A6-B95A-D324DA0DF288}"/>
              </a:ext>
            </a:extLst>
          </p:cNvPr>
          <p:cNvSpPr>
            <a:spLocks noGrp="1"/>
          </p:cNvSpPr>
          <p:nvPr/>
        </p:nvSpPr>
        <p:spPr>
          <a:xfrm>
            <a:off x="8334375" y="3652838"/>
            <a:ext cx="3286125" cy="28575"/>
          </a:xfrm>
          <a:prstGeom prst="rect">
            <a:avLst/>
          </a:prstGeom>
          <a:solidFill>
            <a:srgbClr val="DBCAC2"/>
          </a:solidFill>
          <a:ln w="0">
            <a:noFill/>
          </a:ln>
        </p:spPr>
      </p:sp>
      <p:sp>
        <p:nvSpPr>
          <p:cNvPr id="11" name="开放时段">
            <a:extLst>
              <a:ext uri="{FF2B5EF4-FFF2-40B4-BE49-F238E27FC236}">
                <a16:creationId xmlns:a16="http://schemas.microsoft.com/office/drawing/2014/main" id="{E2C407BA-E265-4D7A-A579-785A760B1633}"/>
              </a:ext>
            </a:extLst>
          </p:cNvPr>
          <p:cNvSpPr>
            <a:spLocks noGrp="1"/>
          </p:cNvSpPr>
          <p:nvPr/>
        </p:nvSpPr>
        <p:spPr>
          <a:xfrm>
            <a:off x="9498211" y="3638550"/>
            <a:ext cx="1643063" cy="571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</p:sp>
      <p:sp>
        <p:nvSpPr>
          <p:cNvPr id="12" name="0时">
            <a:extLst>
              <a:ext uri="{FF2B5EF4-FFF2-40B4-BE49-F238E27FC236}">
                <a16:creationId xmlns:a16="http://schemas.microsoft.com/office/drawing/2014/main" id="{AFF39AFA-A762-4E0A-B251-E4D43D2939EA}"/>
              </a:ext>
            </a:extLst>
          </p:cNvPr>
          <p:cNvSpPr>
            <a:spLocks noGrp="1"/>
          </p:cNvSpPr>
          <p:nvPr/>
        </p:nvSpPr>
        <p:spPr>
          <a:xfrm>
            <a:off x="8334375" y="3752850"/>
            <a:ext cx="3810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0时</a:t>
            </a:r>
          </a:p>
        </p:txBody>
      </p:sp>
      <p:sp>
        <p:nvSpPr>
          <p:cNvPr id="13" name="12时">
            <a:extLst>
              <a:ext uri="{FF2B5EF4-FFF2-40B4-BE49-F238E27FC236}">
                <a16:creationId xmlns:a16="http://schemas.microsoft.com/office/drawing/2014/main" id="{30C277BE-9416-4074-B7CA-797D7885A111}"/>
              </a:ext>
            </a:extLst>
          </p:cNvPr>
          <p:cNvSpPr>
            <a:spLocks noGrp="1"/>
          </p:cNvSpPr>
          <p:nvPr/>
        </p:nvSpPr>
        <p:spPr>
          <a:xfrm>
            <a:off x="9767888" y="3752850"/>
            <a:ext cx="4191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12时</a:t>
            </a:r>
          </a:p>
        </p:txBody>
      </p:sp>
      <p:sp>
        <p:nvSpPr>
          <p:cNvPr id="14" name="24时">
            <a:extLst>
              <a:ext uri="{FF2B5EF4-FFF2-40B4-BE49-F238E27FC236}">
                <a16:creationId xmlns:a16="http://schemas.microsoft.com/office/drawing/2014/main" id="{91ACB7E4-F9CA-438A-A1E4-84F1839678D8}"/>
              </a:ext>
            </a:extLst>
          </p:cNvPr>
          <p:cNvSpPr>
            <a:spLocks noGrp="1"/>
          </p:cNvSpPr>
          <p:nvPr/>
        </p:nvSpPr>
        <p:spPr>
          <a:xfrm>
            <a:off x="11239500" y="3752850"/>
            <a:ext cx="3810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24时</a:t>
            </a:r>
          </a:p>
        </p:txBody>
      </p:sp>
      <p:pic>
        <p:nvPicPr>
          <p:cNvPr id="15" name="Rive第16页演示（隐藏后可编辑下层）">
            <a:extLst>
              <a:ext uri="{FF2B5EF4-FFF2-40B4-BE49-F238E27FC236}">
                <a16:creationId xmlns:a16="http://schemas.microsoft.com/office/drawing/2014/main" id="{F98234E0-B45F-47EF-AFBB-DA1C57265AD1}"/>
              </a:ext>
            </a:extLst>
          </p:cNvPr>
          <p:cNvPicPr>
            <a:picLocks noChangeAspect="1"/>
          </p:cNvPicPr>
          <p:nvPr/>
        </p:nvPicPr>
        <p:blipFill>
          <a:blip r:embed="rIdRiveDemo16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79013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市民健身中心：日常运动空间">
            <a:extLst>
              <a:ext uri="{FF2B5EF4-FFF2-40B4-BE49-F238E27FC236}">
                <a16:creationId xmlns:a16="http://schemas.microsoft.com/office/drawing/2014/main" id="{DCDB5945-C9ED-4808-961C-FCB288C77A27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市民健身中心：日常运动空间</a:t>
            </a:r>
          </a:p>
        </p:txBody>
      </p:sp>
      <p:sp>
        <p:nvSpPr>
          <p:cNvPr id="2" name="图片：原稿提供；开放时段：上海公共体育设施平台记录，2026-1">
            <a:extLst>
              <a:ext uri="{FF2B5EF4-FFF2-40B4-BE49-F238E27FC236}">
                <a16:creationId xmlns:a16="http://schemas.microsoft.com/office/drawing/2014/main" id="{54F571BB-F987-4C41-A15F-17BB722EEA40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图片：原稿提供；开放时段：上海公共体育设施平台记录，2026-10-12</a:t>
            </a:r>
          </a:p>
        </p:txBody>
      </p:sp>
      <p:sp>
        <p:nvSpPr>
          <p:cNvPr id="3" name="17">
            <a:extLst>
              <a:ext uri="{FF2B5EF4-FFF2-40B4-BE49-F238E27FC236}">
                <a16:creationId xmlns:a16="http://schemas.microsoft.com/office/drawing/2014/main" id="{700C98EF-3D26-4DEF-8FDC-5D086ECD103C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17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62653020-8E8D-4B7C-946E-5CEBF3A99C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36059" y="1381125"/>
            <a:ext cx="6709883" cy="4476750"/>
          </a:xfrm>
          <a:prstGeom prst="rect">
            <a:avLst/>
          </a:prstGeom>
        </p:spPr>
      </p:pic>
      <p:sp>
        <p:nvSpPr>
          <p:cNvPr id="5" name="7:00—22:00">
            <a:extLst>
              <a:ext uri="{FF2B5EF4-FFF2-40B4-BE49-F238E27FC236}">
                <a16:creationId xmlns:a16="http://schemas.microsoft.com/office/drawing/2014/main" id="{B116076B-C205-458F-9D20-AA619827AEF5}"/>
              </a:ext>
            </a:extLst>
          </p:cNvPr>
          <p:cNvSpPr>
            <a:spLocks noGrp="1"/>
          </p:cNvSpPr>
          <p:nvPr/>
        </p:nvSpPr>
        <p:spPr>
          <a:xfrm>
            <a:off x="8334375" y="1857375"/>
            <a:ext cx="3286125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4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7:00—22:00</a:t>
            </a:r>
          </a:p>
        </p:txBody>
      </p:sp>
      <p:sp>
        <p:nvSpPr>
          <p:cNvPr id="6" name="工作日及周末">
            <a:extLst>
              <a:ext uri="{FF2B5EF4-FFF2-40B4-BE49-F238E27FC236}">
                <a16:creationId xmlns:a16="http://schemas.microsoft.com/office/drawing/2014/main" id="{2B382EBE-BB91-4D8D-8404-C8D02C92B143}"/>
              </a:ext>
            </a:extLst>
          </p:cNvPr>
          <p:cNvSpPr>
            <a:spLocks noGrp="1"/>
          </p:cNvSpPr>
          <p:nvPr/>
        </p:nvSpPr>
        <p:spPr>
          <a:xfrm>
            <a:off x="8334375" y="2943225"/>
            <a:ext cx="3286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工作日及周末</a:t>
            </a:r>
          </a:p>
        </p:txBody>
      </p:sp>
      <p:sp>
        <p:nvSpPr>
          <p:cNvPr id="7" name="市民健身中心分类&#10;收费及预约按场馆规则">
            <a:extLst>
              <a:ext uri="{FF2B5EF4-FFF2-40B4-BE49-F238E27FC236}">
                <a16:creationId xmlns:a16="http://schemas.microsoft.com/office/drawing/2014/main" id="{E857D860-293D-4786-8F99-0CDF59AE541D}"/>
              </a:ext>
            </a:extLst>
          </p:cNvPr>
          <p:cNvSpPr>
            <a:spLocks noGrp="1"/>
          </p:cNvSpPr>
          <p:nvPr/>
        </p:nvSpPr>
        <p:spPr>
          <a:xfrm>
            <a:off x="8334375" y="4010025"/>
            <a:ext cx="3286125" cy="1123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市民健身中心分类</a:t>
            </a:r>
          </a:p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收费及预约按场馆规则</a:t>
            </a:r>
          </a:p>
        </p:txBody>
      </p:sp>
      <p:sp>
        <p:nvSpPr>
          <p:cNvPr id="8" name="节假日及临时调整&#10;以场馆公告为准">
            <a:extLst>
              <a:ext uri="{FF2B5EF4-FFF2-40B4-BE49-F238E27FC236}">
                <a16:creationId xmlns:a16="http://schemas.microsoft.com/office/drawing/2014/main" id="{E64143E2-4539-4E9F-A98D-4CC01828B825}"/>
              </a:ext>
            </a:extLst>
          </p:cNvPr>
          <p:cNvSpPr>
            <a:spLocks noGrp="1"/>
          </p:cNvSpPr>
          <p:nvPr/>
        </p:nvSpPr>
        <p:spPr>
          <a:xfrm>
            <a:off x="8334375" y="5314950"/>
            <a:ext cx="3286125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50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节假日及临时调整</a:t>
            </a:r>
          </a:p>
          <a:p>
            <a: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50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以场馆公告为准</a:t>
            </a:r>
          </a:p>
        </p:txBody>
      </p:sp>
      <p:sp>
        <p:nvSpPr>
          <p:cNvPr id="10" name="24小时时间刻度">
            <a:extLst>
              <a:ext uri="{FF2B5EF4-FFF2-40B4-BE49-F238E27FC236}">
                <a16:creationId xmlns:a16="http://schemas.microsoft.com/office/drawing/2014/main" id="{0E718E2F-8408-4A45-A13F-DA2FD28FFB32}"/>
              </a:ext>
            </a:extLst>
          </p:cNvPr>
          <p:cNvSpPr>
            <a:spLocks noGrp="1"/>
          </p:cNvSpPr>
          <p:nvPr/>
        </p:nvSpPr>
        <p:spPr>
          <a:xfrm>
            <a:off x="8334375" y="3652838"/>
            <a:ext cx="3286125" cy="28575"/>
          </a:xfrm>
          <a:prstGeom prst="rect">
            <a:avLst/>
          </a:prstGeom>
          <a:solidFill>
            <a:srgbClr val="DBCAC2"/>
          </a:solidFill>
          <a:ln w="0">
            <a:noFill/>
          </a:ln>
        </p:spPr>
      </p:sp>
      <p:sp>
        <p:nvSpPr>
          <p:cNvPr id="11" name="开放时段">
            <a:extLst>
              <a:ext uri="{FF2B5EF4-FFF2-40B4-BE49-F238E27FC236}">
                <a16:creationId xmlns:a16="http://schemas.microsoft.com/office/drawing/2014/main" id="{56694428-5458-46F9-9887-5AC770EF756F}"/>
              </a:ext>
            </a:extLst>
          </p:cNvPr>
          <p:cNvSpPr>
            <a:spLocks noGrp="1"/>
          </p:cNvSpPr>
          <p:nvPr/>
        </p:nvSpPr>
        <p:spPr>
          <a:xfrm>
            <a:off x="9292828" y="3638550"/>
            <a:ext cx="2053828" cy="571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</p:sp>
      <p:sp>
        <p:nvSpPr>
          <p:cNvPr id="12" name="0时">
            <a:extLst>
              <a:ext uri="{FF2B5EF4-FFF2-40B4-BE49-F238E27FC236}">
                <a16:creationId xmlns:a16="http://schemas.microsoft.com/office/drawing/2014/main" id="{D07F2E2D-C2C2-48F8-B4F0-9E1393F82E04}"/>
              </a:ext>
            </a:extLst>
          </p:cNvPr>
          <p:cNvSpPr>
            <a:spLocks noGrp="1"/>
          </p:cNvSpPr>
          <p:nvPr/>
        </p:nvSpPr>
        <p:spPr>
          <a:xfrm>
            <a:off x="8334375" y="3752850"/>
            <a:ext cx="3810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0时</a:t>
            </a:r>
          </a:p>
        </p:txBody>
      </p:sp>
      <p:sp>
        <p:nvSpPr>
          <p:cNvPr id="13" name="12时">
            <a:extLst>
              <a:ext uri="{FF2B5EF4-FFF2-40B4-BE49-F238E27FC236}">
                <a16:creationId xmlns:a16="http://schemas.microsoft.com/office/drawing/2014/main" id="{21E2E6DA-71AF-4AE2-AE15-CE2E986EB70C}"/>
              </a:ext>
            </a:extLst>
          </p:cNvPr>
          <p:cNvSpPr>
            <a:spLocks noGrp="1"/>
          </p:cNvSpPr>
          <p:nvPr/>
        </p:nvSpPr>
        <p:spPr>
          <a:xfrm>
            <a:off x="9767888" y="3752850"/>
            <a:ext cx="4191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12时</a:t>
            </a:r>
          </a:p>
        </p:txBody>
      </p:sp>
      <p:sp>
        <p:nvSpPr>
          <p:cNvPr id="14" name="24时">
            <a:extLst>
              <a:ext uri="{FF2B5EF4-FFF2-40B4-BE49-F238E27FC236}">
                <a16:creationId xmlns:a16="http://schemas.microsoft.com/office/drawing/2014/main" id="{E0AF95CA-C1E3-4B16-BDE5-2F2F590780C0}"/>
              </a:ext>
            </a:extLst>
          </p:cNvPr>
          <p:cNvSpPr>
            <a:spLocks noGrp="1"/>
          </p:cNvSpPr>
          <p:nvPr/>
        </p:nvSpPr>
        <p:spPr>
          <a:xfrm>
            <a:off x="11239500" y="3752850"/>
            <a:ext cx="3810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24时</a:t>
            </a:r>
          </a:p>
        </p:txBody>
      </p:sp>
      <p:pic>
        <p:nvPicPr>
          <p:cNvPr id="15" name="Rive第17页演示（隐藏后可编辑下层）">
            <a:extLst>
              <a:ext uri="{FF2B5EF4-FFF2-40B4-BE49-F238E27FC236}">
                <a16:creationId xmlns:a16="http://schemas.microsoft.com/office/drawing/2014/main" id="{957D1436-CE2C-4975-8272-8640B0BE96BD}"/>
              </a:ext>
            </a:extLst>
          </p:cNvPr>
          <p:cNvPicPr>
            <a:picLocks noChangeAspect="1"/>
          </p:cNvPicPr>
          <p:nvPr/>
        </p:nvPicPr>
        <p:blipFill>
          <a:blip r:embed="rIdRiveDemo17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9667458"/>
      </p:ext>
    </p:extLst>
  </p:cSld>
  <p:clrMapOvr>
    <a:masterClrMapping/>
  </p:clrMapOvr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5F0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家门口的其他生活场景">
            <a:extLst xmlns:a="http://schemas.openxmlformats.org/drawingml/2006/main">
              <a:ext uri="{FF2B5EF4-FFF2-40B4-BE49-F238E27FC236}">
                <a16:creationId xmlns:a16="http://schemas.microsoft.com/office/drawing/2014/main" id="{B85175F7-A0FC-4A80-92FC-28C04CE11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 xmlns:a="http://schemas.openxmlformats.org/drawingml/2006/main"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家门口的其他生活场景</a:t>
            </a:r>
          </a:p>
        </p:txBody>
      </p:sp>
      <p:sp>
        <p:nvSpPr>
          <p:cNvPr id="2" name="图片：小组提供">
            <a:extLst xmlns:a="http://schemas.openxmlformats.org/drawingml/2006/main">
              <a:ext uri="{FF2B5EF4-FFF2-40B4-BE49-F238E27FC236}">
                <a16:creationId xmlns:a16="http://schemas.microsoft.com/office/drawing/2014/main" id="{731302A4-CB52-49E7-8096-E5EACC18C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29350"/>
            <a:ext cx="10525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图片：小组提供</a:t>
            </a:r>
          </a:p>
        </p:txBody>
      </p:sp>
      <p:sp>
        <p:nvSpPr>
          <p:cNvPr id="3" name="18">
            <a:extLst xmlns:a="http://schemas.openxmlformats.org/drawingml/2006/main">
              <a:ext uri="{FF2B5EF4-FFF2-40B4-BE49-F238E27FC236}">
                <a16:creationId xmlns:a16="http://schemas.microsoft.com/office/drawing/2014/main" id="{A45F8528-E1CF-41AC-9A8F-AD626DE2A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18</a:t>
            </a:r>
          </a:p>
        </p:txBody>
      </p:sp>
      <p:sp>
        <p:nvSpPr>
          <p:cNvPr id="4" name="社区食堂">
            <a:extLst xmlns:a="http://schemas.openxmlformats.org/drawingml/2006/main">
              <a:ext uri="{FF2B5EF4-FFF2-40B4-BE49-F238E27FC236}">
                <a16:creationId xmlns:a16="http://schemas.microsoft.com/office/drawing/2014/main" id="{0A87AAE3-4910-45A8-9AB4-FFD578F11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52575"/>
            <a:ext cx="3804817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社区食堂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25D9C8-F8B8-4D21-92E4-6A85C765A5C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18d054814b4c27"/>
          <a:stretch xmlns:a="http://schemas.openxmlformats.org/drawingml/2006/main"/>
        </p:blipFill>
        <p:spPr>
          <a:xfrm xmlns:a="http://schemas.openxmlformats.org/drawingml/2006/main">
            <a:off x="571500" y="2228850"/>
            <a:ext cx="3804817" cy="3143250"/>
          </a:xfrm>
          <a:prstGeom xmlns:a="http://schemas.openxmlformats.org/drawingml/2006/main" prst="rect">
            <a:avLst/>
          </a:prstGeom>
        </p:spPr>
      </p:pic>
      <p:sp>
        <p:nvSpPr>
          <p:cNvPr id="6" name="公共绿地">
            <a:extLst xmlns:a="http://schemas.openxmlformats.org/drawingml/2006/main">
              <a:ext uri="{FF2B5EF4-FFF2-40B4-BE49-F238E27FC236}">
                <a16:creationId xmlns:a16="http://schemas.microsoft.com/office/drawing/2014/main" id="{9011E5FD-D00A-4144-B206-8337957E8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8530" y="1552575"/>
            <a:ext cx="4191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公共绿地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1D73FE-C374-4D74-AFAB-F99C622A278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bbb4a6a1764e36"/>
          <a:stretch xmlns:a="http://schemas.openxmlformats.org/drawingml/2006/main"/>
        </p:blipFill>
        <p:spPr>
          <a:xfrm xmlns:a="http://schemas.openxmlformats.org/drawingml/2006/main">
            <a:off x="4628530" y="2228850"/>
            <a:ext cx="4191000" cy="3143250"/>
          </a:xfrm>
          <a:prstGeom xmlns:a="http://schemas.openxmlformats.org/drawingml/2006/main" prst="rect">
            <a:avLst/>
          </a:prstGeom>
        </p:spPr>
      </p:pic>
      <p:sp>
        <p:nvSpPr>
          <p:cNvPr id="8" name="社区卫生服务中心">
            <a:extLst xmlns:a="http://schemas.openxmlformats.org/drawingml/2006/main">
              <a:ext uri="{FF2B5EF4-FFF2-40B4-BE49-F238E27FC236}">
                <a16:creationId xmlns:a16="http://schemas.microsoft.com/office/drawing/2014/main" id="{61C2F7EF-ECF9-4D32-9677-F1EE0D2BB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1744" y="1552575"/>
            <a:ext cx="2548756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社区卫生服务中心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A80317-D158-493B-B781-0EB027DAA92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f1e94136c440c0"/>
          <a:stretch xmlns:a="http://schemas.openxmlformats.org/drawingml/2006/main"/>
        </p:blipFill>
        <p:spPr>
          <a:xfrm xmlns:a="http://schemas.openxmlformats.org/drawingml/2006/main">
            <a:off x="9071744" y="2228850"/>
            <a:ext cx="2548756" cy="3143250"/>
          </a:xfrm>
          <a:prstGeom xmlns:a="http://schemas.openxmlformats.org/drawingml/2006/main" prst="rect">
            <a:avLst/>
          </a:prstGeom>
        </p:spPr>
      </p:pic>
      <p:pic>
        <p:nvPicPr>
          <p:cNvPr id="11" name="Rive第18页演示（隐藏后可编辑下层）">
            <a:extLst xmlns:a="http://schemas.openxmlformats.org/drawingml/2006/main">
              <a:ext uri="{FF2B5EF4-FFF2-40B4-BE49-F238E27FC236}">
                <a16:creationId xmlns:a16="http://schemas.microsoft.com/office/drawing/2014/main" id="{B736A5C1-3112-410B-BBA1-3FC9E7406AC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IdRiveDemo18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4060590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8F3E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小组对人民城市的理解">
            <a:extLst xmlns:a="http://schemas.openxmlformats.org/drawingml/2006/main">
              <a:ext uri="{FF2B5EF4-FFF2-40B4-BE49-F238E27FC236}">
                <a16:creationId xmlns:a16="http://schemas.microsoft.com/office/drawing/2014/main" id="{5F5AA743-C7B0-48E6-A3B0-2FE315A48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9pPr>
          </a:lstStyle>
          <a:p xmlns:a="http://schemas.openxmlformats.org/drawingml/2006/main">
            <a: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小组对人民城市的理解</a:t>
            </a:r>
          </a:p>
        </p:txBody>
      </p:sp>
      <p:sp>
        <p:nvSpPr>
          <p:cNvPr id="2" name="本组理解：社区公共服务是观察人民城市的一个入口">
            <a:extLst xmlns:a="http://schemas.openxmlformats.org/drawingml/2006/main">
              <a:ext uri="{FF2B5EF4-FFF2-40B4-BE49-F238E27FC236}">
                <a16:creationId xmlns:a16="http://schemas.microsoft.com/office/drawing/2014/main" id="{D2ED0EDC-DEA3-4A3D-8F77-AF7EDBFFF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29350"/>
            <a:ext cx="10525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本组理解：社区公共服务是观察人民城市的一个入口</a:t>
            </a:r>
          </a:p>
        </p:txBody>
      </p:sp>
      <p:sp>
        <p:nvSpPr>
          <p:cNvPr id="3" name="19">
            <a:extLst xmlns:a="http://schemas.openxmlformats.org/drawingml/2006/main">
              <a:ext uri="{FF2B5EF4-FFF2-40B4-BE49-F238E27FC236}">
                <a16:creationId xmlns:a16="http://schemas.microsoft.com/office/drawing/2014/main" id="{DD27DCAE-E405-4176-B43D-1ADC1ECE1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19</a:t>
            </a:r>
          </a:p>
        </p:txBody>
      </p:sp>
      <p:sp>
        <p:nvSpPr>
          <p:cNvPr id="4" name="以生活和劳动在城市中的人为主体">
            <a:extLst xmlns:a="http://schemas.openxmlformats.org/drawingml/2006/main">
              <a:ext uri="{FF2B5EF4-FFF2-40B4-BE49-F238E27FC236}">
                <a16:creationId xmlns:a16="http://schemas.microsoft.com/office/drawing/2014/main" id="{8F4CC32F-5812-4515-8E0E-B6165C784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9pPr>
          </a:lstStyle>
          <a:p xmlns:a="http://schemas.openxmlformats.org/drawingml/2006/main">
            <a: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以生活和劳动在城市中的人为主体</a:t>
            </a:r>
          </a:p>
        </p:txBody>
      </p:sp>
      <p:sp>
        <p:nvSpPr>
          <p:cNvPr id="5" name="公共制度让城市空间和基本服务&#10;广泛惠及居民">
            <a:extLst xmlns:a="http://schemas.openxmlformats.org/drawingml/2006/main">
              <a:ext uri="{FF2B5EF4-FFF2-40B4-BE49-F238E27FC236}">
                <a16:creationId xmlns:a16="http://schemas.microsoft.com/office/drawing/2014/main" id="{9278490F-7023-45AA-AAFC-5686680F7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81325"/>
            <a:ext cx="11049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9pPr>
          </a:lstStyle>
          <a:p xmlns:a="http://schemas.openxmlformats.org/drawingml/2006/main">
            <a: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pPr>
            <a:r>
              <a: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rPr>
              <a:t>公共制度让城市空间和基本服务</a:t>
            </a:r>
          </a:p>
          <a:p xmlns:a="http://schemas.openxmlformats.org/drawingml/2006/main">
            <a: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pPr>
            <a:r>
              <a: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rPr>
              <a:t>广泛惠及居民</a:t>
            </a:r>
          </a:p>
        </p:txBody>
      </p:sp>
      <p:sp>
        <p:nvSpPr>
          <p:cNvPr id="6" name="能够负担生活、稳定居住、参与治理">
            <a:extLst xmlns:a="http://schemas.openxmlformats.org/drawingml/2006/main">
              <a:ext uri="{FF2B5EF4-FFF2-40B4-BE49-F238E27FC236}">
                <a16:creationId xmlns:a16="http://schemas.microsoft.com/office/drawing/2014/main" id="{AB79E778-2981-4523-A67F-DEA60C4E4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38725"/>
            <a:ext cx="11049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250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能够负担生活、稳定居住、参与治理</a:t>
            </a:r>
          </a:p>
        </p:txBody>
      </p:sp>
      <p:pic>
        <p:nvPicPr>
          <p:cNvPr id="8" name="Rive第19页演示（隐藏后可编辑下层）">
            <a:extLst xmlns:a="http://schemas.openxmlformats.org/drawingml/2006/main">
              <a:ext uri="{FF2B5EF4-FFF2-40B4-BE49-F238E27FC236}">
                <a16:creationId xmlns:a16="http://schemas.microsoft.com/office/drawing/2014/main" id="{1C4D81FB-06C9-4932-AB4A-890DBEFF313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IdRiveDemo19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103915"/>
      </p:ext>
    </p:extLst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F3E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ource-footer">
            <a:extLst>
              <a:ext uri="{FF2B5EF4-FFF2-40B4-BE49-F238E27FC236}">
                <a16:creationId xmlns:a16="http://schemas.microsoft.com/office/drawing/2014/main" id="{79461888-AC34-4E44-AECB-EA3FBFE19501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619125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概念出处：新华社，2019-11-03；“以人民为中心”为课堂概括</a:t>
            </a:r>
          </a:p>
        </p:txBody>
      </p:sp>
      <p:sp>
        <p:nvSpPr>
          <p:cNvPr id="2" name="slide-number">
            <a:extLst>
              <a:ext uri="{FF2B5EF4-FFF2-40B4-BE49-F238E27FC236}">
                <a16:creationId xmlns:a16="http://schemas.microsoft.com/office/drawing/2014/main" id="{0308F667-0209-4304-8AC2-EFFE832CB615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20</a:t>
            </a:r>
          </a:p>
        </p:txBody>
      </p:sp>
      <p:sp>
        <p:nvSpPr>
          <p:cNvPr id="3" name="text-1">
            <a:extLst>
              <a:ext uri="{FF2B5EF4-FFF2-40B4-BE49-F238E27FC236}">
                <a16:creationId xmlns:a16="http://schemas.microsoft.com/office/drawing/2014/main" id="{E007B93F-0BBA-46AC-9B95-09D069208B6A}"/>
              </a:ext>
            </a:extLst>
          </p:cNvPr>
          <p:cNvSpPr>
            <a:spLocks noGrp="1"/>
          </p:cNvSpPr>
          <p:nvPr/>
        </p:nvSpPr>
        <p:spPr>
          <a:xfrm>
            <a:off x="571500" y="619125"/>
            <a:ext cx="6286500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人民城市的</a:t>
            </a:r>
          </a:p>
          <a:p>
            <a: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上海实践</a:t>
            </a:r>
          </a:p>
        </p:txBody>
      </p:sp>
      <p:sp>
        <p:nvSpPr>
          <p:cNvPr id="4" name="text-2">
            <a:extLst>
              <a:ext uri="{FF2B5EF4-FFF2-40B4-BE49-F238E27FC236}">
                <a16:creationId xmlns:a16="http://schemas.microsoft.com/office/drawing/2014/main" id="{3D1F79B0-5FF8-4A95-9CF8-382BBC62C172}"/>
              </a:ext>
            </a:extLst>
          </p:cNvPr>
          <p:cNvSpPr>
            <a:spLocks noGrp="1"/>
          </p:cNvSpPr>
          <p:nvPr/>
        </p:nvSpPr>
        <p:spPr>
          <a:xfrm>
            <a:off x="571500" y="2628900"/>
            <a:ext cx="628650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85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85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850" b="1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纽约能不能叫人民城市？</a:t>
            </a:r>
          </a:p>
        </p:txBody>
      </p:sp>
      <p:sp>
        <p:nvSpPr>
          <p:cNvPr id="5" name="text-3">
            <a:extLst>
              <a:ext uri="{FF2B5EF4-FFF2-40B4-BE49-F238E27FC236}">
                <a16:creationId xmlns:a16="http://schemas.microsoft.com/office/drawing/2014/main" id="{DE0EE3C8-EF4C-409A-81CA-275BCBC3FAE2}"/>
              </a:ext>
            </a:extLst>
          </p:cNvPr>
          <p:cNvSpPr>
            <a:spLocks noGrp="1"/>
          </p:cNvSpPr>
          <p:nvPr/>
        </p:nvSpPr>
        <p:spPr>
          <a:xfrm>
            <a:off x="571500" y="3562350"/>
            <a:ext cx="62865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550" b="1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550" b="1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2550" b="1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人民城市人民建</a:t>
            </a:r>
          </a:p>
          <a:p>
            <a:pPr algn="l">
              <a:defRPr sz="2550" b="1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2550" b="1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人民城市为人民</a:t>
            </a:r>
          </a:p>
        </p:txBody>
      </p:sp>
      <p:sp>
        <p:nvSpPr>
          <p:cNvPr id="6" name="text-4">
            <a:extLst>
              <a:ext uri="{FF2B5EF4-FFF2-40B4-BE49-F238E27FC236}">
                <a16:creationId xmlns:a16="http://schemas.microsoft.com/office/drawing/2014/main" id="{6B558A97-EF39-49C8-8EF2-F4D786828FEF}"/>
              </a:ext>
            </a:extLst>
          </p:cNvPr>
          <p:cNvSpPr>
            <a:spLocks noGrp="1"/>
          </p:cNvSpPr>
          <p:nvPr/>
        </p:nvSpPr>
        <p:spPr>
          <a:xfrm>
            <a:off x="571500" y="4962525"/>
            <a:ext cx="6286500" cy="876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以人民为中心，回应居民需要，</a:t>
            </a:r>
          </a:p>
          <a:p>
            <a:pPr algn="l">
              <a:defRPr sz="202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让人民共同参与城市建设。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F7C9EA29-CC76-4AE9-B031-9ED3B7F1FE5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201" r="25201"/>
          <a:stretch>
            <a:fillRect/>
          </a:stretch>
        </p:blipFill>
        <p:spPr>
          <a:xfrm>
            <a:off x="7086600" y="0"/>
            <a:ext cx="51054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91757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lide-title">
            <a:extLst>
              <a:ext uri="{FF2B5EF4-FFF2-40B4-BE49-F238E27FC236}">
                <a16:creationId xmlns:a16="http://schemas.microsoft.com/office/drawing/2014/main" id="{2B73E69A-3CD2-4333-ACCF-42A3F7CA28F7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开场：一座厕所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4A24D86A-AE68-4A8C-89CC-07E6F69AF863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来源：上海市公共数据开放平台；沪绿化市容局；纽约市议会公共厕所分析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A51CFF0B-A7FC-4A90-992F-B8D30039877B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21</a:t>
            </a:r>
          </a:p>
        </p:txBody>
      </p:sp>
      <p:sp>
        <p:nvSpPr>
          <p:cNvPr id="4" name="text-5">
            <a:extLst>
              <a:ext uri="{FF2B5EF4-FFF2-40B4-BE49-F238E27FC236}">
                <a16:creationId xmlns:a16="http://schemas.microsoft.com/office/drawing/2014/main" id="{7FC7F4F5-0026-42A4-819A-E854F79F7B2A}"/>
              </a:ext>
            </a:extLst>
          </p:cNvPr>
          <p:cNvSpPr>
            <a:spLocks noGrp="1"/>
          </p:cNvSpPr>
          <p:nvPr/>
        </p:nvSpPr>
        <p:spPr>
          <a:xfrm>
            <a:off x="571500" y="1362075"/>
            <a:ext cx="51435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上海</a:t>
            </a:r>
          </a:p>
        </p:txBody>
      </p:sp>
      <p:sp>
        <p:nvSpPr>
          <p:cNvPr id="5" name="text-6">
            <a:extLst>
              <a:ext uri="{FF2B5EF4-FFF2-40B4-BE49-F238E27FC236}">
                <a16:creationId xmlns:a16="http://schemas.microsoft.com/office/drawing/2014/main" id="{799F6561-939E-41B8-BCAA-1456F32FF73E}"/>
              </a:ext>
            </a:extLst>
          </p:cNvPr>
          <p:cNvSpPr>
            <a:spLocks noGrp="1"/>
          </p:cNvSpPr>
          <p:nvPr/>
        </p:nvSpPr>
        <p:spPr>
          <a:xfrm>
            <a:off x="6343650" y="1362075"/>
            <a:ext cx="52768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纽约</a:t>
            </a:r>
          </a:p>
        </p:txBody>
      </p:sp>
      <p:sp>
        <p:nvSpPr>
          <p:cNvPr id="6" name="text-7">
            <a:extLst>
              <a:ext uri="{FF2B5EF4-FFF2-40B4-BE49-F238E27FC236}">
                <a16:creationId xmlns:a16="http://schemas.microsoft.com/office/drawing/2014/main" id="{27CECF0D-C04C-45DE-AC4F-2DE99C085167}"/>
              </a:ext>
            </a:extLst>
          </p:cNvPr>
          <p:cNvSpPr>
            <a:spLocks noGrp="1"/>
          </p:cNvSpPr>
          <p:nvPr/>
        </p:nvSpPr>
        <p:spPr>
          <a:xfrm>
            <a:off x="571500" y="1905000"/>
            <a:ext cx="5143500" cy="695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7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7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7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8,325 条记录</a:t>
            </a:r>
          </a:p>
        </p:txBody>
      </p:sp>
      <p:sp>
        <p:nvSpPr>
          <p:cNvPr id="7" name="text-8">
            <a:extLst>
              <a:ext uri="{FF2B5EF4-FFF2-40B4-BE49-F238E27FC236}">
                <a16:creationId xmlns:a16="http://schemas.microsoft.com/office/drawing/2014/main" id="{36395A2E-5298-4908-B85A-1808E8A033F8}"/>
              </a:ext>
            </a:extLst>
          </p:cNvPr>
          <p:cNvSpPr>
            <a:spLocks noGrp="1"/>
          </p:cNvSpPr>
          <p:nvPr/>
        </p:nvSpPr>
        <p:spPr>
          <a:xfrm>
            <a:off x="6343650" y="1905000"/>
            <a:ext cx="5276850" cy="695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7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7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3750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973 座在运营</a:t>
            </a:r>
          </a:p>
        </p:txBody>
      </p:sp>
      <p:sp>
        <p:nvSpPr>
          <p:cNvPr id="8" name="text-9">
            <a:extLst>
              <a:ext uri="{FF2B5EF4-FFF2-40B4-BE49-F238E27FC236}">
                <a16:creationId xmlns:a16="http://schemas.microsoft.com/office/drawing/2014/main" id="{D33C9D40-987A-47F0-934D-D955E28F9880}"/>
              </a:ext>
            </a:extLst>
          </p:cNvPr>
          <p:cNvSpPr>
            <a:spLocks noGrp="1"/>
          </p:cNvSpPr>
          <p:nvPr/>
        </p:nvSpPr>
        <p:spPr>
          <a:xfrm>
            <a:off x="571500" y="2686050"/>
            <a:ext cx="51435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4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约每 3,000 人一处</a:t>
            </a:r>
          </a:p>
        </p:txBody>
      </p:sp>
      <p:sp>
        <p:nvSpPr>
          <p:cNvPr id="9" name="text-10">
            <a:extLst>
              <a:ext uri="{FF2B5EF4-FFF2-40B4-BE49-F238E27FC236}">
                <a16:creationId xmlns:a16="http://schemas.microsoft.com/office/drawing/2014/main" id="{FD8D976F-2EC4-48D8-A23E-B5E461C5655A}"/>
              </a:ext>
            </a:extLst>
          </p:cNvPr>
          <p:cNvSpPr>
            <a:spLocks noGrp="1"/>
          </p:cNvSpPr>
          <p:nvPr/>
        </p:nvSpPr>
        <p:spPr>
          <a:xfrm>
            <a:off x="6343650" y="2686050"/>
            <a:ext cx="52768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4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近每 9,000 人一处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C70C647A-093B-4E14-A450-6779FAA4AC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3502890"/>
            <a:ext cx="2800350" cy="1757220"/>
          </a:xfrm>
          <a:prstGeom prst="rect">
            <a:avLst/>
          </a:prstGeom>
        </p:spPr>
      </p:pic>
      <p:sp>
        <p:nvSpPr>
          <p:cNvPr id="11" name="text-11">
            <a:extLst>
              <a:ext uri="{FF2B5EF4-FFF2-40B4-BE49-F238E27FC236}">
                <a16:creationId xmlns:a16="http://schemas.microsoft.com/office/drawing/2014/main" id="{84257E15-0E44-4BA1-8652-E0F07F0DADB2}"/>
              </a:ext>
            </a:extLst>
          </p:cNvPr>
          <p:cNvSpPr>
            <a:spLocks noGrp="1"/>
          </p:cNvSpPr>
          <p:nvPr/>
        </p:nvSpPr>
        <p:spPr>
          <a:xfrm>
            <a:off x="3619500" y="3629025"/>
            <a:ext cx="217170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2,631 座改造</a:t>
            </a:r>
          </a:p>
        </p:txBody>
      </p:sp>
      <p:sp>
        <p:nvSpPr>
          <p:cNvPr id="12" name="text-12">
            <a:extLst>
              <a:ext uri="{FF2B5EF4-FFF2-40B4-BE49-F238E27FC236}">
                <a16:creationId xmlns:a16="http://schemas.microsoft.com/office/drawing/2014/main" id="{A085B7D7-DD40-44A9-9632-B1ED0072AEA5}"/>
              </a:ext>
            </a:extLst>
          </p:cNvPr>
          <p:cNvSpPr>
            <a:spLocks noGrp="1"/>
          </p:cNvSpPr>
          <p:nvPr/>
        </p:nvSpPr>
        <p:spPr>
          <a:xfrm>
            <a:off x="3619500" y="4171950"/>
            <a:ext cx="2171700" cy="1047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适老、适幼设施</a:t>
            </a:r>
          </a:p>
          <a:p>
            <a:pPr algn="l">
              <a:defRPr sz="18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第三卫生间</a:t>
            </a:r>
          </a:p>
          <a:p>
            <a:pPr algn="l">
              <a:defRPr sz="18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免费厕纸和热水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B4E33785-E58A-4D5E-A501-B70F13DFDD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624947" y="3448050"/>
            <a:ext cx="4714256" cy="981075"/>
          </a:xfrm>
          <a:prstGeom prst="rect">
            <a:avLst/>
          </a:prstGeom>
        </p:spPr>
      </p:pic>
      <p:sp>
        <p:nvSpPr>
          <p:cNvPr id="14" name="text-13">
            <a:extLst>
              <a:ext uri="{FF2B5EF4-FFF2-40B4-BE49-F238E27FC236}">
                <a16:creationId xmlns:a16="http://schemas.microsoft.com/office/drawing/2014/main" id="{7B2244A0-B8E8-447A-9523-B863E0DE967C}"/>
              </a:ext>
            </a:extLst>
          </p:cNvPr>
          <p:cNvSpPr>
            <a:spLocks noGrp="1"/>
          </p:cNvSpPr>
          <p:nvPr/>
        </p:nvSpPr>
        <p:spPr>
          <a:xfrm>
            <a:off x="6343650" y="4743450"/>
            <a:ext cx="527685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全天 24 小时开放的只有 8 座</a:t>
            </a:r>
          </a:p>
        </p:txBody>
      </p:sp>
      <p:sp>
        <p:nvSpPr>
          <p:cNvPr id="15" name="text-14">
            <a:extLst>
              <a:ext uri="{FF2B5EF4-FFF2-40B4-BE49-F238E27FC236}">
                <a16:creationId xmlns:a16="http://schemas.microsoft.com/office/drawing/2014/main" id="{AF30A5F1-2141-47B2-9846-40FECEB23A40}"/>
              </a:ext>
            </a:extLst>
          </p:cNvPr>
          <p:cNvSpPr>
            <a:spLocks noGrp="1"/>
          </p:cNvSpPr>
          <p:nvPr/>
        </p:nvSpPr>
        <p:spPr>
          <a:xfrm>
            <a:off x="571500" y="5810250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上海为平台记录，纽约为市政运营公厕，统计范围不同；这里比较设施供给的量级。</a:t>
            </a:r>
          </a:p>
        </p:txBody>
      </p:sp>
    </p:spTree>
    <p:extLst>
      <p:ext uri="{BB962C8B-B14F-4D97-AF65-F5344CB8AC3E}">
        <p14:creationId xmlns:p14="http://schemas.microsoft.com/office/powerpoint/2010/main" val="9886557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-title">
            <a:extLst>
              <a:ext uri="{FF2B5EF4-FFF2-40B4-BE49-F238E27FC236}">
                <a16:creationId xmlns:a16="http://schemas.microsoft.com/office/drawing/2014/main" id="{B68A837D-A19A-4B18-906C-33562137DF63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比什么，怎么比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D2E65C52-F0C9-4B00-90F9-30A14EC92C0C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来源：上海统计公报与住户调查；NYC RGB/ACS；纽约市规划局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C7E24953-449D-4D72-84A6-9B35E4D50F61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22</a:t>
            </a:r>
          </a:p>
        </p:txBody>
      </p:sp>
      <p:sp>
        <p:nvSpPr>
          <p:cNvPr id="4" name="text-15">
            <a:extLst>
              <a:ext uri="{FF2B5EF4-FFF2-40B4-BE49-F238E27FC236}">
                <a16:creationId xmlns:a16="http://schemas.microsoft.com/office/drawing/2014/main" id="{4CFCE7CD-3ABF-4081-888D-0340A9CA790A}"/>
              </a:ext>
            </a:extLst>
          </p:cNvPr>
          <p:cNvSpPr>
            <a:spLocks noGrp="1"/>
          </p:cNvSpPr>
          <p:nvPr/>
        </p:nvSpPr>
        <p:spPr>
          <a:xfrm>
            <a:off x="781050" y="1600200"/>
            <a:ext cx="46672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基础保障</a:t>
            </a:r>
          </a:p>
        </p:txBody>
      </p:sp>
      <p:sp>
        <p:nvSpPr>
          <p:cNvPr id="5" name="text-16">
            <a:extLst>
              <a:ext uri="{FF2B5EF4-FFF2-40B4-BE49-F238E27FC236}">
                <a16:creationId xmlns:a16="http://schemas.microsoft.com/office/drawing/2014/main" id="{9F676D24-6433-4DEC-B069-D6C8179605BE}"/>
              </a:ext>
            </a:extLst>
          </p:cNvPr>
          <p:cNvSpPr>
            <a:spLocks noGrp="1"/>
          </p:cNvSpPr>
          <p:nvPr/>
        </p:nvSpPr>
        <p:spPr>
          <a:xfrm>
            <a:off x="781050" y="2057400"/>
            <a:ext cx="46672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住、吃、穿、行</a:t>
            </a:r>
          </a:p>
        </p:txBody>
      </p:sp>
      <p:sp>
        <p:nvSpPr>
          <p:cNvPr id="6" name="text-17">
            <a:extLst>
              <a:ext uri="{FF2B5EF4-FFF2-40B4-BE49-F238E27FC236}">
                <a16:creationId xmlns:a16="http://schemas.microsoft.com/office/drawing/2014/main" id="{AEF554F1-C4E3-4F47-A929-415C49F53C3D}"/>
              </a:ext>
            </a:extLst>
          </p:cNvPr>
          <p:cNvSpPr>
            <a:spLocks noGrp="1"/>
          </p:cNvSpPr>
          <p:nvPr/>
        </p:nvSpPr>
        <p:spPr>
          <a:xfrm>
            <a:off x="781050" y="2924175"/>
            <a:ext cx="46672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民生福祉</a:t>
            </a:r>
          </a:p>
        </p:txBody>
      </p:sp>
      <p:sp>
        <p:nvSpPr>
          <p:cNvPr id="7" name="text-18">
            <a:extLst>
              <a:ext uri="{FF2B5EF4-FFF2-40B4-BE49-F238E27FC236}">
                <a16:creationId xmlns:a16="http://schemas.microsoft.com/office/drawing/2014/main" id="{C388E921-0296-4B33-8605-352877EC5A19}"/>
              </a:ext>
            </a:extLst>
          </p:cNvPr>
          <p:cNvSpPr>
            <a:spLocks noGrp="1"/>
          </p:cNvSpPr>
          <p:nvPr/>
        </p:nvSpPr>
        <p:spPr>
          <a:xfrm>
            <a:off x="781050" y="3381375"/>
            <a:ext cx="46672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医疗、治安、教育、文化</a:t>
            </a:r>
          </a:p>
        </p:txBody>
      </p:sp>
      <p:sp>
        <p:nvSpPr>
          <p:cNvPr id="8" name="text-19">
            <a:extLst>
              <a:ext uri="{FF2B5EF4-FFF2-40B4-BE49-F238E27FC236}">
                <a16:creationId xmlns:a16="http://schemas.microsoft.com/office/drawing/2014/main" id="{D0CC05DB-3DB3-4F9B-85B6-FF81E7024FFE}"/>
              </a:ext>
            </a:extLst>
          </p:cNvPr>
          <p:cNvSpPr>
            <a:spLocks noGrp="1"/>
          </p:cNvSpPr>
          <p:nvPr/>
        </p:nvSpPr>
        <p:spPr>
          <a:xfrm>
            <a:off x="781050" y="4248150"/>
            <a:ext cx="46672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底层关怀</a:t>
            </a:r>
          </a:p>
        </p:txBody>
      </p:sp>
      <p:sp>
        <p:nvSpPr>
          <p:cNvPr id="9" name="text-20">
            <a:extLst>
              <a:ext uri="{FF2B5EF4-FFF2-40B4-BE49-F238E27FC236}">
                <a16:creationId xmlns:a16="http://schemas.microsoft.com/office/drawing/2014/main" id="{707D3635-EA52-4760-984C-CF785414117C}"/>
              </a:ext>
            </a:extLst>
          </p:cNvPr>
          <p:cNvSpPr>
            <a:spLocks noGrp="1"/>
          </p:cNvSpPr>
          <p:nvPr/>
        </p:nvSpPr>
        <p:spPr>
          <a:xfrm>
            <a:off x="781050" y="4705350"/>
            <a:ext cx="46672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单独看：怎么对待最穷的人</a:t>
            </a: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10E78BE3-5DF3-406D-9B40-6CF46D276249}"/>
              </a:ext>
            </a:extLst>
          </p:cNvPr>
          <p:cNvGraphicFramePr/>
          <p:nvPr/>
        </p:nvGraphicFramePr>
        <p:xfrm>
          <a:off x="6315075" y="1457325"/>
          <a:ext cx="5305425" cy="1743075"/>
        </p:xfrm>
        <a:graphic>
          <a:graphicData uri="http://schemas.openxmlformats.org/drawingml/2006/table">
            <a:tbl>
              <a:tblPr/>
              <a:tblGrid>
                <a:gridCol w="1714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90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81025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比较对象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人口 / 面积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1025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上海全市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2,485万人 / 6,341 km²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1025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纽约市五区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858万人 / 778 km²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" name="text-21">
            <a:extLst>
              <a:ext uri="{FF2B5EF4-FFF2-40B4-BE49-F238E27FC236}">
                <a16:creationId xmlns:a16="http://schemas.microsoft.com/office/drawing/2014/main" id="{FF532920-E506-41E3-8109-B866AC63C2BB}"/>
              </a:ext>
            </a:extLst>
          </p:cNvPr>
          <p:cNvSpPr>
            <a:spLocks noGrp="1"/>
          </p:cNvSpPr>
          <p:nvPr/>
        </p:nvSpPr>
        <p:spPr>
          <a:xfrm>
            <a:off x="6315075" y="3562350"/>
            <a:ext cx="5305425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6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6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6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家庭收入差约两倍半</a:t>
            </a:r>
          </a:p>
        </p:txBody>
      </p:sp>
      <p:sp>
        <p:nvSpPr>
          <p:cNvPr id="12" name="text-22">
            <a:extLst>
              <a:ext uri="{FF2B5EF4-FFF2-40B4-BE49-F238E27FC236}">
                <a16:creationId xmlns:a16="http://schemas.microsoft.com/office/drawing/2014/main" id="{02C46975-A594-4B0A-A062-97A6336C16DF}"/>
              </a:ext>
            </a:extLst>
          </p:cNvPr>
          <p:cNvSpPr>
            <a:spLocks noGrp="1"/>
          </p:cNvSpPr>
          <p:nvPr/>
        </p:nvSpPr>
        <p:spPr>
          <a:xfrm>
            <a:off x="6315075" y="4229100"/>
            <a:ext cx="5305425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纽约约 55 万元　上海约 20.6 万元</a:t>
            </a:r>
          </a:p>
        </p:txBody>
      </p:sp>
      <p:sp>
        <p:nvSpPr>
          <p:cNvPr id="13" name="text-23">
            <a:extLst>
              <a:ext uri="{FF2B5EF4-FFF2-40B4-BE49-F238E27FC236}">
                <a16:creationId xmlns:a16="http://schemas.microsoft.com/office/drawing/2014/main" id="{93216B42-3378-46C2-9237-21FCE98C8780}"/>
              </a:ext>
            </a:extLst>
          </p:cNvPr>
          <p:cNvSpPr>
            <a:spLocks noGrp="1"/>
          </p:cNvSpPr>
          <p:nvPr/>
        </p:nvSpPr>
        <p:spPr>
          <a:xfrm>
            <a:off x="6315075" y="4905375"/>
            <a:ext cx="5305425" cy="733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现金收入是背景，</a:t>
            </a:r>
          </a:p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具体生活要分项比较。</a:t>
            </a:r>
          </a:p>
        </p:txBody>
      </p:sp>
      <p:sp>
        <p:nvSpPr>
          <p:cNvPr id="14" name="text-24">
            <a:extLst>
              <a:ext uri="{FF2B5EF4-FFF2-40B4-BE49-F238E27FC236}">
                <a16:creationId xmlns:a16="http://schemas.microsoft.com/office/drawing/2014/main" id="{AD16C91F-9C51-4997-8ED1-6468BB0A11BD}"/>
              </a:ext>
            </a:extLst>
          </p:cNvPr>
          <p:cNvSpPr>
            <a:spLocks noGrp="1"/>
          </p:cNvSpPr>
          <p:nvPr/>
        </p:nvSpPr>
        <p:spPr>
          <a:xfrm>
            <a:off x="571500" y="5810250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纽约为税前户收入中位数；上海由人均可支配收入均值×户均人数估算，约2.65倍。</a:t>
            </a:r>
          </a:p>
        </p:txBody>
      </p:sp>
    </p:spTree>
    <p:extLst>
      <p:ext uri="{BB962C8B-B14F-4D97-AF65-F5344CB8AC3E}">
        <p14:creationId xmlns:p14="http://schemas.microsoft.com/office/powerpoint/2010/main" val="22867191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-title">
            <a:extLst>
              <a:ext uri="{FF2B5EF4-FFF2-40B4-BE49-F238E27FC236}">
                <a16:creationId xmlns:a16="http://schemas.microsoft.com/office/drawing/2014/main" id="{9E9621E1-5922-476E-98F8-6357F6A65F6A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住：稳定居住，上海明显占优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38884F20-BE3E-4F0F-B32A-E12AC9512B36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来源：上海2020年人口普查年鉴表9-4；NYC 2023 HVS；上海2025统计公报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EBB52DC3-B831-4532-A081-EE35E51CA0A9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23</a:t>
            </a:r>
          </a:p>
        </p:txBody>
      </p:sp>
      <p:sp>
        <p:nvSpPr>
          <p:cNvPr id="4" name="text-25">
            <a:extLst>
              <a:ext uri="{FF2B5EF4-FFF2-40B4-BE49-F238E27FC236}">
                <a16:creationId xmlns:a16="http://schemas.microsoft.com/office/drawing/2014/main" id="{F7BA4B95-639E-4F21-9399-76E06000C2BD}"/>
              </a:ext>
            </a:extLst>
          </p:cNvPr>
          <p:cNvSpPr>
            <a:spLocks noGrp="1"/>
          </p:cNvSpPr>
          <p:nvPr/>
        </p:nvSpPr>
        <p:spPr>
          <a:xfrm>
            <a:off x="571500" y="1390650"/>
            <a:ext cx="50482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自有住房率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8E0558FA-A20B-4C5F-87C4-8CD6C742477F}"/>
              </a:ext>
            </a:extLst>
          </p:cNvPr>
          <p:cNvGraphicFramePr/>
          <p:nvPr/>
        </p:nvGraphicFramePr>
        <p:xfrm>
          <a:off x="571500" y="2009775"/>
          <a:ext cx="5219700" cy="1514475"/>
        </p:xfrm>
        <a:graphic>
          <a:graphicData uri="http://schemas.openxmlformats.org/drawingml/2006/table">
            <a:tbl>
              <a:tblPr/>
              <a:tblGrid>
                <a:gridCol w="2609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09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纽约市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81075">
                <a:tc>
                  <a:txBody>
                    <a:bodyPr/>
                    <a:lstStyle/>
                    <a:p>
                      <a:r>
                        <a:rPr sz="3225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59.0%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3225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32.3%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" name="text-26">
            <a:extLst>
              <a:ext uri="{FF2B5EF4-FFF2-40B4-BE49-F238E27FC236}">
                <a16:creationId xmlns:a16="http://schemas.microsoft.com/office/drawing/2014/main" id="{C49FE16C-ED69-4279-AB69-DB20B767C881}"/>
              </a:ext>
            </a:extLst>
          </p:cNvPr>
          <p:cNvSpPr>
            <a:spLocks noGrp="1"/>
          </p:cNvSpPr>
          <p:nvPr/>
        </p:nvSpPr>
        <p:spPr>
          <a:xfrm>
            <a:off x="571500" y="3952875"/>
            <a:ext cx="5219700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3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相差约 27 个百分点</a:t>
            </a:r>
          </a:p>
        </p:txBody>
      </p:sp>
      <p:sp>
        <p:nvSpPr>
          <p:cNvPr id="7" name="text-27">
            <a:extLst>
              <a:ext uri="{FF2B5EF4-FFF2-40B4-BE49-F238E27FC236}">
                <a16:creationId xmlns:a16="http://schemas.microsoft.com/office/drawing/2014/main" id="{D374B091-2D49-4B72-B427-46C821F7858F}"/>
              </a:ext>
            </a:extLst>
          </p:cNvPr>
          <p:cNvSpPr>
            <a:spLocks noGrp="1"/>
          </p:cNvSpPr>
          <p:nvPr/>
        </p:nvSpPr>
        <p:spPr>
          <a:xfrm>
            <a:off x="571500" y="4686300"/>
            <a:ext cx="52197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纽约约一半租房家庭，</a:t>
            </a:r>
          </a:p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房租占收入三成以上。</a:t>
            </a:r>
          </a:p>
        </p:txBody>
      </p:sp>
      <p:sp>
        <p:nvSpPr>
          <p:cNvPr id="8" name="text-28">
            <a:extLst>
              <a:ext uri="{FF2B5EF4-FFF2-40B4-BE49-F238E27FC236}">
                <a16:creationId xmlns:a16="http://schemas.microsoft.com/office/drawing/2014/main" id="{AAE1A8F1-7AD9-4B00-9B31-3C2799A0881E}"/>
              </a:ext>
            </a:extLst>
          </p:cNvPr>
          <p:cNvSpPr>
            <a:spLocks noGrp="1"/>
          </p:cNvSpPr>
          <p:nvPr/>
        </p:nvSpPr>
        <p:spPr>
          <a:xfrm>
            <a:off x="6343650" y="1390650"/>
            <a:ext cx="52768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上海继续增加住房支持</a:t>
            </a:r>
          </a:p>
        </p:txBody>
      </p:sp>
      <p:pic>
        <p:nvPicPr>
          <p:cNvPr id="9" name="图片 8" descr="2025年上海市统计公报官网完整句：全年完成零星旧改12万平方米，受益居民4354户。">
            <a:extLst>
              <a:ext uri="{FF2B5EF4-FFF2-40B4-BE49-F238E27FC236}">
                <a16:creationId xmlns:a16="http://schemas.microsoft.com/office/drawing/2014/main" id="{6B8709F6-A6A9-43EE-A56C-0C6BB339D9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343650" y="2533650"/>
            <a:ext cx="5276850" cy="327016"/>
          </a:xfrm>
          <a:prstGeom prst="rect">
            <a:avLst/>
          </a:prstGeom>
        </p:spPr>
      </p:pic>
      <p:sp>
        <p:nvSpPr>
          <p:cNvPr id="10" name="text-29">
            <a:extLst>
              <a:ext uri="{FF2B5EF4-FFF2-40B4-BE49-F238E27FC236}">
                <a16:creationId xmlns:a16="http://schemas.microsoft.com/office/drawing/2014/main" id="{7BB33439-215A-4E01-B57E-9AA979A979F2}"/>
              </a:ext>
            </a:extLst>
          </p:cNvPr>
          <p:cNvSpPr>
            <a:spLocks noGrp="1"/>
          </p:cNvSpPr>
          <p:nvPr/>
        </p:nvSpPr>
        <p:spPr>
          <a:xfrm>
            <a:off x="6343650" y="3457575"/>
            <a:ext cx="527685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0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00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7.4 万套（间）</a:t>
            </a:r>
          </a:p>
        </p:txBody>
      </p:sp>
      <p:sp>
        <p:nvSpPr>
          <p:cNvPr id="11" name="text-30">
            <a:extLst>
              <a:ext uri="{FF2B5EF4-FFF2-40B4-BE49-F238E27FC236}">
                <a16:creationId xmlns:a16="http://schemas.microsoft.com/office/drawing/2014/main" id="{BFCACD08-BF33-4D1E-97CD-71BDD5812350}"/>
              </a:ext>
            </a:extLst>
          </p:cNvPr>
          <p:cNvSpPr>
            <a:spLocks noGrp="1"/>
          </p:cNvSpPr>
          <p:nvPr/>
        </p:nvSpPr>
        <p:spPr>
          <a:xfrm>
            <a:off x="6343650" y="4114800"/>
            <a:ext cx="527685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2025年建设筹措保障性租赁住房</a:t>
            </a:r>
          </a:p>
        </p:txBody>
      </p:sp>
      <p:sp>
        <p:nvSpPr>
          <p:cNvPr id="12" name="text-31">
            <a:extLst>
              <a:ext uri="{FF2B5EF4-FFF2-40B4-BE49-F238E27FC236}">
                <a16:creationId xmlns:a16="http://schemas.microsoft.com/office/drawing/2014/main" id="{70F8D481-192C-42AE-AD56-48E2D76724CF}"/>
              </a:ext>
            </a:extLst>
          </p:cNvPr>
          <p:cNvSpPr>
            <a:spLocks noGrp="1"/>
          </p:cNvSpPr>
          <p:nvPr/>
        </p:nvSpPr>
        <p:spPr>
          <a:xfrm>
            <a:off x="6343650" y="4791075"/>
            <a:ext cx="527685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建设者之家床位 3.2 万张</a:t>
            </a:r>
          </a:p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老楼加装电梯 3,295 台</a:t>
            </a:r>
          </a:p>
        </p:txBody>
      </p:sp>
      <p:sp>
        <p:nvSpPr>
          <p:cNvPr id="13" name="text-32">
            <a:extLst>
              <a:ext uri="{FF2B5EF4-FFF2-40B4-BE49-F238E27FC236}">
                <a16:creationId xmlns:a16="http://schemas.microsoft.com/office/drawing/2014/main" id="{1F14E845-A0F5-4F24-B51D-C74ACCC81EF9}"/>
              </a:ext>
            </a:extLst>
          </p:cNvPr>
          <p:cNvSpPr>
            <a:spLocks noGrp="1"/>
          </p:cNvSpPr>
          <p:nvPr/>
        </p:nvSpPr>
        <p:spPr>
          <a:xfrm>
            <a:off x="571500" y="5810250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自有住房率：上海2020年七普长表家庭户；纽约2023年HVS已入住住房，年份与分母不同。</a:t>
            </a:r>
          </a:p>
        </p:txBody>
      </p:sp>
      <p:sp>
        <p:nvSpPr>
          <p:cNvPr id="15" name="housing-bulletin-source-caption">
            <a:extLst>
              <a:ext uri="{FF2B5EF4-FFF2-40B4-BE49-F238E27FC236}">
                <a16:creationId xmlns:a16="http://schemas.microsoft.com/office/drawing/2014/main" id="{090D71AC-4136-4E91-9EA4-3AED9DB04703}"/>
              </a:ext>
            </a:extLst>
          </p:cNvPr>
          <p:cNvSpPr>
            <a:spLocks noGrp="1"/>
          </p:cNvSpPr>
          <p:nvPr/>
        </p:nvSpPr>
        <p:spPr>
          <a:xfrm>
            <a:off x="6343650" y="2076450"/>
            <a:ext cx="527685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50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2025 年统计公报</a:t>
            </a:r>
          </a:p>
        </p:txBody>
      </p:sp>
    </p:spTree>
    <p:extLst>
      <p:ext uri="{BB962C8B-B14F-4D97-AF65-F5344CB8AC3E}">
        <p14:creationId xmlns:p14="http://schemas.microsoft.com/office/powerpoint/2010/main" val="9832333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-title">
            <a:extLst>
              <a:ext uri="{FF2B5EF4-FFF2-40B4-BE49-F238E27FC236}">
                <a16:creationId xmlns:a16="http://schemas.microsoft.com/office/drawing/2014/main" id="{265CFB1D-DB2F-4222-B49A-51C69D4EBB73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吃和穿：纽约领先，程度不同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AD155613-0E41-4B3E-9EA8-4DBC8FA5168E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来源：BEA SAPCE（纽约州2025）；上海统计年鉴2025（2024年住户支出）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B2FD394D-70CA-4704-A7C2-D14EAB8D470E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24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3BA56A00-009B-41A8-9AE0-81A5948BDADD}"/>
              </a:ext>
            </a:extLst>
          </p:cNvPr>
          <p:cNvGraphicFramePr/>
          <p:nvPr/>
        </p:nvGraphicFramePr>
        <p:xfrm>
          <a:off x="571500" y="1485900"/>
          <a:ext cx="11049000" cy="2476500"/>
        </p:xfrm>
        <a:graphic>
          <a:graphicData uri="http://schemas.openxmlformats.org/drawingml/2006/table">
            <a:tbl>
              <a:tblPr/>
              <a:tblGrid>
                <a:gridCol w="22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05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人均年度支出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纽约州（折人民币）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本组判定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3345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吃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1.35 万元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约 6.3 万元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纽约稍胜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3345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穿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1,936 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约 1.31 万元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纽约压倒性胜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text-33">
            <a:extLst>
              <a:ext uri="{FF2B5EF4-FFF2-40B4-BE49-F238E27FC236}">
                <a16:creationId xmlns:a16="http://schemas.microsoft.com/office/drawing/2014/main" id="{8E95C942-98F5-433E-AA90-2F4B9F0FAC5A}"/>
              </a:ext>
            </a:extLst>
          </p:cNvPr>
          <p:cNvSpPr>
            <a:spLocks noGrp="1"/>
          </p:cNvSpPr>
          <p:nvPr/>
        </p:nvSpPr>
        <p:spPr>
          <a:xfrm>
            <a:off x="571500" y="4381500"/>
            <a:ext cx="5191125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3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吃：账面约 4.7 倍</a:t>
            </a:r>
          </a:p>
        </p:txBody>
      </p:sp>
      <p:sp>
        <p:nvSpPr>
          <p:cNvPr id="6" name="text-34">
            <a:extLst>
              <a:ext uri="{FF2B5EF4-FFF2-40B4-BE49-F238E27FC236}">
                <a16:creationId xmlns:a16="http://schemas.microsoft.com/office/drawing/2014/main" id="{9CE9FE9F-7684-4EA1-829D-92E1E9589EAE}"/>
              </a:ext>
            </a:extLst>
          </p:cNvPr>
          <p:cNvSpPr>
            <a:spLocks noGrp="1"/>
          </p:cNvSpPr>
          <p:nvPr/>
        </p:nvSpPr>
        <p:spPr>
          <a:xfrm>
            <a:off x="571500" y="5010150"/>
            <a:ext cx="5191125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餐饮价格随工资走，</a:t>
            </a:r>
          </a:p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花钱多不等于吃得好同样多。</a:t>
            </a:r>
          </a:p>
        </p:txBody>
      </p:sp>
      <p:sp>
        <p:nvSpPr>
          <p:cNvPr id="7" name="text-35">
            <a:extLst>
              <a:ext uri="{FF2B5EF4-FFF2-40B4-BE49-F238E27FC236}">
                <a16:creationId xmlns:a16="http://schemas.microsoft.com/office/drawing/2014/main" id="{14E21E6B-6514-47C2-A666-8DCC4E7039EA}"/>
              </a:ext>
            </a:extLst>
          </p:cNvPr>
          <p:cNvSpPr>
            <a:spLocks noGrp="1"/>
          </p:cNvSpPr>
          <p:nvPr/>
        </p:nvSpPr>
        <p:spPr>
          <a:xfrm>
            <a:off x="6343650" y="4381500"/>
            <a:ext cx="52768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3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穿：接近 7 倍</a:t>
            </a:r>
          </a:p>
        </p:txBody>
      </p:sp>
      <p:sp>
        <p:nvSpPr>
          <p:cNvPr id="8" name="text-36">
            <a:extLst>
              <a:ext uri="{FF2B5EF4-FFF2-40B4-BE49-F238E27FC236}">
                <a16:creationId xmlns:a16="http://schemas.microsoft.com/office/drawing/2014/main" id="{F4F43F1D-D9F7-4492-9FF6-6274EF59F2AD}"/>
              </a:ext>
            </a:extLst>
          </p:cNvPr>
          <p:cNvSpPr>
            <a:spLocks noGrp="1"/>
          </p:cNvSpPr>
          <p:nvPr/>
        </p:nvSpPr>
        <p:spPr>
          <a:xfrm>
            <a:off x="6343650" y="5010150"/>
            <a:ext cx="527685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全球化商品的消费差距，</a:t>
            </a:r>
          </a:p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比餐饮支出更直接。</a:t>
            </a:r>
          </a:p>
        </p:txBody>
      </p:sp>
      <p:sp>
        <p:nvSpPr>
          <p:cNvPr id="9" name="text-37">
            <a:extLst>
              <a:ext uri="{FF2B5EF4-FFF2-40B4-BE49-F238E27FC236}">
                <a16:creationId xmlns:a16="http://schemas.microsoft.com/office/drawing/2014/main" id="{8E79DFED-E609-4024-9C29-F3C686EA9744}"/>
              </a:ext>
            </a:extLst>
          </p:cNvPr>
          <p:cNvSpPr>
            <a:spLocks noGrp="1"/>
          </p:cNvSpPr>
          <p:nvPr/>
        </p:nvSpPr>
        <p:spPr>
          <a:xfrm>
            <a:off x="571500" y="5857875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纽约用州级“食品饮料＋餐饮住宿”和服装鞋类，上海为食品烟酒、衣着；汇率6.733。</a:t>
            </a:r>
          </a:p>
        </p:txBody>
      </p:sp>
    </p:spTree>
    <p:extLst>
      <p:ext uri="{BB962C8B-B14F-4D97-AF65-F5344CB8AC3E}">
        <p14:creationId xmlns:p14="http://schemas.microsoft.com/office/powerpoint/2010/main" val="115168944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-title">
            <a:extLst>
              <a:ext uri="{FF2B5EF4-FFF2-40B4-BE49-F238E27FC236}">
                <a16:creationId xmlns:a16="http://schemas.microsoft.com/office/drawing/2014/main" id="{FC8A0B15-7211-4CCA-BE42-7DFCE0A90BE1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行：日常出行，上海压倒性占优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286F8971-FC16-4684-88C2-A5C5CCE49D82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来源：上海地铁票务规则；NYC311、MTA；上海年鉴；纽约都会区消费统计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6B8C765F-ACBE-48BB-95A3-C5771FB6382B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25</a:t>
            </a:r>
          </a:p>
        </p:txBody>
      </p:sp>
      <p:sp>
        <p:nvSpPr>
          <p:cNvPr id="4" name="text-38">
            <a:extLst>
              <a:ext uri="{FF2B5EF4-FFF2-40B4-BE49-F238E27FC236}">
                <a16:creationId xmlns:a16="http://schemas.microsoft.com/office/drawing/2014/main" id="{A66938CB-84B2-492A-A69E-98F32AD21FD3}"/>
              </a:ext>
            </a:extLst>
          </p:cNvPr>
          <p:cNvSpPr>
            <a:spLocks noGrp="1"/>
          </p:cNvSpPr>
          <p:nvPr/>
        </p:nvSpPr>
        <p:spPr>
          <a:xfrm>
            <a:off x="571500" y="1381125"/>
            <a:ext cx="11049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7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把纽约票价按收入差距折算后，再比较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D8121013-BA71-4D93-95E1-120EA383588A}"/>
              </a:ext>
            </a:extLst>
          </p:cNvPr>
          <p:cNvGraphicFramePr/>
          <p:nvPr/>
        </p:nvGraphicFramePr>
        <p:xfrm>
          <a:off x="571500" y="2028825"/>
          <a:ext cx="11049000" cy="2219325"/>
        </p:xfrm>
        <a:graphic>
          <a:graphicData uri="http://schemas.openxmlformats.org/drawingml/2006/table">
            <a:tbl>
              <a:tblPr/>
              <a:tblGrid>
                <a:gridCol w="2667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100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71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2925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票价 / 通勤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纽约（按收入折算）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3820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单次地铁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3–4 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约 7.6 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3820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一周通勤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约 40 元（10趟×4元）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约 89 元（周封顶35美元）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text-39">
            <a:extLst>
              <a:ext uri="{FF2B5EF4-FFF2-40B4-BE49-F238E27FC236}">
                <a16:creationId xmlns:a16="http://schemas.microsoft.com/office/drawing/2014/main" id="{F89EF159-8625-4169-B963-B7833DEB867C}"/>
              </a:ext>
            </a:extLst>
          </p:cNvPr>
          <p:cNvSpPr>
            <a:spLocks noGrp="1"/>
          </p:cNvSpPr>
          <p:nvPr/>
        </p:nvSpPr>
        <p:spPr>
          <a:xfrm>
            <a:off x="571500" y="4562475"/>
            <a:ext cx="3333750" cy="1000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4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一日票 18 元</a:t>
            </a:r>
          </a:p>
          <a:p>
            <a:pPr algn="l">
              <a:defRPr sz="24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4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三日票 45 元</a:t>
            </a:r>
          </a:p>
        </p:txBody>
      </p:sp>
      <p:sp>
        <p:nvSpPr>
          <p:cNvPr id="7" name="text-40">
            <a:extLst>
              <a:ext uri="{FF2B5EF4-FFF2-40B4-BE49-F238E27FC236}">
                <a16:creationId xmlns:a16="http://schemas.microsoft.com/office/drawing/2014/main" id="{CFA80799-84F5-4E8F-AADE-7A9E95854103}"/>
              </a:ext>
            </a:extLst>
          </p:cNvPr>
          <p:cNvSpPr>
            <a:spLocks noGrp="1"/>
          </p:cNvSpPr>
          <p:nvPr/>
        </p:nvSpPr>
        <p:spPr>
          <a:xfrm>
            <a:off x="4476750" y="4562475"/>
            <a:ext cx="4000500" cy="1076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消费中的交通负担</a:t>
            </a:r>
          </a:p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上海交通通信 10.6%</a:t>
            </a:r>
          </a:p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纽约都会区交通 14%</a:t>
            </a:r>
          </a:p>
        </p:txBody>
      </p:sp>
      <p:sp>
        <p:nvSpPr>
          <p:cNvPr id="8" name="text-41">
            <a:extLst>
              <a:ext uri="{FF2B5EF4-FFF2-40B4-BE49-F238E27FC236}">
                <a16:creationId xmlns:a16="http://schemas.microsoft.com/office/drawing/2014/main" id="{8DD23383-DD43-4BC6-91BD-05579038DD1D}"/>
              </a:ext>
            </a:extLst>
          </p:cNvPr>
          <p:cNvSpPr>
            <a:spLocks noGrp="1"/>
          </p:cNvSpPr>
          <p:nvPr/>
        </p:nvSpPr>
        <p:spPr>
          <a:xfrm>
            <a:off x="8905875" y="4562475"/>
            <a:ext cx="2714625" cy="904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每人每年乘坐地铁</a:t>
            </a:r>
          </a:p>
          <a:p>
            <a: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两城均约 150 次</a:t>
            </a:r>
          </a:p>
        </p:txBody>
      </p:sp>
      <p:sp>
        <p:nvSpPr>
          <p:cNvPr id="9" name="text-42">
            <a:extLst>
              <a:ext uri="{FF2B5EF4-FFF2-40B4-BE49-F238E27FC236}">
                <a16:creationId xmlns:a16="http://schemas.microsoft.com/office/drawing/2014/main" id="{3A1214BC-824E-481E-965A-2E995B3D63EC}"/>
              </a:ext>
            </a:extLst>
          </p:cNvPr>
          <p:cNvSpPr>
            <a:spLocks noGrp="1"/>
          </p:cNvSpPr>
          <p:nvPr/>
        </p:nvSpPr>
        <p:spPr>
          <a:xfrm>
            <a:off x="571500" y="5810250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票价按收入差2.65倍折算；支出占比的地域、年份及交通/交通通信分类不同，详见备注。</a:t>
            </a:r>
          </a:p>
        </p:txBody>
      </p:sp>
    </p:spTree>
    <p:extLst>
      <p:ext uri="{BB962C8B-B14F-4D97-AF65-F5344CB8AC3E}">
        <p14:creationId xmlns:p14="http://schemas.microsoft.com/office/powerpoint/2010/main" val="14625782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-title">
            <a:extLst>
              <a:ext uri="{FF2B5EF4-FFF2-40B4-BE49-F238E27FC236}">
                <a16:creationId xmlns:a16="http://schemas.microsoft.com/office/drawing/2014/main" id="{51D07DCA-1EE1-4542-9F1C-35E40B510229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民生福祉：四项放在一起看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7DE75983-0905-4B9C-824A-31FFABBDBC89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来源：沪卫健委、统计年鉴；NYC DOHMH、NYPD、NYSED、DCLA、公共图书馆系统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F6B369C8-527E-41D5-8E00-D41FCE2B4A99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26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FCF60B75-7F77-4C1A-9D7A-5D8569C7A173}"/>
              </a:ext>
            </a:extLst>
          </p:cNvPr>
          <p:cNvGraphicFramePr/>
          <p:nvPr/>
        </p:nvGraphicFramePr>
        <p:xfrm>
          <a:off x="571500" y="1438275"/>
          <a:ext cx="11049000" cy="3962400"/>
        </p:xfrm>
        <a:graphic>
          <a:graphicData uri="http://schemas.openxmlformats.org/drawingml/2006/table">
            <a:tbl>
              <a:tblPr/>
              <a:tblGrid>
                <a:gridCol w="121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67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671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9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143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项目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纽约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胜负与程度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287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医疗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婴儿 2.34‰</a:t>
                      </a:r>
                    </a:p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孕产妇 1.85/10万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婴儿 4.2‰</a:t>
                      </a:r>
                    </a:p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孕产妇约21/10万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上海胜</a:t>
                      </a:r>
                    </a:p>
                    <a:p>
                      <a:r>
                        <a:rPr sz="1725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明显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29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治安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杀人立案 0.19/10万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谋杀 3.6/10万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上海胜</a:t>
                      </a:r>
                    </a:p>
                    <a:p>
                      <a:r>
                        <a:rPr sz="1725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压倒性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教育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生师比 12.5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生师比 13.2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打平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287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文化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文化往家门口搬</a:t>
                      </a:r>
                    </a:p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演出、社区生活圈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200余图书馆网点</a:t>
                      </a:r>
                    </a:p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资助1,171家文化机构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纽约胜</a:t>
                      </a:r>
                    </a:p>
                    <a:p>
                      <a:r>
                        <a:rPr sz="1725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明显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-43">
            <a:extLst>
              <a:ext uri="{FF2B5EF4-FFF2-40B4-BE49-F238E27FC236}">
                <a16:creationId xmlns:a16="http://schemas.microsoft.com/office/drawing/2014/main" id="{B9D20F8A-1EEB-48F9-BB89-2F965912B60C}"/>
              </a:ext>
            </a:extLst>
          </p:cNvPr>
          <p:cNvSpPr>
            <a:spLocks noGrp="1"/>
          </p:cNvSpPr>
          <p:nvPr/>
        </p:nvSpPr>
        <p:spPr>
          <a:xfrm>
            <a:off x="571500" y="5743575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医疗：上海2025；纽约婴儿2023、孕产妇2022（按产后42天折算）；其余口径见备注。</a:t>
            </a:r>
          </a:p>
        </p:txBody>
      </p:sp>
    </p:spTree>
    <p:extLst>
      <p:ext uri="{BB962C8B-B14F-4D97-AF65-F5344CB8AC3E}">
        <p14:creationId xmlns:p14="http://schemas.microsoft.com/office/powerpoint/2010/main" val="122857541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-title">
            <a:extLst>
              <a:ext uri="{FF2B5EF4-FFF2-40B4-BE49-F238E27FC236}">
                <a16:creationId xmlns:a16="http://schemas.microsoft.com/office/drawing/2014/main" id="{FC5BD58D-D858-4B07-8E80-3E8ABD94E1D6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怎么对待最穷的人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D7DCDB0A-3135-476E-B183-9DAECD8FE041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来源：沪民政2026低保通知、2025统计公报；HUD NY-600 2025一夜点数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A3C6F902-9491-47B5-BA9D-C8CE0829B03F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27</a:t>
            </a:r>
          </a:p>
        </p:txBody>
      </p:sp>
      <p:sp>
        <p:nvSpPr>
          <p:cNvPr id="4" name="text-44">
            <a:extLst>
              <a:ext uri="{FF2B5EF4-FFF2-40B4-BE49-F238E27FC236}">
                <a16:creationId xmlns:a16="http://schemas.microsoft.com/office/drawing/2014/main" id="{26F887C3-3C0C-43E0-9B1D-BB7226768AD0}"/>
              </a:ext>
            </a:extLst>
          </p:cNvPr>
          <p:cNvSpPr>
            <a:spLocks noGrp="1"/>
          </p:cNvSpPr>
          <p:nvPr/>
        </p:nvSpPr>
        <p:spPr>
          <a:xfrm>
            <a:off x="571500" y="1390650"/>
            <a:ext cx="52197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1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上海：把托底网络铺开</a:t>
            </a:r>
          </a:p>
        </p:txBody>
      </p:sp>
      <p:sp>
        <p:nvSpPr>
          <p:cNvPr id="5" name="text-45">
            <a:extLst>
              <a:ext uri="{FF2B5EF4-FFF2-40B4-BE49-F238E27FC236}">
                <a16:creationId xmlns:a16="http://schemas.microsoft.com/office/drawing/2014/main" id="{0582C89A-2BDD-48B4-802A-FC8125415ABA}"/>
              </a:ext>
            </a:extLst>
          </p:cNvPr>
          <p:cNvSpPr>
            <a:spLocks noGrp="1"/>
          </p:cNvSpPr>
          <p:nvPr/>
        </p:nvSpPr>
        <p:spPr>
          <a:xfrm>
            <a:off x="571500" y="2009775"/>
            <a:ext cx="52197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22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1,690 元 / 人·月</a:t>
            </a:r>
          </a:p>
        </p:txBody>
      </p:sp>
      <p:sp>
        <p:nvSpPr>
          <p:cNvPr id="6" name="text-46">
            <a:extLst>
              <a:ext uri="{FF2B5EF4-FFF2-40B4-BE49-F238E27FC236}">
                <a16:creationId xmlns:a16="http://schemas.microsoft.com/office/drawing/2014/main" id="{05DDE4C7-8F0C-401F-A3B7-2C7A9CEE3BEE}"/>
              </a:ext>
            </a:extLst>
          </p:cNvPr>
          <p:cNvSpPr>
            <a:spLocks noGrp="1"/>
          </p:cNvSpPr>
          <p:nvPr/>
        </p:nvSpPr>
        <p:spPr>
          <a:xfrm>
            <a:off x="571500" y="2714625"/>
            <a:ext cx="52197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2026年7月起，城乡统一低保标准</a:t>
            </a: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B0AB0633-2DFA-4B21-AC5E-215AA369B2EC}"/>
              </a:ext>
            </a:extLst>
          </p:cNvPr>
          <p:cNvGraphicFramePr/>
          <p:nvPr/>
        </p:nvGraphicFramePr>
        <p:xfrm>
          <a:off x="571500" y="3476625"/>
          <a:ext cx="5219700" cy="2114552"/>
        </p:xfrm>
        <a:graphic>
          <a:graphicData uri="http://schemas.openxmlformats.org/drawingml/2006/table">
            <a:tbl>
              <a:tblPr/>
              <a:tblGrid>
                <a:gridCol w="1333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86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日常需要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托底服务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86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吃饭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2,498个老年助餐点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86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养老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557个社区为老服务中心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86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就业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506个家门口就业服务站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-47">
            <a:extLst>
              <a:ext uri="{FF2B5EF4-FFF2-40B4-BE49-F238E27FC236}">
                <a16:creationId xmlns:a16="http://schemas.microsoft.com/office/drawing/2014/main" id="{F040D633-EA7D-4FA2-9637-D24942194C0C}"/>
              </a:ext>
            </a:extLst>
          </p:cNvPr>
          <p:cNvSpPr>
            <a:spLocks noGrp="1"/>
          </p:cNvSpPr>
          <p:nvPr/>
        </p:nvSpPr>
        <p:spPr>
          <a:xfrm>
            <a:off x="6343650" y="1390650"/>
            <a:ext cx="527685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21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纽约：住房出口仍然堵塞</a:t>
            </a:r>
          </a:p>
        </p:txBody>
      </p:sp>
      <p:sp>
        <p:nvSpPr>
          <p:cNvPr id="9" name="text-48">
            <a:extLst>
              <a:ext uri="{FF2B5EF4-FFF2-40B4-BE49-F238E27FC236}">
                <a16:creationId xmlns:a16="http://schemas.microsoft.com/office/drawing/2014/main" id="{91A02465-BE47-4D6C-8775-75039BD49D2F}"/>
              </a:ext>
            </a:extLst>
          </p:cNvPr>
          <p:cNvSpPr>
            <a:spLocks noGrp="1"/>
          </p:cNvSpPr>
          <p:nvPr/>
        </p:nvSpPr>
        <p:spPr>
          <a:xfrm>
            <a:off x="6343650" y="2009775"/>
            <a:ext cx="52768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22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322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12.6 万人无家可归</a:t>
            </a:r>
          </a:p>
        </p:txBody>
      </p:sp>
      <p:sp>
        <p:nvSpPr>
          <p:cNvPr id="10" name="text-49">
            <a:extLst>
              <a:ext uri="{FF2B5EF4-FFF2-40B4-BE49-F238E27FC236}">
                <a16:creationId xmlns:a16="http://schemas.microsoft.com/office/drawing/2014/main" id="{0996E224-DF01-44E4-9BA5-CFF1E6F83193}"/>
              </a:ext>
            </a:extLst>
          </p:cNvPr>
          <p:cNvSpPr>
            <a:spLocks noGrp="1"/>
          </p:cNvSpPr>
          <p:nvPr/>
        </p:nvSpPr>
        <p:spPr>
          <a:xfrm>
            <a:off x="6343650" y="2714625"/>
            <a:ext cx="52768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其中露宿街头 4,673 人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39ADF98B-3C76-41B1-AA78-6934A0B394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343650" y="3627269"/>
            <a:ext cx="5276850" cy="127337"/>
          </a:xfrm>
          <a:prstGeom prst="rect">
            <a:avLst/>
          </a:prstGeom>
        </p:spPr>
      </p:pic>
      <p:sp>
        <p:nvSpPr>
          <p:cNvPr id="12" name="text-50">
            <a:extLst>
              <a:ext uri="{FF2B5EF4-FFF2-40B4-BE49-F238E27FC236}">
                <a16:creationId xmlns:a16="http://schemas.microsoft.com/office/drawing/2014/main" id="{51B78F47-812C-460D-8845-304FC440EC63}"/>
              </a:ext>
            </a:extLst>
          </p:cNvPr>
          <p:cNvSpPr>
            <a:spLocks noGrp="1"/>
          </p:cNvSpPr>
          <p:nvPr/>
        </p:nvSpPr>
        <p:spPr>
          <a:xfrm>
            <a:off x="6343650" y="4238625"/>
            <a:ext cx="5276850" cy="895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租赁空置率只有 1.4%</a:t>
            </a:r>
          </a:p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收容所的人难以搬入稳定住房</a:t>
            </a:r>
          </a:p>
        </p:txBody>
      </p:sp>
      <p:sp>
        <p:nvSpPr>
          <p:cNvPr id="13" name="text-51">
            <a:extLst>
              <a:ext uri="{FF2B5EF4-FFF2-40B4-BE49-F238E27FC236}">
                <a16:creationId xmlns:a16="http://schemas.microsoft.com/office/drawing/2014/main" id="{ECA27C55-09C2-4E5C-81A8-9CFF83993793}"/>
              </a:ext>
            </a:extLst>
          </p:cNvPr>
          <p:cNvSpPr>
            <a:spLocks noGrp="1"/>
          </p:cNvSpPr>
          <p:nvPr/>
        </p:nvSpPr>
        <p:spPr>
          <a:xfrm>
            <a:off x="6457950" y="5362575"/>
            <a:ext cx="50482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80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本组判定：上海胜，压倒性</a:t>
            </a:r>
          </a:p>
        </p:txBody>
      </p:sp>
      <p:sp>
        <p:nvSpPr>
          <p:cNvPr id="14" name="text-52">
            <a:extLst>
              <a:ext uri="{FF2B5EF4-FFF2-40B4-BE49-F238E27FC236}">
                <a16:creationId xmlns:a16="http://schemas.microsoft.com/office/drawing/2014/main" id="{27546C09-A35F-40E2-97B2-5CC43C3C34FA}"/>
              </a:ext>
            </a:extLst>
          </p:cNvPr>
          <p:cNvSpPr>
            <a:spLocks noGrp="1"/>
          </p:cNvSpPr>
          <p:nvPr/>
        </p:nvSpPr>
        <p:spPr>
          <a:xfrm>
            <a:off x="571500" y="5810250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纽约是一夜点数，含收容与过渡住房；上海露宿人数未公开，本题结合制度与公布结果判断。</a:t>
            </a:r>
          </a:p>
        </p:txBody>
      </p:sp>
    </p:spTree>
    <p:extLst>
      <p:ext uri="{BB962C8B-B14F-4D97-AF65-F5344CB8AC3E}">
        <p14:creationId xmlns:p14="http://schemas.microsoft.com/office/powerpoint/2010/main" val="67289380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lide-title">
            <a:extLst>
              <a:ext uri="{FF2B5EF4-FFF2-40B4-BE49-F238E27FC236}">
                <a16:creationId xmlns:a16="http://schemas.microsoft.com/office/drawing/2014/main" id="{8AFF63DF-4AEA-4DE0-AC6C-21350188C790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家门口的公共服务：四类设施分布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FB1DCD14-E5EB-4D7A-A235-D9715FD81E1C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来源：上海养老服务平台、公共体育设施地图、上海图书馆；© OpenStreetMap contributors，ODbL；区界DataV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BF74C698-3AD8-425E-93CB-94B5A097A177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28</a:t>
            </a:r>
          </a:p>
        </p:txBody>
      </p:sp>
      <p:sp>
        <p:nvSpPr>
          <p:cNvPr id="4" name="text-53">
            <a:extLst>
              <a:ext uri="{FF2B5EF4-FFF2-40B4-BE49-F238E27FC236}">
                <a16:creationId xmlns:a16="http://schemas.microsoft.com/office/drawing/2014/main" id="{4AE3FA6F-A0AE-4533-9AE1-840650A7A9BC}"/>
              </a:ext>
            </a:extLst>
          </p:cNvPr>
          <p:cNvSpPr>
            <a:spLocks noGrp="1"/>
          </p:cNvSpPr>
          <p:nvPr/>
        </p:nvSpPr>
        <p:spPr>
          <a:xfrm>
            <a:off x="571500" y="1285875"/>
            <a:ext cx="11049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中心七区 · 直线1公里 · OSM已标注居住用地面积覆盖率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BD2B75F5-3A1B-44A7-B385-C72C0F6E4B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2083" y="1752600"/>
            <a:ext cx="1751434" cy="2019300"/>
          </a:xfrm>
          <a:prstGeom prst="rect">
            <a:avLst/>
          </a:prstGeom>
        </p:spPr>
      </p:pic>
      <p:sp>
        <p:nvSpPr>
          <p:cNvPr id="6" name="text-54">
            <a:extLst>
              <a:ext uri="{FF2B5EF4-FFF2-40B4-BE49-F238E27FC236}">
                <a16:creationId xmlns:a16="http://schemas.microsoft.com/office/drawing/2014/main" id="{9F3B3AF1-9AF2-4A50-ADED-EC70B87F3DCF}"/>
              </a:ext>
            </a:extLst>
          </p:cNvPr>
          <p:cNvSpPr>
            <a:spLocks noGrp="1"/>
          </p:cNvSpPr>
          <p:nvPr/>
        </p:nvSpPr>
        <p:spPr>
          <a:xfrm>
            <a:off x="2571750" y="1895475"/>
            <a:ext cx="333375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社区长者食堂</a:t>
            </a:r>
          </a:p>
        </p:txBody>
      </p:sp>
      <p:sp>
        <p:nvSpPr>
          <p:cNvPr id="7" name="text-55">
            <a:extLst>
              <a:ext uri="{FF2B5EF4-FFF2-40B4-BE49-F238E27FC236}">
                <a16:creationId xmlns:a16="http://schemas.microsoft.com/office/drawing/2014/main" id="{4808B8E9-E2BC-4B1C-BC2D-5CDA411DCFED}"/>
              </a:ext>
            </a:extLst>
          </p:cNvPr>
          <p:cNvSpPr>
            <a:spLocks noGrp="1"/>
          </p:cNvSpPr>
          <p:nvPr/>
        </p:nvSpPr>
        <p:spPr>
          <a:xfrm>
            <a:off x="2571750" y="2409825"/>
            <a:ext cx="3333750" cy="600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22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87.5%</a:t>
            </a:r>
          </a:p>
        </p:txBody>
      </p:sp>
      <p:sp>
        <p:nvSpPr>
          <p:cNvPr id="8" name="text-56">
            <a:extLst>
              <a:ext uri="{FF2B5EF4-FFF2-40B4-BE49-F238E27FC236}">
                <a16:creationId xmlns:a16="http://schemas.microsoft.com/office/drawing/2014/main" id="{FF8D3F4D-1089-4BAD-B86E-70BD9B8CD1A2}"/>
              </a:ext>
            </a:extLst>
          </p:cNvPr>
          <p:cNvSpPr>
            <a:spLocks noGrp="1"/>
          </p:cNvSpPr>
          <p:nvPr/>
        </p:nvSpPr>
        <p:spPr>
          <a:xfrm>
            <a:off x="2571750" y="3152775"/>
            <a:ext cx="33337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公开食堂名录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E003EA3B-FA70-437F-87DF-7D1B9B2AF1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287083" y="1752600"/>
            <a:ext cx="1751434" cy="2019300"/>
          </a:xfrm>
          <a:prstGeom prst="rect">
            <a:avLst/>
          </a:prstGeom>
        </p:spPr>
      </p:pic>
      <p:sp>
        <p:nvSpPr>
          <p:cNvPr id="10" name="text-57">
            <a:extLst>
              <a:ext uri="{FF2B5EF4-FFF2-40B4-BE49-F238E27FC236}">
                <a16:creationId xmlns:a16="http://schemas.microsoft.com/office/drawing/2014/main" id="{3A5A521D-569A-48F3-9C6A-486BB5AA0359}"/>
              </a:ext>
            </a:extLst>
          </p:cNvPr>
          <p:cNvSpPr>
            <a:spLocks noGrp="1"/>
          </p:cNvSpPr>
          <p:nvPr/>
        </p:nvSpPr>
        <p:spPr>
          <a:xfrm>
            <a:off x="8286750" y="1895475"/>
            <a:ext cx="333375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公园类绿地</a:t>
            </a:r>
          </a:p>
        </p:txBody>
      </p:sp>
      <p:sp>
        <p:nvSpPr>
          <p:cNvPr id="11" name="text-58">
            <a:extLst>
              <a:ext uri="{FF2B5EF4-FFF2-40B4-BE49-F238E27FC236}">
                <a16:creationId xmlns:a16="http://schemas.microsoft.com/office/drawing/2014/main" id="{C61E5FAE-AFA8-4928-AACA-C718806FC0A0}"/>
              </a:ext>
            </a:extLst>
          </p:cNvPr>
          <p:cNvSpPr>
            <a:spLocks noGrp="1"/>
          </p:cNvSpPr>
          <p:nvPr/>
        </p:nvSpPr>
        <p:spPr>
          <a:xfrm>
            <a:off x="8286750" y="2409825"/>
            <a:ext cx="3333750" cy="600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22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99.3%</a:t>
            </a:r>
          </a:p>
        </p:txBody>
      </p:sp>
      <p:sp>
        <p:nvSpPr>
          <p:cNvPr id="12" name="text-59">
            <a:extLst>
              <a:ext uri="{FF2B5EF4-FFF2-40B4-BE49-F238E27FC236}">
                <a16:creationId xmlns:a16="http://schemas.microsoft.com/office/drawing/2014/main" id="{D069DDA8-0E10-495E-A314-9A5F2184B80A}"/>
              </a:ext>
            </a:extLst>
          </p:cNvPr>
          <p:cNvSpPr>
            <a:spLocks noGrp="1"/>
          </p:cNvSpPr>
          <p:nvPr/>
        </p:nvSpPr>
        <p:spPr>
          <a:xfrm>
            <a:off x="8286750" y="3152775"/>
            <a:ext cx="33337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开放状态待核验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FEF6B7B0-6762-4A25-83CD-4BBD2A92CC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572083" y="3886200"/>
            <a:ext cx="1751434" cy="2019300"/>
          </a:xfrm>
          <a:prstGeom prst="rect">
            <a:avLst/>
          </a:prstGeom>
        </p:spPr>
      </p:pic>
      <p:sp>
        <p:nvSpPr>
          <p:cNvPr id="14" name="text-60">
            <a:extLst>
              <a:ext uri="{FF2B5EF4-FFF2-40B4-BE49-F238E27FC236}">
                <a16:creationId xmlns:a16="http://schemas.microsoft.com/office/drawing/2014/main" id="{B8168715-9B57-4B56-8F18-DB70A69AAD5E}"/>
              </a:ext>
            </a:extLst>
          </p:cNvPr>
          <p:cNvSpPr>
            <a:spLocks noGrp="1"/>
          </p:cNvSpPr>
          <p:nvPr/>
        </p:nvSpPr>
        <p:spPr>
          <a:xfrm>
            <a:off x="2571750" y="4029075"/>
            <a:ext cx="333375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市民健身中心</a:t>
            </a:r>
          </a:p>
        </p:txBody>
      </p:sp>
      <p:sp>
        <p:nvSpPr>
          <p:cNvPr id="15" name="text-61">
            <a:extLst>
              <a:ext uri="{FF2B5EF4-FFF2-40B4-BE49-F238E27FC236}">
                <a16:creationId xmlns:a16="http://schemas.microsoft.com/office/drawing/2014/main" id="{A3D8C8C3-FEB6-4863-BB03-9E07B581BA94}"/>
              </a:ext>
            </a:extLst>
          </p:cNvPr>
          <p:cNvSpPr>
            <a:spLocks noGrp="1"/>
          </p:cNvSpPr>
          <p:nvPr/>
        </p:nvSpPr>
        <p:spPr>
          <a:xfrm>
            <a:off x="2571750" y="4543425"/>
            <a:ext cx="3333750" cy="600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22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64.4%</a:t>
            </a:r>
          </a:p>
        </p:txBody>
      </p:sp>
      <p:sp>
        <p:nvSpPr>
          <p:cNvPr id="16" name="text-62">
            <a:extLst>
              <a:ext uri="{FF2B5EF4-FFF2-40B4-BE49-F238E27FC236}">
                <a16:creationId xmlns:a16="http://schemas.microsoft.com/office/drawing/2014/main" id="{23880241-A3F7-4563-A30B-F18A0DCFE144}"/>
              </a:ext>
            </a:extLst>
          </p:cNvPr>
          <p:cNvSpPr>
            <a:spLocks noGrp="1"/>
          </p:cNvSpPr>
          <p:nvPr/>
        </p:nvSpPr>
        <p:spPr>
          <a:xfrm>
            <a:off x="2571750" y="5286375"/>
            <a:ext cx="33337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仅市民健身中心分类</a:t>
            </a:r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E9B66371-701B-46E3-89BD-CE0674C5F9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6287083" y="3886200"/>
            <a:ext cx="1751434" cy="2019300"/>
          </a:xfrm>
          <a:prstGeom prst="rect">
            <a:avLst/>
          </a:prstGeom>
        </p:spPr>
      </p:pic>
      <p:sp>
        <p:nvSpPr>
          <p:cNvPr id="18" name="text-63">
            <a:extLst>
              <a:ext uri="{FF2B5EF4-FFF2-40B4-BE49-F238E27FC236}">
                <a16:creationId xmlns:a16="http://schemas.microsoft.com/office/drawing/2014/main" id="{380CCE0D-087D-4D0D-A765-67980D5A66F8}"/>
              </a:ext>
            </a:extLst>
          </p:cNvPr>
          <p:cNvSpPr>
            <a:spLocks noGrp="1"/>
          </p:cNvSpPr>
          <p:nvPr/>
        </p:nvSpPr>
        <p:spPr>
          <a:xfrm>
            <a:off x="8286750" y="4029075"/>
            <a:ext cx="333375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图书馆服务网点</a:t>
            </a:r>
          </a:p>
        </p:txBody>
      </p:sp>
      <p:sp>
        <p:nvSpPr>
          <p:cNvPr id="19" name="text-64">
            <a:extLst>
              <a:ext uri="{FF2B5EF4-FFF2-40B4-BE49-F238E27FC236}">
                <a16:creationId xmlns:a16="http://schemas.microsoft.com/office/drawing/2014/main" id="{477A2BA1-4B38-43F1-A4B5-BBEF4C621C4A}"/>
              </a:ext>
            </a:extLst>
          </p:cNvPr>
          <p:cNvSpPr>
            <a:spLocks noGrp="1"/>
          </p:cNvSpPr>
          <p:nvPr/>
        </p:nvSpPr>
        <p:spPr>
          <a:xfrm>
            <a:off x="8286750" y="4543425"/>
            <a:ext cx="3333750" cy="600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22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77.0%</a:t>
            </a:r>
          </a:p>
        </p:txBody>
      </p:sp>
      <p:sp>
        <p:nvSpPr>
          <p:cNvPr id="20" name="text-65">
            <a:extLst>
              <a:ext uri="{FF2B5EF4-FFF2-40B4-BE49-F238E27FC236}">
                <a16:creationId xmlns:a16="http://schemas.microsoft.com/office/drawing/2014/main" id="{AD3E9818-8F40-4AF9-A30E-1BB34C966B09}"/>
              </a:ext>
            </a:extLst>
          </p:cNvPr>
          <p:cNvSpPr>
            <a:spLocks noGrp="1"/>
          </p:cNvSpPr>
          <p:nvPr/>
        </p:nvSpPr>
        <p:spPr>
          <a:xfrm>
            <a:off x="8286750" y="5286375"/>
            <a:ext cx="33337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含分馆和自助借还网点</a:t>
            </a:r>
          </a:p>
        </p:txBody>
      </p:sp>
      <p:sp>
        <p:nvSpPr>
          <p:cNvPr id="21" name="text-66">
            <a:extLst>
              <a:ext uri="{FF2B5EF4-FFF2-40B4-BE49-F238E27FC236}">
                <a16:creationId xmlns:a16="http://schemas.microsoft.com/office/drawing/2014/main" id="{BD0AED05-6D29-4977-9D51-94A09E21D55A}"/>
              </a:ext>
            </a:extLst>
          </p:cNvPr>
          <p:cNvSpPr>
            <a:spLocks noGrp="1"/>
          </p:cNvSpPr>
          <p:nvPr/>
        </p:nvSpPr>
        <p:spPr>
          <a:xfrm>
            <a:off x="571500" y="5934075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青绿：1公里内居住用地　橙：1公里外　绿：绿地　深色点：设施；非官方步行可达率。</a:t>
            </a:r>
          </a:p>
        </p:txBody>
      </p:sp>
    </p:spTree>
    <p:extLst>
      <p:ext uri="{BB962C8B-B14F-4D97-AF65-F5344CB8AC3E}">
        <p14:creationId xmlns:p14="http://schemas.microsoft.com/office/powerpoint/2010/main" val="70945371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-title">
            <a:extLst>
              <a:ext uri="{FF2B5EF4-FFF2-40B4-BE49-F238E27FC236}">
                <a16:creationId xmlns:a16="http://schemas.microsoft.com/office/drawing/2014/main" id="{34EE9624-C2B0-4F6A-8CFD-C36619B63ED6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办事更方便，建设也让居民参与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52EE88E0-4D27-4855-A3A3-0ACEAF8F4068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来源：上海2025统计公报；沪规划资源局，泰山人民坊案例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4F55B5AF-620D-462B-B5F7-D5E24B0C77EA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29</a:t>
            </a:r>
          </a:p>
        </p:txBody>
      </p:sp>
      <p:sp>
        <p:nvSpPr>
          <p:cNvPr id="4" name="text-67">
            <a:extLst>
              <a:ext uri="{FF2B5EF4-FFF2-40B4-BE49-F238E27FC236}">
                <a16:creationId xmlns:a16="http://schemas.microsoft.com/office/drawing/2014/main" id="{F3A6BD49-2F90-4169-B33E-78A011AF943C}"/>
              </a:ext>
            </a:extLst>
          </p:cNvPr>
          <p:cNvSpPr>
            <a:spLocks noGrp="1"/>
          </p:cNvSpPr>
          <p:nvPr/>
        </p:nvSpPr>
        <p:spPr>
          <a:xfrm>
            <a:off x="571500" y="1381125"/>
            <a:ext cx="52197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一网通办</a:t>
            </a:r>
          </a:p>
        </p:txBody>
      </p:sp>
      <p:sp>
        <p:nvSpPr>
          <p:cNvPr id="5" name="text-68">
            <a:extLst>
              <a:ext uri="{FF2B5EF4-FFF2-40B4-BE49-F238E27FC236}">
                <a16:creationId xmlns:a16="http://schemas.microsoft.com/office/drawing/2014/main" id="{FC50B588-517A-4618-8241-803D24E550EF}"/>
              </a:ext>
            </a:extLst>
          </p:cNvPr>
          <p:cNvSpPr>
            <a:spLocks noGrp="1"/>
          </p:cNvSpPr>
          <p:nvPr/>
        </p:nvSpPr>
        <p:spPr>
          <a:xfrm>
            <a:off x="6343650" y="1381125"/>
            <a:ext cx="527685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泰山人民坊</a:t>
            </a:r>
          </a:p>
        </p:txBody>
      </p:sp>
      <p:sp>
        <p:nvSpPr>
          <p:cNvPr id="6" name="text-69">
            <a:extLst>
              <a:ext uri="{FF2B5EF4-FFF2-40B4-BE49-F238E27FC236}">
                <a16:creationId xmlns:a16="http://schemas.microsoft.com/office/drawing/2014/main" id="{12DCA506-921A-4431-9C29-1E0C6FCBD53E}"/>
              </a:ext>
            </a:extLst>
          </p:cNvPr>
          <p:cNvSpPr>
            <a:spLocks noGrp="1"/>
          </p:cNvSpPr>
          <p:nvPr/>
        </p:nvSpPr>
        <p:spPr>
          <a:xfrm>
            <a:off x="571500" y="2095500"/>
            <a:ext cx="5219700" cy="1152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8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8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8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3,827 项服务</a:t>
            </a:r>
          </a:p>
          <a:p>
            <a:pPr algn="l">
              <a:defRPr sz="28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8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实际网办率 89.53%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FA8597AB-2DB4-4DEA-911B-B892F4CD5E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3711665"/>
            <a:ext cx="5219700" cy="720546"/>
          </a:xfrm>
          <a:prstGeom prst="rect">
            <a:avLst/>
          </a:prstGeom>
        </p:spPr>
      </p:pic>
      <p:sp>
        <p:nvSpPr>
          <p:cNvPr id="8" name="text-70">
            <a:extLst>
              <a:ext uri="{FF2B5EF4-FFF2-40B4-BE49-F238E27FC236}">
                <a16:creationId xmlns:a16="http://schemas.microsoft.com/office/drawing/2014/main" id="{A09780C2-5AA9-409D-A8E6-4300CA216850}"/>
              </a:ext>
            </a:extLst>
          </p:cNvPr>
          <p:cNvSpPr>
            <a:spLocks noGrp="1"/>
          </p:cNvSpPr>
          <p:nvPr/>
        </p:nvSpPr>
        <p:spPr>
          <a:xfrm>
            <a:off x="571500" y="4972050"/>
            <a:ext cx="5219700" cy="819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少跑线下窗口，</a:t>
            </a:r>
          </a:p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日常办事更方便。</a:t>
            </a:r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CB363867-82BD-4510-B2F6-70642F626B85}"/>
              </a:ext>
            </a:extLst>
          </p:cNvPr>
          <p:cNvGraphicFramePr/>
          <p:nvPr/>
        </p:nvGraphicFramePr>
        <p:xfrm>
          <a:off x="6343650" y="2095500"/>
          <a:ext cx="5276850" cy="2428876"/>
        </p:xfrm>
        <a:graphic>
          <a:graphicData uri="http://schemas.openxmlformats.org/drawingml/2006/table">
            <a:tbl>
              <a:tblPr/>
              <a:tblGrid>
                <a:gridCol w="1314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62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0721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阶段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居民如何参与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721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建设前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座谈、问卷提出需要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721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方案中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开展专题论证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721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建成后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居民参加评议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10" name="图片 9">
            <a:extLst>
              <a:ext uri="{FF2B5EF4-FFF2-40B4-BE49-F238E27FC236}">
                <a16:creationId xmlns:a16="http://schemas.microsoft.com/office/drawing/2014/main" id="{6C82A162-85FA-4249-83AE-22018F2CF1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343650" y="5165797"/>
            <a:ext cx="5276850" cy="231631"/>
          </a:xfrm>
          <a:prstGeom prst="rect">
            <a:avLst/>
          </a:prstGeom>
        </p:spPr>
      </p:pic>
      <p:sp>
        <p:nvSpPr>
          <p:cNvPr id="11" name="text-71">
            <a:extLst>
              <a:ext uri="{FF2B5EF4-FFF2-40B4-BE49-F238E27FC236}">
                <a16:creationId xmlns:a16="http://schemas.microsoft.com/office/drawing/2014/main" id="{DDCD087A-A62E-4A0B-BC36-4071E0D958F7}"/>
              </a:ext>
            </a:extLst>
          </p:cNvPr>
          <p:cNvSpPr>
            <a:spLocks noGrp="1"/>
          </p:cNvSpPr>
          <p:nvPr/>
        </p:nvSpPr>
        <p:spPr>
          <a:xfrm>
            <a:off x="571500" y="5810250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实际网办率与“全程可网办事项比例”是不同指标；居民参与贯穿需求、方案和使用评价。</a:t>
            </a:r>
          </a:p>
        </p:txBody>
      </p:sp>
    </p:spTree>
    <p:extLst>
      <p:ext uri="{BB962C8B-B14F-4D97-AF65-F5344CB8AC3E}">
        <p14:creationId xmlns:p14="http://schemas.microsoft.com/office/powerpoint/2010/main" val="29954128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-title">
            <a:extLst>
              <a:ext uri="{FF2B5EF4-FFF2-40B4-BE49-F238E27FC236}">
                <a16:creationId xmlns:a16="http://schemas.microsoft.com/office/drawing/2014/main" id="{5D26D828-367B-4FD0-97AB-643F8874A230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纽约同学访谈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CA20E7D7-F82D-4616-BD4A-77B601143461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来源：2026年10月10日微信访谈与文字整理；个人经历用于补充理解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75E7C09A-2B1F-4661-9800-E2CF4A39311E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30</a:t>
            </a:r>
          </a:p>
        </p:txBody>
      </p:sp>
      <p:sp>
        <p:nvSpPr>
          <p:cNvPr id="4" name="text-72">
            <a:extLst>
              <a:ext uri="{FF2B5EF4-FFF2-40B4-BE49-F238E27FC236}">
                <a16:creationId xmlns:a16="http://schemas.microsoft.com/office/drawing/2014/main" id="{BD136126-DC1D-4074-B7DF-1B03FA9F76CD}"/>
              </a:ext>
            </a:extLst>
          </p:cNvPr>
          <p:cNvSpPr>
            <a:spLocks noGrp="1"/>
          </p:cNvSpPr>
          <p:nvPr/>
        </p:nvSpPr>
        <p:spPr>
          <a:xfrm>
            <a:off x="571500" y="1419225"/>
            <a:ext cx="5257800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“租金与收入较为匹配，但是租金</a:t>
            </a:r>
          </a:p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明显高于其他城市，</a:t>
            </a:r>
          </a:p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保障性住房很难获得。”</a:t>
            </a:r>
          </a:p>
        </p:txBody>
      </p:sp>
      <p:sp>
        <p:nvSpPr>
          <p:cNvPr id="5" name="text-73">
            <a:extLst>
              <a:ext uri="{FF2B5EF4-FFF2-40B4-BE49-F238E27FC236}">
                <a16:creationId xmlns:a16="http://schemas.microsoft.com/office/drawing/2014/main" id="{0363D50F-647A-4243-A87F-54A457E3FD64}"/>
              </a:ext>
            </a:extLst>
          </p:cNvPr>
          <p:cNvSpPr>
            <a:spLocks noGrp="1"/>
          </p:cNvSpPr>
          <p:nvPr/>
        </p:nvSpPr>
        <p:spPr>
          <a:xfrm>
            <a:off x="571500" y="2695575"/>
            <a:ext cx="5257800" cy="714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“通勤时间和租房水平直接挂钩，</a:t>
            </a:r>
          </a:p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公交接驳也较多。”</a:t>
            </a:r>
          </a:p>
        </p:txBody>
      </p:sp>
      <p:sp>
        <p:nvSpPr>
          <p:cNvPr id="6" name="text-74">
            <a:extLst>
              <a:ext uri="{FF2B5EF4-FFF2-40B4-BE49-F238E27FC236}">
                <a16:creationId xmlns:a16="http://schemas.microsoft.com/office/drawing/2014/main" id="{9F645743-2E39-4F54-ACEB-ECF782025D49}"/>
              </a:ext>
            </a:extLst>
          </p:cNvPr>
          <p:cNvSpPr>
            <a:spLocks noGrp="1"/>
          </p:cNvSpPr>
          <p:nvPr/>
        </p:nvSpPr>
        <p:spPr>
          <a:xfrm>
            <a:off x="571500" y="3724275"/>
            <a:ext cx="5257800" cy="714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“低成本活动空间非常非常多，</a:t>
            </a:r>
          </a:p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这座城市有很多公园”</a:t>
            </a:r>
          </a:p>
        </p:txBody>
      </p:sp>
      <p:sp>
        <p:nvSpPr>
          <p:cNvPr id="7" name="text-75">
            <a:extLst>
              <a:ext uri="{FF2B5EF4-FFF2-40B4-BE49-F238E27FC236}">
                <a16:creationId xmlns:a16="http://schemas.microsoft.com/office/drawing/2014/main" id="{2AAA265F-7D32-44DD-8B4E-A60BAA623B98}"/>
              </a:ext>
            </a:extLst>
          </p:cNvPr>
          <p:cNvSpPr>
            <a:spLocks noGrp="1"/>
          </p:cNvSpPr>
          <p:nvPr/>
        </p:nvSpPr>
        <p:spPr>
          <a:xfrm>
            <a:off x="571500" y="4762500"/>
            <a:ext cx="5257800" cy="1057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“突发事件中自己的基本生活保障，</a:t>
            </a:r>
          </a:p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也依靠自己是否有储蓄，</a:t>
            </a:r>
          </a:p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或者高额的商业保险。”</a:t>
            </a:r>
          </a:p>
        </p:txBody>
      </p:sp>
      <p:sp>
        <p:nvSpPr>
          <p:cNvPr id="8" name="text-76">
            <a:extLst>
              <a:ext uri="{FF2B5EF4-FFF2-40B4-BE49-F238E27FC236}">
                <a16:creationId xmlns:a16="http://schemas.microsoft.com/office/drawing/2014/main" id="{49D0710A-2E2E-47C4-93CD-42E164FB6970}"/>
              </a:ext>
            </a:extLst>
          </p:cNvPr>
          <p:cNvSpPr>
            <a:spLocks noGrp="1"/>
          </p:cNvSpPr>
          <p:nvPr/>
        </p:nvSpPr>
        <p:spPr>
          <a:xfrm>
            <a:off x="6362700" y="1419225"/>
            <a:ext cx="52578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基础保障：住房与通勤</a:t>
            </a:r>
          </a:p>
        </p:txBody>
      </p:sp>
      <p:sp>
        <p:nvSpPr>
          <p:cNvPr id="9" name="text-77">
            <a:extLst>
              <a:ext uri="{FF2B5EF4-FFF2-40B4-BE49-F238E27FC236}">
                <a16:creationId xmlns:a16="http://schemas.microsoft.com/office/drawing/2014/main" id="{B371C882-F514-41F9-86AD-FDD9167C306C}"/>
              </a:ext>
            </a:extLst>
          </p:cNvPr>
          <p:cNvSpPr>
            <a:spLocks noGrp="1"/>
          </p:cNvSpPr>
          <p:nvPr/>
        </p:nvSpPr>
        <p:spPr>
          <a:xfrm>
            <a:off x="6362700" y="1905000"/>
            <a:ext cx="52578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租金与收入较匹配，但房租高、保障房难获得。</a:t>
            </a:r>
          </a:p>
          <a:p>
            <a: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通勤时间与租房选择相连，公交接驳较多。</a:t>
            </a:r>
          </a:p>
          <a:p>
            <a: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夜间交通活跃，出行仍有安全顾虑。</a:t>
            </a:r>
          </a:p>
        </p:txBody>
      </p:sp>
      <p:sp>
        <p:nvSpPr>
          <p:cNvPr id="10" name="text-78">
            <a:extLst>
              <a:ext uri="{FF2B5EF4-FFF2-40B4-BE49-F238E27FC236}">
                <a16:creationId xmlns:a16="http://schemas.microsoft.com/office/drawing/2014/main" id="{029BDBB0-DCB3-4B60-A5CA-2AC3EA74166C}"/>
              </a:ext>
            </a:extLst>
          </p:cNvPr>
          <p:cNvSpPr>
            <a:spLocks noGrp="1"/>
          </p:cNvSpPr>
          <p:nvPr/>
        </p:nvSpPr>
        <p:spPr>
          <a:xfrm>
            <a:off x="6362700" y="3028950"/>
            <a:ext cx="52578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民生福祉：日常公共服务</a:t>
            </a:r>
          </a:p>
        </p:txBody>
      </p:sp>
      <p:sp>
        <p:nvSpPr>
          <p:cNvPr id="11" name="text-79">
            <a:extLst>
              <a:ext uri="{FF2B5EF4-FFF2-40B4-BE49-F238E27FC236}">
                <a16:creationId xmlns:a16="http://schemas.microsoft.com/office/drawing/2014/main" id="{A54568A9-7611-4FBE-950D-CD6CACF05261}"/>
              </a:ext>
            </a:extLst>
          </p:cNvPr>
          <p:cNvSpPr>
            <a:spLocks noGrp="1"/>
          </p:cNvSpPr>
          <p:nvPr/>
        </p:nvSpPr>
        <p:spPr>
          <a:xfrm>
            <a:off x="6362700" y="3514725"/>
            <a:ext cx="52578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公园、图书馆和低成本休闲空间丰富，</a:t>
            </a:r>
          </a:p>
          <a:p>
            <a: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多靠地铁或开车到达。心理咨询选择较多，</a:t>
            </a:r>
          </a:p>
          <a:p>
            <a: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配药、康复和慢病管理的体验相对不便。</a:t>
            </a:r>
          </a:p>
        </p:txBody>
      </p:sp>
      <p:sp>
        <p:nvSpPr>
          <p:cNvPr id="12" name="text-80">
            <a:extLst>
              <a:ext uri="{FF2B5EF4-FFF2-40B4-BE49-F238E27FC236}">
                <a16:creationId xmlns:a16="http://schemas.microsoft.com/office/drawing/2014/main" id="{351BB363-3238-4C80-8302-29D3FF04C1F1}"/>
              </a:ext>
            </a:extLst>
          </p:cNvPr>
          <p:cNvSpPr>
            <a:spLocks noGrp="1"/>
          </p:cNvSpPr>
          <p:nvPr/>
        </p:nvSpPr>
        <p:spPr>
          <a:xfrm>
            <a:off x="6362700" y="4638675"/>
            <a:ext cx="52578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底层关怀：照护与应急</a:t>
            </a:r>
          </a:p>
        </p:txBody>
      </p:sp>
      <p:sp>
        <p:nvSpPr>
          <p:cNvPr id="13" name="text-81">
            <a:extLst>
              <a:ext uri="{FF2B5EF4-FFF2-40B4-BE49-F238E27FC236}">
                <a16:creationId xmlns:a16="http://schemas.microsoft.com/office/drawing/2014/main" id="{A2762DD1-2A47-4FE1-B284-2586D67C8987}"/>
              </a:ext>
            </a:extLst>
          </p:cNvPr>
          <p:cNvSpPr>
            <a:spLocks noGrp="1"/>
          </p:cNvSpPr>
          <p:nvPr/>
        </p:nvSpPr>
        <p:spPr>
          <a:xfrm>
            <a:off x="6362700" y="5124450"/>
            <a:ext cx="52578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无障碍设施与助残条件较好，居家养老</a:t>
            </a:r>
          </a:p>
          <a:p>
            <a: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仍有费用压力。突发事件中的生活保障，</a:t>
            </a:r>
          </a:p>
          <a:p>
            <a: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还依靠个人储蓄或商业保险。</a:t>
            </a:r>
          </a:p>
        </p:txBody>
      </p:sp>
    </p:spTree>
    <p:extLst>
      <p:ext uri="{BB962C8B-B14F-4D97-AF65-F5344CB8AC3E}">
        <p14:creationId xmlns:p14="http://schemas.microsoft.com/office/powerpoint/2010/main" val="68871427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-title">
            <a:extLst>
              <a:ext uri="{FF2B5EF4-FFF2-40B4-BE49-F238E27FC236}">
                <a16:creationId xmlns:a16="http://schemas.microsoft.com/office/drawing/2014/main" id="{0BC4CE01-D2DB-47DB-A624-ED070D986083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九道题，逐题看胜负和程度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C435B868-EF4E-40A3-A0C4-387720077C9B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本组基于前述指标的判定；各题差距不同，分别呈现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BF250B67-1AA6-4DF3-9BCF-19E28CD1E4EB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31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066B9A4D-6050-4F55-BCC4-AE9299DEAD75}"/>
              </a:ext>
            </a:extLst>
          </p:cNvPr>
          <p:cNvGraphicFramePr/>
          <p:nvPr/>
        </p:nvGraphicFramePr>
        <p:xfrm>
          <a:off x="571500" y="1381125"/>
          <a:ext cx="11049000" cy="4305300"/>
        </p:xfrm>
        <a:graphic>
          <a:graphicData uri="http://schemas.openxmlformats.org/drawingml/2006/table">
            <a:tbl>
              <a:tblPr/>
              <a:tblGrid>
                <a:gridCol w="1533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95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7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9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562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3053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层次</a:t>
                      </a:r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题目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胜方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程度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主要依据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基础保障</a:t>
                      </a:r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住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明显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自有住房率 59.0% 对 32.3%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endParaRPr/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吃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稍胜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消费较高，价格因素缩小实际差距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endParaRPr/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穿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压倒性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人均衣着支出接近上海7倍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endParaRPr/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行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压倒性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按收入折算的票价约为纽约一半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民生福祉</a:t>
                      </a:r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医疗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明显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婴儿、孕产妇死亡率更低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endParaRPr/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治安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压倒性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严重案件发生率相差一个数量级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endParaRPr/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教育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打平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—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生师比 12.5 对 13.2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endParaRPr/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文化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明显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图书馆网络、公共文化资助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底层关怀</a:t>
                      </a:r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对待底层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压倒性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托底服务与纽约无家可归结果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-82">
            <a:extLst>
              <a:ext uri="{FF2B5EF4-FFF2-40B4-BE49-F238E27FC236}">
                <a16:creationId xmlns:a16="http://schemas.microsoft.com/office/drawing/2014/main" id="{D6E8600A-AE81-4AC3-A339-6985CCF8F8A8}"/>
              </a:ext>
            </a:extLst>
          </p:cNvPr>
          <p:cNvSpPr>
            <a:spLocks noGrp="1"/>
          </p:cNvSpPr>
          <p:nvPr/>
        </p:nvSpPr>
        <p:spPr>
          <a:xfrm>
            <a:off x="571500" y="5876925"/>
            <a:ext cx="110490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每题都作判断，差距大小分别保留；不把九题加成一个总分。</a:t>
            </a:r>
          </a:p>
        </p:txBody>
      </p:sp>
    </p:spTree>
    <p:extLst>
      <p:ext uri="{BB962C8B-B14F-4D97-AF65-F5344CB8AC3E}">
        <p14:creationId xmlns:p14="http://schemas.microsoft.com/office/powerpoint/2010/main" val="30019131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F3E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-title">
            <a:extLst>
              <a:ext uri="{FF2B5EF4-FFF2-40B4-BE49-F238E27FC236}">
                <a16:creationId xmlns:a16="http://schemas.microsoft.com/office/drawing/2014/main" id="{616A3BCE-EF2E-43E8-A744-F4174B9F71D1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纽约能叫人民城市吗？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05EB556F-3B37-4ABA-80B2-89CFCDE9ADD9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结论限于上海与纽约两座城市，不扩大为两个国家的整体比较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FE943AD8-4104-41B2-8307-832073333A33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32</a:t>
            </a:r>
          </a:p>
        </p:txBody>
      </p:sp>
      <p:sp>
        <p:nvSpPr>
          <p:cNvPr id="4" name="text-83">
            <a:extLst>
              <a:ext uri="{FF2B5EF4-FFF2-40B4-BE49-F238E27FC236}">
                <a16:creationId xmlns:a16="http://schemas.microsoft.com/office/drawing/2014/main" id="{66935667-B5B8-4BF5-A357-5B1815E243DC}"/>
              </a:ext>
            </a:extLst>
          </p:cNvPr>
          <p:cNvSpPr>
            <a:spLocks noGrp="1"/>
          </p:cNvSpPr>
          <p:nvPr/>
        </p:nvSpPr>
        <p:spPr>
          <a:xfrm>
            <a:off x="571500" y="1419225"/>
            <a:ext cx="52197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75" b="1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75" b="1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2475" b="1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纽约有一部分答案</a:t>
            </a:r>
          </a:p>
        </p:txBody>
      </p:sp>
      <p:sp>
        <p:nvSpPr>
          <p:cNvPr id="5" name="text-84">
            <a:extLst>
              <a:ext uri="{FF2B5EF4-FFF2-40B4-BE49-F238E27FC236}">
                <a16:creationId xmlns:a16="http://schemas.microsoft.com/office/drawing/2014/main" id="{49032BA4-C783-4804-B446-400BA331710E}"/>
              </a:ext>
            </a:extLst>
          </p:cNvPr>
          <p:cNvSpPr>
            <a:spLocks noGrp="1"/>
          </p:cNvSpPr>
          <p:nvPr/>
        </p:nvSpPr>
        <p:spPr>
          <a:xfrm>
            <a:off x="571500" y="2171700"/>
            <a:ext cx="5219700" cy="1571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7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7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475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吃穿用度</a:t>
            </a:r>
          </a:p>
          <a:p>
            <a:pPr algn="l">
              <a:defRPr sz="247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475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公共文化</a:t>
            </a:r>
          </a:p>
          <a:p>
            <a:pPr algn="l">
              <a:defRPr sz="247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475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数据公开</a:t>
            </a:r>
          </a:p>
        </p:txBody>
      </p:sp>
      <p:sp>
        <p:nvSpPr>
          <p:cNvPr id="6" name="text-85">
            <a:extLst>
              <a:ext uri="{FF2B5EF4-FFF2-40B4-BE49-F238E27FC236}">
                <a16:creationId xmlns:a16="http://schemas.microsoft.com/office/drawing/2014/main" id="{9600993A-3F02-48AC-AB42-D7CA889FD4E8}"/>
              </a:ext>
            </a:extLst>
          </p:cNvPr>
          <p:cNvSpPr>
            <a:spLocks noGrp="1"/>
          </p:cNvSpPr>
          <p:nvPr/>
        </p:nvSpPr>
        <p:spPr>
          <a:xfrm>
            <a:off x="571500" y="4305300"/>
            <a:ext cx="5219700" cy="1057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0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但最底层的人仍未被托住，</a:t>
            </a:r>
          </a:p>
          <a:p>
            <a:pPr algn="l">
              <a:defRPr sz="240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这张答卷还不算及格。</a:t>
            </a:r>
          </a:p>
        </p:txBody>
      </p:sp>
      <p:sp>
        <p:nvSpPr>
          <p:cNvPr id="7" name="text-86">
            <a:extLst>
              <a:ext uri="{FF2B5EF4-FFF2-40B4-BE49-F238E27FC236}">
                <a16:creationId xmlns:a16="http://schemas.microsoft.com/office/drawing/2014/main" id="{8A26FD44-79D4-459B-ADE9-B857E3702C66}"/>
              </a:ext>
            </a:extLst>
          </p:cNvPr>
          <p:cNvSpPr>
            <a:spLocks noGrp="1"/>
          </p:cNvSpPr>
          <p:nvPr/>
        </p:nvSpPr>
        <p:spPr>
          <a:xfrm>
            <a:off x="6343650" y="1419225"/>
            <a:ext cx="52768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75" b="1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75" b="1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2475" b="1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上海答得更完整</a:t>
            </a:r>
          </a:p>
        </p:txBody>
      </p:sp>
      <p:sp>
        <p:nvSpPr>
          <p:cNvPr id="8" name="text-87">
            <a:extLst>
              <a:ext uri="{FF2B5EF4-FFF2-40B4-BE49-F238E27FC236}">
                <a16:creationId xmlns:a16="http://schemas.microsoft.com/office/drawing/2014/main" id="{37E407B5-C569-49DD-AF7A-5BA79B3E7FAD}"/>
              </a:ext>
            </a:extLst>
          </p:cNvPr>
          <p:cNvSpPr>
            <a:spLocks noGrp="1"/>
          </p:cNvSpPr>
          <p:nvPr/>
        </p:nvSpPr>
        <p:spPr>
          <a:xfrm>
            <a:off x="6343650" y="2171700"/>
            <a:ext cx="5276850" cy="1571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250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住房、出行、医疗、治安</a:t>
            </a:r>
          </a:p>
          <a:p>
            <a: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250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与托底服务，都回应了</a:t>
            </a:r>
          </a:p>
          <a:p>
            <a: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250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普通人的具体需要。</a:t>
            </a:r>
          </a:p>
        </p:txBody>
      </p:sp>
      <p:sp>
        <p:nvSpPr>
          <p:cNvPr id="9" name="text-88">
            <a:extLst>
              <a:ext uri="{FF2B5EF4-FFF2-40B4-BE49-F238E27FC236}">
                <a16:creationId xmlns:a16="http://schemas.microsoft.com/office/drawing/2014/main" id="{4A6C611F-750E-4D21-9998-860216F11D81}"/>
              </a:ext>
            </a:extLst>
          </p:cNvPr>
          <p:cNvSpPr>
            <a:spLocks noGrp="1"/>
          </p:cNvSpPr>
          <p:nvPr/>
        </p:nvSpPr>
        <p:spPr>
          <a:xfrm>
            <a:off x="6343650" y="4305300"/>
            <a:ext cx="5276850" cy="1057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0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数据公开这一题，</a:t>
            </a:r>
          </a:p>
          <a:p>
            <a:pPr algn="l">
              <a:defRPr sz="240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上海还得补。</a:t>
            </a:r>
          </a:p>
        </p:txBody>
      </p:sp>
      <p:sp>
        <p:nvSpPr>
          <p:cNvPr id="10" name="text-89">
            <a:extLst>
              <a:ext uri="{FF2B5EF4-FFF2-40B4-BE49-F238E27FC236}">
                <a16:creationId xmlns:a16="http://schemas.microsoft.com/office/drawing/2014/main" id="{41C7EF19-C434-4A6B-AF46-21D352532C14}"/>
              </a:ext>
            </a:extLst>
          </p:cNvPr>
          <p:cNvSpPr>
            <a:spLocks noGrp="1"/>
          </p:cNvSpPr>
          <p:nvPr/>
        </p:nvSpPr>
        <p:spPr>
          <a:xfrm>
            <a:off x="714375" y="5686425"/>
            <a:ext cx="10763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1875" b="1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两城已能放在同一张考卷上比，而且有输有赢，这本身就是进步。</a:t>
            </a:r>
          </a:p>
        </p:txBody>
      </p:sp>
    </p:spTree>
    <p:extLst>
      <p:ext uri="{BB962C8B-B14F-4D97-AF65-F5344CB8AC3E}">
        <p14:creationId xmlns:p14="http://schemas.microsoft.com/office/powerpoint/2010/main" val="13815612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-title">
            <a:extLst>
              <a:ext uri="{FF2B5EF4-FFF2-40B4-BE49-F238E27FC236}">
                <a16:creationId xmlns:a16="http://schemas.microsoft.com/office/drawing/2014/main" id="{178D4BBC-9EC5-4BEF-B87D-ACF04E42F9B3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数据透明：上海还需要补上什么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26A38415-1536-43D1-9DE2-845C2C254AEC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来源：上海公共数据开放平台、统计年鉴与卫健委栏目；截至本次项目资料检索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AE105608-9AD4-46C4-91D6-99B390473828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33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64E1390A-25A9-4D4E-BC09-8EB4CD347B36}"/>
              </a:ext>
            </a:extLst>
          </p:cNvPr>
          <p:cNvGraphicFramePr/>
          <p:nvPr/>
        </p:nvGraphicFramePr>
        <p:xfrm>
          <a:off x="571500" y="1438275"/>
          <a:ext cx="11049000" cy="3190875"/>
        </p:xfrm>
        <a:graphic>
          <a:graphicData uri="http://schemas.openxmlformats.org/drawingml/2006/table">
            <a:tbl>
              <a:tblPr/>
              <a:tblGrid>
                <a:gridCol w="2857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48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43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38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关心的问题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本次查到的公开情况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影响什么判断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公厕有多少、在哪里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数据集有条件开放，明细需申请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设施能否就近使用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租房负担有多重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缺少官方市场租金统计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住房政策是否减轻负担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还有多少人露宿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人数没有公开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托底制度还漏了谁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居民是否更健康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户籍人口期望寿命停在2022年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医疗和健康变化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5" name="图片 4">
            <a:extLst>
              <a:ext uri="{FF2B5EF4-FFF2-40B4-BE49-F238E27FC236}">
                <a16:creationId xmlns:a16="http://schemas.microsoft.com/office/drawing/2014/main" id="{C77A10B9-8DA2-4C2B-B8A8-C18A6EA824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38676" y="4972050"/>
            <a:ext cx="3351848" cy="657225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31513DAA-81C2-4977-A69B-7D4247336E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5200650" y="4979233"/>
            <a:ext cx="6419850" cy="671434"/>
          </a:xfrm>
          <a:prstGeom prst="rect">
            <a:avLst/>
          </a:prstGeom>
        </p:spPr>
      </p:pic>
      <p:sp>
        <p:nvSpPr>
          <p:cNvPr id="7" name="text-90">
            <a:extLst>
              <a:ext uri="{FF2B5EF4-FFF2-40B4-BE49-F238E27FC236}">
                <a16:creationId xmlns:a16="http://schemas.microsoft.com/office/drawing/2014/main" id="{2AA85B67-22DE-4B16-927B-092DA3693C65}"/>
              </a:ext>
            </a:extLst>
          </p:cNvPr>
          <p:cNvSpPr>
            <a:spLocks noGrp="1"/>
          </p:cNvSpPr>
          <p:nvPr/>
        </p:nvSpPr>
        <p:spPr>
          <a:xfrm>
            <a:off x="571500" y="5838825"/>
            <a:ext cx="110490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办事便利之外，也要让市民查得到城市运行的结果。</a:t>
            </a:r>
          </a:p>
        </p:txBody>
      </p:sp>
    </p:spTree>
    <p:extLst>
      <p:ext uri="{BB962C8B-B14F-4D97-AF65-F5344CB8AC3E}">
        <p14:creationId xmlns:p14="http://schemas.microsoft.com/office/powerpoint/2010/main" val="179805949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lide-title">
            <a:extLst>
              <a:ext uri="{FF2B5EF4-FFF2-40B4-BE49-F238E27FC236}">
                <a16:creationId xmlns:a16="http://schemas.microsoft.com/office/drawing/2014/main" id="{E886B77B-B4DE-4E67-9D0C-549CD29695B0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人民城市人民建，也要让人民看得清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6A35E5B9-C2D4-4FA6-A009-2C5E0FA509CC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来源：NYC Open Data Law（2012）；DHS Daily Report；上海公报、开放平台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F34D8E99-C81F-421F-9261-52B1BB7ADE3E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34</a:t>
            </a:r>
          </a:p>
        </p:txBody>
      </p:sp>
      <p:sp>
        <p:nvSpPr>
          <p:cNvPr id="4" name="text-91">
            <a:extLst>
              <a:ext uri="{FF2B5EF4-FFF2-40B4-BE49-F238E27FC236}">
                <a16:creationId xmlns:a16="http://schemas.microsoft.com/office/drawing/2014/main" id="{EE90EC1B-7F8C-4B3B-A7A8-E94E45B7315B}"/>
              </a:ext>
            </a:extLst>
          </p:cNvPr>
          <p:cNvSpPr>
            <a:spLocks noGrp="1"/>
          </p:cNvSpPr>
          <p:nvPr/>
        </p:nvSpPr>
        <p:spPr>
          <a:xfrm>
            <a:off x="571500" y="1409700"/>
            <a:ext cx="647700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5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5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2550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纽约：政府数据默认公开</a:t>
            </a:r>
          </a:p>
        </p:txBody>
      </p:sp>
      <p:sp>
        <p:nvSpPr>
          <p:cNvPr id="5" name="text-92">
            <a:extLst>
              <a:ext uri="{FF2B5EF4-FFF2-40B4-BE49-F238E27FC236}">
                <a16:creationId xmlns:a16="http://schemas.microsoft.com/office/drawing/2014/main" id="{0B2AF316-CEDE-46AF-8E93-F5C9EE77696C}"/>
              </a:ext>
            </a:extLst>
          </p:cNvPr>
          <p:cNvSpPr>
            <a:spLocks noGrp="1"/>
          </p:cNvSpPr>
          <p:nvPr/>
        </p:nvSpPr>
        <p:spPr>
          <a:xfrm>
            <a:off x="571500" y="2181225"/>
            <a:ext cx="5257800" cy="1400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2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2012 年立法</a:t>
            </a:r>
          </a:p>
          <a:p>
            <a:pPr algn="l">
              <a:defRPr sz="22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2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不公开需要说明理由</a:t>
            </a:r>
          </a:p>
          <a:p>
            <a:pPr algn="l">
              <a:defRPr sz="22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2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收容所人数每天更新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B9968C09-5DCC-4B24-9917-AD6A69DA3E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343650" y="2321820"/>
            <a:ext cx="5276850" cy="652261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71CAA036-887F-4359-AE0B-C9F117EDC2D7}"/>
              </a:ext>
            </a:extLst>
          </p:cNvPr>
          <p:cNvSpPr>
            <a:spLocks noGrp="1"/>
          </p:cNvSpPr>
          <p:nvPr/>
        </p:nvSpPr>
        <p:spPr>
          <a:xfrm>
            <a:off x="571500" y="3962400"/>
            <a:ext cx="11049000" cy="9525"/>
          </a:xfrm>
          <a:prstGeom prst="rect">
            <a:avLst/>
          </a:prstGeom>
          <a:solidFill>
            <a:srgbClr val="DBCAC2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text-93">
            <a:extLst>
              <a:ext uri="{FF2B5EF4-FFF2-40B4-BE49-F238E27FC236}">
                <a16:creationId xmlns:a16="http://schemas.microsoft.com/office/drawing/2014/main" id="{382045D0-15C7-40A1-A163-B57E17C564E1}"/>
              </a:ext>
            </a:extLst>
          </p:cNvPr>
          <p:cNvSpPr>
            <a:spLocks noGrp="1"/>
          </p:cNvSpPr>
          <p:nvPr/>
        </p:nvSpPr>
        <p:spPr>
          <a:xfrm>
            <a:off x="571500" y="4295775"/>
            <a:ext cx="52197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住房政策有没有用？</a:t>
            </a:r>
          </a:p>
        </p:txBody>
      </p:sp>
      <p:sp>
        <p:nvSpPr>
          <p:cNvPr id="9" name="text-94">
            <a:extLst>
              <a:ext uri="{FF2B5EF4-FFF2-40B4-BE49-F238E27FC236}">
                <a16:creationId xmlns:a16="http://schemas.microsoft.com/office/drawing/2014/main" id="{4E7294BA-82AF-40A8-912F-A5B268E99960}"/>
              </a:ext>
            </a:extLst>
          </p:cNvPr>
          <p:cNvSpPr>
            <a:spLocks noGrp="1"/>
          </p:cNvSpPr>
          <p:nvPr/>
        </p:nvSpPr>
        <p:spPr>
          <a:xfrm>
            <a:off x="571500" y="4895850"/>
            <a:ext cx="52197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看租金负担有没有下降。</a:t>
            </a:r>
          </a:p>
        </p:txBody>
      </p:sp>
      <p:sp>
        <p:nvSpPr>
          <p:cNvPr id="10" name="text-95">
            <a:extLst>
              <a:ext uri="{FF2B5EF4-FFF2-40B4-BE49-F238E27FC236}">
                <a16:creationId xmlns:a16="http://schemas.microsoft.com/office/drawing/2014/main" id="{E49DD4C5-746B-4635-BD04-085B5C46F044}"/>
              </a:ext>
            </a:extLst>
          </p:cNvPr>
          <p:cNvSpPr>
            <a:spLocks noGrp="1"/>
          </p:cNvSpPr>
          <p:nvPr/>
        </p:nvSpPr>
        <p:spPr>
          <a:xfrm>
            <a:off x="6343650" y="4295775"/>
            <a:ext cx="52768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托底制度托住了多少人？</a:t>
            </a:r>
          </a:p>
        </p:txBody>
      </p:sp>
      <p:sp>
        <p:nvSpPr>
          <p:cNvPr id="11" name="text-96">
            <a:extLst>
              <a:ext uri="{FF2B5EF4-FFF2-40B4-BE49-F238E27FC236}">
                <a16:creationId xmlns:a16="http://schemas.microsoft.com/office/drawing/2014/main" id="{9D6171DE-1E50-476D-823A-2C19B3C13C3A}"/>
              </a:ext>
            </a:extLst>
          </p:cNvPr>
          <p:cNvSpPr>
            <a:spLocks noGrp="1"/>
          </p:cNvSpPr>
          <p:nvPr/>
        </p:nvSpPr>
        <p:spPr>
          <a:xfrm>
            <a:off x="6343650" y="4895850"/>
            <a:ext cx="527685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看还有多少人睡在街上。</a:t>
            </a:r>
          </a:p>
        </p:txBody>
      </p:sp>
      <p:sp>
        <p:nvSpPr>
          <p:cNvPr id="12" name="text-97">
            <a:extLst>
              <a:ext uri="{FF2B5EF4-FFF2-40B4-BE49-F238E27FC236}">
                <a16:creationId xmlns:a16="http://schemas.microsoft.com/office/drawing/2014/main" id="{BD02D009-F2F7-46FE-9290-8E00F4A998EC}"/>
              </a:ext>
            </a:extLst>
          </p:cNvPr>
          <p:cNvSpPr>
            <a:spLocks noGrp="1"/>
          </p:cNvSpPr>
          <p:nvPr/>
        </p:nvSpPr>
        <p:spPr>
          <a:xfrm>
            <a:off x="571500" y="5724525"/>
            <a:ext cx="110490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3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公开结果，市民才能提出有依据的反馈。</a:t>
            </a:r>
          </a:p>
        </p:txBody>
      </p:sp>
    </p:spTree>
    <p:extLst>
      <p:ext uri="{BB962C8B-B14F-4D97-AF65-F5344CB8AC3E}">
        <p14:creationId xmlns:p14="http://schemas.microsoft.com/office/powerpoint/2010/main" val="124098363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F3E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-number">
            <a:extLst>
              <a:ext uri="{FF2B5EF4-FFF2-40B4-BE49-F238E27FC236}">
                <a16:creationId xmlns:a16="http://schemas.microsoft.com/office/drawing/2014/main" id="{301B36DE-6015-459A-97CB-772BA0EA80BA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35</a:t>
            </a:r>
          </a:p>
        </p:txBody>
      </p:sp>
      <p:sp>
        <p:nvSpPr>
          <p:cNvPr id="2" name="text-98">
            <a:extLst>
              <a:ext uri="{FF2B5EF4-FFF2-40B4-BE49-F238E27FC236}">
                <a16:creationId xmlns:a16="http://schemas.microsoft.com/office/drawing/2014/main" id="{7D16FFB0-4B3B-417B-8371-8F5D7B47AC29}"/>
              </a:ext>
            </a:extLst>
          </p:cNvPr>
          <p:cNvSpPr>
            <a:spLocks noGrp="1"/>
          </p:cNvSpPr>
          <p:nvPr/>
        </p:nvSpPr>
        <p:spPr>
          <a:xfrm>
            <a:off x="571500" y="1800225"/>
            <a:ext cx="11049000" cy="1581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43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43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4350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人民城市人民建</a:t>
            </a:r>
          </a:p>
          <a:p>
            <a:pPr algn="l">
              <a:defRPr sz="43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4350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人民城市为人民</a:t>
            </a:r>
          </a:p>
        </p:txBody>
      </p:sp>
      <p:sp>
        <p:nvSpPr>
          <p:cNvPr id="3" name="text-99">
            <a:extLst>
              <a:ext uri="{FF2B5EF4-FFF2-40B4-BE49-F238E27FC236}">
                <a16:creationId xmlns:a16="http://schemas.microsoft.com/office/drawing/2014/main" id="{061DFE7C-40D2-47D4-9E08-CF026B5C8F3F}"/>
              </a:ext>
            </a:extLst>
          </p:cNvPr>
          <p:cNvSpPr>
            <a:spLocks noGrp="1"/>
          </p:cNvSpPr>
          <p:nvPr/>
        </p:nvSpPr>
        <p:spPr>
          <a:xfrm>
            <a:off x="571500" y="4524375"/>
            <a:ext cx="11049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77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77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775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谢谢大家</a:t>
            </a:r>
          </a:p>
        </p:txBody>
      </p:sp>
    </p:spTree>
    <p:extLst>
      <p:ext uri="{BB962C8B-B14F-4D97-AF65-F5344CB8AC3E}">
        <p14:creationId xmlns:p14="http://schemas.microsoft.com/office/powerpoint/2010/main" val="57840130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-title">
            <a:extLst>
              <a:ext uri="{FF2B5EF4-FFF2-40B4-BE49-F238E27FC236}">
                <a16:creationId xmlns:a16="http://schemas.microsoft.com/office/drawing/2014/main" id="{F8580EC6-4795-46B4-8858-0F6B42AB0A6D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备份：范围、分母与折算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4520452D-B746-48B1-8B84-B6255C8F7766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追问时使用；完整报告和计算过程见备注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808F8101-A4A8-4157-B780-FEE595E1729F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36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08922039-67E3-4E9F-851F-392597419026}"/>
              </a:ext>
            </a:extLst>
          </p:cNvPr>
          <p:cNvGraphicFramePr/>
          <p:nvPr/>
        </p:nvGraphicFramePr>
        <p:xfrm>
          <a:off x="571500" y="1438275"/>
          <a:ext cx="11049000" cy="4105276"/>
        </p:xfrm>
        <a:graphic>
          <a:graphicData uri="http://schemas.openxmlformats.org/drawingml/2006/table">
            <a:tbl>
              <a:tblPr/>
              <a:tblGrid>
                <a:gridCol w="1924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24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项目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说明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城市范围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上海全市对纽约市五区；州级消费、都会区交通另标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家庭收入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纽约税前户中位数；上海人均均值×2.24，约2.65倍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自有住房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上海2020家庭户；纽约2023已入住住房，均非租金负担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食物支出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纽约州食品饮料＋餐饮住宿（含住宿）；上海食品烟酒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孕产妇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纽约按产后42天约折为21/10万；不拿一年32.2直接比较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公厕密度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上海8325是元数据记录；纽约973是市政运营公厕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-100">
            <a:extLst>
              <a:ext uri="{FF2B5EF4-FFF2-40B4-BE49-F238E27FC236}">
                <a16:creationId xmlns:a16="http://schemas.microsoft.com/office/drawing/2014/main" id="{B4FE488E-6BB7-46DD-8B5A-1A1205E3913A}"/>
              </a:ext>
            </a:extLst>
          </p:cNvPr>
          <p:cNvSpPr>
            <a:spLocks noGrp="1"/>
          </p:cNvSpPr>
          <p:nvPr/>
        </p:nvSpPr>
        <p:spPr>
          <a:xfrm>
            <a:off x="571500" y="5810250"/>
            <a:ext cx="110490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分项判定是本组评价；数据边界与缺失公开列明。</a:t>
            </a:r>
          </a:p>
        </p:txBody>
      </p:sp>
    </p:spTree>
    <p:extLst>
      <p:ext uri="{BB962C8B-B14F-4D97-AF65-F5344CB8AC3E}">
        <p14:creationId xmlns:p14="http://schemas.microsoft.com/office/powerpoint/2010/main" val="59491463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-title">
            <a:extLst>
              <a:ext uri="{FF2B5EF4-FFF2-40B4-BE49-F238E27FC236}">
                <a16:creationId xmlns:a16="http://schemas.microsoft.com/office/drawing/2014/main" id="{6BD53502-EE3B-41A0-AA0F-891B901DB9D0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备份：民生福祉的年份与范围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97FE272C-B4EC-4C88-83FD-2D186AB5FD31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健康、治安、教育、文化具体口径；不延伸为所有服务质量的量化倍率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10B6E226-C2C0-4471-B748-41D034D15CFA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37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9D281B2E-4C55-4B3C-96DF-7DE8B1F5E5C5}"/>
              </a:ext>
            </a:extLst>
          </p:cNvPr>
          <p:cNvGraphicFramePr/>
          <p:nvPr/>
        </p:nvGraphicFramePr>
        <p:xfrm>
          <a:off x="571500" y="1438275"/>
          <a:ext cx="11049000" cy="3543300"/>
        </p:xfrm>
        <a:graphic>
          <a:graphicData uri="http://schemas.openxmlformats.org/drawingml/2006/table">
            <a:tbl>
              <a:tblPr/>
              <a:tblGrid>
                <a:gridCol w="21050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86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577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指标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纽约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婴儿死亡率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2025年，2.34‰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2023年，4.2‰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孕产妇死亡率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2025年，1.85/10万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2022年，产后42天约21/10万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严重案件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2024杀人立案46起，0.19/10万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2025谋杀305起，3.6/10万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生师比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2024中小学含高中，12.5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2024–25公立K–12，13.2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文化资助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上海分馆全市总数未取得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FY2026资助1171家；96%有免费/补贴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-101">
            <a:extLst>
              <a:ext uri="{FF2B5EF4-FFF2-40B4-BE49-F238E27FC236}">
                <a16:creationId xmlns:a16="http://schemas.microsoft.com/office/drawing/2014/main" id="{40CA5562-EEA8-4F34-9873-E06D7022F9CE}"/>
              </a:ext>
            </a:extLst>
          </p:cNvPr>
          <p:cNvSpPr>
            <a:spLocks noGrp="1"/>
          </p:cNvSpPr>
          <p:nvPr/>
        </p:nvSpPr>
        <p:spPr>
          <a:xfrm>
            <a:off x="571500" y="5353050"/>
            <a:ext cx="110490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区际教育配置仍有差异：上海部分流入区小学约15生/师，纽约最紧学区13.9。</a:t>
            </a:r>
          </a:p>
        </p:txBody>
      </p:sp>
    </p:spTree>
    <p:extLst>
      <p:ext uri="{BB962C8B-B14F-4D97-AF65-F5344CB8AC3E}">
        <p14:creationId xmlns:p14="http://schemas.microsoft.com/office/powerpoint/2010/main" val="6676454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-title">
            <a:extLst>
              <a:ext uri="{FF2B5EF4-FFF2-40B4-BE49-F238E27FC236}">
                <a16:creationId xmlns:a16="http://schemas.microsoft.com/office/drawing/2014/main" id="{BC9CEF74-A909-4C0E-9A56-76CD3A214C88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备份：来源索引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A6C26191-25BE-4EF5-B5BB-9370B96FDE3B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正文页脚给发布方；完整来源、讲稿原文与计算说明保存在每页讲者备注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A41F965D-344D-4EB3-9988-21CB6C0CCAA1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38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1A8D5067-5DC8-449B-916E-A63E964CC054}"/>
              </a:ext>
            </a:extLst>
          </p:cNvPr>
          <p:cNvGraphicFramePr/>
          <p:nvPr/>
        </p:nvGraphicFramePr>
        <p:xfrm>
          <a:off x="571500" y="1438275"/>
          <a:ext cx="11049000" cy="3648078"/>
        </p:xfrm>
        <a:graphic>
          <a:graphicData uri="http://schemas.openxmlformats.org/drawingml/2006/table">
            <a:tbl>
              <a:tblPr/>
              <a:tblGrid>
                <a:gridCol w="1285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723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正文页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主要来源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资料类型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20–22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新华社、沪绿化市容局、NYC Council、RGB/ACS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概念、设施、人口收入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23–25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沪人口普查/年鉴/统计公报、NYC HVS、BEA、地铁/MTA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住房、官方消费、交通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26–27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沪卫健/年鉴/民政、DOHMH、NYPD、NYSED、DCLA、HUD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民生结果与托底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28–30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官方设施名录、OSM、沪规划资源局、微信访谈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空间测算、参与、访谈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31–34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前述官方统计、NYC Open Data、DHS、上海开放平台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逐题判定、结论、透明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-102">
            <a:extLst>
              <a:ext uri="{FF2B5EF4-FFF2-40B4-BE49-F238E27FC236}">
                <a16:creationId xmlns:a16="http://schemas.microsoft.com/office/drawing/2014/main" id="{2A3D9EE3-47B3-470E-98D7-E50191B862B3}"/>
              </a:ext>
            </a:extLst>
          </p:cNvPr>
          <p:cNvSpPr>
            <a:spLocks noGrp="1"/>
          </p:cNvSpPr>
          <p:nvPr/>
        </p:nvSpPr>
        <p:spPr>
          <a:xfrm>
            <a:off x="571500" y="5448300"/>
            <a:ext cx="11049000" cy="704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地图：同一中心七区、直线1公里、同一面积分母；</a:t>
            </a:r>
          </a:p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访谈：一位同学的生活观察；两者都补充统计，不替代全市调查。</a:t>
            </a:r>
          </a:p>
        </p:txBody>
      </p:sp>
    </p:spTree>
    <p:extLst>
      <p:ext uri="{BB962C8B-B14F-4D97-AF65-F5344CB8AC3E}">
        <p14:creationId xmlns:p14="http://schemas.microsoft.com/office/powerpoint/2010/main" val="1025327674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342C29"/>
      </a:dk1>
      <a:lt1>
        <a:srgbClr val="F5F0E9"/>
      </a:lt1>
      <a:dk2>
        <a:srgbClr val="0E2841"/>
      </a:dk2>
      <a:lt2>
        <a:srgbClr val="E8E8E8"/>
      </a:lt2>
      <a:accent1>
        <a:srgbClr val="8F3E35"/>
      </a:accent1>
      <a:accent2>
        <a:srgbClr val="496B63"/>
      </a:accent2>
      <a:accent3>
        <a:srgbClr val="AD6C55"/>
      </a:accent3>
      <a:accent4>
        <a:srgbClr val="74665F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STZhongsong"/>
        <a:ea typeface="STZhongsong"/>
        <a:cs typeface=""/>
      </a:majorFont>
      <a:minorFont>
        <a:latin typeface="DengXian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342C29"/>
      </a:dk1>
      <a:lt1>
        <a:srgbClr val="F5F0E9"/>
      </a:lt1>
      <a:dk2>
        <a:srgbClr val="0E2841"/>
      </a:dk2>
      <a:lt2>
        <a:srgbClr val="E8E8E8"/>
      </a:lt2>
      <a:accent1>
        <a:srgbClr val="8F3E35"/>
      </a:accent1>
      <a:accent2>
        <a:srgbClr val="496B63"/>
      </a:accent2>
      <a:accent3>
        <a:srgbClr val="AD6C55"/>
      </a:accent3>
      <a:accent4>
        <a:srgbClr val="74665F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STZhongsong"/>
        <a:ea typeface="STZhongsong"/>
        <a:cs typeface=""/>
      </a:majorFont>
      <a:minorFont>
        <a:latin typeface="DengXian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9844</Words>
  <Application>Microsoft Office PowerPoint</Application>
  <DocSecurity>0</DocSecurity>
  <PresentationFormat>宽屏</PresentationFormat>
  <Paragraphs>1288</Paragraphs>
  <Slides>38</Slides>
  <Notes>38</Notes>
  <HiddenSlides>3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38</vt:i4>
      </vt:variant>
    </vt:vector>
  </HeadingPairs>
  <TitlesOfParts>
    <vt:vector size="41" baseType="lpstr">
      <vt:lpstr>Microsoft YaHei</vt:lpstr>
      <vt:lpstr>Aptos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af299@365mso.com</cp:lastModifiedBy>
  <cp:revision>2</cp:revision>
  <dcterms:created xsi:type="dcterms:W3CDTF">2026-10-17T16:39:40Z</dcterms:created>
  <dcterms:modified xsi:type="dcterms:W3CDTF">2026-10-21T12:47:02Z</dcterms:modified>
</cp:coreProperties>
</file>