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DengXi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9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5.3900000000000003E-2</c:v>
                </c:pt>
                <c:pt idx="2">
                  <c:v>0.22720000000000001</c:v>
                </c:pt>
                <c:pt idx="3">
                  <c:v>0.53800000000000003</c:v>
                </c:pt>
                <c:pt idx="4">
                  <c:v>1.016</c:v>
                </c:pt>
                <c:pt idx="5">
                  <c:v>1.6447000000000001</c:v>
                </c:pt>
                <c:pt idx="6">
                  <c:v>2.3976000000000002</c:v>
                </c:pt>
                <c:pt idx="7">
                  <c:v>3.2894999999999999</c:v>
                </c:pt>
                <c:pt idx="8">
                  <c:v>4.2808000000000002</c:v>
                </c:pt>
                <c:pt idx="9">
                  <c:v>5.3784999999999998</c:v>
                </c:pt>
                <c:pt idx="10">
                  <c:v>6.5674000000000001</c:v>
                </c:pt>
                <c:pt idx="11">
                  <c:v>7.8144</c:v>
                </c:pt>
                <c:pt idx="12">
                  <c:v>9.1249830000000003</c:v>
                </c:pt>
                <c:pt idx="13">
                  <c:v>10.4834</c:v>
                </c:pt>
                <c:pt idx="14">
                  <c:v>11.926600000000001</c:v>
                </c:pt>
                <c:pt idx="15">
                  <c:v>13.390700000000001</c:v>
                </c:pt>
                <c:pt idx="16">
                  <c:v>14.886200000000001</c:v>
                </c:pt>
                <c:pt idx="17">
                  <c:v>16.398900000000001</c:v>
                </c:pt>
                <c:pt idx="18">
                  <c:v>17.915600000000001</c:v>
                </c:pt>
                <c:pt idx="19">
                  <c:v>19.4725</c:v>
                </c:pt>
                <c:pt idx="20">
                  <c:v>21.017111</c:v>
                </c:pt>
                <c:pt idx="21">
                  <c:v>22.565000000000001</c:v>
                </c:pt>
                <c:pt idx="22">
                  <c:v>24.091200000000001</c:v>
                </c:pt>
                <c:pt idx="23">
                  <c:v>25.6023</c:v>
                </c:pt>
                <c:pt idx="24">
                  <c:v>27.0657</c:v>
                </c:pt>
                <c:pt idx="25">
                  <c:v>28.4969</c:v>
                </c:pt>
                <c:pt idx="26">
                  <c:v>29.908300000000001</c:v>
                </c:pt>
                <c:pt idx="27">
                  <c:v>31.2883</c:v>
                </c:pt>
                <c:pt idx="28">
                  <c:v>32.648000000000003</c:v>
                </c:pt>
                <c:pt idx="29">
                  <c:v>33.974400000000003</c:v>
                </c:pt>
                <c:pt idx="30">
                  <c:v>35.275100000000002</c:v>
                </c:pt>
                <c:pt idx="31">
                  <c:v>36.5608</c:v>
                </c:pt>
                <c:pt idx="32">
                  <c:v>37.812314000000001</c:v>
                </c:pt>
                <c:pt idx="33">
                  <c:v>39.057400000000001</c:v>
                </c:pt>
                <c:pt idx="34">
                  <c:v>40.273699999999998</c:v>
                </c:pt>
                <c:pt idx="35">
                  <c:v>41.470199999999998</c:v>
                </c:pt>
                <c:pt idx="36">
                  <c:v>42.646500000000003</c:v>
                </c:pt>
                <c:pt idx="37">
                  <c:v>43.7806</c:v>
                </c:pt>
                <c:pt idx="38">
                  <c:v>44.888399999999997</c:v>
                </c:pt>
                <c:pt idx="39">
                  <c:v>45.976100000000002</c:v>
                </c:pt>
                <c:pt idx="40">
                  <c:v>47.024763</c:v>
                </c:pt>
                <c:pt idx="41">
                  <c:v>48.067100000000003</c:v>
                </c:pt>
                <c:pt idx="42">
                  <c:v>49.0931</c:v>
                </c:pt>
                <c:pt idx="43">
                  <c:v>50.109299999999998</c:v>
                </c:pt>
                <c:pt idx="44">
                  <c:v>51.109499999999997</c:v>
                </c:pt>
                <c:pt idx="45">
                  <c:v>52.092100000000002</c:v>
                </c:pt>
                <c:pt idx="46">
                  <c:v>53.0398</c:v>
                </c:pt>
                <c:pt idx="47">
                  <c:v>53.979199999999999</c:v>
                </c:pt>
                <c:pt idx="48">
                  <c:v>54.903199999999998</c:v>
                </c:pt>
                <c:pt idx="49">
                  <c:v>55.804900000000004</c:v>
                </c:pt>
                <c:pt idx="50">
                  <c:v>56.674300000000002</c:v>
                </c:pt>
                <c:pt idx="51">
                  <c:v>57.541499999999999</c:v>
                </c:pt>
                <c:pt idx="52">
                  <c:v>58.395699999999998</c:v>
                </c:pt>
                <c:pt idx="53">
                  <c:v>59.218499999999999</c:v>
                </c:pt>
                <c:pt idx="54">
                  <c:v>60.006700000000002</c:v>
                </c:pt>
                <c:pt idx="55">
                  <c:v>60.775599999999997</c:v>
                </c:pt>
                <c:pt idx="56">
                  <c:v>61.5167</c:v>
                </c:pt>
                <c:pt idx="57">
                  <c:v>62.244199999999999</c:v>
                </c:pt>
                <c:pt idx="58">
                  <c:v>62.9497</c:v>
                </c:pt>
                <c:pt idx="59">
                  <c:v>63.642299999999999</c:v>
                </c:pt>
                <c:pt idx="60">
                  <c:v>64.310518999999999</c:v>
                </c:pt>
                <c:pt idx="61">
                  <c:v>65.000399999999999</c:v>
                </c:pt>
                <c:pt idx="62">
                  <c:v>65.664900000000003</c:v>
                </c:pt>
                <c:pt idx="63">
                  <c:v>66.311199999999999</c:v>
                </c:pt>
                <c:pt idx="64">
                  <c:v>66.962999999999994</c:v>
                </c:pt>
                <c:pt idx="65">
                  <c:v>67.605599999999995</c:v>
                </c:pt>
                <c:pt idx="66">
                  <c:v>68.241399999999999</c:v>
                </c:pt>
                <c:pt idx="67">
                  <c:v>68.880899999999997</c:v>
                </c:pt>
                <c:pt idx="68">
                  <c:v>69.522400000000005</c:v>
                </c:pt>
                <c:pt idx="69">
                  <c:v>70.152299999999997</c:v>
                </c:pt>
                <c:pt idx="70">
                  <c:v>70.784599999999998</c:v>
                </c:pt>
                <c:pt idx="71">
                  <c:v>71.409899999999993</c:v>
                </c:pt>
                <c:pt idx="72">
                  <c:v>72.0214</c:v>
                </c:pt>
                <c:pt idx="73">
                  <c:v>72.622299999999996</c:v>
                </c:pt>
                <c:pt idx="74">
                  <c:v>73.2</c:v>
                </c:pt>
                <c:pt idx="75">
                  <c:v>73.766300000000001</c:v>
                </c:pt>
                <c:pt idx="76">
                  <c:v>74.332400000000007</c:v>
                </c:pt>
                <c:pt idx="77">
                  <c:v>74.883600000000001</c:v>
                </c:pt>
                <c:pt idx="78">
                  <c:v>75.422300000000007</c:v>
                </c:pt>
                <c:pt idx="79">
                  <c:v>75.961299999999994</c:v>
                </c:pt>
                <c:pt idx="80">
                  <c:v>76.500581999999994</c:v>
                </c:pt>
                <c:pt idx="81">
                  <c:v>77.039599999999993</c:v>
                </c:pt>
                <c:pt idx="82">
                  <c:v>77.574600000000004</c:v>
                </c:pt>
                <c:pt idx="83">
                  <c:v>78.101200000000006</c:v>
                </c:pt>
                <c:pt idx="84">
                  <c:v>78.617599999999996</c:v>
                </c:pt>
                <c:pt idx="85">
                  <c:v>79.115099999999998</c:v>
                </c:pt>
                <c:pt idx="86">
                  <c:v>79.597999999999999</c:v>
                </c:pt>
                <c:pt idx="87">
                  <c:v>80.073300000000003</c:v>
                </c:pt>
                <c:pt idx="88">
                  <c:v>80.534700000000001</c:v>
                </c:pt>
                <c:pt idx="89">
                  <c:v>80.994699999999995</c:v>
                </c:pt>
                <c:pt idx="90">
                  <c:v>81.446899999999999</c:v>
                </c:pt>
                <c:pt idx="91">
                  <c:v>81.877700000000004</c:v>
                </c:pt>
                <c:pt idx="92">
                  <c:v>82.308800000000005</c:v>
                </c:pt>
                <c:pt idx="93">
                  <c:v>82.716499999999996</c:v>
                </c:pt>
                <c:pt idx="94">
                  <c:v>83.11</c:v>
                </c:pt>
                <c:pt idx="95">
                  <c:v>83.492099999999994</c:v>
                </c:pt>
                <c:pt idx="96">
                  <c:v>83.859399999999994</c:v>
                </c:pt>
                <c:pt idx="97">
                  <c:v>84.215199999999996</c:v>
                </c:pt>
                <c:pt idx="98">
                  <c:v>84.559299999999993</c:v>
                </c:pt>
                <c:pt idx="99">
                  <c:v>84.897099999999995</c:v>
                </c:pt>
                <c:pt idx="100">
                  <c:v>85.239199999999997</c:v>
                </c:pt>
                <c:pt idx="101">
                  <c:v>85.572299999999998</c:v>
                </c:pt>
                <c:pt idx="102">
                  <c:v>85.889399999999995</c:v>
                </c:pt>
                <c:pt idx="103">
                  <c:v>86.200800000000001</c:v>
                </c:pt>
                <c:pt idx="104">
                  <c:v>86.495099999999994</c:v>
                </c:pt>
                <c:pt idx="105">
                  <c:v>86.781499999999994</c:v>
                </c:pt>
                <c:pt idx="106">
                  <c:v>87.065399999999997</c:v>
                </c:pt>
                <c:pt idx="107">
                  <c:v>87.34</c:v>
                </c:pt>
                <c:pt idx="108">
                  <c:v>87.599900000000005</c:v>
                </c:pt>
                <c:pt idx="109">
                  <c:v>87.843900000000005</c:v>
                </c:pt>
                <c:pt idx="110">
                  <c:v>88.074399999999997</c:v>
                </c:pt>
                <c:pt idx="111">
                  <c:v>88.293999999999997</c:v>
                </c:pt>
                <c:pt idx="112">
                  <c:v>88.506299999999996</c:v>
                </c:pt>
                <c:pt idx="113">
                  <c:v>88.718699999999998</c:v>
                </c:pt>
                <c:pt idx="114">
                  <c:v>88.934700000000007</c:v>
                </c:pt>
                <c:pt idx="115">
                  <c:v>89.146199999999993</c:v>
                </c:pt>
                <c:pt idx="116">
                  <c:v>89.349400000000003</c:v>
                </c:pt>
                <c:pt idx="117">
                  <c:v>89.547600000000003</c:v>
                </c:pt>
                <c:pt idx="118">
                  <c:v>89.739599999999996</c:v>
                </c:pt>
                <c:pt idx="119">
                  <c:v>89.923100000000005</c:v>
                </c:pt>
                <c:pt idx="120">
                  <c:v>90.100296999999998</c:v>
                </c:pt>
                <c:pt idx="121">
                  <c:v>90.268900000000002</c:v>
                </c:pt>
                <c:pt idx="122">
                  <c:v>90.440399999999997</c:v>
                </c:pt>
                <c:pt idx="123">
                  <c:v>90.611099999999993</c:v>
                </c:pt>
                <c:pt idx="124">
                  <c:v>90.777500000000003</c:v>
                </c:pt>
                <c:pt idx="125">
                  <c:v>90.942700000000002</c:v>
                </c:pt>
                <c:pt idx="126">
                  <c:v>91.110299999999995</c:v>
                </c:pt>
                <c:pt idx="127">
                  <c:v>91.274500000000003</c:v>
                </c:pt>
                <c:pt idx="128">
                  <c:v>91.436099999999996</c:v>
                </c:pt>
                <c:pt idx="129">
                  <c:v>91.594499999999996</c:v>
                </c:pt>
                <c:pt idx="130">
                  <c:v>91.749700000000004</c:v>
                </c:pt>
                <c:pt idx="131">
                  <c:v>91.901700000000005</c:v>
                </c:pt>
                <c:pt idx="132">
                  <c:v>92.044600000000003</c:v>
                </c:pt>
                <c:pt idx="133">
                  <c:v>92.188299999999998</c:v>
                </c:pt>
                <c:pt idx="134">
                  <c:v>92.330100000000002</c:v>
                </c:pt>
                <c:pt idx="135">
                  <c:v>92.468599999999995</c:v>
                </c:pt>
                <c:pt idx="136">
                  <c:v>92.603999999999999</c:v>
                </c:pt>
                <c:pt idx="137">
                  <c:v>92.732100000000003</c:v>
                </c:pt>
                <c:pt idx="138">
                  <c:v>92.858199999999997</c:v>
                </c:pt>
                <c:pt idx="139">
                  <c:v>92.9816</c:v>
                </c:pt>
                <c:pt idx="140">
                  <c:v>93.107799999999997</c:v>
                </c:pt>
                <c:pt idx="141">
                  <c:v>93.241600000000005</c:v>
                </c:pt>
                <c:pt idx="142">
                  <c:v>93.369900000000001</c:v>
                </c:pt>
                <c:pt idx="143">
                  <c:v>93.494299999999996</c:v>
                </c:pt>
                <c:pt idx="144">
                  <c:v>93.614699999999999</c:v>
                </c:pt>
                <c:pt idx="145">
                  <c:v>93.737200000000001</c:v>
                </c:pt>
                <c:pt idx="146">
                  <c:v>93.863699999999994</c:v>
                </c:pt>
                <c:pt idx="147">
                  <c:v>93.991200000000006</c:v>
                </c:pt>
                <c:pt idx="148">
                  <c:v>94.119799999999998</c:v>
                </c:pt>
                <c:pt idx="149">
                  <c:v>94.251199999999997</c:v>
                </c:pt>
                <c:pt idx="150">
                  <c:v>94.383700000000005</c:v>
                </c:pt>
                <c:pt idx="151">
                  <c:v>94.510099999999994</c:v>
                </c:pt>
                <c:pt idx="152">
                  <c:v>94.628399999999999</c:v>
                </c:pt>
                <c:pt idx="153">
                  <c:v>94.741299999999995</c:v>
                </c:pt>
                <c:pt idx="154">
                  <c:v>94.846500000000006</c:v>
                </c:pt>
                <c:pt idx="155">
                  <c:v>94.951800000000006</c:v>
                </c:pt>
                <c:pt idx="156">
                  <c:v>95.057900000000004</c:v>
                </c:pt>
                <c:pt idx="157">
                  <c:v>95.164500000000004</c:v>
                </c:pt>
                <c:pt idx="158">
                  <c:v>95.267700000000005</c:v>
                </c:pt>
                <c:pt idx="159">
                  <c:v>95.370199999999997</c:v>
                </c:pt>
                <c:pt idx="160">
                  <c:v>95.468100000000007</c:v>
                </c:pt>
                <c:pt idx="161">
                  <c:v>95.5642</c:v>
                </c:pt>
                <c:pt idx="162">
                  <c:v>95.662999999999997</c:v>
                </c:pt>
                <c:pt idx="163">
                  <c:v>95.758700000000005</c:v>
                </c:pt>
                <c:pt idx="164">
                  <c:v>95.856700000000004</c:v>
                </c:pt>
                <c:pt idx="165">
                  <c:v>95.950299999999999</c:v>
                </c:pt>
                <c:pt idx="166">
                  <c:v>96.042299999999997</c:v>
                </c:pt>
                <c:pt idx="167">
                  <c:v>96.132999999999996</c:v>
                </c:pt>
                <c:pt idx="168">
                  <c:v>96.218599999999995</c:v>
                </c:pt>
                <c:pt idx="169">
                  <c:v>96.304400000000001</c:v>
                </c:pt>
                <c:pt idx="170">
                  <c:v>96.384</c:v>
                </c:pt>
                <c:pt idx="171">
                  <c:v>96.463700000000003</c:v>
                </c:pt>
                <c:pt idx="172">
                  <c:v>96.539000000000001</c:v>
                </c:pt>
                <c:pt idx="173">
                  <c:v>96.608099999999993</c:v>
                </c:pt>
                <c:pt idx="174">
                  <c:v>96.676599999999993</c:v>
                </c:pt>
                <c:pt idx="175">
                  <c:v>96.742500000000007</c:v>
                </c:pt>
                <c:pt idx="176">
                  <c:v>96.803399999999996</c:v>
                </c:pt>
                <c:pt idx="177">
                  <c:v>96.860299999999995</c:v>
                </c:pt>
                <c:pt idx="178">
                  <c:v>96.912700000000001</c:v>
                </c:pt>
                <c:pt idx="179">
                  <c:v>96.962599999999995</c:v>
                </c:pt>
                <c:pt idx="180">
                  <c:v>97.012600000000006</c:v>
                </c:pt>
                <c:pt idx="181">
                  <c:v>97.060599999999994</c:v>
                </c:pt>
                <c:pt idx="182">
                  <c:v>97.106899999999996</c:v>
                </c:pt>
                <c:pt idx="183">
                  <c:v>97.154899999999998</c:v>
                </c:pt>
                <c:pt idx="184">
                  <c:v>97.202200000000005</c:v>
                </c:pt>
                <c:pt idx="185">
                  <c:v>97.250900000000001</c:v>
                </c:pt>
                <c:pt idx="186">
                  <c:v>97.298100000000005</c:v>
                </c:pt>
                <c:pt idx="187">
                  <c:v>97.341300000000004</c:v>
                </c:pt>
                <c:pt idx="188">
                  <c:v>97.383200000000002</c:v>
                </c:pt>
                <c:pt idx="189">
                  <c:v>97.421999999999997</c:v>
                </c:pt>
                <c:pt idx="190">
                  <c:v>97.462900000000005</c:v>
                </c:pt>
                <c:pt idx="191">
                  <c:v>97.502200000000002</c:v>
                </c:pt>
                <c:pt idx="192">
                  <c:v>97.544499999999999</c:v>
                </c:pt>
                <c:pt idx="193">
                  <c:v>97.588300000000004</c:v>
                </c:pt>
                <c:pt idx="194">
                  <c:v>97.632800000000003</c:v>
                </c:pt>
                <c:pt idx="195">
                  <c:v>97.678299999999993</c:v>
                </c:pt>
                <c:pt idx="196">
                  <c:v>97.724599999999995</c:v>
                </c:pt>
                <c:pt idx="197">
                  <c:v>97.771199999999993</c:v>
                </c:pt>
                <c:pt idx="198">
                  <c:v>97.820099999999996</c:v>
                </c:pt>
                <c:pt idx="199">
                  <c:v>97.871099999999998</c:v>
                </c:pt>
                <c:pt idx="200">
                  <c:v>97.919100999999998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7D7-49AA-92F9-9430BAA70001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0.14350499999999999</c:v>
                </c:pt>
                <c:pt idx="2">
                  <c:v>0.63156999999999996</c:v>
                </c:pt>
                <c:pt idx="3">
                  <c:v>1.4955160000000001</c:v>
                </c:pt>
                <c:pt idx="4">
                  <c:v>2.857726</c:v>
                </c:pt>
                <c:pt idx="5">
                  <c:v>4.6271409999999999</c:v>
                </c:pt>
                <c:pt idx="6">
                  <c:v>6.7163469999999998</c:v>
                </c:pt>
                <c:pt idx="7">
                  <c:v>9.1916340000000005</c:v>
                </c:pt>
                <c:pt idx="8">
                  <c:v>11.85632</c:v>
                </c:pt>
                <c:pt idx="9">
                  <c:v>14.702389999999999</c:v>
                </c:pt>
                <c:pt idx="10">
                  <c:v>17.719685999999999</c:v>
                </c:pt>
                <c:pt idx="11">
                  <c:v>20.852</c:v>
                </c:pt>
                <c:pt idx="12">
                  <c:v>24.123905000000001</c:v>
                </c:pt>
                <c:pt idx="13">
                  <c:v>27.507885999999999</c:v>
                </c:pt>
                <c:pt idx="14">
                  <c:v>31.088965999999999</c:v>
                </c:pt>
                <c:pt idx="15">
                  <c:v>34.627068000000001</c:v>
                </c:pt>
                <c:pt idx="16">
                  <c:v>38.126562</c:v>
                </c:pt>
                <c:pt idx="17">
                  <c:v>41.527714000000003</c:v>
                </c:pt>
                <c:pt idx="18">
                  <c:v>44.810856999999999</c:v>
                </c:pt>
                <c:pt idx="19">
                  <c:v>48.123866</c:v>
                </c:pt>
                <c:pt idx="20">
                  <c:v>51.2896</c:v>
                </c:pt>
                <c:pt idx="21">
                  <c:v>54.443206000000004</c:v>
                </c:pt>
                <c:pt idx="22">
                  <c:v>57.445894000000003</c:v>
                </c:pt>
                <c:pt idx="23">
                  <c:v>60.307262000000001</c:v>
                </c:pt>
                <c:pt idx="24">
                  <c:v>62.948636999999998</c:v>
                </c:pt>
                <c:pt idx="25">
                  <c:v>65.403526999999997</c:v>
                </c:pt>
                <c:pt idx="26">
                  <c:v>67.751334999999997</c:v>
                </c:pt>
                <c:pt idx="27">
                  <c:v>69.951266000000004</c:v>
                </c:pt>
                <c:pt idx="28">
                  <c:v>71.996037000000001</c:v>
                </c:pt>
                <c:pt idx="29">
                  <c:v>73.922798</c:v>
                </c:pt>
                <c:pt idx="30">
                  <c:v>75.707510999999997</c:v>
                </c:pt>
                <c:pt idx="31">
                  <c:v>77.368386999999998</c:v>
                </c:pt>
                <c:pt idx="32">
                  <c:v>78.895962999999995</c:v>
                </c:pt>
                <c:pt idx="33">
                  <c:v>80.347036000000003</c:v>
                </c:pt>
                <c:pt idx="34">
                  <c:v>81.685934000000003</c:v>
                </c:pt>
                <c:pt idx="35">
                  <c:v>82.904638000000006</c:v>
                </c:pt>
                <c:pt idx="36">
                  <c:v>84.05341</c:v>
                </c:pt>
                <c:pt idx="37">
                  <c:v>85.071061</c:v>
                </c:pt>
                <c:pt idx="38">
                  <c:v>85.973614999999995</c:v>
                </c:pt>
                <c:pt idx="39">
                  <c:v>86.790211999999997</c:v>
                </c:pt>
                <c:pt idx="40">
                  <c:v>87.481938</c:v>
                </c:pt>
                <c:pt idx="41">
                  <c:v>88.142223000000001</c:v>
                </c:pt>
                <c:pt idx="42">
                  <c:v>88.775977999999995</c:v>
                </c:pt>
                <c:pt idx="43">
                  <c:v>89.384237999999996</c:v>
                </c:pt>
                <c:pt idx="44">
                  <c:v>89.966273000000001</c:v>
                </c:pt>
                <c:pt idx="45">
                  <c:v>90.527911000000003</c:v>
                </c:pt>
                <c:pt idx="46">
                  <c:v>91.051669000000004</c:v>
                </c:pt>
                <c:pt idx="47">
                  <c:v>91.530991999999998</c:v>
                </c:pt>
                <c:pt idx="48">
                  <c:v>91.962237000000002</c:v>
                </c:pt>
                <c:pt idx="49">
                  <c:v>92.381827000000001</c:v>
                </c:pt>
                <c:pt idx="50">
                  <c:v>92.781747999999993</c:v>
                </c:pt>
                <c:pt idx="51">
                  <c:v>93.159816000000006</c:v>
                </c:pt>
                <c:pt idx="52">
                  <c:v>93.526955999999998</c:v>
                </c:pt>
                <c:pt idx="53">
                  <c:v>93.863501999999997</c:v>
                </c:pt>
                <c:pt idx="54">
                  <c:v>94.188393000000005</c:v>
                </c:pt>
                <c:pt idx="55">
                  <c:v>94.474675000000005</c:v>
                </c:pt>
                <c:pt idx="56">
                  <c:v>94.739103999999998</c:v>
                </c:pt>
                <c:pt idx="57">
                  <c:v>94.991148999999993</c:v>
                </c:pt>
                <c:pt idx="58">
                  <c:v>95.222797999999997</c:v>
                </c:pt>
                <c:pt idx="59">
                  <c:v>95.434777999999994</c:v>
                </c:pt>
                <c:pt idx="60">
                  <c:v>95.633283000000006</c:v>
                </c:pt>
                <c:pt idx="61">
                  <c:v>95.819401999999997</c:v>
                </c:pt>
                <c:pt idx="62">
                  <c:v>95.994958999999994</c:v>
                </c:pt>
                <c:pt idx="63">
                  <c:v>96.167603</c:v>
                </c:pt>
                <c:pt idx="64">
                  <c:v>96.334418999999997</c:v>
                </c:pt>
                <c:pt idx="65">
                  <c:v>96.485208999999998</c:v>
                </c:pt>
                <c:pt idx="66">
                  <c:v>96.622887000000006</c:v>
                </c:pt>
                <c:pt idx="67">
                  <c:v>96.745994999999994</c:v>
                </c:pt>
                <c:pt idx="68">
                  <c:v>96.866918999999996</c:v>
                </c:pt>
                <c:pt idx="69">
                  <c:v>96.980558000000002</c:v>
                </c:pt>
                <c:pt idx="70">
                  <c:v>97.092738999999995</c:v>
                </c:pt>
                <c:pt idx="71">
                  <c:v>97.190352000000004</c:v>
                </c:pt>
                <c:pt idx="72">
                  <c:v>97.276309999999995</c:v>
                </c:pt>
                <c:pt idx="73">
                  <c:v>97.348427000000001</c:v>
                </c:pt>
                <c:pt idx="74">
                  <c:v>97.405974999999998</c:v>
                </c:pt>
                <c:pt idx="75">
                  <c:v>97.464251000000004</c:v>
                </c:pt>
                <c:pt idx="76">
                  <c:v>97.5167</c:v>
                </c:pt>
                <c:pt idx="77">
                  <c:v>97.566235000000006</c:v>
                </c:pt>
                <c:pt idx="78">
                  <c:v>97.614312999999996</c:v>
                </c:pt>
                <c:pt idx="79">
                  <c:v>97.664575999999997</c:v>
                </c:pt>
                <c:pt idx="80">
                  <c:v>97.718001000000001</c:v>
                </c:pt>
                <c:pt idx="81">
                  <c:v>97.76146</c:v>
                </c:pt>
                <c:pt idx="82">
                  <c:v>97.808081000000001</c:v>
                </c:pt>
                <c:pt idx="83">
                  <c:v>97.847418000000005</c:v>
                </c:pt>
                <c:pt idx="84">
                  <c:v>97.882384000000002</c:v>
                </c:pt>
                <c:pt idx="85">
                  <c:v>97.915892999999997</c:v>
                </c:pt>
                <c:pt idx="86">
                  <c:v>97.945031</c:v>
                </c:pt>
                <c:pt idx="87">
                  <c:v>97.972712000000001</c:v>
                </c:pt>
                <c:pt idx="88">
                  <c:v>97.995294000000001</c:v>
                </c:pt>
                <c:pt idx="89">
                  <c:v>98.020790000000005</c:v>
                </c:pt>
                <c:pt idx="90">
                  <c:v>98.048471000000006</c:v>
                </c:pt>
                <c:pt idx="91">
                  <c:v>98.073239000000001</c:v>
                </c:pt>
                <c:pt idx="92">
                  <c:v>98.099463</c:v>
                </c:pt>
                <c:pt idx="93">
                  <c:v>98.127144000000001</c:v>
                </c:pt>
                <c:pt idx="94">
                  <c:v>98.153368999999998</c:v>
                </c:pt>
                <c:pt idx="95">
                  <c:v>98.175950999999998</c:v>
                </c:pt>
                <c:pt idx="96">
                  <c:v>98.197075999999996</c:v>
                </c:pt>
                <c:pt idx="97">
                  <c:v>98.212373999999997</c:v>
                </c:pt>
                <c:pt idx="98">
                  <c:v>98.221843000000007</c:v>
                </c:pt>
                <c:pt idx="99">
                  <c:v>98.223299999999995</c:v>
                </c:pt>
                <c:pt idx="100">
                  <c:v>98.223299999999995</c:v>
                </c:pt>
                <c:pt idx="101">
                  <c:v>98.223299999999995</c:v>
                </c:pt>
                <c:pt idx="102">
                  <c:v>98.223299999999995</c:v>
                </c:pt>
                <c:pt idx="103">
                  <c:v>98.223299999999995</c:v>
                </c:pt>
                <c:pt idx="104">
                  <c:v>98.223299999999995</c:v>
                </c:pt>
                <c:pt idx="105">
                  <c:v>98.223299999999995</c:v>
                </c:pt>
                <c:pt idx="106">
                  <c:v>98.224756999999997</c:v>
                </c:pt>
                <c:pt idx="107">
                  <c:v>98.235684000000006</c:v>
                </c:pt>
                <c:pt idx="108">
                  <c:v>98.248795999999999</c:v>
                </c:pt>
                <c:pt idx="109">
                  <c:v>98.263364999999993</c:v>
                </c:pt>
                <c:pt idx="110">
                  <c:v>98.277934000000002</c:v>
                </c:pt>
                <c:pt idx="111">
                  <c:v>98.294689000000005</c:v>
                </c:pt>
                <c:pt idx="112">
                  <c:v>98.309985999999995</c:v>
                </c:pt>
                <c:pt idx="113">
                  <c:v>98.323826999999994</c:v>
                </c:pt>
                <c:pt idx="114">
                  <c:v>98.336939000000001</c:v>
                </c:pt>
                <c:pt idx="115">
                  <c:v>98.348594000000006</c:v>
                </c:pt>
                <c:pt idx="116">
                  <c:v>98.359521000000001</c:v>
                </c:pt>
                <c:pt idx="117">
                  <c:v>98.379918000000004</c:v>
                </c:pt>
                <c:pt idx="118">
                  <c:v>98.406870999999995</c:v>
                </c:pt>
                <c:pt idx="119">
                  <c:v>98.433824000000001</c:v>
                </c:pt>
                <c:pt idx="120">
                  <c:v>98.45429</c:v>
                </c:pt>
                <c:pt idx="121">
                  <c:v>98.481902000000005</c:v>
                </c:pt>
                <c:pt idx="122">
                  <c:v>98.510311000000002</c:v>
                </c:pt>
                <c:pt idx="123">
                  <c:v>98.538720999999995</c:v>
                </c:pt>
                <c:pt idx="124">
                  <c:v>98.571500999999998</c:v>
                </c:pt>
                <c:pt idx="125">
                  <c:v>98.601367999999994</c:v>
                </c:pt>
                <c:pt idx="126">
                  <c:v>98.633420000000001</c:v>
                </c:pt>
                <c:pt idx="127">
                  <c:v>98.664015000000006</c:v>
                </c:pt>
                <c:pt idx="128">
                  <c:v>98.700438000000005</c:v>
                </c:pt>
                <c:pt idx="129">
                  <c:v>98.739773999999997</c:v>
                </c:pt>
                <c:pt idx="130">
                  <c:v>98.777653999999998</c:v>
                </c:pt>
                <c:pt idx="131">
                  <c:v>98.813348000000005</c:v>
                </c:pt>
                <c:pt idx="132">
                  <c:v>98.852684999999994</c:v>
                </c:pt>
                <c:pt idx="133">
                  <c:v>98.892750000000007</c:v>
                </c:pt>
                <c:pt idx="134">
                  <c:v>98.927715000000006</c:v>
                </c:pt>
                <c:pt idx="135">
                  <c:v>98.959039000000004</c:v>
                </c:pt>
                <c:pt idx="136">
                  <c:v>98.986720000000005</c:v>
                </c:pt>
                <c:pt idx="137">
                  <c:v>99.016587000000001</c:v>
                </c:pt>
                <c:pt idx="138">
                  <c:v>99.042811</c:v>
                </c:pt>
                <c:pt idx="139">
                  <c:v>99.069035999999997</c:v>
                </c:pt>
                <c:pt idx="140">
                  <c:v>99.098901999999995</c:v>
                </c:pt>
                <c:pt idx="141">
                  <c:v>99.126582999999997</c:v>
                </c:pt>
                <c:pt idx="142">
                  <c:v>99.154993000000005</c:v>
                </c:pt>
                <c:pt idx="143">
                  <c:v>99.181945999999996</c:v>
                </c:pt>
                <c:pt idx="144">
                  <c:v>99.211813000000006</c:v>
                </c:pt>
                <c:pt idx="145">
                  <c:v>99.236580000000004</c:v>
                </c:pt>
                <c:pt idx="146">
                  <c:v>99.262804000000003</c:v>
                </c:pt>
                <c:pt idx="147">
                  <c:v>99.286843000000005</c:v>
                </c:pt>
                <c:pt idx="148">
                  <c:v>99.315252999999998</c:v>
                </c:pt>
                <c:pt idx="149">
                  <c:v>99.342934</c:v>
                </c:pt>
                <c:pt idx="150">
                  <c:v>99.368430000000004</c:v>
                </c:pt>
                <c:pt idx="151">
                  <c:v>99.388098999999997</c:v>
                </c:pt>
                <c:pt idx="152">
                  <c:v>99.412865999999994</c:v>
                </c:pt>
                <c:pt idx="153">
                  <c:v>99.436904999999996</c:v>
                </c:pt>
                <c:pt idx="154">
                  <c:v>99.462401</c:v>
                </c:pt>
                <c:pt idx="155">
                  <c:v>99.487167999999997</c:v>
                </c:pt>
                <c:pt idx="156">
                  <c:v>99.514849999999996</c:v>
                </c:pt>
                <c:pt idx="157">
                  <c:v>99.543259000000006</c:v>
                </c:pt>
                <c:pt idx="158">
                  <c:v>99.570941000000005</c:v>
                </c:pt>
                <c:pt idx="159">
                  <c:v>99.594978999999995</c:v>
                </c:pt>
                <c:pt idx="160">
                  <c:v>99.615375999999998</c:v>
                </c:pt>
                <c:pt idx="161">
                  <c:v>99.632131000000001</c:v>
                </c:pt>
                <c:pt idx="162">
                  <c:v>99.648156999999998</c:v>
                </c:pt>
                <c:pt idx="163">
                  <c:v>99.661997</c:v>
                </c:pt>
                <c:pt idx="164">
                  <c:v>99.674380999999997</c:v>
                </c:pt>
                <c:pt idx="165">
                  <c:v>99.682394000000002</c:v>
                </c:pt>
                <c:pt idx="166">
                  <c:v>99.691863999999995</c:v>
                </c:pt>
                <c:pt idx="167">
                  <c:v>99.702061999999998</c:v>
                </c:pt>
                <c:pt idx="168">
                  <c:v>99.710803999999996</c:v>
                </c:pt>
                <c:pt idx="169">
                  <c:v>99.719544999999997</c:v>
                </c:pt>
                <c:pt idx="170">
                  <c:v>99.726830000000007</c:v>
                </c:pt>
                <c:pt idx="171">
                  <c:v>99.734842999999998</c:v>
                </c:pt>
                <c:pt idx="172">
                  <c:v>99.742126999999996</c:v>
                </c:pt>
                <c:pt idx="173">
                  <c:v>99.750868999999994</c:v>
                </c:pt>
                <c:pt idx="174">
                  <c:v>99.760339000000002</c:v>
                </c:pt>
                <c:pt idx="175">
                  <c:v>99.769080000000002</c:v>
                </c:pt>
                <c:pt idx="176">
                  <c:v>99.778549999999996</c:v>
                </c:pt>
                <c:pt idx="177">
                  <c:v>99.787290999999996</c:v>
                </c:pt>
                <c:pt idx="178">
                  <c:v>99.794576000000006</c:v>
                </c:pt>
                <c:pt idx="179">
                  <c:v>99.800404</c:v>
                </c:pt>
                <c:pt idx="180">
                  <c:v>99.806230999999997</c:v>
                </c:pt>
                <c:pt idx="181">
                  <c:v>99.812059000000005</c:v>
                </c:pt>
                <c:pt idx="182">
                  <c:v>99.817886000000001</c:v>
                </c:pt>
                <c:pt idx="183">
                  <c:v>99.822986</c:v>
                </c:pt>
                <c:pt idx="184">
                  <c:v>99.827355999999995</c:v>
                </c:pt>
                <c:pt idx="185">
                  <c:v>99.831727000000001</c:v>
                </c:pt>
                <c:pt idx="186">
                  <c:v>99.835369</c:v>
                </c:pt>
                <c:pt idx="187">
                  <c:v>99.839011999999997</c:v>
                </c:pt>
                <c:pt idx="188">
                  <c:v>99.842653999999996</c:v>
                </c:pt>
                <c:pt idx="189">
                  <c:v>99.847025000000002</c:v>
                </c:pt>
                <c:pt idx="190">
                  <c:v>99.849937999999995</c:v>
                </c:pt>
                <c:pt idx="191">
                  <c:v>99.849937999999995</c:v>
                </c:pt>
                <c:pt idx="192">
                  <c:v>99.849937999999995</c:v>
                </c:pt>
                <c:pt idx="193">
                  <c:v>99.849937999999995</c:v>
                </c:pt>
                <c:pt idx="194">
                  <c:v>99.849937999999995</c:v>
                </c:pt>
                <c:pt idx="195">
                  <c:v>99.849937999999995</c:v>
                </c:pt>
                <c:pt idx="196">
                  <c:v>99.849937999999995</c:v>
                </c:pt>
                <c:pt idx="197">
                  <c:v>99.849937999999995</c:v>
                </c:pt>
                <c:pt idx="198">
                  <c:v>99.849937999999995</c:v>
                </c:pt>
                <c:pt idx="199">
                  <c:v>99.849937999999995</c:v>
                </c:pt>
                <c:pt idx="200">
                  <c:v>99.848929999999996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7D7-49AA-92F9-9430BAA70001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1.8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72.011781999999997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7D7-49AA-92F9-9430BAA70001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2.482173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85.002498000000003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7D7-49AA-92F9-9430BAA70001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0.75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75.670079000000001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77D7-49AA-92F9-9430BAA70001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0.92346200000000001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85.016058999999998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77D7-49AA-92F9-9430BAA70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2.0799999999999999E-2</c:v>
                </c:pt>
                <c:pt idx="2">
                  <c:v>9.8900000000000002E-2</c:v>
                </c:pt>
                <c:pt idx="3">
                  <c:v>0.26729999999999998</c:v>
                </c:pt>
                <c:pt idx="4">
                  <c:v>0.54085000000000005</c:v>
                </c:pt>
                <c:pt idx="5">
                  <c:v>0.91639999999999999</c:v>
                </c:pt>
                <c:pt idx="6">
                  <c:v>1.3772</c:v>
                </c:pt>
                <c:pt idx="7">
                  <c:v>1.9244000000000001</c:v>
                </c:pt>
                <c:pt idx="8">
                  <c:v>2.5642</c:v>
                </c:pt>
                <c:pt idx="9">
                  <c:v>3.2930999999999999</c:v>
                </c:pt>
                <c:pt idx="10">
                  <c:v>4.0999689999999998</c:v>
                </c:pt>
                <c:pt idx="11">
                  <c:v>4.9710999999999999</c:v>
                </c:pt>
                <c:pt idx="12">
                  <c:v>5.9145200000000004</c:v>
                </c:pt>
                <c:pt idx="13">
                  <c:v>6.9374000000000002</c:v>
                </c:pt>
                <c:pt idx="14">
                  <c:v>8.0344999999999995</c:v>
                </c:pt>
                <c:pt idx="15">
                  <c:v>9.1950000000000003</c:v>
                </c:pt>
                <c:pt idx="16">
                  <c:v>10.398300000000001</c:v>
                </c:pt>
                <c:pt idx="17">
                  <c:v>11.6713</c:v>
                </c:pt>
                <c:pt idx="18">
                  <c:v>12.9818</c:v>
                </c:pt>
                <c:pt idx="19">
                  <c:v>14.347</c:v>
                </c:pt>
                <c:pt idx="20">
                  <c:v>15.71637</c:v>
                </c:pt>
                <c:pt idx="21">
                  <c:v>17.0779</c:v>
                </c:pt>
                <c:pt idx="22">
                  <c:v>18.461300000000001</c:v>
                </c:pt>
                <c:pt idx="23">
                  <c:v>19.870699999999999</c:v>
                </c:pt>
                <c:pt idx="24">
                  <c:v>21.302600000000002</c:v>
                </c:pt>
                <c:pt idx="25">
                  <c:v>22.731300000000001</c:v>
                </c:pt>
                <c:pt idx="26">
                  <c:v>24.172899999999998</c:v>
                </c:pt>
                <c:pt idx="27">
                  <c:v>25.618099999999998</c:v>
                </c:pt>
                <c:pt idx="28">
                  <c:v>27.061199999999999</c:v>
                </c:pt>
                <c:pt idx="29">
                  <c:v>28.492899999999999</c:v>
                </c:pt>
                <c:pt idx="30">
                  <c:v>29.924199999999999</c:v>
                </c:pt>
                <c:pt idx="31">
                  <c:v>31.341799999999999</c:v>
                </c:pt>
                <c:pt idx="32">
                  <c:v>32.741636</c:v>
                </c:pt>
                <c:pt idx="33">
                  <c:v>34.143000000000001</c:v>
                </c:pt>
                <c:pt idx="34">
                  <c:v>35.521500000000003</c:v>
                </c:pt>
                <c:pt idx="35">
                  <c:v>36.878100000000003</c:v>
                </c:pt>
                <c:pt idx="36">
                  <c:v>38.212200000000003</c:v>
                </c:pt>
                <c:pt idx="37">
                  <c:v>39.532400000000003</c:v>
                </c:pt>
                <c:pt idx="38">
                  <c:v>40.812600000000003</c:v>
                </c:pt>
                <c:pt idx="39">
                  <c:v>42.031500000000001</c:v>
                </c:pt>
                <c:pt idx="40">
                  <c:v>43.202669999999998</c:v>
                </c:pt>
                <c:pt idx="41">
                  <c:v>44.357399999999998</c:v>
                </c:pt>
                <c:pt idx="42">
                  <c:v>45.476599999999998</c:v>
                </c:pt>
                <c:pt idx="43">
                  <c:v>46.560600000000001</c:v>
                </c:pt>
                <c:pt idx="44">
                  <c:v>47.642600000000002</c:v>
                </c:pt>
                <c:pt idx="45">
                  <c:v>48.7226</c:v>
                </c:pt>
                <c:pt idx="46">
                  <c:v>49.788400000000003</c:v>
                </c:pt>
                <c:pt idx="47">
                  <c:v>50.851799999999997</c:v>
                </c:pt>
                <c:pt idx="48">
                  <c:v>51.892499999999998</c:v>
                </c:pt>
                <c:pt idx="49">
                  <c:v>52.908499999999997</c:v>
                </c:pt>
                <c:pt idx="50">
                  <c:v>53.9069</c:v>
                </c:pt>
                <c:pt idx="51">
                  <c:v>54.875500000000002</c:v>
                </c:pt>
                <c:pt idx="52">
                  <c:v>55.834800000000001</c:v>
                </c:pt>
                <c:pt idx="53">
                  <c:v>56.7896</c:v>
                </c:pt>
                <c:pt idx="54">
                  <c:v>57.7241</c:v>
                </c:pt>
                <c:pt idx="55">
                  <c:v>58.635399999999997</c:v>
                </c:pt>
                <c:pt idx="56">
                  <c:v>59.506399999999999</c:v>
                </c:pt>
                <c:pt idx="57">
                  <c:v>60.381100000000004</c:v>
                </c:pt>
                <c:pt idx="58">
                  <c:v>61.2318</c:v>
                </c:pt>
                <c:pt idx="59">
                  <c:v>62.060899999999997</c:v>
                </c:pt>
                <c:pt idx="60">
                  <c:v>62.866087</c:v>
                </c:pt>
                <c:pt idx="61">
                  <c:v>63.660299999999999</c:v>
                </c:pt>
                <c:pt idx="62">
                  <c:v>64.439300000000003</c:v>
                </c:pt>
                <c:pt idx="63">
                  <c:v>65.201700000000002</c:v>
                </c:pt>
                <c:pt idx="64">
                  <c:v>65.9499</c:v>
                </c:pt>
                <c:pt idx="65">
                  <c:v>66.681100000000001</c:v>
                </c:pt>
                <c:pt idx="66">
                  <c:v>67.387900000000002</c:v>
                </c:pt>
                <c:pt idx="67">
                  <c:v>68.077799999999996</c:v>
                </c:pt>
                <c:pt idx="68">
                  <c:v>68.752799999999993</c:v>
                </c:pt>
                <c:pt idx="69">
                  <c:v>69.416499999999999</c:v>
                </c:pt>
                <c:pt idx="70">
                  <c:v>70.073599999999999</c:v>
                </c:pt>
                <c:pt idx="71">
                  <c:v>70.715699999999998</c:v>
                </c:pt>
                <c:pt idx="72">
                  <c:v>71.343199999999996</c:v>
                </c:pt>
                <c:pt idx="73">
                  <c:v>71.950100000000006</c:v>
                </c:pt>
                <c:pt idx="74">
                  <c:v>72.5398</c:v>
                </c:pt>
                <c:pt idx="75">
                  <c:v>73.109300000000005</c:v>
                </c:pt>
                <c:pt idx="76">
                  <c:v>73.664400000000001</c:v>
                </c:pt>
                <c:pt idx="77">
                  <c:v>74.210999999999999</c:v>
                </c:pt>
                <c:pt idx="78">
                  <c:v>74.754099999999994</c:v>
                </c:pt>
                <c:pt idx="79">
                  <c:v>75.291700000000006</c:v>
                </c:pt>
                <c:pt idx="80">
                  <c:v>75.823524000000006</c:v>
                </c:pt>
                <c:pt idx="81">
                  <c:v>76.353999999999999</c:v>
                </c:pt>
                <c:pt idx="82">
                  <c:v>76.873900000000006</c:v>
                </c:pt>
                <c:pt idx="83">
                  <c:v>77.371700000000004</c:v>
                </c:pt>
                <c:pt idx="84">
                  <c:v>77.844200000000001</c:v>
                </c:pt>
                <c:pt idx="85">
                  <c:v>78.310699999999997</c:v>
                </c:pt>
                <c:pt idx="86">
                  <c:v>78.77</c:v>
                </c:pt>
                <c:pt idx="87">
                  <c:v>79.238100000000003</c:v>
                </c:pt>
                <c:pt idx="88">
                  <c:v>79.692800000000005</c:v>
                </c:pt>
                <c:pt idx="89">
                  <c:v>80.145200000000003</c:v>
                </c:pt>
                <c:pt idx="90">
                  <c:v>80.581100000000006</c:v>
                </c:pt>
                <c:pt idx="91">
                  <c:v>81.004199999999997</c:v>
                </c:pt>
                <c:pt idx="92">
                  <c:v>81.414500000000004</c:v>
                </c:pt>
                <c:pt idx="93">
                  <c:v>81.812600000000003</c:v>
                </c:pt>
                <c:pt idx="94">
                  <c:v>82.200900000000004</c:v>
                </c:pt>
                <c:pt idx="95">
                  <c:v>82.575500000000005</c:v>
                </c:pt>
                <c:pt idx="96">
                  <c:v>82.941599999999994</c:v>
                </c:pt>
                <c:pt idx="97">
                  <c:v>83.3018</c:v>
                </c:pt>
                <c:pt idx="98">
                  <c:v>83.647900000000007</c:v>
                </c:pt>
                <c:pt idx="99">
                  <c:v>83.990399999999994</c:v>
                </c:pt>
                <c:pt idx="100">
                  <c:v>84.324200000000005</c:v>
                </c:pt>
                <c:pt idx="101">
                  <c:v>84.644099999999995</c:v>
                </c:pt>
                <c:pt idx="102">
                  <c:v>84.959299999999999</c:v>
                </c:pt>
                <c:pt idx="103">
                  <c:v>85.259399999999999</c:v>
                </c:pt>
                <c:pt idx="104">
                  <c:v>85.5595</c:v>
                </c:pt>
                <c:pt idx="105">
                  <c:v>85.848299999999995</c:v>
                </c:pt>
                <c:pt idx="106">
                  <c:v>86.126800000000003</c:v>
                </c:pt>
                <c:pt idx="107">
                  <c:v>86.398399999999995</c:v>
                </c:pt>
                <c:pt idx="108">
                  <c:v>86.661900000000003</c:v>
                </c:pt>
                <c:pt idx="109">
                  <c:v>86.926100000000005</c:v>
                </c:pt>
                <c:pt idx="110">
                  <c:v>87.184600000000003</c:v>
                </c:pt>
                <c:pt idx="111">
                  <c:v>87.431399999999996</c:v>
                </c:pt>
                <c:pt idx="112">
                  <c:v>87.680499999999995</c:v>
                </c:pt>
                <c:pt idx="113">
                  <c:v>87.921300000000002</c:v>
                </c:pt>
                <c:pt idx="114">
                  <c:v>88.160700000000006</c:v>
                </c:pt>
                <c:pt idx="115">
                  <c:v>88.393100000000004</c:v>
                </c:pt>
                <c:pt idx="116">
                  <c:v>88.623800000000003</c:v>
                </c:pt>
                <c:pt idx="117">
                  <c:v>88.848100000000002</c:v>
                </c:pt>
                <c:pt idx="118">
                  <c:v>89.06</c:v>
                </c:pt>
                <c:pt idx="119">
                  <c:v>89.266599999999997</c:v>
                </c:pt>
                <c:pt idx="120">
                  <c:v>89.461269000000001</c:v>
                </c:pt>
                <c:pt idx="121">
                  <c:v>89.647000000000006</c:v>
                </c:pt>
                <c:pt idx="122">
                  <c:v>89.822599999999994</c:v>
                </c:pt>
                <c:pt idx="123">
                  <c:v>89.990600000000001</c:v>
                </c:pt>
                <c:pt idx="124">
                  <c:v>90.152100000000004</c:v>
                </c:pt>
                <c:pt idx="125">
                  <c:v>90.312899999999999</c:v>
                </c:pt>
                <c:pt idx="126">
                  <c:v>90.479500000000002</c:v>
                </c:pt>
                <c:pt idx="127">
                  <c:v>90.642700000000005</c:v>
                </c:pt>
                <c:pt idx="128">
                  <c:v>90.807000000000002</c:v>
                </c:pt>
                <c:pt idx="129">
                  <c:v>90.9649</c:v>
                </c:pt>
                <c:pt idx="130">
                  <c:v>91.112399999999994</c:v>
                </c:pt>
                <c:pt idx="131">
                  <c:v>91.257300000000001</c:v>
                </c:pt>
                <c:pt idx="132">
                  <c:v>91.395899999999997</c:v>
                </c:pt>
                <c:pt idx="133">
                  <c:v>91.531000000000006</c:v>
                </c:pt>
                <c:pt idx="134">
                  <c:v>91.663200000000003</c:v>
                </c:pt>
                <c:pt idx="135">
                  <c:v>91.788499999999999</c:v>
                </c:pt>
                <c:pt idx="136">
                  <c:v>91.914500000000004</c:v>
                </c:pt>
                <c:pt idx="137">
                  <c:v>92.032799999999995</c:v>
                </c:pt>
                <c:pt idx="138">
                  <c:v>92.153899999999993</c:v>
                </c:pt>
                <c:pt idx="139">
                  <c:v>92.279399999999995</c:v>
                </c:pt>
                <c:pt idx="140">
                  <c:v>92.405299999999997</c:v>
                </c:pt>
                <c:pt idx="141">
                  <c:v>92.5291</c:v>
                </c:pt>
                <c:pt idx="142">
                  <c:v>92.653300000000002</c:v>
                </c:pt>
                <c:pt idx="143">
                  <c:v>92.778899999999993</c:v>
                </c:pt>
                <c:pt idx="144">
                  <c:v>92.905799999999999</c:v>
                </c:pt>
                <c:pt idx="145">
                  <c:v>93.0304</c:v>
                </c:pt>
                <c:pt idx="146">
                  <c:v>93.154600000000002</c:v>
                </c:pt>
                <c:pt idx="147">
                  <c:v>93.277299999999997</c:v>
                </c:pt>
                <c:pt idx="148">
                  <c:v>93.399699999999996</c:v>
                </c:pt>
                <c:pt idx="149">
                  <c:v>93.519599999999997</c:v>
                </c:pt>
                <c:pt idx="150">
                  <c:v>93.638199999999998</c:v>
                </c:pt>
                <c:pt idx="151">
                  <c:v>93.756</c:v>
                </c:pt>
                <c:pt idx="152">
                  <c:v>93.875600000000006</c:v>
                </c:pt>
                <c:pt idx="153">
                  <c:v>93.983900000000006</c:v>
                </c:pt>
                <c:pt idx="154">
                  <c:v>94.090999999999994</c:v>
                </c:pt>
                <c:pt idx="155">
                  <c:v>94.191000000000003</c:v>
                </c:pt>
                <c:pt idx="156">
                  <c:v>94.287300000000002</c:v>
                </c:pt>
                <c:pt idx="157">
                  <c:v>94.380899999999997</c:v>
                </c:pt>
                <c:pt idx="158">
                  <c:v>94.474400000000003</c:v>
                </c:pt>
                <c:pt idx="159">
                  <c:v>94.567099999999996</c:v>
                </c:pt>
                <c:pt idx="160">
                  <c:v>94.6601</c:v>
                </c:pt>
                <c:pt idx="161">
                  <c:v>94.747600000000006</c:v>
                </c:pt>
                <c:pt idx="162">
                  <c:v>94.832599999999999</c:v>
                </c:pt>
                <c:pt idx="163">
                  <c:v>94.914299999999997</c:v>
                </c:pt>
                <c:pt idx="164">
                  <c:v>94.993700000000004</c:v>
                </c:pt>
                <c:pt idx="165">
                  <c:v>95.073499999999996</c:v>
                </c:pt>
                <c:pt idx="166">
                  <c:v>95.147300000000001</c:v>
                </c:pt>
                <c:pt idx="167">
                  <c:v>95.223699999999994</c:v>
                </c:pt>
                <c:pt idx="168">
                  <c:v>95.296499999999995</c:v>
                </c:pt>
                <c:pt idx="169">
                  <c:v>95.368200000000002</c:v>
                </c:pt>
                <c:pt idx="170">
                  <c:v>95.439099999999996</c:v>
                </c:pt>
                <c:pt idx="171">
                  <c:v>95.508300000000006</c:v>
                </c:pt>
                <c:pt idx="172">
                  <c:v>95.579099999999997</c:v>
                </c:pt>
                <c:pt idx="173">
                  <c:v>95.648899999999998</c:v>
                </c:pt>
                <c:pt idx="174">
                  <c:v>95.7226</c:v>
                </c:pt>
                <c:pt idx="175">
                  <c:v>95.792500000000004</c:v>
                </c:pt>
                <c:pt idx="176">
                  <c:v>95.860299999999995</c:v>
                </c:pt>
                <c:pt idx="177">
                  <c:v>95.928899999999999</c:v>
                </c:pt>
                <c:pt idx="178">
                  <c:v>95.998999999999995</c:v>
                </c:pt>
                <c:pt idx="179">
                  <c:v>96.072199999999995</c:v>
                </c:pt>
                <c:pt idx="180">
                  <c:v>96.142600000000002</c:v>
                </c:pt>
                <c:pt idx="181">
                  <c:v>96.211500000000001</c:v>
                </c:pt>
                <c:pt idx="182">
                  <c:v>96.277000000000001</c:v>
                </c:pt>
                <c:pt idx="183">
                  <c:v>96.342500000000001</c:v>
                </c:pt>
                <c:pt idx="184">
                  <c:v>96.4101</c:v>
                </c:pt>
                <c:pt idx="185">
                  <c:v>96.474100000000007</c:v>
                </c:pt>
                <c:pt idx="186">
                  <c:v>96.533699999999996</c:v>
                </c:pt>
                <c:pt idx="187">
                  <c:v>96.594800000000006</c:v>
                </c:pt>
                <c:pt idx="188">
                  <c:v>96.657300000000006</c:v>
                </c:pt>
                <c:pt idx="189">
                  <c:v>96.720299999999995</c:v>
                </c:pt>
                <c:pt idx="190">
                  <c:v>96.783100000000005</c:v>
                </c:pt>
                <c:pt idx="191">
                  <c:v>96.843800000000002</c:v>
                </c:pt>
                <c:pt idx="192">
                  <c:v>96.898200000000003</c:v>
                </c:pt>
                <c:pt idx="193">
                  <c:v>96.950999999999993</c:v>
                </c:pt>
                <c:pt idx="194">
                  <c:v>97.002499999999998</c:v>
                </c:pt>
                <c:pt idx="195">
                  <c:v>97.051900000000003</c:v>
                </c:pt>
                <c:pt idx="196">
                  <c:v>97.0989</c:v>
                </c:pt>
                <c:pt idx="197">
                  <c:v>97.143799999999999</c:v>
                </c:pt>
                <c:pt idx="198">
                  <c:v>97.189400000000006</c:v>
                </c:pt>
                <c:pt idx="199">
                  <c:v>97.236000000000004</c:v>
                </c:pt>
                <c:pt idx="200">
                  <c:v>97.283631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614-41C8-94A8-CD293C618DCB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5.3199999999999997E-2</c:v>
                </c:pt>
                <c:pt idx="2">
                  <c:v>0.26300000000000001</c:v>
                </c:pt>
                <c:pt idx="3">
                  <c:v>0.68910000000000005</c:v>
                </c:pt>
                <c:pt idx="4">
                  <c:v>1.357413</c:v>
                </c:pt>
                <c:pt idx="5">
                  <c:v>2.2246999999999999</c:v>
                </c:pt>
                <c:pt idx="6">
                  <c:v>3.2635000000000001</c:v>
                </c:pt>
                <c:pt idx="7">
                  <c:v>4.4297000000000004</c:v>
                </c:pt>
                <c:pt idx="8">
                  <c:v>5.7634999999999996</c:v>
                </c:pt>
                <c:pt idx="9">
                  <c:v>7.2583000000000002</c:v>
                </c:pt>
                <c:pt idx="10">
                  <c:v>8.9639369999999996</c:v>
                </c:pt>
                <c:pt idx="11">
                  <c:v>10.788399999999999</c:v>
                </c:pt>
                <c:pt idx="12">
                  <c:v>12.725089000000001</c:v>
                </c:pt>
                <c:pt idx="13">
                  <c:v>14.7745</c:v>
                </c:pt>
                <c:pt idx="14">
                  <c:v>16.941700000000001</c:v>
                </c:pt>
                <c:pt idx="15">
                  <c:v>19.186800000000002</c:v>
                </c:pt>
                <c:pt idx="16">
                  <c:v>21.5047</c:v>
                </c:pt>
                <c:pt idx="17">
                  <c:v>23.9377</c:v>
                </c:pt>
                <c:pt idx="18">
                  <c:v>26.420300000000001</c:v>
                </c:pt>
                <c:pt idx="19">
                  <c:v>28.959700000000002</c:v>
                </c:pt>
                <c:pt idx="20">
                  <c:v>31.5</c:v>
                </c:pt>
                <c:pt idx="21">
                  <c:v>34.029000000000003</c:v>
                </c:pt>
                <c:pt idx="22">
                  <c:v>36.557499999999997</c:v>
                </c:pt>
                <c:pt idx="23">
                  <c:v>39.136200000000002</c:v>
                </c:pt>
                <c:pt idx="24">
                  <c:v>41.712000000000003</c:v>
                </c:pt>
                <c:pt idx="25">
                  <c:v>44.269599999999997</c:v>
                </c:pt>
                <c:pt idx="26">
                  <c:v>46.817</c:v>
                </c:pt>
                <c:pt idx="27">
                  <c:v>49.361499999999999</c:v>
                </c:pt>
                <c:pt idx="28">
                  <c:v>51.8536</c:v>
                </c:pt>
                <c:pt idx="29">
                  <c:v>54.283700000000003</c:v>
                </c:pt>
                <c:pt idx="30">
                  <c:v>56.731999999999999</c:v>
                </c:pt>
                <c:pt idx="31">
                  <c:v>59.128599999999999</c:v>
                </c:pt>
                <c:pt idx="32">
                  <c:v>61.473394999999996</c:v>
                </c:pt>
                <c:pt idx="33">
                  <c:v>63.750700000000002</c:v>
                </c:pt>
                <c:pt idx="34">
                  <c:v>65.925799999999995</c:v>
                </c:pt>
                <c:pt idx="35">
                  <c:v>68.012799999999999</c:v>
                </c:pt>
                <c:pt idx="36">
                  <c:v>69.986999999999995</c:v>
                </c:pt>
                <c:pt idx="37">
                  <c:v>71.934100000000001</c:v>
                </c:pt>
                <c:pt idx="38">
                  <c:v>73.807000000000002</c:v>
                </c:pt>
                <c:pt idx="39">
                  <c:v>75.494799999999998</c:v>
                </c:pt>
                <c:pt idx="40">
                  <c:v>77.010167999999993</c:v>
                </c:pt>
                <c:pt idx="41">
                  <c:v>78.434799999999996</c:v>
                </c:pt>
                <c:pt idx="42">
                  <c:v>79.699399999999997</c:v>
                </c:pt>
                <c:pt idx="43">
                  <c:v>80.8613</c:v>
                </c:pt>
                <c:pt idx="44">
                  <c:v>82.009399999999999</c:v>
                </c:pt>
                <c:pt idx="45">
                  <c:v>83.104200000000006</c:v>
                </c:pt>
                <c:pt idx="46">
                  <c:v>84.1357</c:v>
                </c:pt>
                <c:pt idx="47">
                  <c:v>85.128600000000006</c:v>
                </c:pt>
                <c:pt idx="48">
                  <c:v>86.078500000000005</c:v>
                </c:pt>
                <c:pt idx="49">
                  <c:v>86.966499999999996</c:v>
                </c:pt>
                <c:pt idx="50">
                  <c:v>87.737899999999996</c:v>
                </c:pt>
                <c:pt idx="51">
                  <c:v>88.486099999999993</c:v>
                </c:pt>
                <c:pt idx="52">
                  <c:v>89.182500000000005</c:v>
                </c:pt>
                <c:pt idx="53">
                  <c:v>89.859899999999996</c:v>
                </c:pt>
                <c:pt idx="54">
                  <c:v>90.514099999999999</c:v>
                </c:pt>
                <c:pt idx="55">
                  <c:v>91.0852</c:v>
                </c:pt>
                <c:pt idx="56">
                  <c:v>91.586399999999998</c:v>
                </c:pt>
                <c:pt idx="57">
                  <c:v>92.078100000000006</c:v>
                </c:pt>
                <c:pt idx="58">
                  <c:v>92.543499999999995</c:v>
                </c:pt>
                <c:pt idx="59">
                  <c:v>92.984999999999999</c:v>
                </c:pt>
                <c:pt idx="60">
                  <c:v>93.407936000000007</c:v>
                </c:pt>
                <c:pt idx="61">
                  <c:v>93.781899999999993</c:v>
                </c:pt>
                <c:pt idx="62">
                  <c:v>94.106099999999998</c:v>
                </c:pt>
                <c:pt idx="63">
                  <c:v>94.403999999999996</c:v>
                </c:pt>
                <c:pt idx="64">
                  <c:v>94.690299999999993</c:v>
                </c:pt>
                <c:pt idx="65">
                  <c:v>94.952500000000001</c:v>
                </c:pt>
                <c:pt idx="66">
                  <c:v>95.181299999999993</c:v>
                </c:pt>
                <c:pt idx="67">
                  <c:v>95.395399999999995</c:v>
                </c:pt>
                <c:pt idx="68">
                  <c:v>95.595799999999997</c:v>
                </c:pt>
                <c:pt idx="69">
                  <c:v>95.808499999999995</c:v>
                </c:pt>
                <c:pt idx="70">
                  <c:v>95.992800000000003</c:v>
                </c:pt>
                <c:pt idx="71">
                  <c:v>96.151600000000002</c:v>
                </c:pt>
                <c:pt idx="72">
                  <c:v>96.282700000000006</c:v>
                </c:pt>
                <c:pt idx="73">
                  <c:v>96.407300000000006</c:v>
                </c:pt>
                <c:pt idx="74">
                  <c:v>96.517300000000006</c:v>
                </c:pt>
                <c:pt idx="75">
                  <c:v>96.628699999999995</c:v>
                </c:pt>
                <c:pt idx="76">
                  <c:v>96.744500000000002</c:v>
                </c:pt>
                <c:pt idx="77">
                  <c:v>96.868399999999994</c:v>
                </c:pt>
                <c:pt idx="78">
                  <c:v>96.987099999999998</c:v>
                </c:pt>
                <c:pt idx="79">
                  <c:v>97.108800000000002</c:v>
                </c:pt>
                <c:pt idx="80">
                  <c:v>97.246549999999999</c:v>
                </c:pt>
                <c:pt idx="81">
                  <c:v>97.353499999999997</c:v>
                </c:pt>
                <c:pt idx="82">
                  <c:v>97.479500000000002</c:v>
                </c:pt>
                <c:pt idx="83">
                  <c:v>97.586600000000004</c:v>
                </c:pt>
                <c:pt idx="84">
                  <c:v>97.677000000000007</c:v>
                </c:pt>
                <c:pt idx="85">
                  <c:v>97.771699999999996</c:v>
                </c:pt>
                <c:pt idx="86">
                  <c:v>97.856899999999996</c:v>
                </c:pt>
                <c:pt idx="87">
                  <c:v>97.942800000000005</c:v>
                </c:pt>
                <c:pt idx="88">
                  <c:v>98.021500000000003</c:v>
                </c:pt>
                <c:pt idx="89">
                  <c:v>98.097999999999999</c:v>
                </c:pt>
                <c:pt idx="90">
                  <c:v>98.173000000000002</c:v>
                </c:pt>
                <c:pt idx="91">
                  <c:v>98.250299999999996</c:v>
                </c:pt>
                <c:pt idx="92">
                  <c:v>98.330399999999997</c:v>
                </c:pt>
                <c:pt idx="93">
                  <c:v>98.409099999999995</c:v>
                </c:pt>
                <c:pt idx="94">
                  <c:v>98.499399999999994</c:v>
                </c:pt>
                <c:pt idx="95">
                  <c:v>98.591899999999995</c:v>
                </c:pt>
                <c:pt idx="96">
                  <c:v>98.680800000000005</c:v>
                </c:pt>
                <c:pt idx="97">
                  <c:v>98.776200000000003</c:v>
                </c:pt>
                <c:pt idx="98">
                  <c:v>98.870199999999997</c:v>
                </c:pt>
                <c:pt idx="99">
                  <c:v>98.960499999999996</c:v>
                </c:pt>
                <c:pt idx="100">
                  <c:v>99.0428</c:v>
                </c:pt>
                <c:pt idx="101">
                  <c:v>99.122900000000001</c:v>
                </c:pt>
                <c:pt idx="102">
                  <c:v>99.195099999999996</c:v>
                </c:pt>
                <c:pt idx="103">
                  <c:v>99.262799999999999</c:v>
                </c:pt>
                <c:pt idx="104">
                  <c:v>99.321100000000001</c:v>
                </c:pt>
                <c:pt idx="105">
                  <c:v>99.377899999999997</c:v>
                </c:pt>
                <c:pt idx="106">
                  <c:v>99.425200000000004</c:v>
                </c:pt>
                <c:pt idx="107">
                  <c:v>99.446399999999997</c:v>
                </c:pt>
                <c:pt idx="108">
                  <c:v>99.4529</c:v>
                </c:pt>
                <c:pt idx="109">
                  <c:v>99.455100000000002</c:v>
                </c:pt>
                <c:pt idx="110">
                  <c:v>99.455799999999996</c:v>
                </c:pt>
                <c:pt idx="111">
                  <c:v>99.455799999999996</c:v>
                </c:pt>
                <c:pt idx="112">
                  <c:v>99.455799999999996</c:v>
                </c:pt>
                <c:pt idx="113">
                  <c:v>99.457999999999998</c:v>
                </c:pt>
                <c:pt idx="114">
                  <c:v>99.461699999999993</c:v>
                </c:pt>
                <c:pt idx="115">
                  <c:v>99.468199999999996</c:v>
                </c:pt>
                <c:pt idx="116">
                  <c:v>99.479200000000006</c:v>
                </c:pt>
                <c:pt idx="117">
                  <c:v>99.495900000000006</c:v>
                </c:pt>
                <c:pt idx="118">
                  <c:v>99.518500000000003</c:v>
                </c:pt>
                <c:pt idx="119">
                  <c:v>99.542500000000004</c:v>
                </c:pt>
                <c:pt idx="120">
                  <c:v>99.565685999999999</c:v>
                </c:pt>
                <c:pt idx="121">
                  <c:v>99.593500000000006</c:v>
                </c:pt>
                <c:pt idx="122">
                  <c:v>99.622699999999995</c:v>
                </c:pt>
                <c:pt idx="123">
                  <c:v>99.649600000000007</c:v>
                </c:pt>
                <c:pt idx="124">
                  <c:v>99.673699999999997</c:v>
                </c:pt>
                <c:pt idx="125">
                  <c:v>99.691100000000006</c:v>
                </c:pt>
                <c:pt idx="126">
                  <c:v>99.703500000000005</c:v>
                </c:pt>
                <c:pt idx="127">
                  <c:v>99.714399999999998</c:v>
                </c:pt>
                <c:pt idx="128">
                  <c:v>99.721000000000004</c:v>
                </c:pt>
                <c:pt idx="129">
                  <c:v>99.724599999999995</c:v>
                </c:pt>
                <c:pt idx="130">
                  <c:v>99.730500000000006</c:v>
                </c:pt>
                <c:pt idx="131">
                  <c:v>99.735600000000005</c:v>
                </c:pt>
                <c:pt idx="132">
                  <c:v>99.740700000000004</c:v>
                </c:pt>
                <c:pt idx="133">
                  <c:v>99.747200000000007</c:v>
                </c:pt>
                <c:pt idx="134">
                  <c:v>99.757400000000004</c:v>
                </c:pt>
                <c:pt idx="135">
                  <c:v>99.766900000000007</c:v>
                </c:pt>
                <c:pt idx="136">
                  <c:v>99.778499999999994</c:v>
                </c:pt>
                <c:pt idx="137">
                  <c:v>99.788700000000006</c:v>
                </c:pt>
                <c:pt idx="138">
                  <c:v>99.801900000000003</c:v>
                </c:pt>
                <c:pt idx="139">
                  <c:v>99.815700000000007</c:v>
                </c:pt>
                <c:pt idx="140">
                  <c:v>99.832499999999996</c:v>
                </c:pt>
                <c:pt idx="141">
                  <c:v>99.850700000000003</c:v>
                </c:pt>
                <c:pt idx="142">
                  <c:v>99.868899999999996</c:v>
                </c:pt>
                <c:pt idx="143">
                  <c:v>99.889300000000006</c:v>
                </c:pt>
                <c:pt idx="144">
                  <c:v>99.907499999999999</c:v>
                </c:pt>
                <c:pt idx="145">
                  <c:v>99.926400000000001</c:v>
                </c:pt>
                <c:pt idx="146">
                  <c:v>99.941699999999997</c:v>
                </c:pt>
                <c:pt idx="147">
                  <c:v>99.957700000000003</c:v>
                </c:pt>
                <c:pt idx="148">
                  <c:v>99.970100000000002</c:v>
                </c:pt>
                <c:pt idx="149">
                  <c:v>99.978899999999996</c:v>
                </c:pt>
                <c:pt idx="150">
                  <c:v>99.985399999999998</c:v>
                </c:pt>
                <c:pt idx="151">
                  <c:v>99.989800000000002</c:v>
                </c:pt>
                <c:pt idx="152">
                  <c:v>99.994200000000006</c:v>
                </c:pt>
                <c:pt idx="153">
                  <c:v>99.997100000000003</c:v>
                </c:pt>
                <c:pt idx="154">
                  <c:v>99.999300000000005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614-41C8-94A8-CD293C618DCB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1.85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72.531491000000003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614-41C8-94A8-CD293C618DCB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2.5551379999999999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85.007512000000006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614-41C8-94A8-CD293C618DCB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77.010167999999993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614-41C8-94A8-CD293C618DCB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1.1714990000000001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85.010448999999994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614-41C8-94A8-CD293C618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8.3000000000000001E-3</c:v>
                </c:pt>
                <c:pt idx="2">
                  <c:v>3.9699999999999999E-2</c:v>
                </c:pt>
                <c:pt idx="3">
                  <c:v>0.10979999999999999</c:v>
                </c:pt>
                <c:pt idx="4">
                  <c:v>0.219439</c:v>
                </c:pt>
                <c:pt idx="5">
                  <c:v>0.38419999999999999</c:v>
                </c:pt>
                <c:pt idx="6">
                  <c:v>0.58989999999999998</c:v>
                </c:pt>
                <c:pt idx="7">
                  <c:v>0.8508</c:v>
                </c:pt>
                <c:pt idx="8">
                  <c:v>1.1759999999999999</c:v>
                </c:pt>
                <c:pt idx="9">
                  <c:v>1.5541</c:v>
                </c:pt>
                <c:pt idx="10">
                  <c:v>1.9907280000000001</c:v>
                </c:pt>
                <c:pt idx="11">
                  <c:v>2.4965000000000002</c:v>
                </c:pt>
                <c:pt idx="12">
                  <c:v>3.0330110000000001</c:v>
                </c:pt>
                <c:pt idx="13">
                  <c:v>3.6246999999999998</c:v>
                </c:pt>
                <c:pt idx="14">
                  <c:v>4.2469000000000001</c:v>
                </c:pt>
                <c:pt idx="15">
                  <c:v>4.8956999999999997</c:v>
                </c:pt>
                <c:pt idx="16">
                  <c:v>5.5769000000000002</c:v>
                </c:pt>
                <c:pt idx="17">
                  <c:v>6.2950999999999997</c:v>
                </c:pt>
                <c:pt idx="18">
                  <c:v>7.0655999999999999</c:v>
                </c:pt>
                <c:pt idx="19">
                  <c:v>7.8567999999999998</c:v>
                </c:pt>
                <c:pt idx="20">
                  <c:v>8.6664320000000004</c:v>
                </c:pt>
                <c:pt idx="21">
                  <c:v>9.5043000000000006</c:v>
                </c:pt>
                <c:pt idx="22">
                  <c:v>10.3689</c:v>
                </c:pt>
                <c:pt idx="23">
                  <c:v>11.255699999999999</c:v>
                </c:pt>
                <c:pt idx="24">
                  <c:v>12.14</c:v>
                </c:pt>
                <c:pt idx="25">
                  <c:v>13.06</c:v>
                </c:pt>
                <c:pt idx="26">
                  <c:v>13.9815</c:v>
                </c:pt>
                <c:pt idx="27">
                  <c:v>14.9346</c:v>
                </c:pt>
                <c:pt idx="28">
                  <c:v>15.8941</c:v>
                </c:pt>
                <c:pt idx="29">
                  <c:v>16.855899999999998</c:v>
                </c:pt>
                <c:pt idx="30">
                  <c:v>17.8217</c:v>
                </c:pt>
                <c:pt idx="31">
                  <c:v>18.802099999999999</c:v>
                </c:pt>
                <c:pt idx="32">
                  <c:v>19.789679</c:v>
                </c:pt>
                <c:pt idx="33">
                  <c:v>20.782800000000002</c:v>
                </c:pt>
                <c:pt idx="34">
                  <c:v>21.775200000000002</c:v>
                </c:pt>
                <c:pt idx="35">
                  <c:v>22.767499999999998</c:v>
                </c:pt>
                <c:pt idx="36">
                  <c:v>23.747199999999999</c:v>
                </c:pt>
                <c:pt idx="37">
                  <c:v>24.727499999999999</c:v>
                </c:pt>
                <c:pt idx="38">
                  <c:v>25.6997</c:v>
                </c:pt>
                <c:pt idx="39">
                  <c:v>26.659199999999998</c:v>
                </c:pt>
                <c:pt idx="40">
                  <c:v>27.617991</c:v>
                </c:pt>
                <c:pt idx="41">
                  <c:v>28.576000000000001</c:v>
                </c:pt>
                <c:pt idx="42">
                  <c:v>29.5336</c:v>
                </c:pt>
                <c:pt idx="43">
                  <c:v>30.471399999999999</c:v>
                </c:pt>
                <c:pt idx="44">
                  <c:v>31.3933</c:v>
                </c:pt>
                <c:pt idx="45">
                  <c:v>32.318600000000004</c:v>
                </c:pt>
                <c:pt idx="46">
                  <c:v>33.248199999999997</c:v>
                </c:pt>
                <c:pt idx="47">
                  <c:v>34.179200000000002</c:v>
                </c:pt>
                <c:pt idx="48">
                  <c:v>35.118699999999997</c:v>
                </c:pt>
                <c:pt idx="49">
                  <c:v>36.054499999999997</c:v>
                </c:pt>
                <c:pt idx="50">
                  <c:v>36.9893</c:v>
                </c:pt>
                <c:pt idx="51">
                  <c:v>37.921199999999999</c:v>
                </c:pt>
                <c:pt idx="52">
                  <c:v>38.831400000000002</c:v>
                </c:pt>
                <c:pt idx="53">
                  <c:v>39.722299999999997</c:v>
                </c:pt>
                <c:pt idx="54">
                  <c:v>40.611800000000002</c:v>
                </c:pt>
                <c:pt idx="55">
                  <c:v>41.484499999999997</c:v>
                </c:pt>
                <c:pt idx="56">
                  <c:v>42.341999999999999</c:v>
                </c:pt>
                <c:pt idx="57">
                  <c:v>43.175600000000003</c:v>
                </c:pt>
                <c:pt idx="58">
                  <c:v>44.006399999999999</c:v>
                </c:pt>
                <c:pt idx="59">
                  <c:v>44.8155</c:v>
                </c:pt>
                <c:pt idx="60">
                  <c:v>45.596696999999999</c:v>
                </c:pt>
                <c:pt idx="61">
                  <c:v>46.392800000000001</c:v>
                </c:pt>
                <c:pt idx="62">
                  <c:v>47.169600000000003</c:v>
                </c:pt>
                <c:pt idx="63">
                  <c:v>47.939399999999999</c:v>
                </c:pt>
                <c:pt idx="64">
                  <c:v>48.696899999999999</c:v>
                </c:pt>
                <c:pt idx="65">
                  <c:v>49.430599999999998</c:v>
                </c:pt>
                <c:pt idx="66">
                  <c:v>50.1479</c:v>
                </c:pt>
                <c:pt idx="67">
                  <c:v>50.860799999999998</c:v>
                </c:pt>
                <c:pt idx="68">
                  <c:v>51.573500000000003</c:v>
                </c:pt>
                <c:pt idx="69">
                  <c:v>52.2836</c:v>
                </c:pt>
                <c:pt idx="70">
                  <c:v>52.984400000000001</c:v>
                </c:pt>
                <c:pt idx="71">
                  <c:v>53.660499999999999</c:v>
                </c:pt>
                <c:pt idx="72">
                  <c:v>54.300199999999997</c:v>
                </c:pt>
                <c:pt idx="73">
                  <c:v>54.927100000000003</c:v>
                </c:pt>
                <c:pt idx="74">
                  <c:v>55.546300000000002</c:v>
                </c:pt>
                <c:pt idx="75">
                  <c:v>56.152299999999997</c:v>
                </c:pt>
                <c:pt idx="76">
                  <c:v>56.7483</c:v>
                </c:pt>
                <c:pt idx="77">
                  <c:v>57.3476</c:v>
                </c:pt>
                <c:pt idx="78">
                  <c:v>57.947699999999998</c:v>
                </c:pt>
                <c:pt idx="79">
                  <c:v>58.53</c:v>
                </c:pt>
                <c:pt idx="80">
                  <c:v>59.085538999999997</c:v>
                </c:pt>
                <c:pt idx="81">
                  <c:v>59.657499999999999</c:v>
                </c:pt>
                <c:pt idx="82">
                  <c:v>60.203099999999999</c:v>
                </c:pt>
                <c:pt idx="83">
                  <c:v>60.744900000000001</c:v>
                </c:pt>
                <c:pt idx="84">
                  <c:v>61.2849</c:v>
                </c:pt>
                <c:pt idx="85">
                  <c:v>61.819400000000002</c:v>
                </c:pt>
                <c:pt idx="86">
                  <c:v>62.338999999999999</c:v>
                </c:pt>
                <c:pt idx="87">
                  <c:v>62.8476</c:v>
                </c:pt>
                <c:pt idx="88">
                  <c:v>63.3523</c:v>
                </c:pt>
                <c:pt idx="89">
                  <c:v>63.858899999999998</c:v>
                </c:pt>
                <c:pt idx="90">
                  <c:v>64.364500000000007</c:v>
                </c:pt>
                <c:pt idx="91">
                  <c:v>64.861599999999996</c:v>
                </c:pt>
                <c:pt idx="92">
                  <c:v>65.351200000000006</c:v>
                </c:pt>
                <c:pt idx="93">
                  <c:v>65.835899999999995</c:v>
                </c:pt>
                <c:pt idx="94">
                  <c:v>66.323800000000006</c:v>
                </c:pt>
                <c:pt idx="95">
                  <c:v>66.798199999999994</c:v>
                </c:pt>
                <c:pt idx="96">
                  <c:v>67.27</c:v>
                </c:pt>
                <c:pt idx="97">
                  <c:v>67.730500000000006</c:v>
                </c:pt>
                <c:pt idx="98">
                  <c:v>68.173900000000003</c:v>
                </c:pt>
                <c:pt idx="99">
                  <c:v>68.617000000000004</c:v>
                </c:pt>
                <c:pt idx="100">
                  <c:v>69.030699999999996</c:v>
                </c:pt>
                <c:pt idx="101">
                  <c:v>69.435599999999994</c:v>
                </c:pt>
                <c:pt idx="102">
                  <c:v>69.821700000000007</c:v>
                </c:pt>
                <c:pt idx="103">
                  <c:v>70.196899999999999</c:v>
                </c:pt>
                <c:pt idx="104">
                  <c:v>70.560699999999997</c:v>
                </c:pt>
                <c:pt idx="105">
                  <c:v>70.910600000000002</c:v>
                </c:pt>
                <c:pt idx="106">
                  <c:v>71.251400000000004</c:v>
                </c:pt>
                <c:pt idx="107">
                  <c:v>71.576099999999997</c:v>
                </c:pt>
                <c:pt idx="108">
                  <c:v>71.900599999999997</c:v>
                </c:pt>
                <c:pt idx="109">
                  <c:v>72.2119</c:v>
                </c:pt>
                <c:pt idx="110">
                  <c:v>72.510999999999996</c:v>
                </c:pt>
                <c:pt idx="111">
                  <c:v>72.816199999999995</c:v>
                </c:pt>
                <c:pt idx="112">
                  <c:v>73.110500000000002</c:v>
                </c:pt>
                <c:pt idx="113">
                  <c:v>73.400300000000001</c:v>
                </c:pt>
                <c:pt idx="114">
                  <c:v>73.6785</c:v>
                </c:pt>
                <c:pt idx="115">
                  <c:v>73.953299999999999</c:v>
                </c:pt>
                <c:pt idx="116">
                  <c:v>74.228999999999999</c:v>
                </c:pt>
                <c:pt idx="117">
                  <c:v>74.498999999999995</c:v>
                </c:pt>
                <c:pt idx="118">
                  <c:v>74.773899999999998</c:v>
                </c:pt>
                <c:pt idx="119">
                  <c:v>75.048500000000004</c:v>
                </c:pt>
                <c:pt idx="120">
                  <c:v>75.322987999999995</c:v>
                </c:pt>
                <c:pt idx="121">
                  <c:v>75.598799999999997</c:v>
                </c:pt>
                <c:pt idx="122">
                  <c:v>75.869900000000001</c:v>
                </c:pt>
                <c:pt idx="123">
                  <c:v>76.14</c:v>
                </c:pt>
                <c:pt idx="124">
                  <c:v>76.404600000000002</c:v>
                </c:pt>
                <c:pt idx="125">
                  <c:v>76.672399999999996</c:v>
                </c:pt>
                <c:pt idx="126">
                  <c:v>76.939499999999995</c:v>
                </c:pt>
                <c:pt idx="127">
                  <c:v>77.203999999999994</c:v>
                </c:pt>
                <c:pt idx="128">
                  <c:v>77.466300000000004</c:v>
                </c:pt>
                <c:pt idx="129">
                  <c:v>77.729100000000003</c:v>
                </c:pt>
                <c:pt idx="130">
                  <c:v>77.994600000000005</c:v>
                </c:pt>
                <c:pt idx="131">
                  <c:v>78.264200000000002</c:v>
                </c:pt>
                <c:pt idx="132">
                  <c:v>78.529399999999995</c:v>
                </c:pt>
                <c:pt idx="133">
                  <c:v>78.795100000000005</c:v>
                </c:pt>
                <c:pt idx="134">
                  <c:v>79.057900000000004</c:v>
                </c:pt>
                <c:pt idx="135">
                  <c:v>79.318100000000001</c:v>
                </c:pt>
                <c:pt idx="136">
                  <c:v>79.574399999999997</c:v>
                </c:pt>
                <c:pt idx="137">
                  <c:v>79.829899999999995</c:v>
                </c:pt>
                <c:pt idx="138">
                  <c:v>80.0852</c:v>
                </c:pt>
                <c:pt idx="139">
                  <c:v>80.3339</c:v>
                </c:pt>
                <c:pt idx="140">
                  <c:v>80.582499999999996</c:v>
                </c:pt>
                <c:pt idx="141">
                  <c:v>80.829099999999997</c:v>
                </c:pt>
                <c:pt idx="142">
                  <c:v>81.063199999999995</c:v>
                </c:pt>
                <c:pt idx="143">
                  <c:v>81.287700000000001</c:v>
                </c:pt>
                <c:pt idx="144">
                  <c:v>81.507599999999996</c:v>
                </c:pt>
                <c:pt idx="145">
                  <c:v>81.722099999999998</c:v>
                </c:pt>
                <c:pt idx="146">
                  <c:v>81.929199999999994</c:v>
                </c:pt>
                <c:pt idx="147">
                  <c:v>82.134900000000002</c:v>
                </c:pt>
                <c:pt idx="148">
                  <c:v>82.336299999999994</c:v>
                </c:pt>
                <c:pt idx="149">
                  <c:v>82.539699999999996</c:v>
                </c:pt>
                <c:pt idx="150">
                  <c:v>82.747500000000002</c:v>
                </c:pt>
                <c:pt idx="151">
                  <c:v>82.960099999999997</c:v>
                </c:pt>
                <c:pt idx="152">
                  <c:v>83.172300000000007</c:v>
                </c:pt>
                <c:pt idx="153">
                  <c:v>83.382900000000006</c:v>
                </c:pt>
                <c:pt idx="154">
                  <c:v>83.592399999999998</c:v>
                </c:pt>
                <c:pt idx="155">
                  <c:v>83.803600000000003</c:v>
                </c:pt>
                <c:pt idx="156">
                  <c:v>84.005300000000005</c:v>
                </c:pt>
                <c:pt idx="157">
                  <c:v>84.204800000000006</c:v>
                </c:pt>
                <c:pt idx="158">
                  <c:v>84.401799999999994</c:v>
                </c:pt>
                <c:pt idx="159">
                  <c:v>84.604399999999998</c:v>
                </c:pt>
                <c:pt idx="160">
                  <c:v>84.806799999999996</c:v>
                </c:pt>
                <c:pt idx="161">
                  <c:v>85.006900000000002</c:v>
                </c:pt>
                <c:pt idx="162">
                  <c:v>85.204999999999998</c:v>
                </c:pt>
                <c:pt idx="163">
                  <c:v>85.399900000000002</c:v>
                </c:pt>
                <c:pt idx="164">
                  <c:v>85.592200000000005</c:v>
                </c:pt>
                <c:pt idx="165">
                  <c:v>85.779600000000002</c:v>
                </c:pt>
                <c:pt idx="166">
                  <c:v>85.960400000000007</c:v>
                </c:pt>
                <c:pt idx="167">
                  <c:v>86.136700000000005</c:v>
                </c:pt>
                <c:pt idx="168">
                  <c:v>86.3108</c:v>
                </c:pt>
                <c:pt idx="169">
                  <c:v>86.480599999999995</c:v>
                </c:pt>
                <c:pt idx="170">
                  <c:v>86.643600000000006</c:v>
                </c:pt>
                <c:pt idx="171">
                  <c:v>86.800899999999999</c:v>
                </c:pt>
                <c:pt idx="172">
                  <c:v>86.954400000000007</c:v>
                </c:pt>
                <c:pt idx="173">
                  <c:v>87.097300000000004</c:v>
                </c:pt>
                <c:pt idx="174">
                  <c:v>87.237899999999996</c:v>
                </c:pt>
                <c:pt idx="175">
                  <c:v>87.375900000000001</c:v>
                </c:pt>
                <c:pt idx="176">
                  <c:v>87.512600000000006</c:v>
                </c:pt>
                <c:pt idx="177">
                  <c:v>87.652699999999996</c:v>
                </c:pt>
                <c:pt idx="178">
                  <c:v>87.796300000000002</c:v>
                </c:pt>
                <c:pt idx="179">
                  <c:v>87.944199999999995</c:v>
                </c:pt>
                <c:pt idx="180">
                  <c:v>88.096699999999998</c:v>
                </c:pt>
                <c:pt idx="181">
                  <c:v>88.249099999999999</c:v>
                </c:pt>
                <c:pt idx="182">
                  <c:v>88.400199999999998</c:v>
                </c:pt>
                <c:pt idx="183">
                  <c:v>88.549199999999999</c:v>
                </c:pt>
                <c:pt idx="184">
                  <c:v>88.693700000000007</c:v>
                </c:pt>
                <c:pt idx="185">
                  <c:v>88.837999999999994</c:v>
                </c:pt>
                <c:pt idx="186">
                  <c:v>88.978999999999999</c:v>
                </c:pt>
                <c:pt idx="187">
                  <c:v>89.121300000000005</c:v>
                </c:pt>
                <c:pt idx="188">
                  <c:v>89.255099999999999</c:v>
                </c:pt>
                <c:pt idx="189">
                  <c:v>89.382800000000003</c:v>
                </c:pt>
                <c:pt idx="190">
                  <c:v>89.506</c:v>
                </c:pt>
                <c:pt idx="191">
                  <c:v>89.626499999999993</c:v>
                </c:pt>
                <c:pt idx="192">
                  <c:v>89.739099999999993</c:v>
                </c:pt>
                <c:pt idx="193">
                  <c:v>89.847300000000004</c:v>
                </c:pt>
                <c:pt idx="194">
                  <c:v>89.951700000000002</c:v>
                </c:pt>
                <c:pt idx="195">
                  <c:v>90.052899999999994</c:v>
                </c:pt>
                <c:pt idx="196">
                  <c:v>90.155199999999994</c:v>
                </c:pt>
                <c:pt idx="197">
                  <c:v>90.249899999999997</c:v>
                </c:pt>
                <c:pt idx="198">
                  <c:v>90.346900000000005</c:v>
                </c:pt>
                <c:pt idx="199">
                  <c:v>90.441900000000004</c:v>
                </c:pt>
                <c:pt idx="200">
                  <c:v>90.532006999999993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BDF-402D-84E6-458C9FFB34EB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3.8600000000000002E-2</c:v>
                </c:pt>
                <c:pt idx="2">
                  <c:v>0.16539999999999999</c:v>
                </c:pt>
                <c:pt idx="3">
                  <c:v>0.4269</c:v>
                </c:pt>
                <c:pt idx="4">
                  <c:v>0.78825199999999995</c:v>
                </c:pt>
                <c:pt idx="5">
                  <c:v>1.3127</c:v>
                </c:pt>
                <c:pt idx="6">
                  <c:v>1.9435</c:v>
                </c:pt>
                <c:pt idx="7">
                  <c:v>2.7229999999999999</c:v>
                </c:pt>
                <c:pt idx="8">
                  <c:v>3.6779999999999999</c:v>
                </c:pt>
                <c:pt idx="9">
                  <c:v>4.7488000000000001</c:v>
                </c:pt>
                <c:pt idx="10">
                  <c:v>5.9713089999999998</c:v>
                </c:pt>
                <c:pt idx="11">
                  <c:v>7.4004000000000003</c:v>
                </c:pt>
                <c:pt idx="12">
                  <c:v>8.8047579999999996</c:v>
                </c:pt>
                <c:pt idx="13">
                  <c:v>10.395</c:v>
                </c:pt>
                <c:pt idx="14">
                  <c:v>11.972899999999999</c:v>
                </c:pt>
                <c:pt idx="15">
                  <c:v>13.635899999999999</c:v>
                </c:pt>
                <c:pt idx="16">
                  <c:v>15.3813</c:v>
                </c:pt>
                <c:pt idx="17">
                  <c:v>17.2148</c:v>
                </c:pt>
                <c:pt idx="18">
                  <c:v>19.186</c:v>
                </c:pt>
                <c:pt idx="19">
                  <c:v>21.206</c:v>
                </c:pt>
                <c:pt idx="20">
                  <c:v>23.200973999999999</c:v>
                </c:pt>
                <c:pt idx="21">
                  <c:v>25.270099999999999</c:v>
                </c:pt>
                <c:pt idx="22">
                  <c:v>27.370899999999999</c:v>
                </c:pt>
                <c:pt idx="23">
                  <c:v>29.547599999999999</c:v>
                </c:pt>
                <c:pt idx="24">
                  <c:v>31.717600000000001</c:v>
                </c:pt>
                <c:pt idx="25">
                  <c:v>33.956200000000003</c:v>
                </c:pt>
                <c:pt idx="26">
                  <c:v>36.193199999999997</c:v>
                </c:pt>
                <c:pt idx="27">
                  <c:v>38.473300000000002</c:v>
                </c:pt>
                <c:pt idx="28">
                  <c:v>40.741700000000002</c:v>
                </c:pt>
                <c:pt idx="29">
                  <c:v>42.912500000000001</c:v>
                </c:pt>
                <c:pt idx="30">
                  <c:v>45.074599999999997</c:v>
                </c:pt>
                <c:pt idx="31">
                  <c:v>47.234400000000001</c:v>
                </c:pt>
                <c:pt idx="32">
                  <c:v>49.343454000000001</c:v>
                </c:pt>
                <c:pt idx="33">
                  <c:v>51.474800000000002</c:v>
                </c:pt>
                <c:pt idx="34">
                  <c:v>53.538499999999999</c:v>
                </c:pt>
                <c:pt idx="35">
                  <c:v>55.535200000000003</c:v>
                </c:pt>
                <c:pt idx="36">
                  <c:v>57.4131</c:v>
                </c:pt>
                <c:pt idx="37">
                  <c:v>59.248100000000001</c:v>
                </c:pt>
                <c:pt idx="38">
                  <c:v>60.9833</c:v>
                </c:pt>
                <c:pt idx="39">
                  <c:v>62.701000000000001</c:v>
                </c:pt>
                <c:pt idx="40">
                  <c:v>64.353734000000003</c:v>
                </c:pt>
                <c:pt idx="41">
                  <c:v>66.000100000000003</c:v>
                </c:pt>
                <c:pt idx="42">
                  <c:v>67.554699999999997</c:v>
                </c:pt>
                <c:pt idx="43">
                  <c:v>69.063299999999998</c:v>
                </c:pt>
                <c:pt idx="44">
                  <c:v>70.501199999999997</c:v>
                </c:pt>
                <c:pt idx="45">
                  <c:v>71.903499999999994</c:v>
                </c:pt>
                <c:pt idx="46">
                  <c:v>73.3553</c:v>
                </c:pt>
                <c:pt idx="47">
                  <c:v>74.799899999999994</c:v>
                </c:pt>
                <c:pt idx="48">
                  <c:v>76.200699999999998</c:v>
                </c:pt>
                <c:pt idx="49">
                  <c:v>77.503200000000007</c:v>
                </c:pt>
                <c:pt idx="50">
                  <c:v>78.810699999999997</c:v>
                </c:pt>
                <c:pt idx="51">
                  <c:v>80.083299999999994</c:v>
                </c:pt>
                <c:pt idx="52">
                  <c:v>81.286000000000001</c:v>
                </c:pt>
                <c:pt idx="53">
                  <c:v>82.4071</c:v>
                </c:pt>
                <c:pt idx="54">
                  <c:v>83.540599999999998</c:v>
                </c:pt>
                <c:pt idx="55">
                  <c:v>84.630300000000005</c:v>
                </c:pt>
                <c:pt idx="56">
                  <c:v>85.640699999999995</c:v>
                </c:pt>
                <c:pt idx="57">
                  <c:v>86.5899</c:v>
                </c:pt>
                <c:pt idx="58">
                  <c:v>87.493899999999996</c:v>
                </c:pt>
                <c:pt idx="59">
                  <c:v>88.346900000000005</c:v>
                </c:pt>
                <c:pt idx="60">
                  <c:v>89.181613999999996</c:v>
                </c:pt>
                <c:pt idx="61">
                  <c:v>90.000500000000002</c:v>
                </c:pt>
                <c:pt idx="62">
                  <c:v>90.727500000000006</c:v>
                </c:pt>
                <c:pt idx="63">
                  <c:v>91.410799999999995</c:v>
                </c:pt>
                <c:pt idx="64">
                  <c:v>92.039500000000004</c:v>
                </c:pt>
                <c:pt idx="65">
                  <c:v>92.649900000000002</c:v>
                </c:pt>
                <c:pt idx="66">
                  <c:v>93.221699999999998</c:v>
                </c:pt>
                <c:pt idx="67">
                  <c:v>93.781199999999998</c:v>
                </c:pt>
                <c:pt idx="68">
                  <c:v>94.280199999999994</c:v>
                </c:pt>
                <c:pt idx="69">
                  <c:v>94.743499999999997</c:v>
                </c:pt>
                <c:pt idx="70">
                  <c:v>95.166700000000006</c:v>
                </c:pt>
                <c:pt idx="71">
                  <c:v>95.541899999999998</c:v>
                </c:pt>
                <c:pt idx="72">
                  <c:v>95.863100000000003</c:v>
                </c:pt>
                <c:pt idx="73">
                  <c:v>96.146500000000003</c:v>
                </c:pt>
                <c:pt idx="74">
                  <c:v>96.401399999999995</c:v>
                </c:pt>
                <c:pt idx="75">
                  <c:v>96.628699999999995</c:v>
                </c:pt>
                <c:pt idx="76">
                  <c:v>96.84</c:v>
                </c:pt>
                <c:pt idx="77">
                  <c:v>97.039599999999993</c:v>
                </c:pt>
                <c:pt idx="78">
                  <c:v>97.241299999999995</c:v>
                </c:pt>
                <c:pt idx="79">
                  <c:v>97.417599999999993</c:v>
                </c:pt>
                <c:pt idx="80">
                  <c:v>97.580161000000004</c:v>
                </c:pt>
                <c:pt idx="81">
                  <c:v>97.739599999999996</c:v>
                </c:pt>
                <c:pt idx="82">
                  <c:v>97.881699999999995</c:v>
                </c:pt>
                <c:pt idx="83">
                  <c:v>98.002600000000001</c:v>
                </c:pt>
                <c:pt idx="84">
                  <c:v>98.124200000000002</c:v>
                </c:pt>
                <c:pt idx="85">
                  <c:v>98.253900000000002</c:v>
                </c:pt>
                <c:pt idx="86">
                  <c:v>98.377700000000004</c:v>
                </c:pt>
                <c:pt idx="87">
                  <c:v>98.505899999999997</c:v>
                </c:pt>
                <c:pt idx="88">
                  <c:v>98.617400000000004</c:v>
                </c:pt>
                <c:pt idx="89">
                  <c:v>98.722999999999999</c:v>
                </c:pt>
                <c:pt idx="90">
                  <c:v>98.819900000000004</c:v>
                </c:pt>
                <c:pt idx="91">
                  <c:v>98.916799999999995</c:v>
                </c:pt>
                <c:pt idx="92">
                  <c:v>99.022400000000005</c:v>
                </c:pt>
                <c:pt idx="93">
                  <c:v>99.120800000000003</c:v>
                </c:pt>
                <c:pt idx="94">
                  <c:v>99.220600000000005</c:v>
                </c:pt>
                <c:pt idx="95">
                  <c:v>99.305099999999996</c:v>
                </c:pt>
                <c:pt idx="96">
                  <c:v>99.382300000000001</c:v>
                </c:pt>
                <c:pt idx="97">
                  <c:v>99.4602</c:v>
                </c:pt>
                <c:pt idx="98">
                  <c:v>99.525000000000006</c:v>
                </c:pt>
                <c:pt idx="99">
                  <c:v>99.590599999999995</c:v>
                </c:pt>
                <c:pt idx="100">
                  <c:v>99.645200000000003</c:v>
                </c:pt>
                <c:pt idx="101">
                  <c:v>99.6999</c:v>
                </c:pt>
                <c:pt idx="102">
                  <c:v>99.756699999999995</c:v>
                </c:pt>
                <c:pt idx="103">
                  <c:v>99.805499999999995</c:v>
                </c:pt>
                <c:pt idx="104">
                  <c:v>99.848500000000001</c:v>
                </c:pt>
                <c:pt idx="105">
                  <c:v>99.885599999999997</c:v>
                </c:pt>
                <c:pt idx="106">
                  <c:v>99.917000000000002</c:v>
                </c:pt>
                <c:pt idx="107">
                  <c:v>99.941699999999997</c:v>
                </c:pt>
                <c:pt idx="108">
                  <c:v>99.956999999999994</c:v>
                </c:pt>
                <c:pt idx="109">
                  <c:v>99.969399999999993</c:v>
                </c:pt>
                <c:pt idx="110">
                  <c:v>99.975200000000001</c:v>
                </c:pt>
                <c:pt idx="111">
                  <c:v>99.981800000000007</c:v>
                </c:pt>
                <c:pt idx="112">
                  <c:v>99.9876</c:v>
                </c:pt>
                <c:pt idx="113">
                  <c:v>99.994200000000006</c:v>
                </c:pt>
                <c:pt idx="114">
                  <c:v>99.998500000000007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BDF-402D-84E6-458C9FFB34EB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2.625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70.900745999999998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BDF-402D-84E6-458C9FFB34EB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4.0249360000000003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85.005995999999996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ABDF-402D-84E6-458C9FFB34EB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1.2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76.172663999999997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ABDF-402D-84E6-458C9FFB34EB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1.384593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85.028115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ABDF-402D-84E6-458C9FFB34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0.26477899999999999</c:v>
                </c:pt>
                <c:pt idx="1">
                  <c:v>1.1779999999999999</c:v>
                </c:pt>
                <c:pt idx="2">
                  <c:v>2.7827999999999999</c:v>
                </c:pt>
                <c:pt idx="3">
                  <c:v>4.7812000000000001</c:v>
                </c:pt>
                <c:pt idx="4">
                  <c:v>7.0259980000000004</c:v>
                </c:pt>
                <c:pt idx="5">
                  <c:v>9.5130999999999997</c:v>
                </c:pt>
                <c:pt idx="6">
                  <c:v>12.1602</c:v>
                </c:pt>
                <c:pt idx="7">
                  <c:v>14.946099999999999</c:v>
                </c:pt>
                <c:pt idx="8">
                  <c:v>17.818200000000001</c:v>
                </c:pt>
                <c:pt idx="9">
                  <c:v>20.735099999999999</c:v>
                </c:pt>
                <c:pt idx="10">
                  <c:v>23.652605000000001</c:v>
                </c:pt>
                <c:pt idx="11">
                  <c:v>26.598299999999998</c:v>
                </c:pt>
                <c:pt idx="12">
                  <c:v>29.486789999999999</c:v>
                </c:pt>
                <c:pt idx="13">
                  <c:v>32.320300000000003</c:v>
                </c:pt>
                <c:pt idx="14">
                  <c:v>35.0426</c:v>
                </c:pt>
                <c:pt idx="15">
                  <c:v>37.710700000000003</c:v>
                </c:pt>
                <c:pt idx="16">
                  <c:v>40.294199999999996</c:v>
                </c:pt>
                <c:pt idx="17">
                  <c:v>42.789400000000001</c:v>
                </c:pt>
                <c:pt idx="18">
                  <c:v>45.176600000000001</c:v>
                </c:pt>
                <c:pt idx="19">
                  <c:v>47.502800000000001</c:v>
                </c:pt>
                <c:pt idx="20">
                  <c:v>49.758285999999998</c:v>
                </c:pt>
                <c:pt idx="21">
                  <c:v>51.933500000000002</c:v>
                </c:pt>
                <c:pt idx="22">
                  <c:v>54.014600000000002</c:v>
                </c:pt>
                <c:pt idx="23">
                  <c:v>56.002400000000002</c:v>
                </c:pt>
                <c:pt idx="24">
                  <c:v>57.9086</c:v>
                </c:pt>
                <c:pt idx="25">
                  <c:v>59.708500000000001</c:v>
                </c:pt>
                <c:pt idx="26">
                  <c:v>61.404000000000003</c:v>
                </c:pt>
                <c:pt idx="27">
                  <c:v>62.9863</c:v>
                </c:pt>
                <c:pt idx="28">
                  <c:v>64.474900000000005</c:v>
                </c:pt>
                <c:pt idx="29">
                  <c:v>65.892099999999999</c:v>
                </c:pt>
                <c:pt idx="30">
                  <c:v>67.227900000000005</c:v>
                </c:pt>
                <c:pt idx="31">
                  <c:v>68.483900000000006</c:v>
                </c:pt>
                <c:pt idx="32">
                  <c:v>69.648202999999995</c:v>
                </c:pt>
                <c:pt idx="33">
                  <c:v>70.805400000000006</c:v>
                </c:pt>
                <c:pt idx="34">
                  <c:v>71.892600000000002</c:v>
                </c:pt>
                <c:pt idx="35">
                  <c:v>72.917900000000003</c:v>
                </c:pt>
                <c:pt idx="36">
                  <c:v>73.893000000000001</c:v>
                </c:pt>
                <c:pt idx="37">
                  <c:v>74.818200000000004</c:v>
                </c:pt>
                <c:pt idx="38">
                  <c:v>75.692300000000003</c:v>
                </c:pt>
                <c:pt idx="39">
                  <c:v>76.518799999999999</c:v>
                </c:pt>
                <c:pt idx="40">
                  <c:v>77.280000999999999</c:v>
                </c:pt>
                <c:pt idx="41">
                  <c:v>78.046800000000005</c:v>
                </c:pt>
                <c:pt idx="42">
                  <c:v>78.771000000000001</c:v>
                </c:pt>
                <c:pt idx="43">
                  <c:v>79.457300000000004</c:v>
                </c:pt>
                <c:pt idx="44">
                  <c:v>80.096800000000002</c:v>
                </c:pt>
                <c:pt idx="45">
                  <c:v>80.689099999999996</c:v>
                </c:pt>
                <c:pt idx="46">
                  <c:v>81.245599999999996</c:v>
                </c:pt>
                <c:pt idx="47">
                  <c:v>81.773700000000005</c:v>
                </c:pt>
                <c:pt idx="48">
                  <c:v>82.268299999999996</c:v>
                </c:pt>
                <c:pt idx="49">
                  <c:v>82.738299999999995</c:v>
                </c:pt>
                <c:pt idx="50">
                  <c:v>83.193200000000004</c:v>
                </c:pt>
                <c:pt idx="51">
                  <c:v>83.625100000000003</c:v>
                </c:pt>
                <c:pt idx="52">
                  <c:v>84.037599999999998</c:v>
                </c:pt>
                <c:pt idx="53">
                  <c:v>84.436199999999999</c:v>
                </c:pt>
                <c:pt idx="54">
                  <c:v>84.824600000000004</c:v>
                </c:pt>
                <c:pt idx="55">
                  <c:v>85.200199999999995</c:v>
                </c:pt>
                <c:pt idx="56">
                  <c:v>85.567400000000006</c:v>
                </c:pt>
                <c:pt idx="57">
                  <c:v>85.907499999999999</c:v>
                </c:pt>
                <c:pt idx="58">
                  <c:v>86.230500000000006</c:v>
                </c:pt>
                <c:pt idx="59">
                  <c:v>86.533000000000001</c:v>
                </c:pt>
                <c:pt idx="60">
                  <c:v>86.814815999999993</c:v>
                </c:pt>
                <c:pt idx="61">
                  <c:v>87.1006</c:v>
                </c:pt>
                <c:pt idx="62">
                  <c:v>87.363100000000003</c:v>
                </c:pt>
                <c:pt idx="63">
                  <c:v>87.614500000000007</c:v>
                </c:pt>
                <c:pt idx="64">
                  <c:v>87.856499999999997</c:v>
                </c:pt>
                <c:pt idx="65">
                  <c:v>88.093000000000004</c:v>
                </c:pt>
                <c:pt idx="66">
                  <c:v>88.321399999999997</c:v>
                </c:pt>
                <c:pt idx="67">
                  <c:v>88.546899999999994</c:v>
                </c:pt>
                <c:pt idx="68">
                  <c:v>88.763099999999994</c:v>
                </c:pt>
                <c:pt idx="69">
                  <c:v>88.969700000000003</c:v>
                </c:pt>
                <c:pt idx="70">
                  <c:v>89.175299999999993</c:v>
                </c:pt>
                <c:pt idx="71">
                  <c:v>89.372200000000007</c:v>
                </c:pt>
                <c:pt idx="72">
                  <c:v>89.565200000000004</c:v>
                </c:pt>
                <c:pt idx="73">
                  <c:v>89.742900000000006</c:v>
                </c:pt>
                <c:pt idx="74">
                  <c:v>89.917599999999993</c:v>
                </c:pt>
                <c:pt idx="75">
                  <c:v>90.091300000000004</c:v>
                </c:pt>
                <c:pt idx="76">
                  <c:v>90.264300000000006</c:v>
                </c:pt>
                <c:pt idx="77">
                  <c:v>90.431700000000006</c:v>
                </c:pt>
                <c:pt idx="78">
                  <c:v>90.592699999999994</c:v>
                </c:pt>
                <c:pt idx="79">
                  <c:v>90.748500000000007</c:v>
                </c:pt>
                <c:pt idx="80">
                  <c:v>90.894569000000004</c:v>
                </c:pt>
                <c:pt idx="81">
                  <c:v>91.050899999999999</c:v>
                </c:pt>
                <c:pt idx="82">
                  <c:v>91.196299999999994</c:v>
                </c:pt>
                <c:pt idx="83">
                  <c:v>91.333699999999993</c:v>
                </c:pt>
                <c:pt idx="84">
                  <c:v>91.471999999999994</c:v>
                </c:pt>
                <c:pt idx="85">
                  <c:v>91.603999999999999</c:v>
                </c:pt>
                <c:pt idx="86">
                  <c:v>91.735399999999998</c:v>
                </c:pt>
                <c:pt idx="87">
                  <c:v>91.859399999999994</c:v>
                </c:pt>
                <c:pt idx="88">
                  <c:v>91.978499999999997</c:v>
                </c:pt>
                <c:pt idx="89">
                  <c:v>92.102599999999995</c:v>
                </c:pt>
                <c:pt idx="90">
                  <c:v>92.220100000000002</c:v>
                </c:pt>
                <c:pt idx="91">
                  <c:v>92.338399999999993</c:v>
                </c:pt>
                <c:pt idx="92">
                  <c:v>92.4542</c:v>
                </c:pt>
                <c:pt idx="93">
                  <c:v>92.565700000000007</c:v>
                </c:pt>
                <c:pt idx="94">
                  <c:v>92.668099999999995</c:v>
                </c:pt>
                <c:pt idx="95">
                  <c:v>92.771000000000001</c:v>
                </c:pt>
                <c:pt idx="96">
                  <c:v>92.871300000000005</c:v>
                </c:pt>
                <c:pt idx="97">
                  <c:v>92.968900000000005</c:v>
                </c:pt>
                <c:pt idx="98">
                  <c:v>93.068100000000001</c:v>
                </c:pt>
                <c:pt idx="99">
                  <c:v>93.1631</c:v>
                </c:pt>
                <c:pt idx="100">
                  <c:v>93.254199999999997</c:v>
                </c:pt>
                <c:pt idx="101">
                  <c:v>93.341200000000001</c:v>
                </c:pt>
                <c:pt idx="102">
                  <c:v>93.425700000000006</c:v>
                </c:pt>
                <c:pt idx="103">
                  <c:v>93.512200000000007</c:v>
                </c:pt>
                <c:pt idx="104">
                  <c:v>93.599900000000005</c:v>
                </c:pt>
                <c:pt idx="105">
                  <c:v>93.688400000000001</c:v>
                </c:pt>
                <c:pt idx="106">
                  <c:v>93.779700000000005</c:v>
                </c:pt>
                <c:pt idx="107">
                  <c:v>93.864000000000004</c:v>
                </c:pt>
                <c:pt idx="108">
                  <c:v>93.952299999999994</c:v>
                </c:pt>
                <c:pt idx="109">
                  <c:v>94.039100000000005</c:v>
                </c:pt>
                <c:pt idx="110">
                  <c:v>94.126499999999993</c:v>
                </c:pt>
                <c:pt idx="111">
                  <c:v>94.214600000000004</c:v>
                </c:pt>
                <c:pt idx="112">
                  <c:v>94.306200000000004</c:v>
                </c:pt>
                <c:pt idx="113">
                  <c:v>94.398600000000002</c:v>
                </c:pt>
                <c:pt idx="114">
                  <c:v>94.485399999999998</c:v>
                </c:pt>
                <c:pt idx="115">
                  <c:v>94.575699999999998</c:v>
                </c:pt>
                <c:pt idx="116">
                  <c:v>94.664699999999996</c:v>
                </c:pt>
                <c:pt idx="117">
                  <c:v>94.750600000000006</c:v>
                </c:pt>
                <c:pt idx="118">
                  <c:v>94.835400000000007</c:v>
                </c:pt>
                <c:pt idx="119">
                  <c:v>94.918700000000001</c:v>
                </c:pt>
                <c:pt idx="120">
                  <c:v>95.001727000000002</c:v>
                </c:pt>
                <c:pt idx="121">
                  <c:v>95.083299999999994</c:v>
                </c:pt>
                <c:pt idx="122">
                  <c:v>95.163700000000006</c:v>
                </c:pt>
                <c:pt idx="123">
                  <c:v>95.244799999999998</c:v>
                </c:pt>
                <c:pt idx="124">
                  <c:v>95.323899999999995</c:v>
                </c:pt>
                <c:pt idx="125">
                  <c:v>95.396699999999996</c:v>
                </c:pt>
                <c:pt idx="126">
                  <c:v>95.460300000000004</c:v>
                </c:pt>
                <c:pt idx="127">
                  <c:v>95.521600000000007</c:v>
                </c:pt>
                <c:pt idx="128">
                  <c:v>95.578500000000005</c:v>
                </c:pt>
                <c:pt idx="129">
                  <c:v>95.636899999999997</c:v>
                </c:pt>
                <c:pt idx="130">
                  <c:v>95.690399999999997</c:v>
                </c:pt>
                <c:pt idx="131">
                  <c:v>95.744399999999999</c:v>
                </c:pt>
                <c:pt idx="132">
                  <c:v>95.797399999999996</c:v>
                </c:pt>
                <c:pt idx="133">
                  <c:v>95.850099999999998</c:v>
                </c:pt>
                <c:pt idx="134">
                  <c:v>95.901700000000005</c:v>
                </c:pt>
                <c:pt idx="135">
                  <c:v>95.951499999999996</c:v>
                </c:pt>
                <c:pt idx="136">
                  <c:v>96.002399999999994</c:v>
                </c:pt>
                <c:pt idx="137">
                  <c:v>96.052300000000002</c:v>
                </c:pt>
                <c:pt idx="138">
                  <c:v>96.104399999999998</c:v>
                </c:pt>
                <c:pt idx="139">
                  <c:v>96.157899999999998</c:v>
                </c:pt>
                <c:pt idx="140">
                  <c:v>96.214100000000002</c:v>
                </c:pt>
                <c:pt idx="141">
                  <c:v>96.272000000000006</c:v>
                </c:pt>
                <c:pt idx="142">
                  <c:v>96.328500000000005</c:v>
                </c:pt>
                <c:pt idx="143">
                  <c:v>96.386399999999995</c:v>
                </c:pt>
                <c:pt idx="144">
                  <c:v>96.443399999999997</c:v>
                </c:pt>
                <c:pt idx="145">
                  <c:v>96.499099999999999</c:v>
                </c:pt>
                <c:pt idx="146">
                  <c:v>96.554299999999998</c:v>
                </c:pt>
                <c:pt idx="147">
                  <c:v>96.610399999999998</c:v>
                </c:pt>
                <c:pt idx="148">
                  <c:v>96.665700000000001</c:v>
                </c:pt>
                <c:pt idx="149">
                  <c:v>96.722800000000007</c:v>
                </c:pt>
                <c:pt idx="150">
                  <c:v>96.7804</c:v>
                </c:pt>
                <c:pt idx="151">
                  <c:v>96.838499999999996</c:v>
                </c:pt>
                <c:pt idx="152">
                  <c:v>96.896000000000001</c:v>
                </c:pt>
                <c:pt idx="153">
                  <c:v>96.950999999999993</c:v>
                </c:pt>
                <c:pt idx="154">
                  <c:v>97.002799999999993</c:v>
                </c:pt>
                <c:pt idx="155">
                  <c:v>97.051699999999997</c:v>
                </c:pt>
                <c:pt idx="156">
                  <c:v>97.102500000000006</c:v>
                </c:pt>
                <c:pt idx="157">
                  <c:v>97.154399999999995</c:v>
                </c:pt>
                <c:pt idx="158">
                  <c:v>97.205299999999994</c:v>
                </c:pt>
                <c:pt idx="159">
                  <c:v>97.254800000000003</c:v>
                </c:pt>
                <c:pt idx="160">
                  <c:v>97.301400000000001</c:v>
                </c:pt>
                <c:pt idx="161">
                  <c:v>97.346699999999998</c:v>
                </c:pt>
                <c:pt idx="162">
                  <c:v>97.389200000000002</c:v>
                </c:pt>
                <c:pt idx="163">
                  <c:v>97.430599999999998</c:v>
                </c:pt>
                <c:pt idx="164">
                  <c:v>97.472099999999998</c:v>
                </c:pt>
                <c:pt idx="165">
                  <c:v>97.509799999999998</c:v>
                </c:pt>
                <c:pt idx="166">
                  <c:v>97.547600000000003</c:v>
                </c:pt>
                <c:pt idx="167">
                  <c:v>97.584800000000001</c:v>
                </c:pt>
                <c:pt idx="168">
                  <c:v>97.620199999999997</c:v>
                </c:pt>
                <c:pt idx="169">
                  <c:v>97.656800000000004</c:v>
                </c:pt>
                <c:pt idx="170">
                  <c:v>97.6952</c:v>
                </c:pt>
                <c:pt idx="171">
                  <c:v>97.730599999999995</c:v>
                </c:pt>
                <c:pt idx="172">
                  <c:v>97.765799999999999</c:v>
                </c:pt>
                <c:pt idx="173">
                  <c:v>97.798500000000004</c:v>
                </c:pt>
                <c:pt idx="174">
                  <c:v>97.831800000000001</c:v>
                </c:pt>
                <c:pt idx="175">
                  <c:v>97.862899999999996</c:v>
                </c:pt>
                <c:pt idx="176">
                  <c:v>97.890500000000003</c:v>
                </c:pt>
                <c:pt idx="177">
                  <c:v>97.919200000000004</c:v>
                </c:pt>
                <c:pt idx="178">
                  <c:v>97.948899999999995</c:v>
                </c:pt>
                <c:pt idx="179">
                  <c:v>97.979699999999994</c:v>
                </c:pt>
                <c:pt idx="180">
                  <c:v>98.008799999999994</c:v>
                </c:pt>
                <c:pt idx="181">
                  <c:v>98.0381</c:v>
                </c:pt>
                <c:pt idx="182">
                  <c:v>98.067300000000003</c:v>
                </c:pt>
                <c:pt idx="183">
                  <c:v>98.094999999999999</c:v>
                </c:pt>
                <c:pt idx="184">
                  <c:v>98.126300000000001</c:v>
                </c:pt>
                <c:pt idx="185">
                  <c:v>98.156000000000006</c:v>
                </c:pt>
                <c:pt idx="186">
                  <c:v>98.186700000000002</c:v>
                </c:pt>
                <c:pt idx="187">
                  <c:v>98.218000000000004</c:v>
                </c:pt>
                <c:pt idx="188">
                  <c:v>98.248099999999994</c:v>
                </c:pt>
                <c:pt idx="189">
                  <c:v>98.276799999999994</c:v>
                </c:pt>
                <c:pt idx="190">
                  <c:v>98.303700000000006</c:v>
                </c:pt>
                <c:pt idx="191">
                  <c:v>98.330600000000004</c:v>
                </c:pt>
                <c:pt idx="192">
                  <c:v>98.354699999999994</c:v>
                </c:pt>
                <c:pt idx="193">
                  <c:v>98.380700000000004</c:v>
                </c:pt>
                <c:pt idx="194">
                  <c:v>98.403400000000005</c:v>
                </c:pt>
                <c:pt idx="195">
                  <c:v>98.426699999999997</c:v>
                </c:pt>
                <c:pt idx="196">
                  <c:v>98.449299999999994</c:v>
                </c:pt>
                <c:pt idx="197">
                  <c:v>98.474900000000005</c:v>
                </c:pt>
                <c:pt idx="198">
                  <c:v>98.499200000000002</c:v>
                </c:pt>
                <c:pt idx="199">
                  <c:v>98.522099999999995</c:v>
                </c:pt>
                <c:pt idx="200">
                  <c:v>98.546972999999994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35-4752-A754-8EC322875917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0.18073500000000001</c:v>
                </c:pt>
                <c:pt idx="1">
                  <c:v>1.8568</c:v>
                </c:pt>
                <c:pt idx="2">
                  <c:v>4.59</c:v>
                </c:pt>
                <c:pt idx="3">
                  <c:v>7.9081000000000001</c:v>
                </c:pt>
                <c:pt idx="4">
                  <c:v>11.657868000000001</c:v>
                </c:pt>
                <c:pt idx="5">
                  <c:v>15.7798</c:v>
                </c:pt>
                <c:pt idx="6">
                  <c:v>20.192699999999999</c:v>
                </c:pt>
                <c:pt idx="7">
                  <c:v>24.8687</c:v>
                </c:pt>
                <c:pt idx="8">
                  <c:v>29.6816</c:v>
                </c:pt>
                <c:pt idx="9">
                  <c:v>34.522199999999998</c:v>
                </c:pt>
                <c:pt idx="10">
                  <c:v>39.310518999999999</c:v>
                </c:pt>
                <c:pt idx="11">
                  <c:v>44.066400000000002</c:v>
                </c:pt>
                <c:pt idx="12">
                  <c:v>48.784990999999998</c:v>
                </c:pt>
                <c:pt idx="13">
                  <c:v>53.322099999999999</c:v>
                </c:pt>
                <c:pt idx="14">
                  <c:v>57.583599999999997</c:v>
                </c:pt>
                <c:pt idx="15">
                  <c:v>61.680399999999999</c:v>
                </c:pt>
                <c:pt idx="16">
                  <c:v>65.528099999999995</c:v>
                </c:pt>
                <c:pt idx="17">
                  <c:v>69.145600000000002</c:v>
                </c:pt>
                <c:pt idx="18">
                  <c:v>72.452799999999996</c:v>
                </c:pt>
                <c:pt idx="19">
                  <c:v>75.559600000000003</c:v>
                </c:pt>
                <c:pt idx="20">
                  <c:v>78.562083000000001</c:v>
                </c:pt>
                <c:pt idx="21">
                  <c:v>81.279499999999999</c:v>
                </c:pt>
                <c:pt idx="22">
                  <c:v>83.759799999999998</c:v>
                </c:pt>
                <c:pt idx="23">
                  <c:v>85.973600000000005</c:v>
                </c:pt>
                <c:pt idx="24">
                  <c:v>87.933199999999999</c:v>
                </c:pt>
                <c:pt idx="25">
                  <c:v>89.736099999999993</c:v>
                </c:pt>
                <c:pt idx="26">
                  <c:v>91.3613</c:v>
                </c:pt>
                <c:pt idx="27">
                  <c:v>92.751199999999997</c:v>
                </c:pt>
                <c:pt idx="28">
                  <c:v>93.920299999999997</c:v>
                </c:pt>
                <c:pt idx="29">
                  <c:v>94.867999999999995</c:v>
                </c:pt>
                <c:pt idx="30">
                  <c:v>95.667199999999994</c:v>
                </c:pt>
                <c:pt idx="31">
                  <c:v>96.377399999999994</c:v>
                </c:pt>
                <c:pt idx="32">
                  <c:v>97.007632000000001</c:v>
                </c:pt>
                <c:pt idx="33">
                  <c:v>97.542199999999994</c:v>
                </c:pt>
                <c:pt idx="34">
                  <c:v>97.977099999999993</c:v>
                </c:pt>
                <c:pt idx="35">
                  <c:v>98.329700000000003</c:v>
                </c:pt>
                <c:pt idx="36">
                  <c:v>98.605699999999999</c:v>
                </c:pt>
                <c:pt idx="37">
                  <c:v>98.835899999999995</c:v>
                </c:pt>
                <c:pt idx="38">
                  <c:v>99.018799999999999</c:v>
                </c:pt>
                <c:pt idx="39">
                  <c:v>99.177599999999998</c:v>
                </c:pt>
                <c:pt idx="40">
                  <c:v>99.325045000000003</c:v>
                </c:pt>
                <c:pt idx="41">
                  <c:v>99.426000000000002</c:v>
                </c:pt>
                <c:pt idx="42">
                  <c:v>99.507599999999996</c:v>
                </c:pt>
                <c:pt idx="43">
                  <c:v>99.583299999999994</c:v>
                </c:pt>
                <c:pt idx="44">
                  <c:v>99.641599999999997</c:v>
                </c:pt>
                <c:pt idx="45">
                  <c:v>99.686800000000005</c:v>
                </c:pt>
                <c:pt idx="46">
                  <c:v>99.738500000000002</c:v>
                </c:pt>
                <c:pt idx="47">
                  <c:v>99.786600000000007</c:v>
                </c:pt>
                <c:pt idx="48">
                  <c:v>99.836799999999997</c:v>
                </c:pt>
                <c:pt idx="49">
                  <c:v>99.869600000000005</c:v>
                </c:pt>
                <c:pt idx="50">
                  <c:v>99.905299999999997</c:v>
                </c:pt>
                <c:pt idx="51">
                  <c:v>99.935900000000004</c:v>
                </c:pt>
                <c:pt idx="52">
                  <c:v>99.952699999999993</c:v>
                </c:pt>
                <c:pt idx="53">
                  <c:v>99.968699999999998</c:v>
                </c:pt>
                <c:pt idx="54">
                  <c:v>99.977400000000003</c:v>
                </c:pt>
                <c:pt idx="55">
                  <c:v>99.982500000000002</c:v>
                </c:pt>
                <c:pt idx="56">
                  <c:v>99.992000000000004</c:v>
                </c:pt>
                <c:pt idx="57">
                  <c:v>99.997100000000003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35-4752-A754-8EC322875917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0.97499999999999998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76.496233000000004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135-4752-A754-8EC322875917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1.3623639999999999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85.004046000000002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135-4752-A754-8EC322875917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0.45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72.498794000000004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135-4752-A754-8EC322875917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0.56430800000000003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85.042455000000004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135-4752-A754-8EC3228759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1.8929999999999999E-2</c:v>
                </c:pt>
                <c:pt idx="2">
                  <c:v>7.7950000000000005E-2</c:v>
                </c:pt>
                <c:pt idx="3">
                  <c:v>0.18883</c:v>
                </c:pt>
                <c:pt idx="4">
                  <c:v>0.362564</c:v>
                </c:pt>
                <c:pt idx="5">
                  <c:v>0.60551999999999995</c:v>
                </c:pt>
                <c:pt idx="6">
                  <c:v>0.92169000000000001</c:v>
                </c:pt>
                <c:pt idx="7">
                  <c:v>1.29864</c:v>
                </c:pt>
                <c:pt idx="8">
                  <c:v>1.7459100000000001</c:v>
                </c:pt>
                <c:pt idx="9">
                  <c:v>2.2480799999999999</c:v>
                </c:pt>
                <c:pt idx="10">
                  <c:v>2.808535</c:v>
                </c:pt>
                <c:pt idx="11">
                  <c:v>3.4167999999999998</c:v>
                </c:pt>
                <c:pt idx="12">
                  <c:v>4.0689349999999997</c:v>
                </c:pt>
                <c:pt idx="13">
                  <c:v>4.7715300000000003</c:v>
                </c:pt>
                <c:pt idx="14">
                  <c:v>5.5205000000000002</c:v>
                </c:pt>
                <c:pt idx="15">
                  <c:v>6.3150899999999996</c:v>
                </c:pt>
                <c:pt idx="16">
                  <c:v>7.1513</c:v>
                </c:pt>
                <c:pt idx="17">
                  <c:v>8.0303100000000001</c:v>
                </c:pt>
                <c:pt idx="18">
                  <c:v>8.9574099999999994</c:v>
                </c:pt>
                <c:pt idx="19">
                  <c:v>9.9083699999999997</c:v>
                </c:pt>
                <c:pt idx="20">
                  <c:v>10.880580999999999</c:v>
                </c:pt>
                <c:pt idx="21">
                  <c:v>11.853569999999999</c:v>
                </c:pt>
                <c:pt idx="22">
                  <c:v>12.858269999999999</c:v>
                </c:pt>
                <c:pt idx="23">
                  <c:v>13.86368</c:v>
                </c:pt>
                <c:pt idx="24">
                  <c:v>14.878489999999999</c:v>
                </c:pt>
                <c:pt idx="25">
                  <c:v>15.909409999999999</c:v>
                </c:pt>
                <c:pt idx="26">
                  <c:v>16.947150000000001</c:v>
                </c:pt>
                <c:pt idx="27">
                  <c:v>18.012869999999999</c:v>
                </c:pt>
                <c:pt idx="28">
                  <c:v>19.08071</c:v>
                </c:pt>
                <c:pt idx="29">
                  <c:v>20.158069999999999</c:v>
                </c:pt>
                <c:pt idx="30">
                  <c:v>21.230499999999999</c:v>
                </c:pt>
                <c:pt idx="31">
                  <c:v>22.301739999999999</c:v>
                </c:pt>
                <c:pt idx="32">
                  <c:v>23.382285</c:v>
                </c:pt>
                <c:pt idx="33">
                  <c:v>24.4801</c:v>
                </c:pt>
                <c:pt idx="34">
                  <c:v>25.568519999999999</c:v>
                </c:pt>
                <c:pt idx="35">
                  <c:v>26.659050000000001</c:v>
                </c:pt>
                <c:pt idx="36">
                  <c:v>27.739350000000002</c:v>
                </c:pt>
                <c:pt idx="37">
                  <c:v>28.810600000000001</c:v>
                </c:pt>
                <c:pt idx="38">
                  <c:v>29.856680000000001</c:v>
                </c:pt>
                <c:pt idx="39">
                  <c:v>30.869499999999999</c:v>
                </c:pt>
                <c:pt idx="40">
                  <c:v>31.867011000000002</c:v>
                </c:pt>
                <c:pt idx="41">
                  <c:v>32.863140000000001</c:v>
                </c:pt>
                <c:pt idx="42">
                  <c:v>33.832920000000001</c:v>
                </c:pt>
                <c:pt idx="43">
                  <c:v>34.786000000000001</c:v>
                </c:pt>
                <c:pt idx="44">
                  <c:v>35.730739999999997</c:v>
                </c:pt>
                <c:pt idx="45">
                  <c:v>36.675939999999997</c:v>
                </c:pt>
                <c:pt idx="46">
                  <c:v>37.618679999999998</c:v>
                </c:pt>
                <c:pt idx="47">
                  <c:v>38.555770000000003</c:v>
                </c:pt>
                <c:pt idx="48">
                  <c:v>39.480170000000001</c:v>
                </c:pt>
                <c:pt idx="49">
                  <c:v>40.382219999999997</c:v>
                </c:pt>
                <c:pt idx="50">
                  <c:v>41.282389999999999</c:v>
                </c:pt>
                <c:pt idx="51">
                  <c:v>42.167749999999998</c:v>
                </c:pt>
                <c:pt idx="52">
                  <c:v>43.034300000000002</c:v>
                </c:pt>
                <c:pt idx="53">
                  <c:v>43.89743</c:v>
                </c:pt>
                <c:pt idx="54">
                  <c:v>44.742930000000001</c:v>
                </c:pt>
                <c:pt idx="55">
                  <c:v>45.58549</c:v>
                </c:pt>
                <c:pt idx="56">
                  <c:v>46.41489</c:v>
                </c:pt>
                <c:pt idx="57">
                  <c:v>47.228639999999999</c:v>
                </c:pt>
                <c:pt idx="58">
                  <c:v>48.012650000000001</c:v>
                </c:pt>
                <c:pt idx="59">
                  <c:v>48.794539999999998</c:v>
                </c:pt>
                <c:pt idx="60">
                  <c:v>49.549849000000002</c:v>
                </c:pt>
                <c:pt idx="61">
                  <c:v>50.321869999999997</c:v>
                </c:pt>
                <c:pt idx="62">
                  <c:v>51.066719999999997</c:v>
                </c:pt>
                <c:pt idx="63">
                  <c:v>51.794759999999997</c:v>
                </c:pt>
                <c:pt idx="64">
                  <c:v>52.503050000000002</c:v>
                </c:pt>
                <c:pt idx="65">
                  <c:v>53.194519999999997</c:v>
                </c:pt>
                <c:pt idx="66">
                  <c:v>53.875880000000002</c:v>
                </c:pt>
                <c:pt idx="67">
                  <c:v>54.545720000000003</c:v>
                </c:pt>
                <c:pt idx="68">
                  <c:v>55.198160000000001</c:v>
                </c:pt>
                <c:pt idx="69">
                  <c:v>55.845660000000002</c:v>
                </c:pt>
                <c:pt idx="70">
                  <c:v>56.48798</c:v>
                </c:pt>
                <c:pt idx="71">
                  <c:v>57.137009999999997</c:v>
                </c:pt>
                <c:pt idx="72">
                  <c:v>57.784860000000002</c:v>
                </c:pt>
                <c:pt idx="73">
                  <c:v>58.426369999999999</c:v>
                </c:pt>
                <c:pt idx="74">
                  <c:v>59.059869999999997</c:v>
                </c:pt>
                <c:pt idx="75">
                  <c:v>59.687860000000001</c:v>
                </c:pt>
                <c:pt idx="76">
                  <c:v>60.319130000000001</c:v>
                </c:pt>
                <c:pt idx="77">
                  <c:v>60.942880000000002</c:v>
                </c:pt>
                <c:pt idx="78">
                  <c:v>61.564160000000001</c:v>
                </c:pt>
                <c:pt idx="79">
                  <c:v>62.182499999999997</c:v>
                </c:pt>
                <c:pt idx="80">
                  <c:v>62.779604999999997</c:v>
                </c:pt>
                <c:pt idx="81">
                  <c:v>63.400010000000002</c:v>
                </c:pt>
                <c:pt idx="82">
                  <c:v>63.994010000000003</c:v>
                </c:pt>
                <c:pt idx="83">
                  <c:v>64.57038</c:v>
                </c:pt>
                <c:pt idx="84">
                  <c:v>65.124290000000002</c:v>
                </c:pt>
                <c:pt idx="85">
                  <c:v>65.669370000000001</c:v>
                </c:pt>
                <c:pt idx="86">
                  <c:v>66.192710000000005</c:v>
                </c:pt>
                <c:pt idx="87">
                  <c:v>66.716639999999998</c:v>
                </c:pt>
                <c:pt idx="88">
                  <c:v>67.23715</c:v>
                </c:pt>
                <c:pt idx="89">
                  <c:v>67.741209999999995</c:v>
                </c:pt>
                <c:pt idx="90">
                  <c:v>68.239500000000007</c:v>
                </c:pt>
                <c:pt idx="91">
                  <c:v>68.73039</c:v>
                </c:pt>
                <c:pt idx="92">
                  <c:v>69.226680000000002</c:v>
                </c:pt>
                <c:pt idx="93">
                  <c:v>69.719920000000002</c:v>
                </c:pt>
                <c:pt idx="94">
                  <c:v>70.212450000000004</c:v>
                </c:pt>
                <c:pt idx="95">
                  <c:v>70.700280000000006</c:v>
                </c:pt>
                <c:pt idx="96">
                  <c:v>71.17353</c:v>
                </c:pt>
                <c:pt idx="97">
                  <c:v>71.64255</c:v>
                </c:pt>
                <c:pt idx="98">
                  <c:v>72.09581</c:v>
                </c:pt>
                <c:pt idx="99">
                  <c:v>72.543779999999998</c:v>
                </c:pt>
                <c:pt idx="100">
                  <c:v>72.980339999999998</c:v>
                </c:pt>
                <c:pt idx="101">
                  <c:v>73.410560000000004</c:v>
                </c:pt>
                <c:pt idx="102">
                  <c:v>73.826310000000007</c:v>
                </c:pt>
                <c:pt idx="103">
                  <c:v>74.227490000000003</c:v>
                </c:pt>
                <c:pt idx="104">
                  <c:v>74.619489999999999</c:v>
                </c:pt>
                <c:pt idx="105">
                  <c:v>74.991979999999998</c:v>
                </c:pt>
                <c:pt idx="106">
                  <c:v>75.358109999999996</c:v>
                </c:pt>
                <c:pt idx="107">
                  <c:v>75.716139999999996</c:v>
                </c:pt>
                <c:pt idx="108">
                  <c:v>76.068160000000006</c:v>
                </c:pt>
                <c:pt idx="109">
                  <c:v>76.428299999999993</c:v>
                </c:pt>
                <c:pt idx="110">
                  <c:v>76.785970000000006</c:v>
                </c:pt>
                <c:pt idx="111">
                  <c:v>77.138589999999994</c:v>
                </c:pt>
                <c:pt idx="112">
                  <c:v>77.498490000000004</c:v>
                </c:pt>
                <c:pt idx="113">
                  <c:v>77.846869999999996</c:v>
                </c:pt>
                <c:pt idx="114">
                  <c:v>78.200310000000002</c:v>
                </c:pt>
                <c:pt idx="115">
                  <c:v>78.552930000000003</c:v>
                </c:pt>
                <c:pt idx="116">
                  <c:v>78.898489999999995</c:v>
                </c:pt>
                <c:pt idx="117">
                  <c:v>79.239930000000001</c:v>
                </c:pt>
                <c:pt idx="118">
                  <c:v>79.577380000000005</c:v>
                </c:pt>
                <c:pt idx="119">
                  <c:v>79.915890000000005</c:v>
                </c:pt>
                <c:pt idx="120">
                  <c:v>80.250996000000001</c:v>
                </c:pt>
                <c:pt idx="121">
                  <c:v>80.576909999999998</c:v>
                </c:pt>
                <c:pt idx="122">
                  <c:v>80.899420000000006</c:v>
                </c:pt>
                <c:pt idx="123">
                  <c:v>81.214290000000005</c:v>
                </c:pt>
                <c:pt idx="124">
                  <c:v>81.52176</c:v>
                </c:pt>
                <c:pt idx="125">
                  <c:v>81.813820000000007</c:v>
                </c:pt>
                <c:pt idx="126">
                  <c:v>82.090829999999997</c:v>
                </c:pt>
                <c:pt idx="127">
                  <c:v>82.367140000000006</c:v>
                </c:pt>
                <c:pt idx="128">
                  <c:v>82.643680000000003</c:v>
                </c:pt>
                <c:pt idx="129">
                  <c:v>82.917400000000001</c:v>
                </c:pt>
                <c:pt idx="130">
                  <c:v>83.194059999999993</c:v>
                </c:pt>
                <c:pt idx="131">
                  <c:v>83.474010000000007</c:v>
                </c:pt>
                <c:pt idx="132">
                  <c:v>83.746089999999995</c:v>
                </c:pt>
                <c:pt idx="133">
                  <c:v>84.014279999999999</c:v>
                </c:pt>
                <c:pt idx="134">
                  <c:v>84.283540000000002</c:v>
                </c:pt>
                <c:pt idx="135">
                  <c:v>84.544439999999994</c:v>
                </c:pt>
                <c:pt idx="136">
                  <c:v>84.797939999999997</c:v>
                </c:pt>
                <c:pt idx="137">
                  <c:v>85.042730000000006</c:v>
                </c:pt>
                <c:pt idx="138">
                  <c:v>85.279889999999995</c:v>
                </c:pt>
                <c:pt idx="139">
                  <c:v>85.512460000000004</c:v>
                </c:pt>
                <c:pt idx="140">
                  <c:v>85.731380000000001</c:v>
                </c:pt>
                <c:pt idx="141">
                  <c:v>85.944789999999998</c:v>
                </c:pt>
                <c:pt idx="142">
                  <c:v>86.162779999999998</c:v>
                </c:pt>
                <c:pt idx="143">
                  <c:v>86.379350000000002</c:v>
                </c:pt>
                <c:pt idx="144">
                  <c:v>86.588639999999998</c:v>
                </c:pt>
                <c:pt idx="145">
                  <c:v>86.792169999999999</c:v>
                </c:pt>
                <c:pt idx="146">
                  <c:v>86.998750000000001</c:v>
                </c:pt>
                <c:pt idx="147">
                  <c:v>87.210269999999994</c:v>
                </c:pt>
                <c:pt idx="148">
                  <c:v>87.423559999999995</c:v>
                </c:pt>
                <c:pt idx="149">
                  <c:v>87.633439999999993</c:v>
                </c:pt>
                <c:pt idx="150">
                  <c:v>87.844719999999995</c:v>
                </c:pt>
                <c:pt idx="151">
                  <c:v>88.056600000000003</c:v>
                </c:pt>
                <c:pt idx="152">
                  <c:v>88.271060000000006</c:v>
                </c:pt>
                <c:pt idx="153">
                  <c:v>88.478939999999994</c:v>
                </c:pt>
                <c:pt idx="154">
                  <c:v>88.680109999999999</c:v>
                </c:pt>
                <c:pt idx="155">
                  <c:v>88.866470000000007</c:v>
                </c:pt>
                <c:pt idx="156">
                  <c:v>89.038489999999996</c:v>
                </c:pt>
                <c:pt idx="157">
                  <c:v>89.203680000000006</c:v>
                </c:pt>
                <c:pt idx="158">
                  <c:v>89.367940000000004</c:v>
                </c:pt>
                <c:pt idx="159">
                  <c:v>89.527019999999993</c:v>
                </c:pt>
                <c:pt idx="160">
                  <c:v>89.684809999999999</c:v>
                </c:pt>
                <c:pt idx="161">
                  <c:v>89.840369999999993</c:v>
                </c:pt>
                <c:pt idx="162">
                  <c:v>89.99427</c:v>
                </c:pt>
                <c:pt idx="163">
                  <c:v>90.144300000000001</c:v>
                </c:pt>
                <c:pt idx="164">
                  <c:v>90.286919999999995</c:v>
                </c:pt>
                <c:pt idx="165">
                  <c:v>90.430719999999994</c:v>
                </c:pt>
                <c:pt idx="166">
                  <c:v>90.573580000000007</c:v>
                </c:pt>
                <c:pt idx="167">
                  <c:v>90.712670000000003</c:v>
                </c:pt>
                <c:pt idx="168">
                  <c:v>90.848470000000006</c:v>
                </c:pt>
                <c:pt idx="169">
                  <c:v>90.973929999999996</c:v>
                </c:pt>
                <c:pt idx="170">
                  <c:v>91.089039999999997</c:v>
                </c:pt>
                <c:pt idx="171">
                  <c:v>91.203559999999996</c:v>
                </c:pt>
                <c:pt idx="172">
                  <c:v>91.312669999999997</c:v>
                </c:pt>
                <c:pt idx="173">
                  <c:v>91.420140000000004</c:v>
                </c:pt>
                <c:pt idx="174">
                  <c:v>91.52525</c:v>
                </c:pt>
                <c:pt idx="175">
                  <c:v>91.627309999999994</c:v>
                </c:pt>
                <c:pt idx="176">
                  <c:v>91.725369999999998</c:v>
                </c:pt>
                <c:pt idx="177">
                  <c:v>91.822720000000004</c:v>
                </c:pt>
                <c:pt idx="178">
                  <c:v>91.918310000000005</c:v>
                </c:pt>
                <c:pt idx="179">
                  <c:v>92.01343</c:v>
                </c:pt>
                <c:pt idx="180">
                  <c:v>92.106440000000006</c:v>
                </c:pt>
                <c:pt idx="181">
                  <c:v>92.196150000000003</c:v>
                </c:pt>
                <c:pt idx="182">
                  <c:v>92.279510000000002</c:v>
                </c:pt>
                <c:pt idx="183">
                  <c:v>92.362049999999996</c:v>
                </c:pt>
                <c:pt idx="184">
                  <c:v>92.435059999999993</c:v>
                </c:pt>
                <c:pt idx="185">
                  <c:v>92.507959999999997</c:v>
                </c:pt>
                <c:pt idx="186">
                  <c:v>92.579210000000003</c:v>
                </c:pt>
                <c:pt idx="187">
                  <c:v>92.651290000000003</c:v>
                </c:pt>
                <c:pt idx="188">
                  <c:v>92.725129999999993</c:v>
                </c:pt>
                <c:pt idx="189">
                  <c:v>92.800610000000006</c:v>
                </c:pt>
                <c:pt idx="190">
                  <c:v>92.873509999999996</c:v>
                </c:pt>
                <c:pt idx="191">
                  <c:v>92.946060000000003</c:v>
                </c:pt>
                <c:pt idx="192">
                  <c:v>93.019069999999999</c:v>
                </c:pt>
                <c:pt idx="193">
                  <c:v>93.091260000000005</c:v>
                </c:pt>
                <c:pt idx="194">
                  <c:v>93.162279999999996</c:v>
                </c:pt>
                <c:pt idx="195">
                  <c:v>93.232240000000004</c:v>
                </c:pt>
                <c:pt idx="196">
                  <c:v>93.297610000000006</c:v>
                </c:pt>
                <c:pt idx="197">
                  <c:v>93.362049999999996</c:v>
                </c:pt>
                <c:pt idx="198">
                  <c:v>93.428359999999998</c:v>
                </c:pt>
                <c:pt idx="199">
                  <c:v>93.492559999999997</c:v>
                </c:pt>
                <c:pt idx="200">
                  <c:v>93.562588000000005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5D-4B43-B59A-497EB3C7CCCE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6.7750000000000005E-2</c:v>
                </c:pt>
                <c:pt idx="2">
                  <c:v>0.26443</c:v>
                </c:pt>
                <c:pt idx="3">
                  <c:v>0.62792999999999999</c:v>
                </c:pt>
                <c:pt idx="4">
                  <c:v>1.1649780000000001</c:v>
                </c:pt>
                <c:pt idx="5">
                  <c:v>1.8721300000000001</c:v>
                </c:pt>
                <c:pt idx="6">
                  <c:v>2.7644799999999998</c:v>
                </c:pt>
                <c:pt idx="7">
                  <c:v>3.7653799999999999</c:v>
                </c:pt>
                <c:pt idx="8">
                  <c:v>4.9396500000000003</c:v>
                </c:pt>
                <c:pt idx="9">
                  <c:v>6.2086100000000002</c:v>
                </c:pt>
                <c:pt idx="10">
                  <c:v>7.6302909999999997</c:v>
                </c:pt>
                <c:pt idx="11">
                  <c:v>9.1333599999999997</c:v>
                </c:pt>
                <c:pt idx="12">
                  <c:v>10.704897000000001</c:v>
                </c:pt>
                <c:pt idx="13">
                  <c:v>12.41067</c:v>
                </c:pt>
                <c:pt idx="14">
                  <c:v>14.21651</c:v>
                </c:pt>
                <c:pt idx="15">
                  <c:v>16.162939999999999</c:v>
                </c:pt>
                <c:pt idx="16">
                  <c:v>18.206980000000001</c:v>
                </c:pt>
                <c:pt idx="17">
                  <c:v>20.3246</c:v>
                </c:pt>
                <c:pt idx="18">
                  <c:v>22.53837</c:v>
                </c:pt>
                <c:pt idx="19">
                  <c:v>24.770350000000001</c:v>
                </c:pt>
                <c:pt idx="20">
                  <c:v>27.031313999999998</c:v>
                </c:pt>
                <c:pt idx="21">
                  <c:v>29.235050000000001</c:v>
                </c:pt>
                <c:pt idx="22">
                  <c:v>31.511469999999999</c:v>
                </c:pt>
                <c:pt idx="23">
                  <c:v>33.755110000000002</c:v>
                </c:pt>
                <c:pt idx="24">
                  <c:v>35.906230000000001</c:v>
                </c:pt>
                <c:pt idx="25">
                  <c:v>38.121459999999999</c:v>
                </c:pt>
                <c:pt idx="26">
                  <c:v>40.284239999999997</c:v>
                </c:pt>
                <c:pt idx="27">
                  <c:v>42.488549999999996</c:v>
                </c:pt>
                <c:pt idx="28">
                  <c:v>44.633110000000002</c:v>
                </c:pt>
                <c:pt idx="29">
                  <c:v>46.784239999999997</c:v>
                </c:pt>
                <c:pt idx="30">
                  <c:v>48.952120000000001</c:v>
                </c:pt>
                <c:pt idx="31">
                  <c:v>51.072650000000003</c:v>
                </c:pt>
                <c:pt idx="32">
                  <c:v>53.182935000000001</c:v>
                </c:pt>
                <c:pt idx="33">
                  <c:v>55.304969999999997</c:v>
                </c:pt>
                <c:pt idx="34">
                  <c:v>57.41384</c:v>
                </c:pt>
                <c:pt idx="35">
                  <c:v>59.403979999999997</c:v>
                </c:pt>
                <c:pt idx="36">
                  <c:v>61.320540000000001</c:v>
                </c:pt>
                <c:pt idx="37">
                  <c:v>63.183929999999997</c:v>
                </c:pt>
                <c:pt idx="38">
                  <c:v>64.986850000000004</c:v>
                </c:pt>
                <c:pt idx="39">
                  <c:v>66.692890000000006</c:v>
                </c:pt>
                <c:pt idx="40">
                  <c:v>68.335431</c:v>
                </c:pt>
                <c:pt idx="41">
                  <c:v>69.874049999999997</c:v>
                </c:pt>
                <c:pt idx="42">
                  <c:v>71.301820000000006</c:v>
                </c:pt>
                <c:pt idx="43">
                  <c:v>72.686610000000002</c:v>
                </c:pt>
                <c:pt idx="44">
                  <c:v>74.027699999999996</c:v>
                </c:pt>
                <c:pt idx="45">
                  <c:v>75.334540000000004</c:v>
                </c:pt>
                <c:pt idx="46">
                  <c:v>76.596230000000006</c:v>
                </c:pt>
                <c:pt idx="47">
                  <c:v>77.863740000000007</c:v>
                </c:pt>
                <c:pt idx="48">
                  <c:v>79.077340000000007</c:v>
                </c:pt>
                <c:pt idx="49">
                  <c:v>80.162739999999999</c:v>
                </c:pt>
                <c:pt idx="50">
                  <c:v>81.169460000000001</c:v>
                </c:pt>
                <c:pt idx="51">
                  <c:v>82.139759999999995</c:v>
                </c:pt>
                <c:pt idx="52">
                  <c:v>83.057609999999997</c:v>
                </c:pt>
                <c:pt idx="53">
                  <c:v>83.912819999999996</c:v>
                </c:pt>
                <c:pt idx="54">
                  <c:v>84.703919999999997</c:v>
                </c:pt>
                <c:pt idx="55">
                  <c:v>85.435289999999995</c:v>
                </c:pt>
                <c:pt idx="56">
                  <c:v>86.109110000000001</c:v>
                </c:pt>
                <c:pt idx="57">
                  <c:v>86.755250000000004</c:v>
                </c:pt>
                <c:pt idx="58">
                  <c:v>87.353309999999993</c:v>
                </c:pt>
                <c:pt idx="59">
                  <c:v>87.898920000000004</c:v>
                </c:pt>
                <c:pt idx="60">
                  <c:v>88.434495999999996</c:v>
                </c:pt>
                <c:pt idx="61">
                  <c:v>88.902730000000005</c:v>
                </c:pt>
                <c:pt idx="62">
                  <c:v>89.346360000000004</c:v>
                </c:pt>
                <c:pt idx="63">
                  <c:v>89.750649999999993</c:v>
                </c:pt>
                <c:pt idx="64">
                  <c:v>90.108320000000006</c:v>
                </c:pt>
                <c:pt idx="65">
                  <c:v>90.430300000000003</c:v>
                </c:pt>
                <c:pt idx="66">
                  <c:v>90.724590000000006</c:v>
                </c:pt>
                <c:pt idx="67">
                  <c:v>90.984650000000002</c:v>
                </c:pt>
                <c:pt idx="68">
                  <c:v>91.210470000000001</c:v>
                </c:pt>
                <c:pt idx="69">
                  <c:v>91.425370000000001</c:v>
                </c:pt>
                <c:pt idx="70">
                  <c:v>91.629329999999996</c:v>
                </c:pt>
                <c:pt idx="71">
                  <c:v>91.833299999999994</c:v>
                </c:pt>
                <c:pt idx="72">
                  <c:v>92.028530000000003</c:v>
                </c:pt>
                <c:pt idx="73">
                  <c:v>92.22157</c:v>
                </c:pt>
                <c:pt idx="74">
                  <c:v>92.378910000000005</c:v>
                </c:pt>
                <c:pt idx="75">
                  <c:v>92.541359999999997</c:v>
                </c:pt>
                <c:pt idx="76">
                  <c:v>92.697249999999997</c:v>
                </c:pt>
                <c:pt idx="77">
                  <c:v>92.848039999999997</c:v>
                </c:pt>
                <c:pt idx="78">
                  <c:v>92.999560000000002</c:v>
                </c:pt>
                <c:pt idx="79">
                  <c:v>93.156170000000003</c:v>
                </c:pt>
                <c:pt idx="80">
                  <c:v>93.324754999999996</c:v>
                </c:pt>
                <c:pt idx="81">
                  <c:v>93.5</c:v>
                </c:pt>
                <c:pt idx="82">
                  <c:v>93.691590000000005</c:v>
                </c:pt>
                <c:pt idx="83">
                  <c:v>93.865690000000001</c:v>
                </c:pt>
                <c:pt idx="84">
                  <c:v>94.031779999999998</c:v>
                </c:pt>
                <c:pt idx="85">
                  <c:v>94.193489999999997</c:v>
                </c:pt>
                <c:pt idx="86">
                  <c:v>94.340639999999993</c:v>
                </c:pt>
                <c:pt idx="87">
                  <c:v>94.48415</c:v>
                </c:pt>
                <c:pt idx="88">
                  <c:v>94.623279999999994</c:v>
                </c:pt>
                <c:pt idx="89">
                  <c:v>94.755129999999994</c:v>
                </c:pt>
                <c:pt idx="90">
                  <c:v>94.883340000000004</c:v>
                </c:pt>
                <c:pt idx="91">
                  <c:v>95.025390000000002</c:v>
                </c:pt>
                <c:pt idx="92">
                  <c:v>95.186369999999997</c:v>
                </c:pt>
                <c:pt idx="93">
                  <c:v>95.349549999999994</c:v>
                </c:pt>
                <c:pt idx="94">
                  <c:v>95.525109999999998</c:v>
                </c:pt>
                <c:pt idx="95">
                  <c:v>95.715959999999995</c:v>
                </c:pt>
                <c:pt idx="96">
                  <c:v>95.89152</c:v>
                </c:pt>
                <c:pt idx="97">
                  <c:v>96.057609999999997</c:v>
                </c:pt>
                <c:pt idx="98">
                  <c:v>96.219319999999996</c:v>
                </c:pt>
                <c:pt idx="99">
                  <c:v>96.383229999999998</c:v>
                </c:pt>
                <c:pt idx="100">
                  <c:v>96.542029999999997</c:v>
                </c:pt>
                <c:pt idx="101">
                  <c:v>96.699370000000002</c:v>
                </c:pt>
                <c:pt idx="102">
                  <c:v>96.841419999999999</c:v>
                </c:pt>
                <c:pt idx="103">
                  <c:v>96.974000000000004</c:v>
                </c:pt>
                <c:pt idx="104">
                  <c:v>97.086910000000003</c:v>
                </c:pt>
                <c:pt idx="105">
                  <c:v>97.196910000000003</c:v>
                </c:pt>
                <c:pt idx="106">
                  <c:v>97.294520000000006</c:v>
                </c:pt>
                <c:pt idx="107">
                  <c:v>97.384119999999996</c:v>
                </c:pt>
                <c:pt idx="108">
                  <c:v>97.447500000000005</c:v>
                </c:pt>
                <c:pt idx="109">
                  <c:v>97.503590000000003</c:v>
                </c:pt>
                <c:pt idx="110">
                  <c:v>97.572789999999998</c:v>
                </c:pt>
                <c:pt idx="111">
                  <c:v>97.633979999999994</c:v>
                </c:pt>
                <c:pt idx="112">
                  <c:v>97.688609999999997</c:v>
                </c:pt>
                <c:pt idx="113">
                  <c:v>97.749080000000006</c:v>
                </c:pt>
                <c:pt idx="114">
                  <c:v>97.812449999999998</c:v>
                </c:pt>
                <c:pt idx="115">
                  <c:v>97.878739999999993</c:v>
                </c:pt>
                <c:pt idx="116">
                  <c:v>97.940659999999994</c:v>
                </c:pt>
                <c:pt idx="117">
                  <c:v>98.005489999999995</c:v>
                </c:pt>
                <c:pt idx="118">
                  <c:v>98.084890000000001</c:v>
                </c:pt>
                <c:pt idx="119">
                  <c:v>98.163570000000007</c:v>
                </c:pt>
                <c:pt idx="120">
                  <c:v>98.257096000000004</c:v>
                </c:pt>
                <c:pt idx="121">
                  <c:v>98.33184</c:v>
                </c:pt>
                <c:pt idx="122">
                  <c:v>98.409779999999998</c:v>
                </c:pt>
                <c:pt idx="123">
                  <c:v>98.488460000000003</c:v>
                </c:pt>
                <c:pt idx="124">
                  <c:v>98.560569999999998</c:v>
                </c:pt>
                <c:pt idx="125">
                  <c:v>98.623949999999994</c:v>
                </c:pt>
                <c:pt idx="126">
                  <c:v>98.682230000000004</c:v>
                </c:pt>
                <c:pt idx="127">
                  <c:v>98.731759999999994</c:v>
                </c:pt>
                <c:pt idx="128">
                  <c:v>98.771100000000004</c:v>
                </c:pt>
                <c:pt idx="129">
                  <c:v>98.803880000000007</c:v>
                </c:pt>
                <c:pt idx="130">
                  <c:v>98.839569999999995</c:v>
                </c:pt>
                <c:pt idx="131">
                  <c:v>98.876720000000006</c:v>
                </c:pt>
                <c:pt idx="132">
                  <c:v>98.912419999999997</c:v>
                </c:pt>
                <c:pt idx="133">
                  <c:v>98.955399999999997</c:v>
                </c:pt>
                <c:pt idx="134">
                  <c:v>99.002750000000006</c:v>
                </c:pt>
                <c:pt idx="135">
                  <c:v>99.044269999999997</c:v>
                </c:pt>
                <c:pt idx="136">
                  <c:v>99.085790000000003</c:v>
                </c:pt>
                <c:pt idx="137">
                  <c:v>99.125129999999999</c:v>
                </c:pt>
                <c:pt idx="138">
                  <c:v>99.161550000000005</c:v>
                </c:pt>
                <c:pt idx="139">
                  <c:v>99.198700000000002</c:v>
                </c:pt>
                <c:pt idx="140">
                  <c:v>99.235849999999999</c:v>
                </c:pt>
                <c:pt idx="141">
                  <c:v>99.277370000000005</c:v>
                </c:pt>
                <c:pt idx="142">
                  <c:v>99.31962</c:v>
                </c:pt>
                <c:pt idx="143">
                  <c:v>99.361149999999995</c:v>
                </c:pt>
                <c:pt idx="144">
                  <c:v>99.397570000000002</c:v>
                </c:pt>
                <c:pt idx="145">
                  <c:v>99.435450000000003</c:v>
                </c:pt>
                <c:pt idx="146">
                  <c:v>99.474779999999996</c:v>
                </c:pt>
                <c:pt idx="147">
                  <c:v>99.514120000000005</c:v>
                </c:pt>
                <c:pt idx="148">
                  <c:v>99.552729999999997</c:v>
                </c:pt>
                <c:pt idx="149">
                  <c:v>99.589879999999994</c:v>
                </c:pt>
                <c:pt idx="150">
                  <c:v>99.618290000000002</c:v>
                </c:pt>
                <c:pt idx="151">
                  <c:v>99.653260000000003</c:v>
                </c:pt>
                <c:pt idx="152">
                  <c:v>99.689679999999996</c:v>
                </c:pt>
                <c:pt idx="153">
                  <c:v>99.726100000000002</c:v>
                </c:pt>
                <c:pt idx="154">
                  <c:v>99.755970000000005</c:v>
                </c:pt>
                <c:pt idx="155">
                  <c:v>99.784379999999999</c:v>
                </c:pt>
                <c:pt idx="156">
                  <c:v>99.813519999999997</c:v>
                </c:pt>
                <c:pt idx="157">
                  <c:v>99.841930000000005</c:v>
                </c:pt>
                <c:pt idx="158">
                  <c:v>99.866690000000006</c:v>
                </c:pt>
                <c:pt idx="159">
                  <c:v>99.890730000000005</c:v>
                </c:pt>
                <c:pt idx="160">
                  <c:v>99.916229999999999</c:v>
                </c:pt>
                <c:pt idx="161">
                  <c:v>99.942449999999994</c:v>
                </c:pt>
                <c:pt idx="162">
                  <c:v>99.964309999999998</c:v>
                </c:pt>
                <c:pt idx="163">
                  <c:v>99.978149999999999</c:v>
                </c:pt>
                <c:pt idx="164">
                  <c:v>99.981059999999999</c:v>
                </c:pt>
                <c:pt idx="165">
                  <c:v>99.983249999999998</c:v>
                </c:pt>
                <c:pt idx="166">
                  <c:v>99.986159999999998</c:v>
                </c:pt>
                <c:pt idx="167">
                  <c:v>99.992720000000006</c:v>
                </c:pt>
                <c:pt idx="168">
                  <c:v>99.998540000000006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25D-4B43-B59A-497EB3C7CCCE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2.5249999999999999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73.395160000000004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25D-4B43-B59A-497EB3C7CCCE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3.4203109999999999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85.002133999999998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F25D-4B43-B59A-497EB3C7CCCE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1.2250000000000001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80.160421999999997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F25D-4B43-B59A-497EB3C7CCCE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1.360471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85.015159999999995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F25D-4B43-B59A-497EB3C7C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全市16区</c:v>
          </c:tx>
          <c:spPr>
            <a:ln w="24765">
              <a:solidFill>
                <a:srgbClr val="8F3E35"/>
              </a:solidFill>
              <a:prstDash val="solid"/>
            </a:ln>
          </c:spPr>
          <c:marker>
            <c:symbol val="none"/>
          </c:marker>
          <c:xVal>
            <c:numRef>
              <c:f>'Chart Data'!$A$2:$A$202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Data'!$B$2:$B$202</c:f>
              <c:numCache>
                <c:formatCode>General</c:formatCode>
                <c:ptCount val="201"/>
                <c:pt idx="0">
                  <c:v>0</c:v>
                </c:pt>
                <c:pt idx="1">
                  <c:v>1.7049999999999999E-2</c:v>
                </c:pt>
                <c:pt idx="2">
                  <c:v>7.0309999999999997E-2</c:v>
                </c:pt>
                <c:pt idx="3">
                  <c:v>0.17343</c:v>
                </c:pt>
                <c:pt idx="4">
                  <c:v>0.33581100000000003</c:v>
                </c:pt>
                <c:pt idx="5">
                  <c:v>0.57506999999999997</c:v>
                </c:pt>
                <c:pt idx="6">
                  <c:v>0.88277000000000005</c:v>
                </c:pt>
                <c:pt idx="7">
                  <c:v>1.26431</c:v>
                </c:pt>
                <c:pt idx="8">
                  <c:v>1.70146</c:v>
                </c:pt>
                <c:pt idx="9">
                  <c:v>2.1864699999999999</c:v>
                </c:pt>
                <c:pt idx="10">
                  <c:v>2.7155960000000001</c:v>
                </c:pt>
                <c:pt idx="11">
                  <c:v>3.2998099999999999</c:v>
                </c:pt>
                <c:pt idx="12">
                  <c:v>3.9257330000000001</c:v>
                </c:pt>
                <c:pt idx="13">
                  <c:v>4.60351</c:v>
                </c:pt>
                <c:pt idx="14">
                  <c:v>5.3203800000000001</c:v>
                </c:pt>
                <c:pt idx="15">
                  <c:v>6.0754599999999996</c:v>
                </c:pt>
                <c:pt idx="16">
                  <c:v>6.8559400000000004</c:v>
                </c:pt>
                <c:pt idx="17">
                  <c:v>7.6718099999999998</c:v>
                </c:pt>
                <c:pt idx="18">
                  <c:v>8.5162499999999994</c:v>
                </c:pt>
                <c:pt idx="19">
                  <c:v>9.4004399999999997</c:v>
                </c:pt>
                <c:pt idx="20">
                  <c:v>10.327571000000001</c:v>
                </c:pt>
                <c:pt idx="21">
                  <c:v>11.294140000000001</c:v>
                </c:pt>
                <c:pt idx="22">
                  <c:v>12.28673</c:v>
                </c:pt>
                <c:pt idx="23">
                  <c:v>13.29519</c:v>
                </c:pt>
                <c:pt idx="24">
                  <c:v>14.337160000000001</c:v>
                </c:pt>
                <c:pt idx="25">
                  <c:v>15.40053</c:v>
                </c:pt>
                <c:pt idx="26">
                  <c:v>16.481660000000002</c:v>
                </c:pt>
                <c:pt idx="27">
                  <c:v>17.58371</c:v>
                </c:pt>
                <c:pt idx="28">
                  <c:v>18.700230000000001</c:v>
                </c:pt>
                <c:pt idx="29">
                  <c:v>19.832380000000001</c:v>
                </c:pt>
                <c:pt idx="30">
                  <c:v>20.977820000000001</c:v>
                </c:pt>
                <c:pt idx="31">
                  <c:v>22.113969999999998</c:v>
                </c:pt>
                <c:pt idx="32">
                  <c:v>23.253741000000002</c:v>
                </c:pt>
                <c:pt idx="33">
                  <c:v>24.424019999999999</c:v>
                </c:pt>
                <c:pt idx="34">
                  <c:v>25.57404</c:v>
                </c:pt>
                <c:pt idx="35">
                  <c:v>26.732060000000001</c:v>
                </c:pt>
                <c:pt idx="36">
                  <c:v>27.894549999999999</c:v>
                </c:pt>
                <c:pt idx="37">
                  <c:v>29.055980000000002</c:v>
                </c:pt>
                <c:pt idx="38">
                  <c:v>30.21283</c:v>
                </c:pt>
                <c:pt idx="39">
                  <c:v>31.362500000000001</c:v>
                </c:pt>
                <c:pt idx="40">
                  <c:v>32.504655</c:v>
                </c:pt>
                <c:pt idx="41">
                  <c:v>33.669719999999998</c:v>
                </c:pt>
                <c:pt idx="42">
                  <c:v>34.826799999999999</c:v>
                </c:pt>
                <c:pt idx="43">
                  <c:v>35.974119999999999</c:v>
                </c:pt>
                <c:pt idx="44">
                  <c:v>37.10792</c:v>
                </c:pt>
                <c:pt idx="45">
                  <c:v>38.222679999999997</c:v>
                </c:pt>
                <c:pt idx="46">
                  <c:v>39.31897</c:v>
                </c:pt>
                <c:pt idx="47">
                  <c:v>40.392209999999999</c:v>
                </c:pt>
                <c:pt idx="48">
                  <c:v>41.450409999999998</c:v>
                </c:pt>
                <c:pt idx="49">
                  <c:v>42.517780000000002</c:v>
                </c:pt>
                <c:pt idx="50">
                  <c:v>43.552700000000002</c:v>
                </c:pt>
                <c:pt idx="51">
                  <c:v>44.572450000000003</c:v>
                </c:pt>
                <c:pt idx="52">
                  <c:v>45.572800000000001</c:v>
                </c:pt>
                <c:pt idx="53">
                  <c:v>46.555860000000003</c:v>
                </c:pt>
                <c:pt idx="54">
                  <c:v>47.54457</c:v>
                </c:pt>
                <c:pt idx="55">
                  <c:v>48.503059999999998</c:v>
                </c:pt>
                <c:pt idx="56">
                  <c:v>49.43533</c:v>
                </c:pt>
                <c:pt idx="57">
                  <c:v>50.350439999999999</c:v>
                </c:pt>
                <c:pt idx="58">
                  <c:v>51.23639</c:v>
                </c:pt>
                <c:pt idx="59">
                  <c:v>52.098230000000001</c:v>
                </c:pt>
                <c:pt idx="60">
                  <c:v>52.928781999999998</c:v>
                </c:pt>
                <c:pt idx="61">
                  <c:v>53.739139999999999</c:v>
                </c:pt>
                <c:pt idx="62">
                  <c:v>54.5349</c:v>
                </c:pt>
                <c:pt idx="63">
                  <c:v>55.308920000000001</c:v>
                </c:pt>
                <c:pt idx="64">
                  <c:v>56.070700000000002</c:v>
                </c:pt>
                <c:pt idx="65">
                  <c:v>56.80697</c:v>
                </c:pt>
                <c:pt idx="66">
                  <c:v>57.544420000000002</c:v>
                </c:pt>
                <c:pt idx="67">
                  <c:v>58.27187</c:v>
                </c:pt>
                <c:pt idx="68">
                  <c:v>58.987209999999997</c:v>
                </c:pt>
                <c:pt idx="69">
                  <c:v>59.690910000000002</c:v>
                </c:pt>
                <c:pt idx="70">
                  <c:v>60.375210000000003</c:v>
                </c:pt>
                <c:pt idx="71">
                  <c:v>61.045760000000001</c:v>
                </c:pt>
                <c:pt idx="72">
                  <c:v>61.70055</c:v>
                </c:pt>
                <c:pt idx="73">
                  <c:v>62.328290000000003</c:v>
                </c:pt>
                <c:pt idx="74">
                  <c:v>62.945219999999999</c:v>
                </c:pt>
                <c:pt idx="75">
                  <c:v>63.566029999999998</c:v>
                </c:pt>
                <c:pt idx="76">
                  <c:v>64.170730000000006</c:v>
                </c:pt>
                <c:pt idx="77">
                  <c:v>64.775670000000005</c:v>
                </c:pt>
                <c:pt idx="78">
                  <c:v>65.388480000000001</c:v>
                </c:pt>
                <c:pt idx="79">
                  <c:v>65.99436</c:v>
                </c:pt>
                <c:pt idx="80">
                  <c:v>66.576559000000003</c:v>
                </c:pt>
                <c:pt idx="81">
                  <c:v>67.172129999999996</c:v>
                </c:pt>
                <c:pt idx="82">
                  <c:v>67.74391</c:v>
                </c:pt>
                <c:pt idx="83">
                  <c:v>68.320980000000006</c:v>
                </c:pt>
                <c:pt idx="84">
                  <c:v>68.887469999999993</c:v>
                </c:pt>
                <c:pt idx="85">
                  <c:v>69.444320000000005</c:v>
                </c:pt>
                <c:pt idx="86">
                  <c:v>69.988820000000004</c:v>
                </c:pt>
                <c:pt idx="87">
                  <c:v>70.515680000000003</c:v>
                </c:pt>
                <c:pt idx="88">
                  <c:v>71.025499999999994</c:v>
                </c:pt>
                <c:pt idx="89">
                  <c:v>71.524029999999996</c:v>
                </c:pt>
                <c:pt idx="90">
                  <c:v>72.006919999999994</c:v>
                </c:pt>
                <c:pt idx="91">
                  <c:v>72.480519999999999</c:v>
                </c:pt>
                <c:pt idx="92">
                  <c:v>72.929779999999994</c:v>
                </c:pt>
                <c:pt idx="93">
                  <c:v>73.367639999999994</c:v>
                </c:pt>
                <c:pt idx="94">
                  <c:v>73.793509999999998</c:v>
                </c:pt>
                <c:pt idx="95">
                  <c:v>74.203500000000005</c:v>
                </c:pt>
                <c:pt idx="96">
                  <c:v>74.602680000000007</c:v>
                </c:pt>
                <c:pt idx="97">
                  <c:v>74.993859999999998</c:v>
                </c:pt>
                <c:pt idx="98">
                  <c:v>75.372690000000006</c:v>
                </c:pt>
                <c:pt idx="99">
                  <c:v>75.744119999999995</c:v>
                </c:pt>
                <c:pt idx="100">
                  <c:v>76.104140000000001</c:v>
                </c:pt>
                <c:pt idx="101">
                  <c:v>76.456639999999993</c:v>
                </c:pt>
                <c:pt idx="102">
                  <c:v>76.805019999999999</c:v>
                </c:pt>
                <c:pt idx="103">
                  <c:v>77.156220000000005</c:v>
                </c:pt>
                <c:pt idx="104">
                  <c:v>77.505309999999994</c:v>
                </c:pt>
                <c:pt idx="105">
                  <c:v>77.850750000000005</c:v>
                </c:pt>
                <c:pt idx="106">
                  <c:v>78.188550000000006</c:v>
                </c:pt>
                <c:pt idx="107">
                  <c:v>78.522829999999999</c:v>
                </c:pt>
                <c:pt idx="108">
                  <c:v>78.861689999999996</c:v>
                </c:pt>
                <c:pt idx="109">
                  <c:v>79.191490000000002</c:v>
                </c:pt>
                <c:pt idx="110">
                  <c:v>79.515420000000006</c:v>
                </c:pt>
                <c:pt idx="111">
                  <c:v>79.832759999999993</c:v>
                </c:pt>
                <c:pt idx="112">
                  <c:v>80.143870000000007</c:v>
                </c:pt>
                <c:pt idx="113">
                  <c:v>80.447220000000002</c:v>
                </c:pt>
                <c:pt idx="114">
                  <c:v>80.750209999999996</c:v>
                </c:pt>
                <c:pt idx="115">
                  <c:v>81.038989999999998</c:v>
                </c:pt>
                <c:pt idx="116">
                  <c:v>81.32047</c:v>
                </c:pt>
                <c:pt idx="117">
                  <c:v>81.59948</c:v>
                </c:pt>
                <c:pt idx="118">
                  <c:v>81.882720000000006</c:v>
                </c:pt>
                <c:pt idx="119">
                  <c:v>82.163849999999996</c:v>
                </c:pt>
                <c:pt idx="120">
                  <c:v>82.457295000000002</c:v>
                </c:pt>
                <c:pt idx="121">
                  <c:v>82.725750000000005</c:v>
                </c:pt>
                <c:pt idx="122">
                  <c:v>83.004649999999998</c:v>
                </c:pt>
                <c:pt idx="123">
                  <c:v>83.280950000000004</c:v>
                </c:pt>
                <c:pt idx="124">
                  <c:v>83.555970000000002</c:v>
                </c:pt>
                <c:pt idx="125">
                  <c:v>83.830389999999994</c:v>
                </c:pt>
                <c:pt idx="126">
                  <c:v>84.104939999999999</c:v>
                </c:pt>
                <c:pt idx="127">
                  <c:v>84.389830000000003</c:v>
                </c:pt>
                <c:pt idx="128">
                  <c:v>84.668369999999996</c:v>
                </c:pt>
                <c:pt idx="129">
                  <c:v>84.945030000000003</c:v>
                </c:pt>
                <c:pt idx="130">
                  <c:v>85.202520000000007</c:v>
                </c:pt>
                <c:pt idx="131">
                  <c:v>85.452960000000004</c:v>
                </c:pt>
                <c:pt idx="132">
                  <c:v>85.701170000000005</c:v>
                </c:pt>
                <c:pt idx="133">
                  <c:v>85.945139999999995</c:v>
                </c:pt>
                <c:pt idx="134">
                  <c:v>86.187700000000007</c:v>
                </c:pt>
                <c:pt idx="135">
                  <c:v>86.423559999999995</c:v>
                </c:pt>
                <c:pt idx="136">
                  <c:v>86.653549999999996</c:v>
                </c:pt>
                <c:pt idx="137">
                  <c:v>86.87988</c:v>
                </c:pt>
                <c:pt idx="138">
                  <c:v>87.094229999999996</c:v>
                </c:pt>
                <c:pt idx="139">
                  <c:v>87.299869999999999</c:v>
                </c:pt>
                <c:pt idx="140">
                  <c:v>87.493520000000004</c:v>
                </c:pt>
                <c:pt idx="141">
                  <c:v>87.688109999999995</c:v>
                </c:pt>
                <c:pt idx="142">
                  <c:v>87.882109999999997</c:v>
                </c:pt>
                <c:pt idx="143">
                  <c:v>88.081410000000005</c:v>
                </c:pt>
                <c:pt idx="144">
                  <c:v>88.279759999999996</c:v>
                </c:pt>
                <c:pt idx="145">
                  <c:v>88.474819999999994</c:v>
                </c:pt>
                <c:pt idx="146">
                  <c:v>88.656239999999997</c:v>
                </c:pt>
                <c:pt idx="147">
                  <c:v>88.83108</c:v>
                </c:pt>
                <c:pt idx="148">
                  <c:v>89.003680000000003</c:v>
                </c:pt>
                <c:pt idx="149">
                  <c:v>89.165350000000004</c:v>
                </c:pt>
                <c:pt idx="150">
                  <c:v>89.331019999999995</c:v>
                </c:pt>
                <c:pt idx="151">
                  <c:v>89.483990000000006</c:v>
                </c:pt>
                <c:pt idx="152">
                  <c:v>89.63449</c:v>
                </c:pt>
                <c:pt idx="153">
                  <c:v>89.787809999999993</c:v>
                </c:pt>
                <c:pt idx="154">
                  <c:v>89.940309999999997</c:v>
                </c:pt>
                <c:pt idx="155">
                  <c:v>90.091279999999998</c:v>
                </c:pt>
                <c:pt idx="156">
                  <c:v>90.237780000000001</c:v>
                </c:pt>
                <c:pt idx="157">
                  <c:v>90.381569999999996</c:v>
                </c:pt>
                <c:pt idx="158">
                  <c:v>90.518079999999998</c:v>
                </c:pt>
                <c:pt idx="159">
                  <c:v>90.646119999999996</c:v>
                </c:pt>
                <c:pt idx="160">
                  <c:v>90.771230000000003</c:v>
                </c:pt>
                <c:pt idx="161">
                  <c:v>90.898679999999999</c:v>
                </c:pt>
                <c:pt idx="162">
                  <c:v>91.030010000000004</c:v>
                </c:pt>
                <c:pt idx="163">
                  <c:v>91.160529999999994</c:v>
                </c:pt>
                <c:pt idx="164">
                  <c:v>91.289510000000007</c:v>
                </c:pt>
                <c:pt idx="165">
                  <c:v>91.420019999999994</c:v>
                </c:pt>
                <c:pt idx="166">
                  <c:v>91.550880000000006</c:v>
                </c:pt>
                <c:pt idx="167">
                  <c:v>91.677160000000001</c:v>
                </c:pt>
                <c:pt idx="168">
                  <c:v>91.802850000000007</c:v>
                </c:pt>
                <c:pt idx="169">
                  <c:v>91.925129999999996</c:v>
                </c:pt>
                <c:pt idx="170">
                  <c:v>92.049289999999999</c:v>
                </c:pt>
                <c:pt idx="171">
                  <c:v>92.168400000000005</c:v>
                </c:pt>
                <c:pt idx="172">
                  <c:v>92.286559999999994</c:v>
                </c:pt>
                <c:pt idx="173">
                  <c:v>92.395790000000005</c:v>
                </c:pt>
                <c:pt idx="174">
                  <c:v>92.504909999999995</c:v>
                </c:pt>
                <c:pt idx="175">
                  <c:v>92.613309999999998</c:v>
                </c:pt>
                <c:pt idx="176">
                  <c:v>92.713610000000003</c:v>
                </c:pt>
                <c:pt idx="177">
                  <c:v>92.815550000000002</c:v>
                </c:pt>
                <c:pt idx="178">
                  <c:v>92.913839999999993</c:v>
                </c:pt>
                <c:pt idx="179">
                  <c:v>93.017189999999999</c:v>
                </c:pt>
                <c:pt idx="180">
                  <c:v>93.120890000000003</c:v>
                </c:pt>
                <c:pt idx="181">
                  <c:v>93.224130000000002</c:v>
                </c:pt>
                <c:pt idx="182">
                  <c:v>93.315370000000001</c:v>
                </c:pt>
                <c:pt idx="183">
                  <c:v>93.402019999999993</c:v>
                </c:pt>
                <c:pt idx="184">
                  <c:v>93.487970000000004</c:v>
                </c:pt>
                <c:pt idx="185">
                  <c:v>93.573210000000003</c:v>
                </c:pt>
                <c:pt idx="186">
                  <c:v>93.650459999999995</c:v>
                </c:pt>
                <c:pt idx="187">
                  <c:v>93.726889999999997</c:v>
                </c:pt>
                <c:pt idx="188">
                  <c:v>93.797200000000004</c:v>
                </c:pt>
                <c:pt idx="189">
                  <c:v>93.865629999999996</c:v>
                </c:pt>
                <c:pt idx="190">
                  <c:v>93.938180000000003</c:v>
                </c:pt>
                <c:pt idx="191">
                  <c:v>94.010720000000006</c:v>
                </c:pt>
                <c:pt idx="192">
                  <c:v>94.084789999999998</c:v>
                </c:pt>
                <c:pt idx="193">
                  <c:v>94.156400000000005</c:v>
                </c:pt>
                <c:pt idx="194">
                  <c:v>94.224010000000007</c:v>
                </c:pt>
                <c:pt idx="195">
                  <c:v>94.287379999999999</c:v>
                </c:pt>
                <c:pt idx="196">
                  <c:v>94.351110000000006</c:v>
                </c:pt>
                <c:pt idx="197">
                  <c:v>94.420479999999998</c:v>
                </c:pt>
                <c:pt idx="198">
                  <c:v>94.494320000000002</c:v>
                </c:pt>
                <c:pt idx="199">
                  <c:v>94.572860000000006</c:v>
                </c:pt>
                <c:pt idx="200">
                  <c:v>94.660664999999995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52-4CFA-837F-0C3F51216A0D}"/>
            </c:ext>
          </c:extLst>
        </c:ser>
        <c:ser>
          <c:idx val="1"/>
          <c:order val="1"/>
          <c:tx>
            <c:v>中心七区</c:v>
          </c:tx>
          <c:spPr>
            <a:ln w="24765">
              <a:solidFill>
                <a:srgbClr val="496B63"/>
              </a:solidFill>
              <a:prstDash val="solid"/>
            </a:ln>
          </c:spPr>
          <c:marker>
            <c:symbol val="none"/>
          </c:marker>
          <c:xVal>
            <c:numRef>
              <c:f>'Chart Data'!$C$2:$C$202</c:f>
              <c:numCache>
                <c:formatCode>General</c:formatCode>
                <c:ptCount val="20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  <c:pt idx="41">
                  <c:v>1.0249999999999999</c:v>
                </c:pt>
                <c:pt idx="42">
                  <c:v>1.05</c:v>
                </c:pt>
                <c:pt idx="43">
                  <c:v>1.075</c:v>
                </c:pt>
                <c:pt idx="44">
                  <c:v>1.1000000000000001</c:v>
                </c:pt>
                <c:pt idx="45">
                  <c:v>1.125</c:v>
                </c:pt>
                <c:pt idx="46">
                  <c:v>1.1499999999999999</c:v>
                </c:pt>
                <c:pt idx="47">
                  <c:v>1.175</c:v>
                </c:pt>
                <c:pt idx="48">
                  <c:v>1.2</c:v>
                </c:pt>
                <c:pt idx="49">
                  <c:v>1.2250000000000001</c:v>
                </c:pt>
                <c:pt idx="50">
                  <c:v>1.25</c:v>
                </c:pt>
                <c:pt idx="51">
                  <c:v>1.2749999999999999</c:v>
                </c:pt>
                <c:pt idx="52">
                  <c:v>1.3</c:v>
                </c:pt>
                <c:pt idx="53">
                  <c:v>1.325</c:v>
                </c:pt>
                <c:pt idx="54">
                  <c:v>1.35</c:v>
                </c:pt>
                <c:pt idx="55">
                  <c:v>1.375</c:v>
                </c:pt>
                <c:pt idx="56">
                  <c:v>1.4</c:v>
                </c:pt>
                <c:pt idx="57">
                  <c:v>1.425</c:v>
                </c:pt>
                <c:pt idx="58">
                  <c:v>1.45</c:v>
                </c:pt>
                <c:pt idx="59">
                  <c:v>1.4750000000000001</c:v>
                </c:pt>
                <c:pt idx="60">
                  <c:v>1.5</c:v>
                </c:pt>
                <c:pt idx="61">
                  <c:v>1.5249999999999999</c:v>
                </c:pt>
                <c:pt idx="62">
                  <c:v>1.55</c:v>
                </c:pt>
                <c:pt idx="63">
                  <c:v>1.575</c:v>
                </c:pt>
                <c:pt idx="64">
                  <c:v>1.6</c:v>
                </c:pt>
                <c:pt idx="65">
                  <c:v>1.625</c:v>
                </c:pt>
                <c:pt idx="66">
                  <c:v>1.65</c:v>
                </c:pt>
                <c:pt idx="67">
                  <c:v>1.675</c:v>
                </c:pt>
                <c:pt idx="68">
                  <c:v>1.7</c:v>
                </c:pt>
                <c:pt idx="69">
                  <c:v>1.7250000000000001</c:v>
                </c:pt>
                <c:pt idx="70">
                  <c:v>1.75</c:v>
                </c:pt>
                <c:pt idx="71">
                  <c:v>1.7749999999999999</c:v>
                </c:pt>
                <c:pt idx="72">
                  <c:v>1.8</c:v>
                </c:pt>
                <c:pt idx="73">
                  <c:v>1.825</c:v>
                </c:pt>
                <c:pt idx="74">
                  <c:v>1.85</c:v>
                </c:pt>
                <c:pt idx="75">
                  <c:v>1.875</c:v>
                </c:pt>
                <c:pt idx="76">
                  <c:v>1.9</c:v>
                </c:pt>
                <c:pt idx="77">
                  <c:v>1.925</c:v>
                </c:pt>
                <c:pt idx="78">
                  <c:v>1.95</c:v>
                </c:pt>
                <c:pt idx="79">
                  <c:v>1.9750000000000001</c:v>
                </c:pt>
                <c:pt idx="80">
                  <c:v>2</c:v>
                </c:pt>
                <c:pt idx="81">
                  <c:v>2.0249999999999999</c:v>
                </c:pt>
                <c:pt idx="82">
                  <c:v>2.0499999999999998</c:v>
                </c:pt>
                <c:pt idx="83">
                  <c:v>2.0750000000000002</c:v>
                </c:pt>
                <c:pt idx="84">
                  <c:v>2.1</c:v>
                </c:pt>
                <c:pt idx="85">
                  <c:v>2.125</c:v>
                </c:pt>
                <c:pt idx="86">
                  <c:v>2.15</c:v>
                </c:pt>
                <c:pt idx="87">
                  <c:v>2.1749999999999998</c:v>
                </c:pt>
                <c:pt idx="88">
                  <c:v>2.2000000000000002</c:v>
                </c:pt>
                <c:pt idx="89">
                  <c:v>2.2250000000000001</c:v>
                </c:pt>
                <c:pt idx="90">
                  <c:v>2.25</c:v>
                </c:pt>
                <c:pt idx="91">
                  <c:v>2.2749999999999999</c:v>
                </c:pt>
                <c:pt idx="92">
                  <c:v>2.2999999999999998</c:v>
                </c:pt>
                <c:pt idx="93">
                  <c:v>2.3250000000000002</c:v>
                </c:pt>
                <c:pt idx="94">
                  <c:v>2.35</c:v>
                </c:pt>
                <c:pt idx="95">
                  <c:v>2.375</c:v>
                </c:pt>
                <c:pt idx="96">
                  <c:v>2.4</c:v>
                </c:pt>
                <c:pt idx="97">
                  <c:v>2.4249999999999998</c:v>
                </c:pt>
                <c:pt idx="98">
                  <c:v>2.4500000000000002</c:v>
                </c:pt>
                <c:pt idx="99">
                  <c:v>2.4750000000000001</c:v>
                </c:pt>
                <c:pt idx="100">
                  <c:v>2.5</c:v>
                </c:pt>
                <c:pt idx="101">
                  <c:v>2.5249999999999999</c:v>
                </c:pt>
                <c:pt idx="102">
                  <c:v>2.5499999999999998</c:v>
                </c:pt>
                <c:pt idx="103">
                  <c:v>2.5750000000000002</c:v>
                </c:pt>
                <c:pt idx="104">
                  <c:v>2.6</c:v>
                </c:pt>
                <c:pt idx="105">
                  <c:v>2.625</c:v>
                </c:pt>
                <c:pt idx="106">
                  <c:v>2.65</c:v>
                </c:pt>
                <c:pt idx="107">
                  <c:v>2.6749999999999998</c:v>
                </c:pt>
                <c:pt idx="108">
                  <c:v>2.7</c:v>
                </c:pt>
                <c:pt idx="109">
                  <c:v>2.7250000000000001</c:v>
                </c:pt>
                <c:pt idx="110">
                  <c:v>2.75</c:v>
                </c:pt>
                <c:pt idx="111">
                  <c:v>2.7749999999999999</c:v>
                </c:pt>
                <c:pt idx="112">
                  <c:v>2.8</c:v>
                </c:pt>
                <c:pt idx="113">
                  <c:v>2.8250000000000002</c:v>
                </c:pt>
                <c:pt idx="114">
                  <c:v>2.85</c:v>
                </c:pt>
                <c:pt idx="115">
                  <c:v>2.875</c:v>
                </c:pt>
                <c:pt idx="116">
                  <c:v>2.9</c:v>
                </c:pt>
                <c:pt idx="117">
                  <c:v>2.9249999999999998</c:v>
                </c:pt>
                <c:pt idx="118">
                  <c:v>2.95</c:v>
                </c:pt>
                <c:pt idx="119">
                  <c:v>2.9750000000000001</c:v>
                </c:pt>
                <c:pt idx="120">
                  <c:v>3</c:v>
                </c:pt>
                <c:pt idx="121">
                  <c:v>3.0249999999999999</c:v>
                </c:pt>
                <c:pt idx="122">
                  <c:v>3.05</c:v>
                </c:pt>
                <c:pt idx="123">
                  <c:v>3.0750000000000002</c:v>
                </c:pt>
                <c:pt idx="124">
                  <c:v>3.1</c:v>
                </c:pt>
                <c:pt idx="125">
                  <c:v>3.125</c:v>
                </c:pt>
                <c:pt idx="126">
                  <c:v>3.15</c:v>
                </c:pt>
                <c:pt idx="127">
                  <c:v>3.1749999999999998</c:v>
                </c:pt>
                <c:pt idx="128">
                  <c:v>3.2</c:v>
                </c:pt>
                <c:pt idx="129">
                  <c:v>3.2250000000000001</c:v>
                </c:pt>
                <c:pt idx="130">
                  <c:v>3.25</c:v>
                </c:pt>
                <c:pt idx="131">
                  <c:v>3.2749999999999999</c:v>
                </c:pt>
                <c:pt idx="132">
                  <c:v>3.3</c:v>
                </c:pt>
                <c:pt idx="133">
                  <c:v>3.3250000000000002</c:v>
                </c:pt>
                <c:pt idx="134">
                  <c:v>3.35</c:v>
                </c:pt>
                <c:pt idx="135">
                  <c:v>3.375</c:v>
                </c:pt>
                <c:pt idx="136">
                  <c:v>3.4</c:v>
                </c:pt>
                <c:pt idx="137">
                  <c:v>3.4249999999999998</c:v>
                </c:pt>
                <c:pt idx="138">
                  <c:v>3.45</c:v>
                </c:pt>
                <c:pt idx="139">
                  <c:v>3.4750000000000001</c:v>
                </c:pt>
                <c:pt idx="140">
                  <c:v>3.5</c:v>
                </c:pt>
                <c:pt idx="141">
                  <c:v>3.5249999999999999</c:v>
                </c:pt>
                <c:pt idx="142">
                  <c:v>3.55</c:v>
                </c:pt>
                <c:pt idx="143">
                  <c:v>3.5750000000000002</c:v>
                </c:pt>
                <c:pt idx="144">
                  <c:v>3.6</c:v>
                </c:pt>
                <c:pt idx="145">
                  <c:v>3.625</c:v>
                </c:pt>
                <c:pt idx="146">
                  <c:v>3.65</c:v>
                </c:pt>
                <c:pt idx="147">
                  <c:v>3.6749999999999998</c:v>
                </c:pt>
                <c:pt idx="148">
                  <c:v>3.7</c:v>
                </c:pt>
                <c:pt idx="149">
                  <c:v>3.7250000000000001</c:v>
                </c:pt>
                <c:pt idx="150">
                  <c:v>3.75</c:v>
                </c:pt>
                <c:pt idx="151">
                  <c:v>3.7749999999999999</c:v>
                </c:pt>
                <c:pt idx="152">
                  <c:v>3.8</c:v>
                </c:pt>
                <c:pt idx="153">
                  <c:v>3.8250000000000002</c:v>
                </c:pt>
                <c:pt idx="154">
                  <c:v>3.85</c:v>
                </c:pt>
                <c:pt idx="155">
                  <c:v>3.875</c:v>
                </c:pt>
                <c:pt idx="156">
                  <c:v>3.9</c:v>
                </c:pt>
                <c:pt idx="157">
                  <c:v>3.9249999999999998</c:v>
                </c:pt>
                <c:pt idx="158">
                  <c:v>3.95</c:v>
                </c:pt>
                <c:pt idx="159">
                  <c:v>3.9750000000000001</c:v>
                </c:pt>
                <c:pt idx="160">
                  <c:v>4</c:v>
                </c:pt>
                <c:pt idx="161">
                  <c:v>4.0250000000000004</c:v>
                </c:pt>
                <c:pt idx="162">
                  <c:v>4.05</c:v>
                </c:pt>
                <c:pt idx="163">
                  <c:v>4.0750000000000002</c:v>
                </c:pt>
                <c:pt idx="164">
                  <c:v>4.0999999999999996</c:v>
                </c:pt>
                <c:pt idx="165">
                  <c:v>4.125</c:v>
                </c:pt>
                <c:pt idx="166">
                  <c:v>4.1500000000000004</c:v>
                </c:pt>
                <c:pt idx="167">
                  <c:v>4.1749999999999998</c:v>
                </c:pt>
                <c:pt idx="168">
                  <c:v>4.2</c:v>
                </c:pt>
                <c:pt idx="169">
                  <c:v>4.2249999999999996</c:v>
                </c:pt>
                <c:pt idx="170">
                  <c:v>4.25</c:v>
                </c:pt>
                <c:pt idx="171">
                  <c:v>4.2750000000000004</c:v>
                </c:pt>
                <c:pt idx="172">
                  <c:v>4.3</c:v>
                </c:pt>
                <c:pt idx="173">
                  <c:v>4.3250000000000002</c:v>
                </c:pt>
                <c:pt idx="174">
                  <c:v>4.3499999999999996</c:v>
                </c:pt>
                <c:pt idx="175">
                  <c:v>4.375</c:v>
                </c:pt>
                <c:pt idx="176">
                  <c:v>4.4000000000000004</c:v>
                </c:pt>
                <c:pt idx="177">
                  <c:v>4.4249999999999998</c:v>
                </c:pt>
                <c:pt idx="178">
                  <c:v>4.45</c:v>
                </c:pt>
                <c:pt idx="179">
                  <c:v>4.4749999999999996</c:v>
                </c:pt>
                <c:pt idx="180">
                  <c:v>4.5</c:v>
                </c:pt>
                <c:pt idx="181">
                  <c:v>4.5250000000000004</c:v>
                </c:pt>
                <c:pt idx="182">
                  <c:v>4.55</c:v>
                </c:pt>
                <c:pt idx="183">
                  <c:v>4.5750000000000002</c:v>
                </c:pt>
                <c:pt idx="184">
                  <c:v>4.5999999999999996</c:v>
                </c:pt>
                <c:pt idx="185">
                  <c:v>4.625</c:v>
                </c:pt>
                <c:pt idx="186">
                  <c:v>4.6500000000000004</c:v>
                </c:pt>
                <c:pt idx="187">
                  <c:v>4.6749999999999998</c:v>
                </c:pt>
                <c:pt idx="188">
                  <c:v>4.7</c:v>
                </c:pt>
                <c:pt idx="189">
                  <c:v>4.7249999999999996</c:v>
                </c:pt>
                <c:pt idx="190">
                  <c:v>4.75</c:v>
                </c:pt>
                <c:pt idx="191">
                  <c:v>4.7750000000000004</c:v>
                </c:pt>
                <c:pt idx="192">
                  <c:v>4.8</c:v>
                </c:pt>
                <c:pt idx="193">
                  <c:v>4.8250000000000002</c:v>
                </c:pt>
                <c:pt idx="194">
                  <c:v>4.8499999999999996</c:v>
                </c:pt>
                <c:pt idx="195">
                  <c:v>4.875</c:v>
                </c:pt>
                <c:pt idx="196">
                  <c:v>4.9000000000000004</c:v>
                </c:pt>
                <c:pt idx="197">
                  <c:v>4.9249999999999998</c:v>
                </c:pt>
                <c:pt idx="198">
                  <c:v>4.95</c:v>
                </c:pt>
                <c:pt idx="199">
                  <c:v>4.9749999999999996</c:v>
                </c:pt>
                <c:pt idx="200">
                  <c:v>5</c:v>
                </c:pt>
              </c:numCache>
            </c:numRef>
          </c:xVal>
          <c:yVal>
            <c:numRef>
              <c:f>'Chart Data'!$D$2:$D$202</c:f>
              <c:numCache>
                <c:formatCode>General</c:formatCode>
                <c:ptCount val="201"/>
                <c:pt idx="0">
                  <c:v>0</c:v>
                </c:pt>
                <c:pt idx="1">
                  <c:v>5.8999999999999997E-2</c:v>
                </c:pt>
                <c:pt idx="2">
                  <c:v>0.24185000000000001</c:v>
                </c:pt>
                <c:pt idx="3">
                  <c:v>0.55508000000000002</c:v>
                </c:pt>
                <c:pt idx="4">
                  <c:v>1.0168509999999999</c:v>
                </c:pt>
                <c:pt idx="5">
                  <c:v>1.6608799999999999</c:v>
                </c:pt>
                <c:pt idx="6">
                  <c:v>2.4628999999999999</c:v>
                </c:pt>
                <c:pt idx="7">
                  <c:v>3.4652599999999998</c:v>
                </c:pt>
                <c:pt idx="8">
                  <c:v>4.57979</c:v>
                </c:pt>
                <c:pt idx="9">
                  <c:v>5.77956</c:v>
                </c:pt>
                <c:pt idx="10">
                  <c:v>7.0981769999999997</c:v>
                </c:pt>
                <c:pt idx="11">
                  <c:v>8.51126</c:v>
                </c:pt>
                <c:pt idx="12">
                  <c:v>10.054468</c:v>
                </c:pt>
                <c:pt idx="13">
                  <c:v>11.70772</c:v>
                </c:pt>
                <c:pt idx="14">
                  <c:v>13.43561</c:v>
                </c:pt>
                <c:pt idx="15">
                  <c:v>15.284420000000001</c:v>
                </c:pt>
                <c:pt idx="16">
                  <c:v>17.18205</c:v>
                </c:pt>
                <c:pt idx="17">
                  <c:v>19.136489999999998</c:v>
                </c:pt>
                <c:pt idx="18">
                  <c:v>21.13391</c:v>
                </c:pt>
                <c:pt idx="19">
                  <c:v>23.168479999999999</c:v>
                </c:pt>
                <c:pt idx="20">
                  <c:v>25.271567000000001</c:v>
                </c:pt>
                <c:pt idx="21">
                  <c:v>27.427029999999998</c:v>
                </c:pt>
                <c:pt idx="22">
                  <c:v>29.632059999999999</c:v>
                </c:pt>
                <c:pt idx="23">
                  <c:v>31.84947</c:v>
                </c:pt>
                <c:pt idx="24">
                  <c:v>34.157940000000004</c:v>
                </c:pt>
                <c:pt idx="25">
                  <c:v>36.526150000000001</c:v>
                </c:pt>
                <c:pt idx="26">
                  <c:v>38.906010000000002</c:v>
                </c:pt>
                <c:pt idx="27">
                  <c:v>41.315010000000001</c:v>
                </c:pt>
                <c:pt idx="28">
                  <c:v>43.721089999999997</c:v>
                </c:pt>
                <c:pt idx="29">
                  <c:v>46.104590000000002</c:v>
                </c:pt>
                <c:pt idx="30">
                  <c:v>48.446570000000001</c:v>
                </c:pt>
                <c:pt idx="31">
                  <c:v>50.725900000000003</c:v>
                </c:pt>
                <c:pt idx="32">
                  <c:v>52.957698999999998</c:v>
                </c:pt>
                <c:pt idx="33">
                  <c:v>55.245229999999999</c:v>
                </c:pt>
                <c:pt idx="34">
                  <c:v>57.395629999999997</c:v>
                </c:pt>
                <c:pt idx="35">
                  <c:v>59.470269999999999</c:v>
                </c:pt>
                <c:pt idx="36">
                  <c:v>61.531790000000001</c:v>
                </c:pt>
                <c:pt idx="37">
                  <c:v>63.524839999999998</c:v>
                </c:pt>
                <c:pt idx="38">
                  <c:v>65.466170000000005</c:v>
                </c:pt>
                <c:pt idx="39">
                  <c:v>67.336119999999994</c:v>
                </c:pt>
                <c:pt idx="40">
                  <c:v>69.054474999999996</c:v>
                </c:pt>
                <c:pt idx="41">
                  <c:v>70.860380000000006</c:v>
                </c:pt>
                <c:pt idx="42">
                  <c:v>72.554760000000002</c:v>
                </c:pt>
                <c:pt idx="43">
                  <c:v>74.190870000000004</c:v>
                </c:pt>
                <c:pt idx="44">
                  <c:v>75.786910000000006</c:v>
                </c:pt>
                <c:pt idx="45">
                  <c:v>77.285340000000005</c:v>
                </c:pt>
                <c:pt idx="46">
                  <c:v>78.702190000000002</c:v>
                </c:pt>
                <c:pt idx="47">
                  <c:v>80.060749999999999</c:v>
                </c:pt>
                <c:pt idx="48">
                  <c:v>81.375609999999995</c:v>
                </c:pt>
                <c:pt idx="49">
                  <c:v>82.678820000000002</c:v>
                </c:pt>
                <c:pt idx="50">
                  <c:v>83.864739999999998</c:v>
                </c:pt>
                <c:pt idx="51">
                  <c:v>85.029539999999997</c:v>
                </c:pt>
                <c:pt idx="52">
                  <c:v>86.120760000000004</c:v>
                </c:pt>
                <c:pt idx="53">
                  <c:v>87.120930000000001</c:v>
                </c:pt>
                <c:pt idx="54">
                  <c:v>88.057720000000003</c:v>
                </c:pt>
                <c:pt idx="55">
                  <c:v>88.871409999999997</c:v>
                </c:pt>
                <c:pt idx="56">
                  <c:v>89.621709999999993</c:v>
                </c:pt>
                <c:pt idx="57">
                  <c:v>90.334869999999995</c:v>
                </c:pt>
                <c:pt idx="58">
                  <c:v>90.986109999999996</c:v>
                </c:pt>
                <c:pt idx="59">
                  <c:v>91.580529999999996</c:v>
                </c:pt>
                <c:pt idx="60">
                  <c:v>92.086342999999999</c:v>
                </c:pt>
                <c:pt idx="61">
                  <c:v>92.576319999999996</c:v>
                </c:pt>
                <c:pt idx="62">
                  <c:v>93.034520000000001</c:v>
                </c:pt>
                <c:pt idx="63">
                  <c:v>93.481790000000004</c:v>
                </c:pt>
                <c:pt idx="64">
                  <c:v>93.905019999999993</c:v>
                </c:pt>
                <c:pt idx="65">
                  <c:v>94.2911</c:v>
                </c:pt>
                <c:pt idx="66">
                  <c:v>94.689570000000003</c:v>
                </c:pt>
                <c:pt idx="67">
                  <c:v>95.077110000000005</c:v>
                </c:pt>
                <c:pt idx="68">
                  <c:v>95.429680000000005</c:v>
                </c:pt>
                <c:pt idx="69">
                  <c:v>95.745829999999998</c:v>
                </c:pt>
                <c:pt idx="70">
                  <c:v>95.997870000000006</c:v>
                </c:pt>
                <c:pt idx="71">
                  <c:v>96.229519999999994</c:v>
                </c:pt>
                <c:pt idx="72">
                  <c:v>96.430570000000003</c:v>
                </c:pt>
                <c:pt idx="73">
                  <c:v>96.615600000000001</c:v>
                </c:pt>
                <c:pt idx="74">
                  <c:v>96.758380000000002</c:v>
                </c:pt>
                <c:pt idx="75">
                  <c:v>96.881489999999999</c:v>
                </c:pt>
                <c:pt idx="76">
                  <c:v>96.994399999999999</c:v>
                </c:pt>
                <c:pt idx="77">
                  <c:v>97.095650000000006</c:v>
                </c:pt>
                <c:pt idx="78">
                  <c:v>97.191079999999999</c:v>
                </c:pt>
                <c:pt idx="79">
                  <c:v>97.274119999999996</c:v>
                </c:pt>
                <c:pt idx="80">
                  <c:v>97.334259000000003</c:v>
                </c:pt>
                <c:pt idx="81">
                  <c:v>97.392859999999999</c:v>
                </c:pt>
                <c:pt idx="82">
                  <c:v>97.45478</c:v>
                </c:pt>
                <c:pt idx="83">
                  <c:v>97.517430000000004</c:v>
                </c:pt>
                <c:pt idx="84">
                  <c:v>97.588089999999994</c:v>
                </c:pt>
                <c:pt idx="85">
                  <c:v>97.656559999999999</c:v>
                </c:pt>
                <c:pt idx="86">
                  <c:v>97.722849999999994</c:v>
                </c:pt>
                <c:pt idx="87">
                  <c:v>97.794970000000006</c:v>
                </c:pt>
                <c:pt idx="88">
                  <c:v>97.859070000000003</c:v>
                </c:pt>
                <c:pt idx="89">
                  <c:v>97.926820000000006</c:v>
                </c:pt>
                <c:pt idx="90">
                  <c:v>97.982910000000004</c:v>
                </c:pt>
                <c:pt idx="91">
                  <c:v>98.033900000000003</c:v>
                </c:pt>
                <c:pt idx="92">
                  <c:v>98.08708</c:v>
                </c:pt>
                <c:pt idx="93">
                  <c:v>98.138800000000003</c:v>
                </c:pt>
                <c:pt idx="94">
                  <c:v>98.191980000000001</c:v>
                </c:pt>
                <c:pt idx="95">
                  <c:v>98.248800000000003</c:v>
                </c:pt>
                <c:pt idx="96">
                  <c:v>98.312899999999999</c:v>
                </c:pt>
                <c:pt idx="97">
                  <c:v>98.388660000000002</c:v>
                </c:pt>
                <c:pt idx="98">
                  <c:v>98.4666</c:v>
                </c:pt>
                <c:pt idx="99">
                  <c:v>98.548190000000005</c:v>
                </c:pt>
                <c:pt idx="100">
                  <c:v>98.626140000000007</c:v>
                </c:pt>
                <c:pt idx="101">
                  <c:v>98.701890000000006</c:v>
                </c:pt>
                <c:pt idx="102">
                  <c:v>98.775469999999999</c:v>
                </c:pt>
                <c:pt idx="103">
                  <c:v>98.842489999999998</c:v>
                </c:pt>
                <c:pt idx="104">
                  <c:v>98.907319999999999</c:v>
                </c:pt>
                <c:pt idx="105">
                  <c:v>98.969239999999999</c:v>
                </c:pt>
                <c:pt idx="106">
                  <c:v>99.024600000000007</c:v>
                </c:pt>
                <c:pt idx="107">
                  <c:v>99.076319999999996</c:v>
                </c:pt>
                <c:pt idx="108">
                  <c:v>99.125860000000003</c:v>
                </c:pt>
                <c:pt idx="109">
                  <c:v>99.173199999999994</c:v>
                </c:pt>
                <c:pt idx="110">
                  <c:v>99.219830000000002</c:v>
                </c:pt>
                <c:pt idx="111">
                  <c:v>99.258430000000004</c:v>
                </c:pt>
                <c:pt idx="112">
                  <c:v>99.289029999999997</c:v>
                </c:pt>
                <c:pt idx="113">
                  <c:v>99.311610000000002</c:v>
                </c:pt>
                <c:pt idx="114">
                  <c:v>99.331280000000007</c:v>
                </c:pt>
                <c:pt idx="115">
                  <c:v>99.350219999999993</c:v>
                </c:pt>
                <c:pt idx="116">
                  <c:v>99.374989999999997</c:v>
                </c:pt>
                <c:pt idx="117">
                  <c:v>99.398300000000006</c:v>
                </c:pt>
                <c:pt idx="118">
                  <c:v>99.428889999999996</c:v>
                </c:pt>
                <c:pt idx="119">
                  <c:v>99.462400000000002</c:v>
                </c:pt>
                <c:pt idx="120">
                  <c:v>99.504344000000003</c:v>
                </c:pt>
                <c:pt idx="121">
                  <c:v>99.539619999999999</c:v>
                </c:pt>
                <c:pt idx="122">
                  <c:v>99.573849999999993</c:v>
                </c:pt>
                <c:pt idx="123">
                  <c:v>99.60736</c:v>
                </c:pt>
                <c:pt idx="124">
                  <c:v>99.637230000000002</c:v>
                </c:pt>
                <c:pt idx="125">
                  <c:v>99.664910000000006</c:v>
                </c:pt>
                <c:pt idx="126">
                  <c:v>99.691140000000004</c:v>
                </c:pt>
                <c:pt idx="127">
                  <c:v>99.710080000000005</c:v>
                </c:pt>
                <c:pt idx="128">
                  <c:v>99.726830000000007</c:v>
                </c:pt>
                <c:pt idx="129">
                  <c:v>99.745769999999993</c:v>
                </c:pt>
                <c:pt idx="130">
                  <c:v>99.765439999999998</c:v>
                </c:pt>
                <c:pt idx="131">
                  <c:v>99.786559999999994</c:v>
                </c:pt>
                <c:pt idx="132">
                  <c:v>99.807689999999994</c:v>
                </c:pt>
                <c:pt idx="133">
                  <c:v>99.832459999999998</c:v>
                </c:pt>
                <c:pt idx="134">
                  <c:v>99.852850000000004</c:v>
                </c:pt>
                <c:pt idx="135">
                  <c:v>99.87106</c:v>
                </c:pt>
                <c:pt idx="136">
                  <c:v>99.881259999999997</c:v>
                </c:pt>
                <c:pt idx="137">
                  <c:v>99.886359999999996</c:v>
                </c:pt>
                <c:pt idx="138">
                  <c:v>99.887090000000001</c:v>
                </c:pt>
                <c:pt idx="139">
                  <c:v>99.887090000000001</c:v>
                </c:pt>
                <c:pt idx="140">
                  <c:v>99.887090000000001</c:v>
                </c:pt>
                <c:pt idx="141">
                  <c:v>99.887090000000001</c:v>
                </c:pt>
                <c:pt idx="142">
                  <c:v>99.887820000000005</c:v>
                </c:pt>
                <c:pt idx="143">
                  <c:v>99.890730000000005</c:v>
                </c:pt>
                <c:pt idx="144">
                  <c:v>99.896559999999994</c:v>
                </c:pt>
                <c:pt idx="145">
                  <c:v>99.903840000000002</c:v>
                </c:pt>
                <c:pt idx="146">
                  <c:v>99.915499999999994</c:v>
                </c:pt>
                <c:pt idx="147">
                  <c:v>99.926429999999996</c:v>
                </c:pt>
                <c:pt idx="148">
                  <c:v>99.937349999999995</c:v>
                </c:pt>
                <c:pt idx="149">
                  <c:v>99.948279999999997</c:v>
                </c:pt>
                <c:pt idx="150">
                  <c:v>99.958479999999994</c:v>
                </c:pt>
                <c:pt idx="151">
                  <c:v>99.969399999999993</c:v>
                </c:pt>
                <c:pt idx="152">
                  <c:v>99.979600000000005</c:v>
                </c:pt>
                <c:pt idx="153">
                  <c:v>99.989069999999998</c:v>
                </c:pt>
                <c:pt idx="154">
                  <c:v>99.996359999999996</c:v>
                </c:pt>
                <c:pt idx="155">
                  <c:v>99.999269999999996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C52-4CFA-837F-0C3F51216A0D}"/>
            </c:ext>
          </c:extLst>
        </c:ser>
        <c:ser>
          <c:idx val="2"/>
          <c:order val="2"/>
          <c:tx>
            <c:v>全市候选</c:v>
          </c:tx>
          <c:spPr>
            <a:ln w="9525">
              <a:solidFill>
                <a:srgbClr val="8F3E35"/>
              </a:solidFill>
            </a:ln>
          </c:spPr>
          <c:marker>
            <c:symbol val="circle"/>
            <c:size val="7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2.2749999999999999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72.476528999999999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C52-4CFA-837F-0C3F51216A0D}"/>
            </c:ext>
          </c:extLst>
        </c:ser>
        <c:ser>
          <c:idx val="3"/>
          <c:order val="3"/>
          <c:tx>
            <c:v>全市85%</c:v>
          </c:tx>
          <c:spPr>
            <a:ln w="9525">
              <a:solidFill>
                <a:srgbClr val="8F3E35"/>
              </a:solidFill>
            </a:ln>
          </c:spPr>
          <c:marker>
            <c:symbol val="triangle"/>
            <c:size val="8"/>
            <c:spPr>
              <a:solidFill>
                <a:srgbClr val="8F3E35"/>
              </a:solidFill>
              <a:ln w="9525">
                <a:solidFill>
                  <a:srgbClr val="8F3E35"/>
                </a:solidFill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3.2294559999999999</c:v>
                </c:pt>
              </c:numCache>
            </c:numRef>
          </c:xVal>
          <c:yVal>
            <c:numRef>
              <c:f>'Chart Data'!$H$2:$H$2</c:f>
              <c:numCache>
                <c:formatCode>General</c:formatCode>
                <c:ptCount val="1"/>
                <c:pt idx="0">
                  <c:v>85.001643999999999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9C52-4CFA-837F-0C3F51216A0D}"/>
            </c:ext>
          </c:extLst>
        </c:ser>
        <c:ser>
          <c:idx val="4"/>
          <c:order val="4"/>
          <c:tx>
            <c:v>七区候选</c:v>
          </c:tx>
          <c:spPr>
            <a:ln w="9525">
              <a:solidFill>
                <a:srgbClr val="496B63"/>
              </a:solidFill>
            </a:ln>
          </c:spPr>
          <c:marker>
            <c:symbol val="circle"/>
            <c:size val="7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1.125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77.234316000000007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9C52-4CFA-837F-0C3F51216A0D}"/>
            </c:ext>
          </c:extLst>
        </c:ser>
        <c:ser>
          <c:idx val="5"/>
          <c:order val="5"/>
          <c:tx>
            <c:v>七区85%</c:v>
          </c:tx>
          <c:spPr>
            <a:ln w="9525">
              <a:solidFill>
                <a:srgbClr val="496B63"/>
              </a:solidFill>
            </a:ln>
          </c:spPr>
          <c:marker>
            <c:symbol val="triangle"/>
            <c:size val="8"/>
            <c:spPr>
              <a:solidFill>
                <a:srgbClr val="496B63"/>
              </a:solidFill>
              <a:ln w="9525">
                <a:solidFill>
                  <a:srgbClr val="496B63"/>
                </a:solidFill>
              </a:ln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1.2757480000000001</c:v>
                </c:pt>
              </c:numCache>
            </c:numRef>
          </c:xVal>
          <c:yVal>
            <c:numRef>
              <c:f>'Chart Data'!$L$2:$L$2</c:f>
              <c:numCache>
                <c:formatCode>General</c:formatCode>
                <c:ptCount val="1"/>
                <c:pt idx="0">
                  <c:v>85.027760999999998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9C52-4CFA-837F-0C3F51216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0C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面积覆盖率（</a:t>
                </a:r>
                <a:r>
                  <a:rPr lang="en-US" altLang="zh-CN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%</a:t>
                </a:r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50112"/>
        <c:crosses val="autoZero"/>
        <c:crossBetween val="midCat"/>
        <c:majorUnit val="25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 sz="1275">
                    <a:solidFill>
                      <a:srgbClr val="74665F"/>
                    </a:solidFill>
                    <a:latin typeface="DengXian"/>
                    <a:ea typeface="DengXian"/>
                    <a:cs typeface="DengXian"/>
                  </a:rPr>
                  <a:t>直线半径（公里）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CBB9AD"/>
            </a:solidFill>
          </a:ln>
        </c:spPr>
        <c:txPr>
          <a:bodyPr anchorCtr="1"/>
          <a:lstStyle/>
          <a:p>
            <a:pPr>
              <a:defRPr sz="127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5F0E9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5F0E9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我们先从上海社区公共服务切入，观察人民城市的理念怎样进入普通人的日常生活。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5665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2015年12月20日至21日召开的中央城市工作会议，已经明确提出坚持以人民为中心的发展思想，坚持人民城市为人民。这说明相关表述已经进入当时的中央城市工作部署。它与2019年完整重要理念的首次提出需要区分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https://www.xinhuanet.com/politics/2015-12/22/c_1117545528.htm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024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2019年11月2日下午，习近平总书记来到杨浦滨江公共空间杨树浦水厂滨江段考察，与休闲健身的市民交流，并提出人民城市人民建，人民城市为人民的重要理念。工业滨江转为市民可以使用的公共空间，是理解这一理念的具体场景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https://cpc.people.com.cn/n1/2019/1103/c64094-31434692.html</a:t>
            </a:r>
          </a:p>
          <a:p>
            <a:r>
              <a:t>https://www.shanghai.gov.cn/nw4411/20241102/fcb650016bba4c0ebf1a633c9dbada9a.html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5260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2015.12 中央城市工作会议 明确人民城市为人民</a:t>
            </a:r>
          </a:p>
          <a:p>
            <a:r>
              <a:t>2019.11.02 杨浦滨江考察 提出完整重要理念</a:t>
            </a:r>
          </a:p>
          <a:p>
            <a:r>
              <a:t>2020.06.23 上海市委全会 部署五个人人城市</a:t>
            </a:r>
          </a:p>
          <a:p>
            <a:r>
              <a:t>2020.11.12 浦东开发开放30周年 强调宜居安居与治理</a:t>
            </a:r>
          </a:p>
          <a:p>
            <a:r>
              <a:t>2022.10.16 党的二十大报告 人民城市理念写入报告</a:t>
            </a:r>
          </a:p>
          <a:p>
            <a:r>
              <a:t>2023.11—12 上海考察 关注城市建设者住房</a:t>
            </a:r>
          </a:p>
          <a:p>
            <a:r>
              <a:t>2015年会议为12月20日至21日，报道12月22日。2019年考察11月2日，报道11月3日。二十大报告作于10月16日、全文10月25日发布。2023年考察11月28日至12月2日，建设者之家11月29日。2024年决定7月18日通过、7月21日发布。2025年7月14日讲话在2026年第2期求是发表。城市高质量发展意见8月15日落款、8月28日公开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https://www.xinhuanet.com/politics/2015-12/22/c_1117545528.htm</a:t>
            </a:r>
          </a:p>
          <a:p>
            <a:r>
              <a:t>https://cpc.people.com.cn/n1/2019/1103/c64094-31434692.html</a:t>
            </a:r>
          </a:p>
          <a:p>
            <a:r>
              <a:t>https://www.shkjdw.gov.cn/c/2020-06-23/523645.shtml</a:t>
            </a:r>
          </a:p>
          <a:p>
            <a:r>
              <a:t>https://www.xinhuanet.com/politics/2020-11/12/c_1126732554.htm</a:t>
            </a:r>
          </a:p>
          <a:p>
            <a:r>
              <a:t>https://www.xinhuanet.com/politics/2022-10/25/c_1129079429.htm</a:t>
            </a:r>
          </a:p>
          <a:p>
            <a:r>
              <a:t>https://www.cac.gov.cn/2023-12/03/c_1703306405757560.htm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7259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2024.07.18 二十届三中全会 城市更新与治理改革</a:t>
            </a:r>
          </a:p>
          <a:p>
            <a:r>
              <a:t>2024.11.02 上海市委署名文章 总结理念提出五年实践</a:t>
            </a:r>
          </a:p>
          <a:p>
            <a:r>
              <a:t>2024.11.04报道 老杨树宣讲汇回信 鼓励市民参与城市治理</a:t>
            </a:r>
          </a:p>
          <a:p>
            <a:r>
              <a:t>2025.07.14—15 中央城市工作会议 建设现代化人民城市</a:t>
            </a:r>
          </a:p>
          <a:p>
            <a:r>
              <a:t>2025.08.15落款 城市高质量发展意见 明确2030和2035年目标</a:t>
            </a:r>
          </a:p>
          <a:p>
            <a:r>
              <a:t>2026.07.15 上海市民新村考察 更新问需问计问效于民</a:t>
            </a:r>
          </a:p>
          <a:p>
            <a:r>
              <a:t>2015年会议为12月20日至21日，报道12月22日。2019年考察11月2日，报道11月3日。二十大报告作于10月16日、全文10月25日发布。2023年考察11月28日至12月2日，建设者之家11月29日。2024年决定7月18日通过、7月21日发布。2025年7月14日讲话在2026年第2期求是发表。城市高质量发展意见8月15日落款、8月28日公开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https://www.news.cn/politics/20240721/cec09ea2bde840dfb99331c48ab5523a/c.html</a:t>
            </a:r>
          </a:p>
          <a:p>
            <a:r>
              <a:t>https://www.shanghai.gov.cn/nw4411/20241102/fcb650016bba4c0ebf1a633c9dbada9a.html</a:t>
            </a:r>
          </a:p>
          <a:p>
            <a:r>
              <a:t>https://cpc.people.com.cn/n1/2024/1104/c64094-40353495.html</a:t>
            </a:r>
          </a:p>
          <a:p>
            <a:r>
              <a:t>https://www.qstheory.cn/20260115/d3e63b3075754be4a98c172afdf6d9b7/c.html</a:t>
            </a:r>
          </a:p>
          <a:p>
            <a:r>
              <a:t>https://www.mee.gov.cn/zcwj/zyygwj/202508/t20250828_1126302.shtml</a:t>
            </a:r>
          </a:p>
          <a:p>
            <a:r>
              <a:t>https://politics.people.com.cn/n1/2026/0716/c1024-40761422.html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3201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选取社区长者食堂、公园类绿地、市民健身中心、图书馆服务网点、社区文化活动中心和社区卫生服务中心，观察用餐、阅读、运动、休闲、文化学习和基本医疗。它们连接不同年龄人的生活，也包括户外空间和室内服务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2543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至2025年底，上海有521家社区长者食堂，中心图书馆一卡通体系259家机构和457个服务网点。2025年末公园名录1100座，2025年执行情况报告记载983座24小时开放。老年教育统计219所街镇老年学校、6317个居村学习点，全年线下学员累计146.73万人次。官方网络规模与本组空间测算样本的时点、筛选不同，不能直接相减推算停业数量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https://mzj.sh.gov.cn/2026bsmz/20260716/846a1b55bf3a4f5381fe26a25c17353f.html</a:t>
            </a:r>
          </a:p>
          <a:p>
            <a:r>
              <a:t>https://www.shio.gov.cn/TrueCMS/shxwbgs/ywts/content/e2631e50-9d35-41d2-821b-6c638729964d.htm</a:t>
            </a:r>
          </a:p>
          <a:p>
            <a:r>
              <a:t>https://lhsr.sh.gov.cn/lhgl/20260116/dfec3bf8-19d3-4dcb-9975-5dbd0112639f.html</a:t>
            </a:r>
          </a:p>
          <a:p>
            <a:r>
              <a:t>https://mzj.sh.gov.cn/2026bsmz/20260515/aaa41ec3fec949c79d7958aad878aa6f.html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1785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市包括16区；中心七区为黄浦、徐汇、长宁、静安、普陀、虹口和杨浦，浦东只纳入全市。面积分母分别531.61和85.76平方公里。曲线由25米采样计算，关键覆盖节点以原始几何缓冲与住宅相交复核。折中候选采用95%上限与归一化弦距判据，不是唯一最优值。R85是达到85%样本住宅面积覆盖的最小统一直线半径。动画改变半径，不是时间变化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38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社区长者食堂：全市纳入512个，R85 2.48公里；折中候选1.800公里，面积覆盖72.0%。中心七区纳入193个，R85 0.92公里；折中候选0.750公里，覆盖75.7%。动画从60%到88%覆盖，对应半径变化。60%、70%、80%、85%、88%关键节点以原始多边形计算核验；其他帧按25米采样曲线估算。图上250米/100米色格用于显示。点位名录与实际开放、收费分别核实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>
            <a:r>
              <a:t>资料文件：D:/教学相长也/人民城市/资料/（对应设施）/analysis.json、coverage_results.json；D:/教学相长也/人民城市/资料/覆盖折中点分析/tradeoff_results.json。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9203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图书馆服务网点：全市纳入385个，R85 2.56公里；折中候选1.850公里，面积覆盖72.5%。中心七区纳入117个，R85 1.17公里；折中候选1.000公里，覆盖77.0%。动画从60%到88%覆盖，对应半径变化。60%、70%、80%、85%、88%关键节点以原始多边形计算核验；其他帧按25米采样曲线估算。图上250米/100米色格用于显示。服务网点不保证自习座位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>
            <a:r>
              <a:t>资料文件：D:/教学相长也/人民城市/资料/（对应设施）/analysis.json、coverage_results.json；D:/教学相长也/人民城市/资料/覆盖折中点分析/tradeoff_results.json。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286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市民健身中心：全市纳入217个，R85 4.02公里；折中候选2.625公里，面积覆盖70.9%。中心七区纳入77个，R85 1.38公里；折中候选1.200公里，覆盖76.2%。动画从60%到88%覆盖，对应半径变化。60%、70%、80%、85%、88%关键节点以原始多边形计算核验；其他帧按25米采样曲线估算。图上250米/100米色格用于显示。点位名录与实际开放、收费分别核实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>
            <a:r>
              <a:t>资料文件：D:/教学相长也/人民城市/资料/（对应设施）/analysis.json、coverage_results.json；D:/教学相长也/人民城市/资料/覆盖折中点分析/tradeoff_results.json。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224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公园类绿地 初版：全市纳入2067个，R85 1.36公里；折中候选0.975公里，面积覆盖76.5%。中心七区纳入517个，R85 0.56公里；折中候选0.450公里，覆盖72.5%。动画从60%到88%覆盖，对应半径变化。60%、70%、80%、85%、88%关键节点以原始多边形计算核验；其他帧按25米采样曲线估算。图上250米/100米色格用于显示。绿地按范围距离；实际开放与入口待核验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>
            <a:r>
              <a:t>资料文件：D:/教学相长也/人民城市/资料/（对应设施）/analysis.json、coverage_results.json；D:/教学相长也/人民城市/资料/覆盖折中点分析/tradeoff_results.json。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9908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社区文化活动中心：全市纳入232个，R85 3.42公里；折中候选2.525公里，面积覆盖73.4%。中心七区纳入83个，R85 1.36公里；折中候选1.225公里，覆盖80.2%。动画从60%到88%覆盖，对应半径变化。60%、70%、80%、85%、88%关键节点以原始多边形计算核验；其他帧按25米采样曲线估算。图上250米/100米色格用于显示。登记同址不等于当前设有老年大学。文化中心名录221个主分组中55组与老年学校登记同址，约24.9%；中心七区27/77约35.1%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>
            <a:r>
              <a:t>资料文件：D:/教学相长也/人民城市/资料/（对应设施）/analysis.json、coverage_results.json；D:/教学相长也/人民城市/资料/覆盖折中点分析/tradeoff_results.json。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078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社区卫生服务中心：全市纳入235个，R85 3.23公里；折中候选2.275公里，面积覆盖72.5%。中心七区纳入79个，R85 1.28公里；折中候选1.125公里，覆盖77.2%。动画从60%到88%覆盖，对应半径变化。60%、70%、80%、85%、88%关键节点以原始多边形计算核验；其他帧按25米采样曲线估算。图上250米/100米色格用于显示。只计已定位中心院址，不代表全部卫生服务站。</a:t>
            </a:r>
          </a:p>
          <a:p>
            <a:r>
              <a:t>距离未计道路、围墙、过江、出入口、开放时间、费用及服务容量。85%与88%均不表示居民人口覆盖率，也不是官方15分钟步行可达率。</a:t>
            </a:r>
          </a:p>
          <a:p>
            <a:r>
              <a:t>资料文件：D:/教学相长也/人民城市/资料/（对应设施）/analysis.json、coverage_results.json；D:/教学相长也/人民城市/资料/覆盖折中点分析/tradeoff_results.json。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https://shyl.mzj.sh.gov.cn/agencyQuery</a:t>
            </a:r>
          </a:p>
          <a:p>
            <a:r>
              <a:t>https://www.library.sh.cn/guide/libraryLocation</a:t>
            </a:r>
          </a:p>
          <a:p>
            <a:r>
              <a:t>https://www.shggty.com.cn/facilityMap.html</a:t>
            </a:r>
          </a:p>
          <a:p>
            <a:r>
              <a:t>https://whlyj.sh.gov.cn/sqwhhdzx/20260818/c50581fd2b7541fb81824a485f3a368b.html</a:t>
            </a:r>
          </a:p>
          <a:p>
            <a:r>
              <a:t>https://wsjkw.sh.gov.cn/fwjg/20180601/0012-55892.html</a:t>
            </a:r>
          </a:p>
          <a:p>
            <a:r>
              <a:t>https://www.openstreetmap.org/copyright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22368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展示我家所在街道的公共服务地图，可以在图上标注自己使用的图书馆、健身中心、食堂、绿地与卫生中心。周家桥街道位于长宁区北部，辖区呈狭长型，东起凯旋路、西至威宁路、北靠苏州河。长宁区人民政府2026年3月9日发布的《周家桥街道概况》给出辖区面积约2平方公里。本页采用这一官方概况的约数，表示整个行政辖区面积，不能与前面OSM已标注居住用地的样本面积直接比较。</a:t>
            </a:r>
          </a:p>
          <a:p>
            <a:r>
              <a:t>来源：https://www.shcn.gov.cn/col7485/20260309/1306692.html</a:t>
            </a:r>
          </a:p>
          <a:p>
            <a:r>
              <a:t>地图：用户原稿提供。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稿提供的设施照片，拍摄日期未确定。公开名录所列开放时段为周一至周日8:30—20:30，节假日及临时调整以公告为准。文化活动中心整体开放时间为8:30—20:30，不代替各功能区开放时间。从个人体验看，附近的阅读和运动空间为日常生活提供便利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https://www.library.sh.cn/guide/libraryLocation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0098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稿提供的设施照片，拍摄日期未确定。公开名录所列开放时段为工作日及周末7:00—22:00，节假日及临时调整以公告为准。文化活动中心整体开放时间为8:30—20:30，不代替各功能区开放时间。从个人体验看，附近的阅读和运动空间为日常生活提供便利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r>
              <a:t>https://www.shggty.com.cn/facilityMap.html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3372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三张实景照片分别为社区食堂、公共绿地与社区卫生服务中心，由小组提供。用餐、散步与基本就医构成家门口公共服务的日常使用场景。照片中的拍摄日期、收费、服务项目和开放时间没有在本页作推断。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经过观察，我们小组尝试概括人民城市的内涵：以在城市生活和劳动的人为发展主体，通过公共制度，使城市空间、发展收益和基本服务广泛惠及居民，并保障人们能够负担生活、稳定居住、参与治理。这是小组理解，不作为官方定义。社区公共服务是理解这一理念的入口，后续衔接原PPT上海与纽约比较。</a:t>
            </a:r>
          </a:p>
          <a:p>
            <a:endParaRPr/>
          </a:p>
          <a:p>
            <a:r>
              <a:t>完整讲稿：D:/教学相长也/人民城市/人民城市的上海实践_补充插图版.docx</a:t>
            </a:r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110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建议讲述：25秒</a:t>
            </a:r>
          </a:p>
          <a:p>
            <a:r>
              <a:t>15分钟讲述取舍：定义只说一句，不在封面解释所有分项。</a:t>
            </a:r>
          </a:p>
          <a:p>
            <a:endParaRPr/>
          </a:p>
          <a:p>
            <a:r>
              <a:t>讲稿原文</a:t>
            </a:r>
          </a:p>
          <a:p>
            <a:r>
              <a:t>人民城市强调以人民为中心，让城市建设和治理回应普通人的生活需要。今天把这个问题拆成一张日常生活的考卷：上海做了什么，纽约能不能交出一份合格的答卷？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新华社《习近平：人民城市人民建，人民城市为人民》，中国政府网，2019-11-03</a:t>
            </a:r>
          </a:p>
          <a:p>
            <a:r>
              <a:t>https://www.gov.cn/xinwen/2019-11/03/content_5448082.htm</a:t>
            </a:r>
          </a:p>
          <a:p>
            <a:endParaRPr/>
          </a:p>
          <a:p>
            <a:r>
              <a:t>外滩滨江步道照片：d’n’c / Wikimedia Commons · CC BY-SA 2.0 · 2007</a:t>
            </a:r>
          </a:p>
          <a:p>
            <a:r>
              <a:t>https://commons.wikimedia.org/wiki/File:Promenade_-The_Bund_(Wai_Tan)_Shanghai-_(685405681).jpg</a:t>
            </a:r>
          </a:p>
          <a:p>
            <a:r>
              <a:t>https://creativecommons.org/licenses/by-sa/2.0</a:t>
            </a:r>
          </a:p>
          <a:p>
            <a:r>
              <a:t>本页为概念引入；第2页开始贴讲稿第1节。采用原彩色照片，未改变空间内容。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建议讲述：80秒</a:t>
            </a:r>
          </a:p>
          <a:p>
            <a:r>
              <a:t>15分钟讲述取舍：开场问题、改造实例、密度差异各一段；原文砍半敏感性计算可略。</a:t>
            </a:r>
          </a:p>
          <a:p>
            <a:endParaRPr/>
          </a:p>
          <a:p>
            <a:r>
              <a:t>讲稿原文</a:t>
            </a:r>
          </a:p>
          <a:p>
            <a:r>
              <a:t>先问大家一个问题：在纽约逛街，突然想上厕所，怎么办？</a:t>
            </a:r>
          </a:p>
          <a:p>
            <a:endParaRPr/>
          </a:p>
          <a:p>
            <a:r>
              <a:t>答案是，不太好办。纽约市政府管的公厕一共一千零六十多座，正常开放的不到一千座。纽约八百五十多万人，算下来将近九千人才摊到一座能用的。全天二十四小时开门的，整个纽约市只有八座。</a:t>
            </a:r>
          </a:p>
          <a:p>
            <a:endParaRPr/>
          </a:p>
          <a:p>
            <a:r>
              <a:t>上海这几年在公厕上是下了真功夫的。两千六百多座环卫公厕做了适老、适幼改造，一千二百多座配了第三卫生间；两千六百多座免费供应厕纸，两千多座冬天有热水。上海还在推动商场、地铁站、文化场馆的厕所向公众开放。</a:t>
            </a:r>
          </a:p>
          <a:p>
            <a:endParaRPr/>
          </a:p>
          <a:p>
            <a:r>
              <a:t>上海一共有多少处公厕？统计公报里查不到，开放平台上的公共厕所数据集记录了八千三百多处，大约三千人一处，密度是纽约的三倍左右。纽约那个数只算市政府管的，上海这个数据集统计得可能更宽；就算把这八千多处砍掉一半，也还是六千人一处，比纽约密。</a:t>
            </a:r>
          </a:p>
          <a:p>
            <a:endParaRPr/>
          </a:p>
          <a:p>
            <a:r>
              <a:t>公厕不赚钱，用得最多的是环卫工、快递员和上了年纪的人。看一座城市怎么管公厕，大致能看出它怎么对待普通人。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https://data.sh.gov.cn/</a:t>
            </a:r>
          </a:p>
          <a:p>
            <a:endParaRPr/>
          </a:p>
          <a:p>
            <a:r>
              <a:t>https://lhsr.sh.gov.cn/ywdt/20260401/00d7c161-8280-490c-a0da-d6c995e85058.html</a:t>
            </a:r>
          </a:p>
          <a:p>
            <a:endParaRPr/>
          </a:p>
          <a:p>
            <a:r>
              <a:t>https://lhsr.sh.gov.cn/ywdt/20251204/b016509f-60a6-46cd-83fa-fdab372175c7.html</a:t>
            </a:r>
          </a:p>
          <a:p>
            <a:endParaRPr/>
          </a:p>
          <a:p>
            <a:r>
              <a:t>https://council.nyc.gov/data/public-restroom-analysis/</a:t>
            </a:r>
          </a:p>
          <a:p>
            <a:r>
              <a:t>上海记录元数据：开放平台“城市设施-公共厕所”接口元数据；2020–2025时间范围，2026-09-21更新；有条件开放。人口2485.41万人÷8325≈2985人/条；纽约8584629÷973≈8823人/座。上海尚未清洗明细，不能写成已核实公厕总数。</a:t>
            </a:r>
          </a:p>
          <a:p>
            <a:r>
              <a:t>截图保留原始色彩、文字和数值。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建议讲述：80秒</a:t>
            </a:r>
          </a:p>
          <a:p>
            <a:r>
              <a:t>15分钟讲述取舍：压缩 GDP、HDI、PPP 方法论铺垫；重点说政府管辖范围和收入量级。</a:t>
            </a:r>
          </a:p>
          <a:p>
            <a:endParaRPr/>
          </a:p>
          <a:p>
            <a:r>
              <a:t>讲稿原文</a:t>
            </a:r>
          </a:p>
          <a:p>
            <a:r>
              <a:t>今天的题目是：纽约能不能叫人民城市？</a:t>
            </a:r>
          </a:p>
          <a:p>
            <a:endParaRPr/>
          </a:p>
          <a:p>
            <a:r>
              <a:t>要回答它，不能看一座城市怎么称呼自己，得放到具体的生活里去比。</a:t>
            </a:r>
          </a:p>
          <a:p>
            <a:endParaRPr/>
          </a:p>
          <a:p>
            <a:r>
              <a:t>怎么比？最常用的尺子是 GDP 和人均收入，但它们有个毛病：房租、看病、上学、理发这些服务，价格都是本地定的，没法拿现金直接换算。联合国的人类发展指数把寿命、教育、收入放在一起算，还是太粗；购买力平价算了几十年，到现在也没有一个公认的版本。所以我们只能把日常生活拆开，一项一项地比，用普通人看得懂的指标。</a:t>
            </a:r>
          </a:p>
          <a:p>
            <a:endParaRPr/>
          </a:p>
          <a:p>
            <a:r>
              <a:t>比之前，先得说清楚比的是哪个纽约。纽约市有五个区，780 平方公里，850 多万人，面积只有上海的八分之一。上海全市 6,300 多平方公里，2,480 多万人，其中将近 1,000 万是外地来沪的常住人口。纽约都会区两千万人，规模更接近上海，但它跨了三个州，没有一个统一的政府。我们要看的是一座城市的政府怎么对待自己的市民，所以拿纽约市政府管的五个区，对比上海市政府管的全市，比较合适。面积差了八倍，比总量没有意义，所以下面凡是能算人均的，我们都算人均。</a:t>
            </a:r>
          </a:p>
          <a:p>
            <a:endParaRPr/>
          </a:p>
          <a:p>
            <a:r>
              <a:t>再看收入。2024 年，纽约一户人家的收入中位数是 8.1 万美元，折合人民币约 55 万元。上海 2025 年人均可支配收入 9.2 万元，一户平均 2.24 人，一户约 20.6 万元。纽约是上海的两倍半以上。纽约这个数是税前的，扣完税要缩水；上海这个数是平均数，普通家庭够不着平均数，也要缩水。两边都挤掉水分，还是两倍半上下。从手里的现金看，纽约比上海宽裕得多。</a:t>
            </a:r>
          </a:p>
          <a:p>
            <a:endParaRPr/>
          </a:p>
          <a:p>
            <a:r>
              <a:t>但收入差两倍半，不等于日子差两倍半。所以我们先比住、吃、穿、行四个基本项，再比医疗、治安、教育、文化四个加分项，最后单独看一题：怎么对待最穷的人。能找到上海具体做法的题，我们先讲上海做了什么，再看结果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https://tjj.sh.gov.cn/ydsj71/20260120/39ae4cd58421478d897b739d83f39c10.html</a:t>
            </a:r>
          </a:p>
          <a:p>
            <a:endParaRPr/>
          </a:p>
          <a:p>
            <a:r>
              <a:t>https://tjj.sh.gov.cn/tjgb/20260630/b74619258aee4912a55a1da928b5be30.html</a:t>
            </a:r>
          </a:p>
          <a:p>
            <a:endParaRPr/>
          </a:p>
          <a:p>
            <a:r>
              <a:t>https://rentguidelinesboard.cityofnewyork.us/wp-content/uploads/2026/04/2026-IA.pdf</a:t>
            </a:r>
          </a:p>
          <a:p>
            <a:endParaRPr/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https://www.health.ny.gov/statistics/vital_statistics/2022/table02.htm</a:t>
            </a:r>
          </a:p>
          <a:p>
            <a:endParaRPr/>
          </a:p>
          <a:p>
            <a:r>
              <a:t>https://www.nyc.gov/content/planning/pages/planning/population</a:t>
            </a:r>
          </a:p>
          <a:p>
            <a:endParaRPr/>
          </a:p>
          <a:p>
            <a:r>
              <a:t>口径：</a:t>
            </a:r>
          </a:p>
          <a:p>
            <a:r>
              <a:t>纽约为税前户收入中位数；上海由人均可支配收入均值×家庭户规模估算。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建议讲述：75秒</a:t>
            </a:r>
          </a:p>
          <a:p>
            <a:r>
              <a:t>15分钟讲述取舍：先讲纽约住房压力，再讲上海举措与 59.0% 对 32.3%，末句明确胜负。</a:t>
            </a:r>
          </a:p>
          <a:p>
            <a:endParaRPr/>
          </a:p>
          <a:p>
            <a:r>
              <a:t>讲稿原文</a:t>
            </a:r>
          </a:p>
          <a:p>
            <a:r>
              <a:t>住是日常开销里最大的一块，也最值得比。</a:t>
            </a:r>
          </a:p>
          <a:p>
            <a:endParaRPr/>
          </a:p>
          <a:p>
            <a:r>
              <a:t>纽约的问题在于，大多数人住的房子不是自己的。2023 年，纽约市只有 32% 的家庭住在自己的房子里，三分之二租房；租房的家庭里，一半以上要把三成以上的收入交给房东。租房空置率只有 1.4%，是 1968 年以来最低。在纽约，连找到一套能租的房子都难。</a:t>
            </a:r>
          </a:p>
          <a:p>
            <a:endParaRPr/>
          </a:p>
          <a:p>
            <a:r>
              <a:t>上海的情况正好相反。2020 年人口普查，上海家庭的自有住房比例是 59%。这里面有一块，是当年房改时职工买下的原公有住房，算是住房政策留下的成果。普查只算家庭户，住集体宿舍的人没算进去，真实比例会低一些；但两边差了 27 个百分点，扣掉几个点也还是一大截。</a:t>
            </a:r>
          </a:p>
          <a:p>
            <a:endParaRPr/>
          </a:p>
          <a:p>
            <a:r>
              <a:t>没有自己房子的人，上海这几年也在管。2025 年一年筹措了 7.4 万套保障性租赁住房，给一线务工人员备下 3.2 万张床位。老小区也在修，一年给老楼加装了 3,000 多台电梯。</a:t>
            </a:r>
          </a:p>
          <a:p>
            <a:endParaRPr/>
          </a:p>
          <a:p>
            <a:r>
              <a:t>房租负担本来是更直接的指标，可上海统计部门不公布租金，商业网站上的数各说各话，这一项我们只好放弃，最后再说。</a:t>
            </a:r>
          </a:p>
          <a:p>
            <a:endParaRPr/>
          </a:p>
          <a:p>
            <a:r>
              <a:t>59% 对 32%，住这方面，上海有明显优势。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https://tjj.sh.gov.cn/tjnj/2020rktjnj/BNJc-9-4.jpg</a:t>
            </a:r>
          </a:p>
          <a:p>
            <a:r>
              <a:t>https://www.nyc.gov/assets/hpd/downloads/pdfs/about/2023%20NYCHVS%20Selected%20Initial%20Findings.pdf</a:t>
            </a:r>
          </a:p>
          <a:p>
            <a:r>
              <a:t>https://tjj.sh.gov.cn/tjgb/20260330/e0772941e8e041eaaad2df850b44ef98.html</a:t>
            </a:r>
          </a:p>
          <a:p>
            <a:r>
              <a:t>上海为七普长表家庭户，纽约为HVS已入住住房；分母与年份不同。</a:t>
            </a:r>
          </a:p>
          <a:p>
            <a:r>
              <a:t>纽约租金负担51.6%为2024ACS，2026 RGB报告引用；租赁空置率1.41%来自2023 HVS。上海7.4万为建设筹措量，非全部交付量。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建议讲述：75秒</a:t>
            </a:r>
          </a:p>
          <a:p>
            <a:r>
              <a:t>15分钟讲述取舍：吃讲花销与价格效应，穿讲可贸易商品，避免连续重复 4.7 倍与 7 倍。</a:t>
            </a:r>
          </a:p>
          <a:p>
            <a:endParaRPr/>
          </a:p>
          <a:p>
            <a:r>
              <a:t>讲稿原文</a:t>
            </a:r>
          </a:p>
          <a:p>
            <a:r>
              <a:t>吃和穿，是上海的短板。纽约市没有单独的统计，我们用纽约州的数据：2025 年，纽约州人均一年在家吃饭花 4,389 美元，在外吃饭花 5,005 美元，加起来 9,394 美元，折合人民币 6.3 万元。上海 2024 年人均食品烟酒支出 1.35 万元，纽约是上海的 4.7 倍。</a:t>
            </a:r>
          </a:p>
          <a:p>
            <a:endParaRPr/>
          </a:p>
          <a:p>
            <a:r>
              <a:t>但这个 4.7 倍不能按字面来看。餐饮价格和工资关联很大，纽约工资高，同样一顿饭也贵得多，花的钱多不等于吃得好那么多。反过来，美国的基础农产品供应水平确实比我们高。所以吃这一项，纽约人比上海人吃得好一些，但优势没有数字看上去那么大。</a:t>
            </a:r>
          </a:p>
          <a:p>
            <a:endParaRPr/>
          </a:p>
          <a:p>
            <a:r>
              <a:t>穿就是压倒性的了。2024 年，上海人均一年买衣服花 1,936 元；2025 年，纽约州人均花 1,947 美元，折合人民币 1.3 万元，接近上海的 7 倍。这次不能拿购买力做借口：衣服是全球化程度最高的商品，同一件衣服在两地的价格差不了太多，花的钱差 7 倍，就是穿得差。这方面必须承认，纽约的水平高得多。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https://apps.bea.gov/regional/zip/SAPCE.zip</a:t>
            </a:r>
          </a:p>
          <a:p>
            <a:r>
              <a:t>https://tjj.sh.gov.cn/tjnj/2025tjnj/C0905.htm</a:t>
            </a:r>
          </a:p>
          <a:p>
            <a:endParaRPr/>
          </a:p>
          <a:p>
            <a:r>
              <a:t>https://apps.bea.gov/regional/zip/SAPCE.zip</a:t>
            </a:r>
          </a:p>
          <a:p>
            <a:r>
              <a:t>https://tjj.sh.gov.cn/tjnj/2025tjnj/C0905.htm</a:t>
            </a:r>
          </a:p>
          <a:p>
            <a:r>
              <a:t>纽约州2025在家食品饮料4389美元，餐饮住宿5005美元（含住宿），合9394美元，折63249.802元；上海食品烟酒13550元。衣着纽约州1947美元×6.733=13109.151元，对上海1936元。不得把餐饮住宿写成纯餐饮。数据与图示为官方年度消费记录，不采用Wi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建议讲述：80秒</a:t>
            </a:r>
          </a:p>
          <a:p>
            <a:r>
              <a:t>15分钟讲述取舍：只保留一个票价折算例子；正文不报衣食住行“二比二”。备注仍完整保留新版第 5 节原文。</a:t>
            </a:r>
          </a:p>
          <a:p>
            <a:endParaRPr/>
          </a:p>
          <a:p>
            <a:r>
              <a:t>讲稿原文</a:t>
            </a:r>
          </a:p>
          <a:p>
            <a:r>
              <a:t>纽约是美国公共交通最好的城市。将近一半的纽约家庭靠公共交通出行，全美只有 4%。所以纽约都会区的家庭，花在交通上的钱只占消费的 14%，全美平均是 17%。</a:t>
            </a:r>
          </a:p>
          <a:p>
            <a:endParaRPr/>
          </a:p>
          <a:p>
            <a:r>
              <a:t>但放到上海面前，纽约这点优势就不够看了。上海第一条地铁 1993 年才开通，三十多年修了 22 条线、960 多公里，是纽约的两倍多；地铁和公交两小时内换乘，还能优惠 1 块钱。2025 年，上海地铁运了 37 亿人次，纽约将近 13 亿人次，按人头算，两边每人每年都坐 150 次左右，用得一样多。</a:t>
            </a:r>
          </a:p>
          <a:p>
            <a:endParaRPr/>
          </a:p>
          <a:p>
            <a:r>
              <a:t>差别在用不用得起。纽约坐一趟地铁 3 美元，合人民币 20 块钱；就算按两城两倍半的收入差距打个折，也相当于上海人花 7 块多钱坐一趟，上海只要 3 到 4 块。纽约一周通勤最多收 35 美元，打完折也要 90 块左右，上海按一周 10 趟、每趟 4 块算，是 40 块。上海还有 18 块钱的一日票、45 块钱的三日票，72 小时随便坐。上海交通加通信两项合计，只占消费的 10.6%，纽约光交通一项就是 14%。</a:t>
            </a:r>
          </a:p>
          <a:p>
            <a:endParaRPr/>
          </a:p>
          <a:p>
            <a:r>
              <a:t>对比下来，显然是上海的性价比更高。日常出行，上海是压倒性优势。</a:t>
            </a:r>
          </a:p>
          <a:p>
            <a:endParaRPr/>
          </a:p>
          <a:p>
            <a:r>
              <a:t>衣食住行四项比下来：上海出行领先得最多，住房明显占优；纽约穿衣差距最大，吃饭稍微胜出。双方各有一个压倒性优势，这四项算二比二打平。这只是给基本项收个尾，整张卷子我们不算总分，原因到计分表再说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https://portal.311.nyc.gov/article/?kanumber=KA-01014</a:t>
            </a:r>
          </a:p>
          <a:p>
            <a:r>
              <a:t>https://www.nyc.gov/site/opa/commuters/commuters.page</a:t>
            </a:r>
          </a:p>
          <a:p>
            <a:r>
              <a:t>https://service.shmetro.com/cpxz/3983.htm</a:t>
            </a:r>
          </a:p>
          <a:p>
            <a:r>
              <a:t>https://service.shmetro.com/pwyh/index.htm</a:t>
            </a:r>
          </a:p>
          <a:p>
            <a:r>
              <a:t>https://service.shmetro.com/cpxz/index.htm</a:t>
            </a:r>
          </a:p>
          <a:p>
            <a:r>
              <a:t>https://tjj.sh.gov.cn/tjnj/2025tjnj/C0913.htm</a:t>
            </a:r>
          </a:p>
          <a:p>
            <a:r>
              <a:t>https://www.bls.gov/regions/northeast/news-release/consumerexpenditures_newyork.htm</a:t>
            </a:r>
          </a:p>
          <a:p>
            <a:endParaRPr/>
          </a:p>
          <a:p>
            <a:r>
              <a:t>https://tjj.sh.gov.cn/ydsj71/20260120/39ae4cd58421478d897b739d83f39c10.html</a:t>
            </a:r>
          </a:p>
          <a:p>
            <a:endParaRPr/>
          </a:p>
          <a:p>
            <a:r>
              <a:t>https://tjj.sh.gov.cn/tjgb/20260630/b74619258aee4912a55a1da928b5be30.html</a:t>
            </a:r>
          </a:p>
          <a:p>
            <a:endParaRPr/>
          </a:p>
          <a:p>
            <a:r>
              <a:t>https://rentguidelinesboard.cityofnewyork.us/wp-content/uploads/2026/04/2026-IA.pdf</a:t>
            </a:r>
          </a:p>
          <a:p>
            <a:endParaRPr/>
          </a:p>
          <a:p>
            <a:r>
              <a:t>口径：</a:t>
            </a:r>
          </a:p>
          <a:p>
            <a:r>
              <a:t>票价按户收入差2.65倍折算；支出占比为纽约都会区交通（2022–23）对上海交通通信（2024）。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建议讲述：110秒</a:t>
            </a:r>
          </a:p>
          <a:p>
            <a:r>
              <a:t>15分钟讲述取舍：四行各约 25 秒：结果指标、判分和一句解释；原文投入、寿命、PISA、百老汇作备注参考，不逐字朗读。</a:t>
            </a:r>
          </a:p>
          <a:p>
            <a:endParaRPr/>
          </a:p>
          <a:p>
            <a:r>
              <a:t>讲稿原文</a:t>
            </a:r>
          </a:p>
          <a:p>
            <a:r>
              <a:t>上海在医疗上肯花钱：2024 年财政花在卫生健康上的是 732 亿元，参加医保的超过 2,000 万人。但钱花得值不值，不看投入，要看结果。</a:t>
            </a:r>
          </a:p>
          <a:p>
            <a:endParaRPr/>
          </a:p>
          <a:p>
            <a:r>
              <a:t>先看人均期望寿命：上海 83.18 岁，纽约 83.2 岁，几乎一样，分不出高下。上海这个数还停在 2022 年，这一点最后再说。</a:t>
            </a:r>
          </a:p>
          <a:p>
            <a:endParaRPr/>
          </a:p>
          <a:p>
            <a:r>
              <a:t>寿命分不出来，就看两个国际上衡量医疗体系最常用的指标：婴儿死亡率和孕产妇死亡率。它们看的是普通家庭生孩子、养孩子的时候，医疗体系兜不兜得住。</a:t>
            </a:r>
          </a:p>
          <a:p>
            <a:endParaRPr/>
          </a:p>
          <a:p>
            <a:r>
              <a:t>婴儿死亡率，上海 2025 年是千分之 2.34，纽约 2023 年是千分之 4.2，高出八成。孕产妇死亡率差得更远：上海 2025 年每 10 万名活产婴儿对应 1.85 例；纽约 2022 年同样算到产后 42 天，大约是 21 例，是上海的 10 倍以上。</a:t>
            </a:r>
          </a:p>
          <a:p>
            <a:endParaRPr/>
          </a:p>
          <a:p>
            <a:r>
              <a:t>婴儿差八成，产妇差十倍。寿命已经拉不开，这两项拉开了，所以医疗方面，上海优势明显。</a:t>
            </a:r>
          </a:p>
          <a:p>
            <a:endParaRPr/>
          </a:p>
          <a:p>
            <a:r>
              <a:t>治安更不用多说。2024 年，上海杀人案立案 46 起，平均八天一起，每 10 万人约 0.19 起。2025 年，纽约谋杀案 305 起，差不多每天一起，每 10 万人约 3.6 起，是上海的 19 倍。两边统计口径略有不同，但差了一个数量级，纽约在安全方面和上海没有可比性。</a:t>
            </a:r>
          </a:p>
          <a:p>
            <a:endParaRPr/>
          </a:p>
          <a:p>
            <a:r>
              <a:t>教育只比义务教育，也就是每个孩子都要上的那部分。</a:t>
            </a:r>
          </a:p>
          <a:p>
            <a:endParaRPr/>
          </a:p>
          <a:p>
            <a:r>
              <a:t>上海的小学和初中，净入学率都是 99.9%。上海学生在国际学生测评 PISA 里拿过两次第一：2009 年阅读 556 分，2012 年数学 613 分，同一年美国学生的数学是 481 分。不过这是十多年前的成绩，之后上海不再单独参加，只能当背景。</a:t>
            </a:r>
          </a:p>
          <a:p>
            <a:endParaRPr/>
          </a:p>
          <a:p>
            <a:r>
              <a:t>现在能比的是生师比，也就是一位老师平均带几个学生。上海中小学是 12.5 个，纽约公立学校是 13.2 个，差不多。</a:t>
            </a:r>
          </a:p>
          <a:p>
            <a:endParaRPr/>
          </a:p>
          <a:p>
            <a:r>
              <a:t>差别在区与区之间。纽约 32 个学区，最宽松的一位老师带 8.7 个学生，最紧的带 13.9 个。上海各区的小学也差得不小：人口还在往里涌的嘉定、松江、闵行，一位小学老师要带 15 个学生；黄浦、长宁这些老城区，只带 11 个左右。学生往哪里去，老师没有完全跟上。</a:t>
            </a:r>
          </a:p>
          <a:p>
            <a:endParaRPr/>
          </a:p>
          <a:p>
            <a:r>
              <a:t>教育方面，两城整体差不多，算打平。但上海最紧的区，一位老师带 15 个学生，比纽约最紧的学区还紧，区与区之间的均衡是上海要补的。</a:t>
            </a:r>
          </a:p>
          <a:p>
            <a:endParaRPr/>
          </a:p>
          <a:p>
            <a:r>
              <a:t>上海这几年在把文化往家门口搬。全市划出 1,600 个"15 分钟社区生活圈"，走十几分钟就能到文化、体育、养老设施；公园一年新开 127 座，2025 年全市营业性演出 6 万多场。</a:t>
            </a:r>
          </a:p>
          <a:p>
            <a:endParaRPr/>
          </a:p>
          <a:p>
            <a:r>
              <a:t>但文化是纽约的传统强项。百老汇一个演出季将近 1,460 万人次观众，不过那是生意，更值得比的是不赚钱的那部分：纽约三大公共图书馆系统有 200 多个网点，大约四万人就有一个；市政府今年资助了 1,171 家文化机构，其中 96% 提供免费或者有补贴的项目。</a:t>
            </a:r>
          </a:p>
          <a:p>
            <a:endParaRPr/>
          </a:p>
          <a:p>
            <a:r>
              <a:t>上海街道、乡镇图书馆分馆的全市数字，我们没找到；但光看由财政托底、向所有市民免费开放的文化项目，纽约做到了上千家机构的规模。文化方面，纽约领先。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医疗</a:t>
            </a:r>
          </a:p>
          <a:p>
            <a:r>
              <a:t>https://tjj.sh.gov.cn/tjgb/20260330/e0772941e8e041eaaad2df850b44ef98.html</a:t>
            </a:r>
          </a:p>
          <a:p>
            <a:r>
              <a:t>https://wsjkw.sh.gov.cn/tjsj2/20260730/7154e5b1603642a8a3c7c0b2b8b3b149.html</a:t>
            </a:r>
          </a:p>
          <a:p>
            <a:r>
              <a:t>https://www.nyc.gov/assets/doh/downloads/pdf/vs/2023sum.pdf</a:t>
            </a:r>
          </a:p>
          <a:p>
            <a:r>
              <a:t>https://www.nyc.gov/assets/doh/downloads/pdf/data/maternal-mortality-annual-report-2025.pdf</a:t>
            </a:r>
          </a:p>
          <a:p>
            <a:endParaRPr/>
          </a:p>
          <a:p>
            <a:r>
              <a:t>治安</a:t>
            </a:r>
          </a:p>
          <a:p>
            <a:r>
              <a:t>https://tjj.sh.gov.cn/tjnj/2025tjnj/C2303.htm</a:t>
            </a:r>
          </a:p>
          <a:p>
            <a:r>
              <a:t>https://www.nyc.gov/site/nypd/news/PR001/nypd-safest-year-ever-gun-violence-fewest-shooting-incidents-shooting</a:t>
            </a:r>
          </a:p>
          <a:p>
            <a:endParaRPr/>
          </a:p>
          <a:p>
            <a:r>
              <a:t>教育</a:t>
            </a:r>
          </a:p>
          <a:p>
            <a:r>
              <a:t>https://tjj.sh.gov.cn/tjnj/2025tjnj/C2015.htm</a:t>
            </a:r>
          </a:p>
          <a:p>
            <a:r>
              <a:t>https://tjj.sh.gov.cn/tjnj/2025tjnj/C2013.htm</a:t>
            </a:r>
          </a:p>
          <a:p>
            <a:r>
              <a:t>https://tjj.sh.gov.cn/tjnj/2025tjnj/C2004.htm</a:t>
            </a:r>
          </a:p>
          <a:p>
            <a:r>
              <a:t>https://data.nysed.gov/studenteducator.php?year=2025&amp;instid=7889678368</a:t>
            </a:r>
          </a:p>
          <a:p>
            <a:endParaRPr/>
          </a:p>
          <a:p>
            <a:r>
              <a:t>文化</a:t>
            </a:r>
          </a:p>
          <a:p>
            <a:r>
              <a:t>https://www.nypl.org/about/locations</a:t>
            </a:r>
          </a:p>
          <a:p>
            <a:r>
              <a:t>https://www.bklynlibrary.org/browse-the-branches/about</a:t>
            </a:r>
          </a:p>
          <a:p>
            <a:r>
              <a:t>http://gis.nyc.gov/site/dcla/about/pressrelease/PR-2026-2-26-NYC-Department-of-Cultural-Affairs-Announces-74.3-Million-in-Grants-for-1171-Cultural-Organizations-Across-the-City.page</a:t>
            </a:r>
          </a:p>
          <a:p>
            <a:r>
              <a:t>https://tjj.sh.gov.cn/tjgb/20260330/e0772941e8e041eaaad2df850b44ef98.html</a:t>
            </a:r>
          </a:p>
          <a:p>
            <a:r>
              <a:t>https://english.shanghai.gov.cn/en-Latest-WhatsNew/20260212/af11d8de7fd24819bff50c940e428855.html</a:t>
            </a:r>
          </a:p>
          <a:p>
            <a:endParaRPr/>
          </a:p>
          <a:p>
            <a:r>
              <a:t>口径：</a:t>
            </a:r>
          </a:p>
          <a:p>
            <a:r>
              <a:t>纽约孕产妇死亡约21/10万由报告按产后42天折算；两项医疗结局统计年份不同。</a:t>
            </a:r>
          </a:p>
          <a:p>
            <a:r>
              <a:t>上海为杀人案立案，纽约为谋杀案；年份不同，比率由案件与人口计算。</a:t>
            </a:r>
          </a:p>
          <a:p>
            <a:r>
              <a:t>生师比由官方学生与教师数计算；上海中小学含高中，纽约为K–12。</a:t>
            </a:r>
          </a:p>
          <a:p>
            <a:r>
              <a:t>按公共图书馆网络与文化资助作判断；上海市区馆20个不用于与纽约全部网点硬比。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建议讲述：75秒</a:t>
            </a:r>
          </a:p>
          <a:p>
            <a:r>
              <a:t>15分钟讲述取舍：只报纽约总量与街头露宿人数，不再串报贫困率、收容所日均和庇护者人数。</a:t>
            </a:r>
          </a:p>
          <a:p>
            <a:endParaRPr/>
          </a:p>
          <a:p>
            <a:r>
              <a:t>讲稿原文</a:t>
            </a:r>
          </a:p>
          <a:p>
            <a:r>
              <a:t>最后一项，是两座城市怎么对待最穷的人。</a:t>
            </a:r>
          </a:p>
          <a:p>
            <a:endParaRPr/>
          </a:p>
          <a:p>
            <a:r>
              <a:t>上海的做法是先把网铺开，真穷到底了，有人接着。低保标准城乡统一，2026 年 7 月起是每人每月 1,690 元；吃饭有近 2,500 个老年助餐点，养老有社区为老服务中心，找工作有 500 多个家门口的就业服务站。</a:t>
            </a:r>
          </a:p>
          <a:p>
            <a:endParaRPr/>
          </a:p>
          <a:p>
            <a:r>
              <a:t>纽约这边，官方贫困率 18%，布朗克斯区接近 29%。2025 年 1 月联邦政府做了一次一夜点数，纽约市无家可归的有 12.6 万人，其中 4,600 多人直接睡在街上。</a:t>
            </a:r>
          </a:p>
          <a:p>
            <a:endParaRPr/>
          </a:p>
          <a:p>
            <a:r>
              <a:t>最让人想不通的是，纽约不是不知道这些人在哪里。收容所住了多少人，市政府每天公布，2026 年 3 月平均每天约八万五千人。问题出在出口上：全市租房空置率只有 1.4%，收容所里的人找不到房子可搬。人数数得清清楚楚，问题就是解决不了。</a:t>
            </a:r>
          </a:p>
          <a:p>
            <a:endParaRPr/>
          </a:p>
          <a:p>
            <a:r>
              <a:t>上海有多少人露宿街头？官方没有公布，我们不估。能比的，是两边的做法和纽约公布的结果：上海的托底从低保铺到了吃饭、养老、找工作；纽约自己公布的数字里，有十二万多人没有住处。对待最穷的人，上海做得好得多，这也是纽约失分最重的一题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https://files.hudexchange.info/reports/published/CoC_PopSub_CoC_NY-600-2025_NY_2025.pdf</a:t>
            </a:r>
          </a:p>
          <a:p>
            <a:r>
              <a:t>https://rentguidelinesboard.cityofnewyork.us/wp-content/uploads/2026/04/2026-IA.pdf</a:t>
            </a:r>
          </a:p>
          <a:p>
            <a:r>
              <a:t>https://www.nyc.gov/assets/dhs/downloads/pdf/dashboard/tables/FY26-DHS-Data-Dashboard-Data.pdf</a:t>
            </a:r>
          </a:p>
          <a:p>
            <a:r>
              <a:t>https://mzj.sh.gov.cn/MZ_zhuzhan277_0-2-8-15-55-229/20260702/d95374094d6041a19b2591fd241126cb.html</a:t>
            </a:r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口径：</a:t>
            </a:r>
          </a:p>
          <a:p>
            <a:r>
              <a:t>纽约为HUD一夜点数；上海露宿人数未公开，判断结合托底制度与纽约结果。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建议讲述：35秒</a:t>
            </a:r>
          </a:p>
          <a:p>
            <a:r>
              <a:t>15分钟讲述取舍：从文化与养老接到“上海做了什么”；只说空间分布，四个百分比不逐个念。</a:t>
            </a:r>
          </a:p>
          <a:p>
            <a:endParaRPr/>
          </a:p>
          <a:p>
            <a:r>
              <a:t>讲稿原文</a:t>
            </a:r>
          </a:p>
          <a:p>
            <a:r>
              <a:t>九道题之外，再补两件上海做的事。先看托底的服务离居民有多近。我们拿开放地图的数据，在中心七区算了一笔账：住宅用地里，一公里内有社区长者食堂的占 87.5%，有图书馆服务点的占 77%，有市民健身中心的只占 64%。</a:t>
            </a:r>
          </a:p>
          <a:p>
            <a:r>
              <a:t>吃饭这件事，基本已经送到了家门口；健身设施还有三分之一多的住宅区够不着。这组数按直线距离算，看的是分布：哪里方便，哪里还要补，图上一目了然。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地图由同学提供，快照2026-10-12</a:t>
            </a:r>
          </a:p>
          <a:p>
            <a:r>
              <a:t>https://shyl.mzj.sh.gov.cn/agencyQuery</a:t>
            </a:r>
          </a:p>
          <a:p>
            <a:r>
              <a:t>https://www.shggty.com.cn/facilityMap.html</a:t>
            </a:r>
          </a:p>
          <a:p>
            <a:r>
              <a:t>https://www.library.sh.cn/guide/libraryLocation</a:t>
            </a:r>
          </a:p>
          <a:p>
            <a:r>
              <a:t>https://www.openstreetmap.org/copyright</a:t>
            </a:r>
          </a:p>
          <a:p>
            <a:r>
              <a:t>补充材料口播：这四张图把家门口的服务落到空间上。食堂、绿地、健身中心和图书馆的分布不同，便于我们观察哪里更方便、哪里还需要补。</a:t>
            </a:r>
          </a:p>
          <a:p>
            <a:r>
              <a:t>统一中心七区：黄浦、徐汇、长宁、静安、普陀、虹口、杨浦；不含浦东。分母为OSM已标注residential面积85.75580078037885平方公里，非人口、非全市官方住宅用地。仅七区内部设施，有边缘效应。原面相交结果87.48193829834865%、99.32504463710123%、64.3537336960096%、77.01016818720243%。绿地517个面不是517座公园，按边界测距、开放状态未完全核验；其他按点测距。未建模路网、围墙、营业时间、容量。四项不可相加、平均成综合覆盖。保留地图原始色系，几何和数据不变。官方2024年15分钟步行可达覆盖率88%属另一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建议讲述：30秒</a:t>
            </a:r>
          </a:p>
          <a:p>
            <a:r>
              <a:t>15分钟讲述取舍：每个例子一句，承接公共服务，同时为末尾数据透明作伏笔。</a:t>
            </a:r>
          </a:p>
          <a:p>
            <a:endParaRPr/>
          </a:p>
          <a:p>
            <a:r>
              <a:t>讲稿原文</a:t>
            </a:r>
          </a:p>
          <a:p>
            <a:r>
              <a:t>上海这几年也在改办事的过程。"一网通办"接了 3,800 多项服务，实际网办率 89.53%，很多事已经不用再去窗口排队。</a:t>
            </a:r>
          </a:p>
          <a:p>
            <a:r>
              <a:t>建设上，居民也插得上话。普陀区泰山人民坊改造，动工前开了 12 场座谈会，收回 3,826 份问卷；方案拿出来，又开了 5 轮专题论证；建成以后，还请居民开了 3 场评议会。从提需求、定方案到建成后的评价，居民每一步都有发言的机会。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https://ghzyj.sh.gov.cn/gzdt/20251224/f5b8e34f5c834200910639b27717dfdf.html</a:t>
            </a:r>
          </a:p>
          <a:p>
            <a:r>
              <a:t>补充材料口播：上海不仅增加设施，也在改变服务的过程。一网通办减少线下跑腿；泰山人民坊让居民从提出需要、论证方案一直参与到建成后的评议。</a:t>
            </a:r>
          </a:p>
          <a:p>
            <a:r>
              <a:t>实际网办率89.53%，好评率99.94%，不写成89.53%的事项可从头到尾网办。泰山人民坊：12场专项座谈、3826份问卷，5轮专题论证，3场事后评议。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建议讲述：35秒</a:t>
            </a:r>
          </a:p>
          <a:p>
            <a:r>
              <a:t>15分钟讲述取舍：挑两条摘录口播，其他留给观众阅读；用个人体验呼应前面的统计。</a:t>
            </a:r>
          </a:p>
          <a:p>
            <a:endParaRPr/>
          </a:p>
          <a:p>
            <a:r>
              <a:t>讲稿原文</a:t>
            </a:r>
          </a:p>
          <a:p>
            <a:endParaRPr/>
          </a:p>
          <a:p>
            <a:endParaRPr/>
          </a:p>
          <a:p>
            <a:r>
              <a:t>数据来源与完整口径</a:t>
            </a:r>
          </a:p>
          <a:p>
            <a:r>
              <a:t>原始微信截图和访谈文字整理由组员保存。</a:t>
            </a:r>
          </a:p>
          <a:p>
            <a:r>
              <a:t>本页补充讲稿：一位在纽约生活的同学，谈到住房、通勤、公共空间和应急保障。这里挑两条原话：公共空间很多，但突发事件中的生活保障仍需要个人储蓄或商业保险。个人体验与前面的统计相互补充。</a:t>
            </a:r>
          </a:p>
          <a:p>
            <a:r>
              <a:t>摘录定位：住房20:34:33、通勤20:35:38、公共空间20:44:09、应急20:46:18。右侧另涉及心理健康20:37:05、养老助残20:42:49、无障碍20:45:34。只依据整理记录，不推断居住年限、区域、年龄、职业。公共空间地铁/驾车可达不等同15分钟步行；储蓄和保险不表示公共救助只有自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建议讲述：45秒</a:t>
            </a:r>
          </a:p>
          <a:p>
            <a:r>
              <a:t>15分钟讲述取舍：不重新念九行数据，不报上海几胜、纽约几胜或基本项二比二；概括各自强项，转到答题是否完整。</a:t>
            </a:r>
          </a:p>
          <a:p>
            <a:endParaRPr/>
          </a:p>
          <a:p>
            <a:r>
              <a:t>讲稿原文</a:t>
            </a:r>
          </a:p>
          <a:p>
            <a:r>
              <a:t>把九道题放到一张表上。</a:t>
            </a:r>
          </a:p>
          <a:p>
            <a:endParaRPr/>
          </a:p>
          <a:p>
            <a:r>
              <a:t>| | 题 | 胜方 | 程度 | 依据 |</a:t>
            </a:r>
          </a:p>
          <a:p>
            <a:r>
              <a:t>|---|---|---|---|---|</a:t>
            </a:r>
          </a:p>
          <a:p>
            <a:r>
              <a:t>| 基本项 | 住 | 上海 | 明显 | 自有住房率：上海 59%，纽约 32% |</a:t>
            </a:r>
          </a:p>
          <a:p>
            <a:r>
              <a:t>| | 吃 | 纽约 | 稍胜 | 人均吃的花销：纽约州 6.3 万元，上海 1.35 万元；餐饮价格随工资走，实际差距小于账面 |</a:t>
            </a:r>
          </a:p>
          <a:p>
            <a:r>
              <a:t>| | 穿 | 纽约 | 压倒性 | 人均衣着支出：纽约州接近上海的 7 倍 |</a:t>
            </a:r>
          </a:p>
          <a:p>
            <a:r>
              <a:t>| | 行 | 上海 | 压倒性 | 票价按收入折算约为纽约一半；交通支出占比更低 |</a:t>
            </a:r>
          </a:p>
          <a:p>
            <a:r>
              <a:t>| 加分项 | 医疗 | 上海 | 明显 | 婴儿死亡率：上海 2.34‰，纽约 4.2‰；孕产妇死亡率差 10 倍以上 |</a:t>
            </a:r>
          </a:p>
          <a:p>
            <a:r>
              <a:t>| | 治安 | 上海 | 压倒性 | 每 10 万人杀人案：上海 0.19 起，纽约 3.6 起 |</a:t>
            </a:r>
          </a:p>
          <a:p>
            <a:r>
              <a:t>| | 教育 | 打平 | — | 生师比：上海 12.5，纽约 13.2 |</a:t>
            </a:r>
          </a:p>
          <a:p>
            <a:r>
              <a:t>| | 文化 | 纽约 | 明显 | 公共图书馆网络和文化资助 |</a:t>
            </a:r>
          </a:p>
          <a:p>
            <a:r>
              <a:t>| 单列 | 对待底层 | 上海 | 压倒性 | 纽约无家可归 12.6 万人 |</a:t>
            </a:r>
          </a:p>
          <a:p>
            <a:endParaRPr/>
          </a:p>
          <a:p>
            <a:r>
              <a:t>除了教育打平，每一题都分了胜负，但我们不加总分。各题差距的大小不一样，穿衣是压倒性的，吃饭只是稍胜，一个总比分会把这些差别抹平。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住：https://tjj.sh.gov.cn/tjnj/2020rktjnj/BNJc-9-4.jpg</a:t>
            </a:r>
          </a:p>
          <a:p>
            <a:r>
              <a:t>https://www.nyc.gov/assets/hpd/downloads/pdfs/about/2023%20NYCHVS%20Selected%20Initial%20Findings.pdf</a:t>
            </a:r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吃：https://apps.bea.gov/regional/zip/SAPCE.zip</a:t>
            </a:r>
          </a:p>
          <a:p>
            <a:r>
              <a:t>https://tjj.sh.gov.cn/tjnj/2025tjnj/C0905.htm</a:t>
            </a:r>
          </a:p>
          <a:p>
            <a:endParaRPr/>
          </a:p>
          <a:p>
            <a:r>
              <a:t>穿：https://apps.bea.gov/regional/zip/SAPCE.zip</a:t>
            </a:r>
          </a:p>
          <a:p>
            <a:r>
              <a:t>https://tjj.sh.gov.cn/tjnj/2025tjnj/C0905.htm</a:t>
            </a:r>
          </a:p>
          <a:p>
            <a:endParaRPr/>
          </a:p>
          <a:p>
            <a:r>
              <a:t>行：https://portal.311.nyc.gov/article/?kanumber=KA-01014</a:t>
            </a:r>
          </a:p>
          <a:p>
            <a:r>
              <a:t>https://www.nyc.gov/site/opa/commuters/commuters.page</a:t>
            </a:r>
          </a:p>
          <a:p>
            <a:r>
              <a:t>https://service.shmetro.com/cpxz/3983.htm</a:t>
            </a:r>
          </a:p>
          <a:p>
            <a:r>
              <a:t>https://service.shmetro.com/pwyh/index.htm</a:t>
            </a:r>
          </a:p>
          <a:p>
            <a:r>
              <a:t>https://service.shmetro.com/cpxz/index.htm</a:t>
            </a:r>
          </a:p>
          <a:p>
            <a:r>
              <a:t>https://tjj.sh.gov.cn/tjnj/2025tjnj/C0913.htm</a:t>
            </a:r>
          </a:p>
          <a:p>
            <a:r>
              <a:t>https://www.bls.gov/regions/northeast/news-release/consumerexpenditures_newyork.htm</a:t>
            </a:r>
          </a:p>
          <a:p>
            <a:endParaRPr/>
          </a:p>
          <a:p>
            <a:r>
              <a:t>医疗：https://tjj.sh.gov.cn/tjgb/20260330/e0772941e8e041eaaad2df850b44ef98.html</a:t>
            </a:r>
          </a:p>
          <a:p>
            <a:r>
              <a:t>https://wsjkw.sh.gov.cn/tjsj2/20260730/7154e5b1603642a8a3c7c0b2b8b3b149.html</a:t>
            </a:r>
          </a:p>
          <a:p>
            <a:r>
              <a:t>https://www.nyc.gov/assets/doh/downloads/pdf/vs/2023sum.pdf</a:t>
            </a:r>
          </a:p>
          <a:p>
            <a:r>
              <a:t>https://www.nyc.gov/assets/doh/downloads/pdf/data/maternal-mortality-annual-report-2025.pdf</a:t>
            </a:r>
          </a:p>
          <a:p>
            <a:endParaRPr/>
          </a:p>
          <a:p>
            <a:r>
              <a:t>治安：https://tjj.sh.gov.cn/tjnj/2025tjnj/C2303.htm</a:t>
            </a:r>
          </a:p>
          <a:p>
            <a:r>
              <a:t>https://www.nyc.gov/site/nypd/news/PR001/nypd-safest-year-ever-gun-violence-fewest-shooting-incidents-shooting</a:t>
            </a:r>
          </a:p>
          <a:p>
            <a:endParaRPr/>
          </a:p>
          <a:p>
            <a:r>
              <a:t>教育：https://tjj.sh.gov.cn/tjnj/2025tjnj/C2015.htm</a:t>
            </a:r>
          </a:p>
          <a:p>
            <a:r>
              <a:t>https://tjj.sh.gov.cn/tjnj/2025tjnj/C2013.htm</a:t>
            </a:r>
          </a:p>
          <a:p>
            <a:r>
              <a:t>https://tjj.sh.gov.cn/tjnj/2025tjnj/C2004.htm</a:t>
            </a:r>
          </a:p>
          <a:p>
            <a:r>
              <a:t>https://data.nysed.gov/studenteducator.php?year=2025&amp;instid=7889678368</a:t>
            </a:r>
          </a:p>
          <a:p>
            <a:endParaRPr/>
          </a:p>
          <a:p>
            <a:r>
              <a:t>文化：https://www.nypl.org/about/locations</a:t>
            </a:r>
          </a:p>
          <a:p>
            <a:r>
              <a:t>https://www.bklynlibrary.org/browse-the-branches/about</a:t>
            </a:r>
          </a:p>
          <a:p>
            <a:r>
              <a:t>http://gis.nyc.gov/site/dcla/about/pressrelease/PR-2026-2-26-NYC-Department-of-Cultural-Affairs-Announces-74.3-Million-in-Grants-for-1171-Cultural-Organizations-Across-the-City.page</a:t>
            </a:r>
          </a:p>
          <a:p>
            <a:r>
              <a:t>https://tjj.sh.gov.cn/tjgb/20260330/e0772941e8e041eaaad2df850b44ef98.html</a:t>
            </a:r>
          </a:p>
          <a:p>
            <a:r>
              <a:t>https://english.shanghai.gov.cn/en-Latest-WhatsNew/20260212/af11d8de7fd24819bff50c940e428855.html</a:t>
            </a:r>
          </a:p>
          <a:p>
            <a:endParaRPr/>
          </a:p>
          <a:p>
            <a:r>
              <a:t>对待底层：https://files.hudexchange.info/reports/published/CoC_PopSub_CoC_NY-600-2025_NY_2025.pdf</a:t>
            </a:r>
          </a:p>
          <a:p>
            <a:r>
              <a:t>https://rentguidelinesboard.cityofnewyork.us/wp-content/uploads/2026/04/2026-IA.pdf</a:t>
            </a:r>
          </a:p>
          <a:p>
            <a:r>
              <a:t>https://www.nyc.gov/assets/dhs/downloads/pdf/dashboard/tables/FY26-DHS-Data-Dashboard-Data.pdf</a:t>
            </a:r>
          </a:p>
          <a:p>
            <a:r>
              <a:t>https://mzj.sh.gov.cn/MZ_zhuzhan277_0-2-8-15-55-229/20260702/d95374094d6041a19b2591fd241126cb.html</a:t>
            </a:r>
          </a:p>
          <a:p>
            <a:r>
              <a:t>https://tjj.sh.gov.cn/tjgb/20260330/e0772941e8e041eaaad2df850b44ef98.html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建议讲述：50秒</a:t>
            </a:r>
          </a:p>
          <a:p>
            <a:r>
              <a:t>15分钟讲述取舍：直接回答纽约还不算及格、上海答得更完整但透明需补，再说两城能比本身就是进步；两国范围说明用一句，全国对照数据留在原文备注中参考。</a:t>
            </a:r>
          </a:p>
          <a:p>
            <a:endParaRPr/>
          </a:p>
          <a:p>
            <a:r>
              <a:t>讲稿原文</a:t>
            </a:r>
          </a:p>
          <a:p>
            <a:r>
              <a:t>回到开头的问题：纽约能不能叫人民城市？</a:t>
            </a:r>
          </a:p>
          <a:p>
            <a:endParaRPr/>
          </a:p>
          <a:p>
            <a:r>
              <a:t>拿同一张考卷来看，纽约有几道题答得好：吃穿用度和公共文化，它比上海强；数据公开，它也比上海做得好，这一点最后单独说。但最该答好的那道题，怎么对待最底层的人，它没有答好：十二万多人无家可归，三分之二的家庭租房，这些都是纽约自己公布的数字。所以我们的回答是：这张卷子，纽约还不算及格。</a:t>
            </a:r>
          </a:p>
          <a:p>
            <a:endParaRPr/>
          </a:p>
          <a:p>
            <a:r>
              <a:t>上海这张卷子答得更完整，住、行、医疗、治安和托底都拿了分。但人民城市人民建，前提是人民看得到账本，数据公开这一题，上海还得补。</a:t>
            </a:r>
          </a:p>
          <a:p>
            <a:endParaRPr/>
          </a:p>
          <a:p>
            <a:r>
              <a:t>比完这一圈，我们觉得更值得说的是，两座城市真的已经能放在一张卷子上比了，而且有输有赢。上海第一条地铁 1993 年才开通，三十多年后，上海人一年坐地铁的次数已经和纽约人一样多。三十多年前，这样的比较是比不起来的。这本身就是进步。</a:t>
            </a:r>
          </a:p>
          <a:p>
            <a:endParaRPr/>
          </a:p>
          <a:p>
            <a:r>
              <a:t>但这个比较不能往大了说，更不能拿两座城市去概括两个国家。</a:t>
            </a:r>
          </a:p>
          <a:p>
            <a:endParaRPr/>
          </a:p>
          <a:p>
            <a:r>
              <a:t>纽约输给上海的住和底层，在美国也是出了名的差：全美租房空置率 7% 左右，纽约只有 1.4%；纽约人口不到全美的 3%，无家可归的人却占了全美的六分之一。医疗和治安反过来，纽约比全美还好一些：婴儿死亡率纽约是千分之 4.2，全美是 5.61；谋杀率纽约每 10 万人 3.6 起，全美 4.1 起。纽约在这两项上输给上海，输的是美国的整体水平。</a:t>
            </a:r>
          </a:p>
          <a:p>
            <a:endParaRPr/>
          </a:p>
          <a:p>
            <a:r>
              <a:t>上海也一样。输给纽约的吃和穿，在国内已经排在前面，人均吃的花销是全国平均的 1.6 倍，穿是 1.3 倍。纽约在美国不典型，上海在中国也不典型。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https://tjj.sh.gov.cn/tjnj/2020rktjnj/BNJc-9-4.jpg</a:t>
            </a:r>
          </a:p>
          <a:p>
            <a:r>
              <a:t>https://www.nyc.gov/assets/hpd/downloads/pdfs/about/2023%20NYCHVS%20Selected%20Initial%20Findings.pdf</a:t>
            </a:r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https://portal.311.nyc.gov/article/?kanumber=KA-01014</a:t>
            </a:r>
          </a:p>
          <a:p>
            <a:r>
              <a:t>https://www.nyc.gov/site/opa/commuters/commuters.page</a:t>
            </a:r>
          </a:p>
          <a:p>
            <a:r>
              <a:t>https://service.shmetro.com/cpxz/3983.htm</a:t>
            </a:r>
          </a:p>
          <a:p>
            <a:r>
              <a:t>https://service.shmetro.com/pwyh/index.htm</a:t>
            </a:r>
          </a:p>
          <a:p>
            <a:r>
              <a:t>https://service.shmetro.com/cpxz/index.htm</a:t>
            </a:r>
          </a:p>
          <a:p>
            <a:r>
              <a:t>https://tjj.sh.gov.cn/tjnj/2025tjnj/C0913.htm</a:t>
            </a:r>
          </a:p>
          <a:p>
            <a:r>
              <a:t>https://www.bls.gov/regions/northeast/news-release/consumerexpenditures_newyork.htm</a:t>
            </a:r>
          </a:p>
          <a:p>
            <a:endParaRPr/>
          </a:p>
          <a:p>
            <a:r>
              <a:t>https://files.hudexchange.info/reports/published/CoC_PopSub_CoC_NY-600-2025_NY_2025.pdf</a:t>
            </a:r>
          </a:p>
          <a:p>
            <a:r>
              <a:t>https://rentguidelinesboard.cityofnewyork.us/wp-content/uploads/2026/04/2026-IA.pdf</a:t>
            </a:r>
          </a:p>
          <a:p>
            <a:r>
              <a:t>https://www.nyc.gov/assets/dhs/downloads/pdf/dashboard/tables/FY26-DHS-Data-Dashboard-Data.pdf</a:t>
            </a:r>
          </a:p>
          <a:p>
            <a:r>
              <a:t>https://mzj.sh.gov.cn/MZ_zhuzhan277_0-2-8-15-55-229/20260702/d95374094d6041a19b2591fd241126cb.html</a:t>
            </a:r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https://data.sh.gov.cn/</a:t>
            </a:r>
          </a:p>
          <a:p>
            <a:endParaRPr/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https://wsjkw.sh.gov.cn/2022wsjkzkbg/index.html</a:t>
            </a:r>
          </a:p>
          <a:p>
            <a:endParaRPr/>
          </a:p>
          <a:p>
            <a:r>
              <a:t>https://wsjkw.sh.gov.cn/2023wsjkzkbg/index.html</a:t>
            </a:r>
          </a:p>
          <a:p>
            <a:endParaRPr/>
          </a:p>
          <a:p>
            <a:r>
              <a:t>https://wsjkw.sh.gov.cn/2024wsjkzkbg/index.html</a:t>
            </a:r>
          </a:p>
          <a:p>
            <a:endParaRPr/>
          </a:p>
          <a:p>
            <a:r>
              <a:t>https://opendata.cityofnewyork.us/open-data-law/</a:t>
            </a:r>
          </a:p>
          <a:p>
            <a:endParaRPr/>
          </a:p>
          <a:p>
            <a:r>
              <a:t>https://data.cityofnewyork.us/Social-Services/DHS-Daily-Report/k46n-sa2m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建议讲述：40秒</a:t>
            </a:r>
          </a:p>
          <a:p>
            <a:r>
              <a:t>15分钟讲述取舍：四个缺口各一句；一网通办便利已在第 10 页讲过，此处对照一句即可。</a:t>
            </a:r>
          </a:p>
          <a:p>
            <a:endParaRPr/>
          </a:p>
          <a:p>
            <a:r>
              <a:t>讲稿原文</a:t>
            </a:r>
          </a:p>
          <a:p>
            <a:r>
              <a:t>最后单独说数据透明。这一题不在计分表里，但前面说过，纽约领先。</a:t>
            </a:r>
          </a:p>
          <a:p>
            <a:endParaRPr/>
          </a:p>
          <a:p>
            <a:r>
              <a:t>上海做得好的先说。在上海办事是真方便，"一网通办"接了 3,800 多项服务，近九成能在网上从头办到尾，好评率 99.94%，高到小数点后两位。</a:t>
            </a:r>
          </a:p>
          <a:p>
            <a:endParaRPr/>
          </a:p>
          <a:p>
            <a:r>
              <a:t>可一到查数据，就换了一张脸。做这份 pre，我们找上海数据花的时间，比找纽约的多得多，好几道题最后只能拿替代的数。开场的公厕，统计公报和统计年鉴里都没有总数，开放平台的数据集标着"有条件开放"，明细要写申请才能看。住这一题，上海没有租金统计，只能用 2020 年人口普查的自有住房比例。底层这一题，露宿街头的人数没有公布。医疗这一题，户籍人口的期望寿命，2022 年以后就没有再公布。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https://data.sh.gov.cn/</a:t>
            </a:r>
          </a:p>
          <a:p>
            <a:endParaRPr/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https://wsjkw.sh.gov.cn/2022wsjkzkbg/index.html</a:t>
            </a:r>
          </a:p>
          <a:p>
            <a:endParaRPr/>
          </a:p>
          <a:p>
            <a:r>
              <a:t>https://wsjkw.sh.gov.cn/2023wsjkzkbg/index.html</a:t>
            </a:r>
          </a:p>
          <a:p>
            <a:endParaRPr/>
          </a:p>
          <a:p>
            <a:r>
              <a:t>https://wsjkw.sh.gov.cn/2024wsjkzkbg/index.html</a:t>
            </a:r>
          </a:p>
          <a:p>
            <a:endParaRPr/>
          </a:p>
          <a:p>
            <a:r>
              <a:t>https://opendata.cityofnewyork.us/open-data-law/</a:t>
            </a:r>
          </a:p>
          <a:p>
            <a:endParaRPr/>
          </a:p>
          <a:p>
            <a:r>
              <a:t>https://data.cityofnewyork.us/Social-Services/DHS-Daily-Report/k46n-sa2m</a:t>
            </a:r>
          </a:p>
          <a:p>
            <a:r>
              <a:t>“未公开/缺少”均按项目检索与用户锁定材料表述；不是将单个接口概括为整个平台。实际网办率89.53%，新版口播“近九成能网上从头办到尾”存在指标混称，PPT正文已用真实指标名称。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建议讲述：60秒</a:t>
            </a:r>
          </a:p>
          <a:p>
            <a:r>
              <a:t>15分钟讲述取舍：用住房和托底两个具体例子说明透明为何重要，最后一句收束。</a:t>
            </a:r>
          </a:p>
          <a:p>
            <a:endParaRPr/>
          </a:p>
          <a:p>
            <a:r>
              <a:t>讲稿原文</a:t>
            </a:r>
          </a:p>
          <a:p>
            <a:r>
              <a:t>纽约在 2012 年就立了法：政府数据默认公开，不公开要说明理由。收容所里住了多少人，每天更新。</a:t>
            </a:r>
          </a:p>
          <a:p>
            <a:endParaRPr/>
          </a:p>
          <a:p>
            <a:r>
              <a:t>这件事为什么重要？一项住房政策有没有用，要看房租负担降没降；一套托底制度托住了多少人，要看还有多少人睡在街上。如果市民总是拿替代的数、估算的数去了解自己的城市，政策就很难得到理性的反馈：做得不够的地方没人知道，做得好的地方也拿不出证据。</a:t>
            </a:r>
          </a:p>
          <a:p>
            <a:endParaRPr/>
          </a:p>
          <a:p>
            <a:r>
              <a:t>人民城市人民建。真想让人民参与建设，就应该尽量把城市运行的数据摆出来。谢谢大家。</a:t>
            </a:r>
          </a:p>
          <a:p>
            <a:endParaRPr/>
          </a:p>
          <a:p>
            <a:r>
              <a:t>数据来源与完整口径</a:t>
            </a:r>
          </a:p>
          <a:p>
            <a:r>
              <a:t>https://data.sh.gov.cn/</a:t>
            </a:r>
          </a:p>
          <a:p>
            <a:endParaRPr/>
          </a:p>
          <a:p>
            <a:r>
              <a:t>https://tjj.sh.gov.cn/tjgb/20260330/e0772941e8e041eaaad2df850b44ef98.html</a:t>
            </a:r>
          </a:p>
          <a:p>
            <a:endParaRPr/>
          </a:p>
          <a:p>
            <a:r>
              <a:t>https://wsjkw.sh.gov.cn/2022wsjkzkbg/index.html</a:t>
            </a:r>
          </a:p>
          <a:p>
            <a:endParaRPr/>
          </a:p>
          <a:p>
            <a:r>
              <a:t>https://wsjkw.sh.gov.cn/2023wsjkzkbg/index.html</a:t>
            </a:r>
          </a:p>
          <a:p>
            <a:endParaRPr/>
          </a:p>
          <a:p>
            <a:r>
              <a:t>https://wsjkw.sh.gov.cn/2024wsjkzkbg/index.html</a:t>
            </a:r>
          </a:p>
          <a:p>
            <a:endParaRPr/>
          </a:p>
          <a:p>
            <a:r>
              <a:t>https://opendata.cityofnewyork.us/open-data-law/</a:t>
            </a:r>
          </a:p>
          <a:p>
            <a:endParaRPr/>
          </a:p>
          <a:p>
            <a:r>
              <a:t>https://data.cityofnewyork.us/Social-Services/DHS-Daily-Report/k46n-sa2m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建议讲述：5秒</a:t>
            </a:r>
          </a:p>
          <a:p>
            <a:r>
              <a:t>15分钟讲述取舍：收束，不增加新观点。</a:t>
            </a:r>
          </a:p>
          <a:p>
            <a:endParaRPr/>
          </a:p>
          <a:p>
            <a:r>
              <a:t>讲稿原文</a:t>
            </a:r>
          </a:p>
          <a:p>
            <a:r>
              <a:t>谢谢大家。</a:t>
            </a:r>
          </a:p>
          <a:p>
            <a:endParaRPr/>
          </a:p>
          <a:p>
            <a:r>
              <a:t>数据来源与完整口径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答辩依据：data/data-table.md；script/口径表.md；script/答辩卡.md。</a:t>
            </a:r>
          </a:p>
          <a:p>
            <a:endParaRPr/>
          </a:p>
          <a:p>
            <a:r>
              <a:t>问：为什么不用纽约都会区？</a:t>
            </a:r>
          </a:p>
          <a:p>
            <a:r>
              <a:t>答：我们比的是城市政府怎么对待市民，纽约市政府只管五个区。都会区跨三个州，自有住房率等数据也取不全（NY-C6）</a:t>
            </a:r>
          </a:p>
          <a:p>
            <a:r>
              <a:t>问：收入能直接比吗？</a:t>
            </a:r>
          </a:p>
          <a:p>
            <a:r>
              <a:t>答：纽约是户收入中位数、税前；上海是人均可支配收入乘户均人口，是均值、到手。前者偏高，后者也偏高（均值高于中位数），所以只取"两倍半上下"这个量级（CALC-2）</a:t>
            </a:r>
          </a:p>
          <a:p>
            <a:r>
              <a:t>问：上海 59% 自有住房率可靠吗？</a:t>
            </a:r>
          </a:p>
          <a:p>
            <a:r>
              <a:t>答：2020 年七普长表，按家庭户统计，不含集体户，所以偏高。纽约 32.3% 是 2023 年住房与空置调查（SH-C1、NY-C5）</a:t>
            </a:r>
          </a:p>
          <a:p>
            <a:r>
              <a:t>问：为什么不比房租负担？</a:t>
            </a:r>
          </a:p>
          <a:p>
            <a:r>
              <a:t>答：纽约有官方数（租房户房租收入比中位数约 31%），上海统计部门没有公布租金；商业网站和行业报告的数口径不一致，算不出可比的负担</a:t>
            </a:r>
          </a:p>
          <a:p>
            <a:r>
              <a:t>问：吃的花销口径一样吗？</a:t>
            </a:r>
          </a:p>
          <a:p>
            <a:r>
              <a:t>答：纽约的"餐饮住宿"含住宿，上海的"食品烟酒"含烟酒，两边都偏高一点，不改变量级</a:t>
            </a:r>
          </a:p>
          <a:p>
            <a:r>
              <a:t>问：吃和穿为什么用纽约州？</a:t>
            </a:r>
          </a:p>
          <a:p>
            <a:r>
              <a:t>答：纽约市没有单独的消费分项统计，用的是美国商务部经济分析局的州级数据；它的分母含雇主和政府代付的医疗等，比住户调查宽，纽约的比例偏低（3.6 节）</a:t>
            </a:r>
          </a:p>
          <a:p>
            <a:r>
              <a:t>问：孕产妇死亡率口径一样吗？</a:t>
            </a:r>
          </a:p>
          <a:p>
            <a:r>
              <a:t>答：纽约原始口径算到产后一年（32.2/10 万，2022）；按纽约报告里的死亡时间分布截到 42 天约 21/10 万，与上海口径一致（NY-H11）</a:t>
            </a:r>
          </a:p>
          <a:p>
            <a:r>
              <a:t>问：上海公厕 8,325 处包括哪些？</a:t>
            </a:r>
          </a:p>
          <a:p>
            <a:r>
              <a:t>答：这是开放平台"城市设施-公共厕所"数据集的记录条数，由市绿化市容局提供，平台没有写明统计范围，样例里还有已撤销的"闸北区"。纽约 1,064 座只算市政府管理的公厕。所以"三倍"只说明量级（SH-T1、NY-G5、CALC-7）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问：期望寿命为什么不判分？</a:t>
            </a:r>
          </a:p>
          <a:p>
            <a:r>
              <a:t>答：上海 83.18 岁是 2022 年户籍人口，之后未公布；纽约 83.2 岁是 2024 年全体居民的临时数。年份和人群都不同</a:t>
            </a:r>
          </a:p>
          <a:p>
            <a:r>
              <a:t>问：孕产妇死亡率口径一样吗？</a:t>
            </a:r>
          </a:p>
          <a:p>
            <a:r>
              <a:t>答：纽约原始口径算到产后一年（32.2/10 万，2022）；按纽约报告里的死亡时间分布截到 42 天约 21/10 万，与上海口径一致（NY-H11）</a:t>
            </a:r>
          </a:p>
          <a:p>
            <a:r>
              <a:t>问：杀人案能比吗？</a:t>
            </a:r>
          </a:p>
          <a:p>
            <a:r>
              <a:t>答：上海是公安立案的杀人案，纽约是谋杀案，口径略有不同，但差约 19 倍（SH-H10、NY-H4a）</a:t>
            </a:r>
          </a:p>
          <a:p>
            <a:r>
              <a:t>问：文化为什么判纽约胜？</a:t>
            </a:r>
          </a:p>
          <a:p>
            <a:r>
              <a:t>答：纽约有三大图书馆系统 200 多个网点、财政资助 1,171 家机构且 96% 有免费或补贴项目；上海只查到市、区两级图书馆 20 个，街镇分馆和免费场馆的全市统一数字没有找到。按能查到的数据判</a:t>
            </a:r>
          </a:p>
          <a:p>
            <a:endParaRPr/>
          </a:p>
          <a:p>
            <a:r>
              <a:t>口径：</a:t>
            </a:r>
          </a:p>
          <a:p>
            <a:r>
              <a:t>纽约孕产妇死亡约21/10万由报告按产后42天折算；两项医疗结局统计年份不同。</a:t>
            </a:r>
          </a:p>
          <a:p>
            <a:r>
              <a:t>上海为杀人案立案，纽约为谋杀案；年份不同，比率由案件与人口计算。</a:t>
            </a:r>
          </a:p>
          <a:p>
            <a:r>
              <a:t>生师比由官方学生与教师数计算；上海中小学含高中，纽约为K–12。</a:t>
            </a:r>
          </a:p>
          <a:p>
            <a:r>
              <a:t>按公共图书馆网络与文化资助作判断；上海市区馆20个不用于与纽约全部网点硬比。</a:t>
            </a:r>
          </a:p>
          <a:p>
            <a:r>
              <a:t>来源：</a:t>
            </a:r>
          </a:p>
          <a:p>
            <a:r>
              <a:t>https://tjj.sh.gov.cn/tjgb/20260330/e0772941e8e041eaaad2df850b44ef98.html</a:t>
            </a:r>
          </a:p>
          <a:p>
            <a:r>
              <a:t>https://wsjkw.sh.gov.cn/tjsj2/20260730/7154e5b1603642a8a3c7c0b2b8b3b149.html</a:t>
            </a:r>
          </a:p>
          <a:p>
            <a:r>
              <a:t>https://www.nyc.gov/assets/doh/downloads/pdf/vs/2023sum.pdf</a:t>
            </a:r>
          </a:p>
          <a:p>
            <a:r>
              <a:t>https://www.nyc.gov/assets/doh/downloads/pdf/data/maternal-mortality-annual-report-2025.pdf</a:t>
            </a:r>
          </a:p>
          <a:p>
            <a:r>
              <a:t>https://tjj.sh.gov.cn/tjnj/2025tjnj/C2303.htm</a:t>
            </a:r>
          </a:p>
          <a:p>
            <a:r>
              <a:t>https://www.nyc.gov/site/nypd/news/PR001/nypd-safest-year-ever-gun-violence-fewest-shooting-incidents-shooting</a:t>
            </a:r>
          </a:p>
          <a:p>
            <a:r>
              <a:t>https://tjj.sh.gov.cn/tjnj/2025tjnj/C2015.htm</a:t>
            </a:r>
          </a:p>
          <a:p>
            <a:r>
              <a:t>https://tjj.sh.gov.cn/tjnj/2025tjnj/C2013.htm</a:t>
            </a:r>
          </a:p>
          <a:p>
            <a:r>
              <a:t>https://tjj.sh.gov.cn/tjnj/2025tjnj/C2004.htm</a:t>
            </a:r>
          </a:p>
          <a:p>
            <a:r>
              <a:t>https://data.nysed.gov/studenteducator.php?year=2025&amp;instid=7889678368</a:t>
            </a:r>
          </a:p>
          <a:p>
            <a:r>
              <a:t>https://www.nypl.org/about/locations</a:t>
            </a:r>
          </a:p>
          <a:p>
            <a:r>
              <a:t>https://www.bklynlibrary.org/browse-the-branches/about</a:t>
            </a:r>
          </a:p>
          <a:p>
            <a:r>
              <a:t>http://gis.nyc.gov/site/dcla/about/pressrelease/PR-2026-2-26-NYC-Department-of-Cultural-Affairs-Announces-74.3-Million-in-Grants-for-1171-Cultural-Organizations-Across-the-City.page</a:t>
            </a:r>
          </a:p>
          <a:p>
            <a:r>
              <a:t>https://english.shanghai.gov.cn/en-Latest-WhatsNew/20260212/af11d8de7fd24819bff50c940e428855.html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原资料截图于2026-10-10采集；黑框为采集者添加。地图快照2026-10-12，原始HTML由同学提供，本版恢复地图原始色系，保留几何、点位和数值。</a:t>
            </a:r>
          </a:p>
          <a:p>
            <a:endParaRPr/>
          </a:p>
          <a:p>
            <a:r>
              <a:t>口径：</a:t>
            </a:r>
          </a:p>
          <a:p>
            <a:r>
              <a:t>纽约为税前户收入中位数；上海由人均可支配收入均值×家庭户规模估算。</a:t>
            </a:r>
          </a:p>
          <a:p>
            <a:r>
              <a:t>上海为开放平台记录，纽约为市政运营公厕；只比较量级。</a:t>
            </a:r>
          </a:p>
          <a:p>
            <a:r>
              <a:t>上海为七普长表家庭户，纽约为HVS已入住住房；分母与年份不同。</a:t>
            </a:r>
          </a:p>
          <a:p>
            <a:r>
              <a:t>纽约州在家食品饮料＋餐饮住宿，上海食品烟酒；价格与分类差异使实际差距小于账面。</a:t>
            </a:r>
          </a:p>
          <a:p>
            <a:r>
              <a:t>纽约使用州级数据；按2026-10-09汇率换算。</a:t>
            </a:r>
          </a:p>
          <a:p>
            <a:r>
              <a:t>票价按户收入差2.65倍折算；支出占比为纽约都会区交通（2022–23）对上海交通通信（2024）。</a:t>
            </a:r>
          </a:p>
          <a:p>
            <a:r>
              <a:t>纽约孕产妇死亡约21/10万由报告按产后42天折算；两项医疗结局统计年份不同。</a:t>
            </a:r>
          </a:p>
          <a:p>
            <a:r>
              <a:t>上海为杀人案立案，纽约为谋杀案；年份不同，比率由案件与人口计算。</a:t>
            </a:r>
          </a:p>
          <a:p>
            <a:r>
              <a:t>生师比由官方学生与教师数计算；上海中小学含高中，纽约为K–12。</a:t>
            </a:r>
          </a:p>
          <a:p>
            <a:r>
              <a:t>按公共图书馆网络与文化资助作判断；上海市区馆20个不用于与纽约全部网点硬比。</a:t>
            </a:r>
          </a:p>
          <a:p>
            <a:r>
              <a:t>纽约为HUD一夜点数；上海露宿人数未公开，判断结合托底制度与纽约结果。</a:t>
            </a:r>
          </a:p>
          <a:p>
            <a:r>
              <a:t>来源：</a:t>
            </a:r>
          </a:p>
          <a:p>
            <a:r>
              <a:t>https://tjj.sh.gov.cn/tjgb/20260330/e0772941e8e041eaaad2df850b44ef98.html</a:t>
            </a:r>
          </a:p>
          <a:p>
            <a:r>
              <a:t>https://www.health.ny.gov/statistics/vital_statistics/2022/table02.htm</a:t>
            </a:r>
          </a:p>
          <a:p>
            <a:r>
              <a:t>https://www.nyc.gov/content/planning/pages/planning/population</a:t>
            </a:r>
          </a:p>
          <a:p>
            <a:r>
              <a:t>https://rentguidelinesboard.cityofnewyork.us/wp-content/uploads/2026/04/2026-IA.pdf</a:t>
            </a:r>
          </a:p>
          <a:p>
            <a:r>
              <a:t>https://tjj.sh.gov.cn/ydsj71/20260120/39ae4cd58421478d897b739d83f39c10.html</a:t>
            </a:r>
          </a:p>
          <a:p>
            <a:r>
              <a:t>https://tjj.sh.gov.cn/tjgb/20260630/b74619258aee4912a55a1da928b5be30.html</a:t>
            </a:r>
          </a:p>
          <a:p>
            <a:r>
              <a:t>https://data.sh.gov.cn/</a:t>
            </a:r>
          </a:p>
          <a:p>
            <a:r>
              <a:t>https://lhsr.sh.gov.cn/ywdt/20260401/00d7c161-8280-490c-a0da-d6c995e85058.html</a:t>
            </a:r>
          </a:p>
          <a:p>
            <a:r>
              <a:t>https://lhsr.sh.gov.cn/ywdt/20251204/b016509f-60a6-46cd-83fa-fdab372175c7.html</a:t>
            </a:r>
          </a:p>
          <a:p>
            <a:r>
              <a:t>https://council.nyc.gov/data/public-restroom-analysis/</a:t>
            </a:r>
          </a:p>
          <a:p>
            <a:r>
              <a:t>https://tjj.sh.gov.cn/tjnj/2020rktjnj/BNJc-9-4.jpg</a:t>
            </a:r>
          </a:p>
          <a:p>
            <a:r>
              <a:t>https://www.nyc.gov/assets/hpd/downloads/pdfs/about/2023%20NYCHVS%20Selected%20Initial%20Findings.pdf</a:t>
            </a:r>
          </a:p>
          <a:p>
            <a:r>
              <a:t>https://apps.bea.gov/regional/zip/SAPCE.zip</a:t>
            </a:r>
          </a:p>
          <a:p>
            <a:r>
              <a:t>https://tjj.sh.gov.cn/tjnj/2025tjnj/C0905.htm</a:t>
            </a:r>
          </a:p>
          <a:p>
            <a:r>
              <a:t>https://portal.311.nyc.gov/article/?kanumber=KA-01014</a:t>
            </a:r>
          </a:p>
          <a:p>
            <a:r>
              <a:t>https://www.nyc.gov/site/opa/commuters/commuters.page</a:t>
            </a:r>
          </a:p>
          <a:p>
            <a:r>
              <a:t>https://service.shmetro.com/cpxz/3983.htm</a:t>
            </a:r>
          </a:p>
          <a:p>
            <a:r>
              <a:t>https://service.shmetro.com/pwyh/index.htm</a:t>
            </a:r>
          </a:p>
          <a:p>
            <a:r>
              <a:t>https://service.shmetro.com/cpxz/index.htm</a:t>
            </a:r>
          </a:p>
          <a:p>
            <a:r>
              <a:t>https://tjj.sh.gov.cn/tjnj/2025tjnj/C0913.htm</a:t>
            </a:r>
          </a:p>
          <a:p>
            <a:r>
              <a:t>https://www.bls.gov/regions/northeast/news-release/consumerexpenditures_newyork.htm</a:t>
            </a:r>
          </a:p>
          <a:p>
            <a:r>
              <a:t>https://wsjkw.sh.gov.cn/tjsj2/20260730/7154e5b1603642a8a3c7c0b2b8b3b149.html</a:t>
            </a:r>
          </a:p>
          <a:p>
            <a:r>
              <a:t>https://www.nyc.gov/assets/doh/downloads/pdf/vs/2023sum.pdf</a:t>
            </a:r>
          </a:p>
          <a:p>
            <a:r>
              <a:t>https://www.nyc.gov/assets/doh/downloads/pdf/data/maternal-mortality-annual-report-2025.pdf</a:t>
            </a:r>
          </a:p>
          <a:p>
            <a:r>
              <a:t>https://tjj.sh.gov.cn/tjnj/2025tjnj/C2303.htm</a:t>
            </a:r>
          </a:p>
          <a:p>
            <a:r>
              <a:t>https://www.nyc.gov/site/nypd/news/PR001/nypd-safest-year-ever-gun-violence-fewest-shooting-incidents-shooting</a:t>
            </a:r>
          </a:p>
          <a:p>
            <a:r>
              <a:t>https://tjj.sh.gov.cn/tjnj/2025tjnj/C2015.htm</a:t>
            </a:r>
          </a:p>
          <a:p>
            <a:r>
              <a:t>https://tjj.sh.gov.cn/tjnj/2025tjnj/C2013.htm</a:t>
            </a:r>
          </a:p>
          <a:p>
            <a:r>
              <a:t>https://tjj.sh.gov.cn/tjnj/2025tjnj/C2004.htm</a:t>
            </a:r>
          </a:p>
          <a:p>
            <a:r>
              <a:t>https://data.nysed.gov/studenteducator.php?year=2025&amp;instid=7889678368</a:t>
            </a:r>
          </a:p>
          <a:p>
            <a:r>
              <a:t>https://www.nypl.org/about/locations</a:t>
            </a:r>
          </a:p>
          <a:p>
            <a:r>
              <a:t>https://www.bklynlibrary.org/browse-the-branches/about</a:t>
            </a:r>
          </a:p>
          <a:p>
            <a:r>
              <a:t>http://gis.nyc.gov/site/dcla/about/pressrelease/PR-2026-2-26-NYC-Department-of-Cultural-Affairs-Announces-74.3-Million-in-Grants-for-1171-Cultural-Organizations-Across-the-City.page</a:t>
            </a:r>
          </a:p>
          <a:p>
            <a:r>
              <a:t>https://english.shanghai.gov.cn/en-Latest-WhatsNew/20260212/af11d8de7fd24819bff50c940e428855.html</a:t>
            </a:r>
          </a:p>
          <a:p>
            <a:r>
              <a:t>https://files.hudexchange.info/reports/published/CoC_PopSub_CoC_NY-600-2025_NY_2025.pdf</a:t>
            </a:r>
          </a:p>
          <a:p>
            <a:r>
              <a:t>https://www.nyc.gov/assets/dhs/downloads/pdf/dashboard/tables/FY26-DHS-Data-Dashboard-Data.pdf</a:t>
            </a:r>
          </a:p>
          <a:p>
            <a:r>
              <a:t>https://mzj.sh.gov.cn/MZ_zhuzhan277_0-2-8-15-55-229/20260702/d95374094d6041a19b2591fd241126cb.html</a:t>
            </a:r>
          </a:p>
          <a:p>
            <a:r>
              <a:t>https://wsjkw.sh.gov.cn/2022wsjkzkbg/index.html</a:t>
            </a:r>
          </a:p>
          <a:p>
            <a:r>
              <a:t>https://wsjkw.sh.gov.cn/2023wsjkzkbg/index.html</a:t>
            </a:r>
          </a:p>
          <a:p>
            <a:r>
              <a:t>https://wsjkw.sh.gov.cn/2024wsjkzkbg/index.html</a:t>
            </a:r>
          </a:p>
          <a:p>
            <a:r>
              <a:t>https://opendata.cityofnewyork.us/open-data-law/</a:t>
            </a:r>
          </a:p>
          <a:p>
            <a:r>
              <a:t>https://data.cityofnewyork.us/Social-Services/DHS-Daily-Report/k46n-sa2m</a:t>
            </a:r>
          </a:p>
          <a:p>
            <a:r>
              <a:t>https://ghzyj.sh.gov.cn/gzdt/20251224/f5b8e34f5c834200910639b27717dfdf.html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146FE35-2976-4418-8A70-29B1CA91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866BFA6-9969-48EF-B426-45FBA3E63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022E1FF-EA2F-406A-8A66-C3AEF1A4F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41A096-88B5-49A6-8277-DC9D44C8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A5D26C0-037D-4B9F-B706-A864A4196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D527F0A-2EF3-455B-AA7A-43601FDB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6A3B089-61B2-4E7F-9ACA-35C5E1776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ABD53D7-B77B-4D40-AA3B-6BE377BBDCE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59656D-95CA-4FDB-8779-C84A456A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FACBA60-FE24-454D-A8C4-1505E5B62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DengXian"/>
                <a:ea typeface="DengXian"/>
                <a:cs typeface="DengXi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DengXian"/>
          <a:ea typeface="DengXian"/>
          <a:cs typeface="DengXi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DengXian"/>
          <a:ea typeface="DengXian"/>
          <a:cs typeface="DengXi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DengXian"/>
          <a:ea typeface="DengXian"/>
          <a:cs typeface="DengXi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DengXian"/>
          <a:ea typeface="DengXian"/>
          <a:cs typeface="DengXi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DengXian"/>
          <a:ea typeface="DengXian"/>
          <a:cs typeface="DengXi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1pPr>
      <a:lvl2pPr marL="4572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2pPr>
      <a:lvl3pPr marL="9144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3pPr>
      <a:lvl4pPr marL="13716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4pPr>
      <a:lvl5pPr marL="18288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5pPr>
      <a:lvl6pPr marL="22860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6pPr>
      <a:lvl7pPr marL="27432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7pPr>
      <a:lvl8pPr marL="32004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8pPr>
      <a:lvl9pPr marL="3657600" algn="l">
        <a:buNone/>
        <a:defRPr sz="1800">
          <a:solidFill>
            <a:schemeClr val="tx1"/>
          </a:solidFill>
          <a:latin typeface="DengXian"/>
          <a:ea typeface="DengXian"/>
          <a:cs typeface="DengXi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gif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本组社区公共服务研究与生活观察">
            <a:extLst>
              <a:ext uri="{FF2B5EF4-FFF2-40B4-BE49-F238E27FC236}">
                <a16:creationId xmlns:a16="http://schemas.microsoft.com/office/drawing/2014/main" id="{3B9F89CF-1944-4B7C-8B14-8C08771D2199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本组社区公共服务研究与生活观察</a:t>
            </a:r>
          </a:p>
        </p:txBody>
      </p:sp>
      <p:sp>
        <p:nvSpPr>
          <p:cNvPr id="2" name="01">
            <a:extLst>
              <a:ext uri="{FF2B5EF4-FFF2-40B4-BE49-F238E27FC236}">
                <a16:creationId xmlns:a16="http://schemas.microsoft.com/office/drawing/2014/main" id="{D75CABFE-71B3-4AA5-BED6-42DBC7002A26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DE0B61-2B3F-49C3-B1BB-59644F179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01" r="25201"/>
          <a:stretch>
            <a:fillRect/>
          </a:stretch>
        </p:blipFill>
        <p:spPr>
          <a:xfrm>
            <a:off x="7086600" y="0"/>
            <a:ext cx="5105400" cy="6858000"/>
          </a:xfrm>
          <a:prstGeom prst="rect">
            <a:avLst/>
          </a:prstGeom>
        </p:spPr>
      </p:pic>
      <p:sp>
        <p:nvSpPr>
          <p:cNvPr id="4" name="人民城市的&#10;上海实践">
            <a:extLst>
              <a:ext uri="{FF2B5EF4-FFF2-40B4-BE49-F238E27FC236}">
                <a16:creationId xmlns:a16="http://schemas.microsoft.com/office/drawing/2014/main" id="{1FC9ED5C-3D71-459C-BA06-262B2EB6CD34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6096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人民城市的</a:t>
            </a:r>
          </a:p>
          <a:p>
            <a: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上海实践</a:t>
            </a:r>
          </a:p>
        </p:txBody>
      </p:sp>
      <p:sp>
        <p:nvSpPr>
          <p:cNvPr id="5" name="家门口的公共服务">
            <a:extLst>
              <a:ext uri="{FF2B5EF4-FFF2-40B4-BE49-F238E27FC236}">
                <a16:creationId xmlns:a16="http://schemas.microsoft.com/office/drawing/2014/main" id="{00E21BF9-B0EA-4FDF-AFAC-184409D0977D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600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2625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家门口的公共服务</a:t>
            </a:r>
          </a:p>
        </p:txBody>
      </p:sp>
      <p:sp>
        <p:nvSpPr>
          <p:cNvPr id="6" name="15分钟生活圈的空间观察">
            <a:extLst>
              <a:ext uri="{FF2B5EF4-FFF2-40B4-BE49-F238E27FC236}">
                <a16:creationId xmlns:a16="http://schemas.microsoft.com/office/drawing/2014/main" id="{B9290C1B-6B67-4387-824B-62D0BEC331A4}"/>
              </a:ext>
            </a:extLst>
          </p:cNvPr>
          <p:cNvSpPr>
            <a:spLocks noGrp="1"/>
          </p:cNvSpPr>
          <p:nvPr/>
        </p:nvSpPr>
        <p:spPr>
          <a:xfrm>
            <a:off x="571500" y="3867150"/>
            <a:ext cx="6000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17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217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15分钟生活圈的空间观察</a:t>
            </a:r>
          </a:p>
        </p:txBody>
      </p:sp>
      <p:sp>
        <p:nvSpPr>
          <p:cNvPr id="7" name="六类设施的地图、距离与覆盖">
            <a:extLst>
              <a:ext uri="{FF2B5EF4-FFF2-40B4-BE49-F238E27FC236}">
                <a16:creationId xmlns:a16="http://schemas.microsoft.com/office/drawing/2014/main" id="{71FDAB54-BED1-4D29-B043-49EEC319BBC2}"/>
              </a:ext>
            </a:extLst>
          </p:cNvPr>
          <p:cNvSpPr>
            <a:spLocks noGrp="1"/>
          </p:cNvSpPr>
          <p:nvPr/>
        </p:nvSpPr>
        <p:spPr>
          <a:xfrm>
            <a:off x="571500" y="5124450"/>
            <a:ext cx="6000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9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六类设施的地图、距离与覆盖</a:t>
            </a:r>
          </a:p>
        </p:txBody>
      </p:sp>
      <p:pic>
        <p:nvPicPr>
          <p:cNvPr id="9" name="Rive第1页演示（隐藏后可编辑下层）">
            <a:extLst>
              <a:ext uri="{FF2B5EF4-FFF2-40B4-BE49-F238E27FC236}">
                <a16:creationId xmlns:a16="http://schemas.microsoft.com/office/drawing/2014/main" id="{6B776E3D-4BDE-4B45-82B1-0F0EEC7AC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85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015年的相关表述">
            <a:extLst>
              <a:ext uri="{FF2B5EF4-FFF2-40B4-BE49-F238E27FC236}">
                <a16:creationId xmlns:a16="http://schemas.microsoft.com/office/drawing/2014/main" id="{99B998CF-6232-4C5A-923A-9EF5AFB8B9C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2015年的相关表述</a:t>
            </a:r>
          </a:p>
        </p:txBody>
      </p:sp>
      <p:sp>
        <p:nvSpPr>
          <p:cNvPr id="2" name="来源：新华社《中央城市工作会议在北京举行》，2015-12-22">
            <a:extLst>
              <a:ext uri="{FF2B5EF4-FFF2-40B4-BE49-F238E27FC236}">
                <a16:creationId xmlns:a16="http://schemas.microsoft.com/office/drawing/2014/main" id="{491BFA58-030B-43E5-A22B-955062D1E000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来源：新华社《中央城市工作会议在北京举行》，2015-12-22</a:t>
            </a: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9DC9DC5C-EF72-4424-BD2B-C55C7879C92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4" name="中央城市工作会议">
            <a:extLst>
              <a:ext uri="{FF2B5EF4-FFF2-40B4-BE49-F238E27FC236}">
                <a16:creationId xmlns:a16="http://schemas.microsoft.com/office/drawing/2014/main" id="{BBD3A0C0-06FE-445C-A1E5-A148AD382416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中央城市工作会议</a:t>
            </a:r>
          </a:p>
        </p:txBody>
      </p:sp>
      <p:sp>
        <p:nvSpPr>
          <p:cNvPr id="5" name="坚持以人民为中心的发展思想&#10;坚持人民城市为人民">
            <a:extLst>
              <a:ext uri="{FF2B5EF4-FFF2-40B4-BE49-F238E27FC236}">
                <a16:creationId xmlns:a16="http://schemas.microsoft.com/office/drawing/2014/main" id="{3281E2E8-4F13-44CA-BD0F-F60B5766E853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110490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坚持以人民为中心的发展思想</a:t>
            </a:r>
          </a:p>
          <a:p>
            <a:pPr algn="l">
              <a:defRPr sz="28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坚持人民城市为人民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DDB510-3319-4424-93F5-94112D3CB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287" y="3714750"/>
            <a:ext cx="9187427" cy="2305050"/>
          </a:xfrm>
          <a:prstGeom prst="rect">
            <a:avLst/>
          </a:prstGeom>
        </p:spPr>
      </p:pic>
      <p:pic>
        <p:nvPicPr>
          <p:cNvPr id="8" name="Rive第2页演示（隐藏后可编辑下层）">
            <a:extLst>
              <a:ext uri="{FF2B5EF4-FFF2-40B4-BE49-F238E27FC236}">
                <a16:creationId xmlns:a16="http://schemas.microsoft.com/office/drawing/2014/main" id="{DBBC68D8-88F6-4337-8C7C-608ED9254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019年杨浦滨江的提出场景">
            <a:extLst>
              <a:ext uri="{FF2B5EF4-FFF2-40B4-BE49-F238E27FC236}">
                <a16:creationId xmlns:a16="http://schemas.microsoft.com/office/drawing/2014/main" id="{174A1513-D9A9-4AE4-A687-8E8322A93DA2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2019年杨浦滨江的提出场景</a:t>
            </a:r>
          </a:p>
        </p:txBody>
      </p:sp>
      <p:sp>
        <p:nvSpPr>
          <p:cNvPr id="2" name="来源：新华社，2019-11-03；摄影：鞠鹏、谢环驰；人民网转">
            <a:extLst>
              <a:ext uri="{FF2B5EF4-FFF2-40B4-BE49-F238E27FC236}">
                <a16:creationId xmlns:a16="http://schemas.microsoft.com/office/drawing/2014/main" id="{F6D119AE-EBE7-4E33-BBE3-BAC35B93FDDF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来源：新华社，2019-11-03；摄影：鞠鹏、谢环驰；人民网转载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18C6347F-7CA1-407E-BD08-14FE46E52D8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1D17B3-DF61-4036-9594-73584268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993" y="1333500"/>
            <a:ext cx="5663514" cy="4572000"/>
          </a:xfrm>
          <a:prstGeom prst="rect">
            <a:avLst/>
          </a:prstGeom>
        </p:spPr>
      </p:pic>
      <p:sp>
        <p:nvSpPr>
          <p:cNvPr id="5" name="2019年11月2日">
            <a:extLst>
              <a:ext uri="{FF2B5EF4-FFF2-40B4-BE49-F238E27FC236}">
                <a16:creationId xmlns:a16="http://schemas.microsoft.com/office/drawing/2014/main" id="{578A5864-7C0D-46C2-AC19-027C7E2C0B7A}"/>
              </a:ext>
            </a:extLst>
          </p:cNvPr>
          <p:cNvSpPr>
            <a:spLocks noGrp="1"/>
          </p:cNvSpPr>
          <p:nvPr/>
        </p:nvSpPr>
        <p:spPr>
          <a:xfrm>
            <a:off x="7334250" y="14859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2019年11月2日</a:t>
            </a:r>
          </a:p>
        </p:txBody>
      </p:sp>
      <p:sp>
        <p:nvSpPr>
          <p:cNvPr id="6" name="人民城市人民建&#10;人民城市为人民">
            <a:extLst>
              <a:ext uri="{FF2B5EF4-FFF2-40B4-BE49-F238E27FC236}">
                <a16:creationId xmlns:a16="http://schemas.microsoft.com/office/drawing/2014/main" id="{4E8F9291-D550-4A96-83F2-00EABC9B92D4}"/>
              </a:ext>
            </a:extLst>
          </p:cNvPr>
          <p:cNvSpPr>
            <a:spLocks noGrp="1"/>
          </p:cNvSpPr>
          <p:nvPr/>
        </p:nvSpPr>
        <p:spPr>
          <a:xfrm>
            <a:off x="7334250" y="2314575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人民城市人民建</a:t>
            </a:r>
          </a:p>
          <a:p>
            <a:pPr algn="l">
              <a:defRPr sz="27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人民城市为人民</a:t>
            </a:r>
          </a:p>
        </p:txBody>
      </p:sp>
      <p:sp>
        <p:nvSpPr>
          <p:cNvPr id="7" name="杨树浦水厂滨江段&#10;工业滨江转为市民公共空间">
            <a:extLst>
              <a:ext uri="{FF2B5EF4-FFF2-40B4-BE49-F238E27FC236}">
                <a16:creationId xmlns:a16="http://schemas.microsoft.com/office/drawing/2014/main" id="{A08F0B8F-CFD9-4EF3-8E7E-30027352014E}"/>
              </a:ext>
            </a:extLst>
          </p:cNvPr>
          <p:cNvSpPr>
            <a:spLocks noGrp="1"/>
          </p:cNvSpPr>
          <p:nvPr/>
        </p:nvSpPr>
        <p:spPr>
          <a:xfrm>
            <a:off x="7334250" y="4114800"/>
            <a:ext cx="4286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杨树浦水厂滨江段</a:t>
            </a:r>
          </a:p>
          <a:p>
            <a:pPr algn="l">
              <a:defRPr sz="19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工业滨江转为市民公共空间</a:t>
            </a:r>
          </a:p>
        </p:txBody>
      </p:sp>
      <p:pic>
        <p:nvPicPr>
          <p:cNvPr id="9" name="Rive第3页演示（隐藏后可编辑下层）">
            <a:extLst>
              <a:ext uri="{FF2B5EF4-FFF2-40B4-BE49-F238E27FC236}">
                <a16:creationId xmlns:a16="http://schemas.microsoft.com/office/drawing/2014/main" id="{DB87CC73-6D7C-4A67-9764-A020E3177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人民城市的政策时间线 2015至2023">
            <a:extLst>
              <a:ext uri="{FF2B5EF4-FFF2-40B4-BE49-F238E27FC236}">
                <a16:creationId xmlns:a16="http://schemas.microsoft.com/office/drawing/2014/main" id="{B39CF07C-3831-4342-AF5D-32D30166965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人民城市的政策时间线 2015至2023</a:t>
            </a:r>
          </a:p>
        </p:txBody>
      </p:sp>
      <p:sp>
        <p:nvSpPr>
          <p:cNvPr id="2" name="来源：新华社、上海市委、《求是》、中央文件；完整链接与日期说明见备注">
            <a:extLst>
              <a:ext uri="{FF2B5EF4-FFF2-40B4-BE49-F238E27FC236}">
                <a16:creationId xmlns:a16="http://schemas.microsoft.com/office/drawing/2014/main" id="{555924D8-1C6D-4139-9E8F-95596A94E7FF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来源：新华社、上海市委、《求是》、中央文件；完整链接与日期说明见备注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55DADB61-DE6B-4EBD-9C71-1EFE6584B8F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4" name="可编辑纵轴">
            <a:extLst>
              <a:ext uri="{FF2B5EF4-FFF2-40B4-BE49-F238E27FC236}">
                <a16:creationId xmlns:a16="http://schemas.microsoft.com/office/drawing/2014/main" id="{6B1A2278-E387-4FAC-8082-0DCA5DA5BFBC}"/>
              </a:ext>
            </a:extLst>
          </p:cNvPr>
          <p:cNvSpPr>
            <a:spLocks noGrp="1"/>
          </p:cNvSpPr>
          <p:nvPr/>
        </p:nvSpPr>
        <p:spPr>
          <a:xfrm>
            <a:off x="6081713" y="1238250"/>
            <a:ext cx="28575" cy="457200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可编辑事件连接线">
            <a:extLst>
              <a:ext uri="{FF2B5EF4-FFF2-40B4-BE49-F238E27FC236}">
                <a16:creationId xmlns:a16="http://schemas.microsoft.com/office/drawing/2014/main" id="{43F712A4-DCF0-40C1-8EEB-0BB23DDBB129}"/>
              </a:ext>
            </a:extLst>
          </p:cNvPr>
          <p:cNvSpPr>
            <a:spLocks noGrp="1"/>
          </p:cNvSpPr>
          <p:nvPr/>
        </p:nvSpPr>
        <p:spPr>
          <a:xfrm>
            <a:off x="5295900" y="15168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可编辑节点底色">
            <a:extLst>
              <a:ext uri="{FF2B5EF4-FFF2-40B4-BE49-F238E27FC236}">
                <a16:creationId xmlns:a16="http://schemas.microsoft.com/office/drawing/2014/main" id="{DECF99A0-C1A3-4CE7-9F3C-A5194E0BE82B}"/>
              </a:ext>
            </a:extLst>
          </p:cNvPr>
          <p:cNvSpPr>
            <a:spLocks noGrp="1"/>
          </p:cNvSpPr>
          <p:nvPr/>
        </p:nvSpPr>
        <p:spPr>
          <a:xfrm>
            <a:off x="6029325" y="14573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可编辑年份节点">
            <a:extLst>
              <a:ext uri="{FF2B5EF4-FFF2-40B4-BE49-F238E27FC236}">
                <a16:creationId xmlns:a16="http://schemas.microsoft.com/office/drawing/2014/main" id="{3C7E504E-9218-43D1-A897-71057B303BEA}"/>
              </a:ext>
            </a:extLst>
          </p:cNvPr>
          <p:cNvSpPr>
            <a:spLocks noGrp="1"/>
          </p:cNvSpPr>
          <p:nvPr/>
        </p:nvSpPr>
        <p:spPr>
          <a:xfrm>
            <a:off x="6053138" y="14811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2015.12">
            <a:extLst>
              <a:ext uri="{FF2B5EF4-FFF2-40B4-BE49-F238E27FC236}">
                <a16:creationId xmlns:a16="http://schemas.microsoft.com/office/drawing/2014/main" id="{816361F0-AAC9-4043-9637-E591D7EAB91B}"/>
              </a:ext>
            </a:extLst>
          </p:cNvPr>
          <p:cNvSpPr>
            <a:spLocks noGrp="1"/>
          </p:cNvSpPr>
          <p:nvPr/>
        </p:nvSpPr>
        <p:spPr>
          <a:xfrm>
            <a:off x="838200" y="12001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2015.12</a:t>
            </a:r>
          </a:p>
        </p:txBody>
      </p:sp>
      <p:sp>
        <p:nvSpPr>
          <p:cNvPr id="9" name="中央城市工作会议">
            <a:extLst>
              <a:ext uri="{FF2B5EF4-FFF2-40B4-BE49-F238E27FC236}">
                <a16:creationId xmlns:a16="http://schemas.microsoft.com/office/drawing/2014/main" id="{4E0DEEB4-7FCC-45E5-9801-8032A1522A00}"/>
              </a:ext>
            </a:extLst>
          </p:cNvPr>
          <p:cNvSpPr>
            <a:spLocks noGrp="1"/>
          </p:cNvSpPr>
          <p:nvPr/>
        </p:nvSpPr>
        <p:spPr>
          <a:xfrm>
            <a:off x="838200" y="14859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中央城市工作会议</a:t>
            </a:r>
          </a:p>
        </p:txBody>
      </p:sp>
      <p:sp>
        <p:nvSpPr>
          <p:cNvPr id="10" name="明确人民城市为人民">
            <a:extLst>
              <a:ext uri="{FF2B5EF4-FFF2-40B4-BE49-F238E27FC236}">
                <a16:creationId xmlns:a16="http://schemas.microsoft.com/office/drawing/2014/main" id="{2EBA60AF-691D-47D3-943B-19C36EB0B87E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明确人民城市为人民</a:t>
            </a:r>
          </a:p>
        </p:txBody>
      </p:sp>
      <p:sp>
        <p:nvSpPr>
          <p:cNvPr id="11" name="可编辑事件连接线">
            <a:extLst>
              <a:ext uri="{FF2B5EF4-FFF2-40B4-BE49-F238E27FC236}">
                <a16:creationId xmlns:a16="http://schemas.microsoft.com/office/drawing/2014/main" id="{04D1D605-5F15-4866-9F2B-C07C8C0BCAF2}"/>
              </a:ext>
            </a:extLst>
          </p:cNvPr>
          <p:cNvSpPr>
            <a:spLocks noGrp="1"/>
          </p:cNvSpPr>
          <p:nvPr/>
        </p:nvSpPr>
        <p:spPr>
          <a:xfrm>
            <a:off x="6248400" y="23169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可编辑节点底色">
            <a:extLst>
              <a:ext uri="{FF2B5EF4-FFF2-40B4-BE49-F238E27FC236}">
                <a16:creationId xmlns:a16="http://schemas.microsoft.com/office/drawing/2014/main" id="{92C4A9B6-76B0-4E6F-8E3E-5C0DBCADBF25}"/>
              </a:ext>
            </a:extLst>
          </p:cNvPr>
          <p:cNvSpPr>
            <a:spLocks noGrp="1"/>
          </p:cNvSpPr>
          <p:nvPr/>
        </p:nvSpPr>
        <p:spPr>
          <a:xfrm>
            <a:off x="6029325" y="22574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可编辑年份节点">
            <a:extLst>
              <a:ext uri="{FF2B5EF4-FFF2-40B4-BE49-F238E27FC236}">
                <a16:creationId xmlns:a16="http://schemas.microsoft.com/office/drawing/2014/main" id="{90BA1DC1-ED4F-4271-8408-2353B35E68A7}"/>
              </a:ext>
            </a:extLst>
          </p:cNvPr>
          <p:cNvSpPr>
            <a:spLocks noGrp="1"/>
          </p:cNvSpPr>
          <p:nvPr/>
        </p:nvSpPr>
        <p:spPr>
          <a:xfrm>
            <a:off x="6053138" y="22812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2019.11.02">
            <a:extLst>
              <a:ext uri="{FF2B5EF4-FFF2-40B4-BE49-F238E27FC236}">
                <a16:creationId xmlns:a16="http://schemas.microsoft.com/office/drawing/2014/main" id="{266B4FAA-258D-4F2F-8F4F-D27FE7439434}"/>
              </a:ext>
            </a:extLst>
          </p:cNvPr>
          <p:cNvSpPr>
            <a:spLocks noGrp="1"/>
          </p:cNvSpPr>
          <p:nvPr/>
        </p:nvSpPr>
        <p:spPr>
          <a:xfrm>
            <a:off x="7029450" y="20002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2019.11.02</a:t>
            </a:r>
          </a:p>
        </p:txBody>
      </p:sp>
      <p:sp>
        <p:nvSpPr>
          <p:cNvPr id="15" name="杨浦滨江考察">
            <a:extLst>
              <a:ext uri="{FF2B5EF4-FFF2-40B4-BE49-F238E27FC236}">
                <a16:creationId xmlns:a16="http://schemas.microsoft.com/office/drawing/2014/main" id="{9FBE077D-53E5-48AD-B18D-0405C26CA751}"/>
              </a:ext>
            </a:extLst>
          </p:cNvPr>
          <p:cNvSpPr>
            <a:spLocks noGrp="1"/>
          </p:cNvSpPr>
          <p:nvPr/>
        </p:nvSpPr>
        <p:spPr>
          <a:xfrm>
            <a:off x="7029450" y="22860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杨浦滨江考察</a:t>
            </a:r>
          </a:p>
        </p:txBody>
      </p:sp>
      <p:sp>
        <p:nvSpPr>
          <p:cNvPr id="16" name="提出完整重要理念">
            <a:extLst>
              <a:ext uri="{FF2B5EF4-FFF2-40B4-BE49-F238E27FC236}">
                <a16:creationId xmlns:a16="http://schemas.microsoft.com/office/drawing/2014/main" id="{78588BF4-7629-4F55-AD31-AD99242AC8FE}"/>
              </a:ext>
            </a:extLst>
          </p:cNvPr>
          <p:cNvSpPr>
            <a:spLocks noGrp="1"/>
          </p:cNvSpPr>
          <p:nvPr/>
        </p:nvSpPr>
        <p:spPr>
          <a:xfrm>
            <a:off x="7029450" y="26098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提出完整重要理念</a:t>
            </a:r>
          </a:p>
        </p:txBody>
      </p:sp>
      <p:sp>
        <p:nvSpPr>
          <p:cNvPr id="17" name="可编辑事件连接线">
            <a:extLst>
              <a:ext uri="{FF2B5EF4-FFF2-40B4-BE49-F238E27FC236}">
                <a16:creationId xmlns:a16="http://schemas.microsoft.com/office/drawing/2014/main" id="{19F36BD3-AA4B-4726-88DA-F1A79F91DFA4}"/>
              </a:ext>
            </a:extLst>
          </p:cNvPr>
          <p:cNvSpPr>
            <a:spLocks noGrp="1"/>
          </p:cNvSpPr>
          <p:nvPr/>
        </p:nvSpPr>
        <p:spPr>
          <a:xfrm>
            <a:off x="5295900" y="31170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可编辑节点底色">
            <a:extLst>
              <a:ext uri="{FF2B5EF4-FFF2-40B4-BE49-F238E27FC236}">
                <a16:creationId xmlns:a16="http://schemas.microsoft.com/office/drawing/2014/main" id="{496EABAD-5BBF-4521-B596-E0B3A68BF0CD}"/>
              </a:ext>
            </a:extLst>
          </p:cNvPr>
          <p:cNvSpPr>
            <a:spLocks noGrp="1"/>
          </p:cNvSpPr>
          <p:nvPr/>
        </p:nvSpPr>
        <p:spPr>
          <a:xfrm>
            <a:off x="6029325" y="30575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可编辑年份节点">
            <a:extLst>
              <a:ext uri="{FF2B5EF4-FFF2-40B4-BE49-F238E27FC236}">
                <a16:creationId xmlns:a16="http://schemas.microsoft.com/office/drawing/2014/main" id="{EB14AA70-77D3-4F4F-85AA-7E770B9076F3}"/>
              </a:ext>
            </a:extLst>
          </p:cNvPr>
          <p:cNvSpPr>
            <a:spLocks noGrp="1"/>
          </p:cNvSpPr>
          <p:nvPr/>
        </p:nvSpPr>
        <p:spPr>
          <a:xfrm>
            <a:off x="6053138" y="30813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2020.06.23">
            <a:extLst>
              <a:ext uri="{FF2B5EF4-FFF2-40B4-BE49-F238E27FC236}">
                <a16:creationId xmlns:a16="http://schemas.microsoft.com/office/drawing/2014/main" id="{C49445D7-3F8C-4B31-861F-564285DD90B0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2020.06.23</a:t>
            </a:r>
          </a:p>
        </p:txBody>
      </p:sp>
      <p:sp>
        <p:nvSpPr>
          <p:cNvPr id="21" name="上海市委全会">
            <a:extLst>
              <a:ext uri="{FF2B5EF4-FFF2-40B4-BE49-F238E27FC236}">
                <a16:creationId xmlns:a16="http://schemas.microsoft.com/office/drawing/2014/main" id="{BD4683E3-E490-4381-AAD7-FC0C773C59AA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上海市委全会</a:t>
            </a:r>
          </a:p>
        </p:txBody>
      </p:sp>
      <p:sp>
        <p:nvSpPr>
          <p:cNvPr id="22" name="部署五个人人城市">
            <a:extLst>
              <a:ext uri="{FF2B5EF4-FFF2-40B4-BE49-F238E27FC236}">
                <a16:creationId xmlns:a16="http://schemas.microsoft.com/office/drawing/2014/main" id="{693140CF-2711-40AD-B265-CCEEECC0F0C5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部署五个人人城市</a:t>
            </a:r>
          </a:p>
        </p:txBody>
      </p:sp>
      <p:sp>
        <p:nvSpPr>
          <p:cNvPr id="23" name="可编辑事件连接线">
            <a:extLst>
              <a:ext uri="{FF2B5EF4-FFF2-40B4-BE49-F238E27FC236}">
                <a16:creationId xmlns:a16="http://schemas.microsoft.com/office/drawing/2014/main" id="{1EF6D7A7-F285-48DA-BE63-C2EE6889DCF3}"/>
              </a:ext>
            </a:extLst>
          </p:cNvPr>
          <p:cNvSpPr>
            <a:spLocks noGrp="1"/>
          </p:cNvSpPr>
          <p:nvPr/>
        </p:nvSpPr>
        <p:spPr>
          <a:xfrm>
            <a:off x="6248400" y="39171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可编辑节点底色">
            <a:extLst>
              <a:ext uri="{FF2B5EF4-FFF2-40B4-BE49-F238E27FC236}">
                <a16:creationId xmlns:a16="http://schemas.microsoft.com/office/drawing/2014/main" id="{1766395C-95F1-4B80-8B7E-D145F7FC6A04}"/>
              </a:ext>
            </a:extLst>
          </p:cNvPr>
          <p:cNvSpPr>
            <a:spLocks noGrp="1"/>
          </p:cNvSpPr>
          <p:nvPr/>
        </p:nvSpPr>
        <p:spPr>
          <a:xfrm>
            <a:off x="6029325" y="38576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可编辑年份节点">
            <a:extLst>
              <a:ext uri="{FF2B5EF4-FFF2-40B4-BE49-F238E27FC236}">
                <a16:creationId xmlns:a16="http://schemas.microsoft.com/office/drawing/2014/main" id="{B903CDAC-33E6-42F1-9F4A-151B83EAF7F6}"/>
              </a:ext>
            </a:extLst>
          </p:cNvPr>
          <p:cNvSpPr>
            <a:spLocks noGrp="1"/>
          </p:cNvSpPr>
          <p:nvPr/>
        </p:nvSpPr>
        <p:spPr>
          <a:xfrm>
            <a:off x="6053138" y="38814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2020.11.12">
            <a:extLst>
              <a:ext uri="{FF2B5EF4-FFF2-40B4-BE49-F238E27FC236}">
                <a16:creationId xmlns:a16="http://schemas.microsoft.com/office/drawing/2014/main" id="{08E6A759-B20B-4B78-A82C-5E748A108442}"/>
              </a:ext>
            </a:extLst>
          </p:cNvPr>
          <p:cNvSpPr>
            <a:spLocks noGrp="1"/>
          </p:cNvSpPr>
          <p:nvPr/>
        </p:nvSpPr>
        <p:spPr>
          <a:xfrm>
            <a:off x="7029450" y="36004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2020.11.12</a:t>
            </a:r>
          </a:p>
        </p:txBody>
      </p:sp>
      <p:sp>
        <p:nvSpPr>
          <p:cNvPr id="27" name="浦东开发开放30周年">
            <a:extLst>
              <a:ext uri="{FF2B5EF4-FFF2-40B4-BE49-F238E27FC236}">
                <a16:creationId xmlns:a16="http://schemas.microsoft.com/office/drawing/2014/main" id="{CD4B1920-420A-4ECD-A571-24D6F6BEF500}"/>
              </a:ext>
            </a:extLst>
          </p:cNvPr>
          <p:cNvSpPr>
            <a:spLocks noGrp="1"/>
          </p:cNvSpPr>
          <p:nvPr/>
        </p:nvSpPr>
        <p:spPr>
          <a:xfrm>
            <a:off x="7029450" y="38862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浦东开发开放30周年</a:t>
            </a:r>
          </a:p>
        </p:txBody>
      </p:sp>
      <p:sp>
        <p:nvSpPr>
          <p:cNvPr id="28" name="强调宜居安居与治理">
            <a:extLst>
              <a:ext uri="{FF2B5EF4-FFF2-40B4-BE49-F238E27FC236}">
                <a16:creationId xmlns:a16="http://schemas.microsoft.com/office/drawing/2014/main" id="{48973029-ACAF-4A73-A3B4-610BE9B7DD68}"/>
              </a:ext>
            </a:extLst>
          </p:cNvPr>
          <p:cNvSpPr>
            <a:spLocks noGrp="1"/>
          </p:cNvSpPr>
          <p:nvPr/>
        </p:nvSpPr>
        <p:spPr>
          <a:xfrm>
            <a:off x="7029450" y="42100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强调宜居安居与治理</a:t>
            </a:r>
          </a:p>
        </p:txBody>
      </p:sp>
      <p:sp>
        <p:nvSpPr>
          <p:cNvPr id="29" name="可编辑事件连接线">
            <a:extLst>
              <a:ext uri="{FF2B5EF4-FFF2-40B4-BE49-F238E27FC236}">
                <a16:creationId xmlns:a16="http://schemas.microsoft.com/office/drawing/2014/main" id="{B5FF84BF-B1E2-4B8F-AE7F-E6393BF55CB5}"/>
              </a:ext>
            </a:extLst>
          </p:cNvPr>
          <p:cNvSpPr>
            <a:spLocks noGrp="1"/>
          </p:cNvSpPr>
          <p:nvPr/>
        </p:nvSpPr>
        <p:spPr>
          <a:xfrm>
            <a:off x="5295900" y="47172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可编辑节点底色">
            <a:extLst>
              <a:ext uri="{FF2B5EF4-FFF2-40B4-BE49-F238E27FC236}">
                <a16:creationId xmlns:a16="http://schemas.microsoft.com/office/drawing/2014/main" id="{9904F0FA-83DE-4205-9D9C-E940AC083753}"/>
              </a:ext>
            </a:extLst>
          </p:cNvPr>
          <p:cNvSpPr>
            <a:spLocks noGrp="1"/>
          </p:cNvSpPr>
          <p:nvPr/>
        </p:nvSpPr>
        <p:spPr>
          <a:xfrm>
            <a:off x="6029325" y="46577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可编辑年份节点">
            <a:extLst>
              <a:ext uri="{FF2B5EF4-FFF2-40B4-BE49-F238E27FC236}">
                <a16:creationId xmlns:a16="http://schemas.microsoft.com/office/drawing/2014/main" id="{30703506-66AC-4D3E-9D52-F0F081F962CB}"/>
              </a:ext>
            </a:extLst>
          </p:cNvPr>
          <p:cNvSpPr>
            <a:spLocks noGrp="1"/>
          </p:cNvSpPr>
          <p:nvPr/>
        </p:nvSpPr>
        <p:spPr>
          <a:xfrm>
            <a:off x="6053138" y="46815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2022.10.16">
            <a:extLst>
              <a:ext uri="{FF2B5EF4-FFF2-40B4-BE49-F238E27FC236}">
                <a16:creationId xmlns:a16="http://schemas.microsoft.com/office/drawing/2014/main" id="{03A7F58D-B3E0-4FF7-B20C-8E1B3CB3E85C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2022.10.16</a:t>
            </a:r>
          </a:p>
        </p:txBody>
      </p:sp>
      <p:sp>
        <p:nvSpPr>
          <p:cNvPr id="33" name="党的二十大报告">
            <a:extLst>
              <a:ext uri="{FF2B5EF4-FFF2-40B4-BE49-F238E27FC236}">
                <a16:creationId xmlns:a16="http://schemas.microsoft.com/office/drawing/2014/main" id="{C85BA38F-A744-464B-96FE-656E58D13945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党的二十大报告</a:t>
            </a:r>
          </a:p>
        </p:txBody>
      </p:sp>
      <p:sp>
        <p:nvSpPr>
          <p:cNvPr id="34" name="人民城市理念写入报告">
            <a:extLst>
              <a:ext uri="{FF2B5EF4-FFF2-40B4-BE49-F238E27FC236}">
                <a16:creationId xmlns:a16="http://schemas.microsoft.com/office/drawing/2014/main" id="{30B20556-150A-413C-BD6C-126D8477E2B6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人民城市理念写入报告</a:t>
            </a:r>
          </a:p>
        </p:txBody>
      </p:sp>
      <p:sp>
        <p:nvSpPr>
          <p:cNvPr id="35" name="可编辑事件连接线">
            <a:extLst>
              <a:ext uri="{FF2B5EF4-FFF2-40B4-BE49-F238E27FC236}">
                <a16:creationId xmlns:a16="http://schemas.microsoft.com/office/drawing/2014/main" id="{761BB6F0-0580-406F-9473-F51B06FEFDF1}"/>
              </a:ext>
            </a:extLst>
          </p:cNvPr>
          <p:cNvSpPr>
            <a:spLocks noGrp="1"/>
          </p:cNvSpPr>
          <p:nvPr/>
        </p:nvSpPr>
        <p:spPr>
          <a:xfrm>
            <a:off x="6248400" y="55173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可编辑节点底色">
            <a:extLst>
              <a:ext uri="{FF2B5EF4-FFF2-40B4-BE49-F238E27FC236}">
                <a16:creationId xmlns:a16="http://schemas.microsoft.com/office/drawing/2014/main" id="{FDF3E454-F6A6-413E-8881-72F1DAC61C51}"/>
              </a:ext>
            </a:extLst>
          </p:cNvPr>
          <p:cNvSpPr>
            <a:spLocks noGrp="1"/>
          </p:cNvSpPr>
          <p:nvPr/>
        </p:nvSpPr>
        <p:spPr>
          <a:xfrm>
            <a:off x="6029325" y="54578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可编辑年份节点">
            <a:extLst>
              <a:ext uri="{FF2B5EF4-FFF2-40B4-BE49-F238E27FC236}">
                <a16:creationId xmlns:a16="http://schemas.microsoft.com/office/drawing/2014/main" id="{DD8FB028-F1C9-4939-919E-5BA427C075F4}"/>
              </a:ext>
            </a:extLst>
          </p:cNvPr>
          <p:cNvSpPr>
            <a:spLocks noGrp="1"/>
          </p:cNvSpPr>
          <p:nvPr/>
        </p:nvSpPr>
        <p:spPr>
          <a:xfrm>
            <a:off x="6053138" y="54816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2023.11—12">
            <a:extLst>
              <a:ext uri="{FF2B5EF4-FFF2-40B4-BE49-F238E27FC236}">
                <a16:creationId xmlns:a16="http://schemas.microsoft.com/office/drawing/2014/main" id="{5A8A4238-39F1-4146-8872-06980F6228A9}"/>
              </a:ext>
            </a:extLst>
          </p:cNvPr>
          <p:cNvSpPr>
            <a:spLocks noGrp="1"/>
          </p:cNvSpPr>
          <p:nvPr/>
        </p:nvSpPr>
        <p:spPr>
          <a:xfrm>
            <a:off x="7029450" y="52006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2023.11—12</a:t>
            </a:r>
          </a:p>
        </p:txBody>
      </p:sp>
      <p:sp>
        <p:nvSpPr>
          <p:cNvPr id="39" name="上海考察">
            <a:extLst>
              <a:ext uri="{FF2B5EF4-FFF2-40B4-BE49-F238E27FC236}">
                <a16:creationId xmlns:a16="http://schemas.microsoft.com/office/drawing/2014/main" id="{97B34D12-9B01-4EF4-8063-01C32EF8ADB6}"/>
              </a:ext>
            </a:extLst>
          </p:cNvPr>
          <p:cNvSpPr>
            <a:spLocks noGrp="1"/>
          </p:cNvSpPr>
          <p:nvPr/>
        </p:nvSpPr>
        <p:spPr>
          <a:xfrm>
            <a:off x="7029450" y="54864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上海考察</a:t>
            </a:r>
          </a:p>
        </p:txBody>
      </p:sp>
      <p:sp>
        <p:nvSpPr>
          <p:cNvPr id="40" name="关注城市建设者住房">
            <a:extLst>
              <a:ext uri="{FF2B5EF4-FFF2-40B4-BE49-F238E27FC236}">
                <a16:creationId xmlns:a16="http://schemas.microsoft.com/office/drawing/2014/main" id="{5979CA66-0688-4EAD-A58D-C1BB6BEBBE69}"/>
              </a:ext>
            </a:extLst>
          </p:cNvPr>
          <p:cNvSpPr>
            <a:spLocks noGrp="1"/>
          </p:cNvSpPr>
          <p:nvPr/>
        </p:nvSpPr>
        <p:spPr>
          <a:xfrm>
            <a:off x="7029450" y="58102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关注城市建设者住房</a:t>
            </a:r>
          </a:p>
        </p:txBody>
      </p:sp>
      <p:pic>
        <p:nvPicPr>
          <p:cNvPr id="41" name="Rive时间线动画（移走后编辑下层）">
            <a:extLst>
              <a:ext uri="{FF2B5EF4-FFF2-40B4-BE49-F238E27FC236}">
                <a16:creationId xmlns:a16="http://schemas.microsoft.com/office/drawing/2014/main" id="{20B77283-B914-4284-9B4A-A53546FE6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104900"/>
            <a:ext cx="11049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5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人民城市的政策时间线 2024至2026">
            <a:extLst>
              <a:ext uri="{FF2B5EF4-FFF2-40B4-BE49-F238E27FC236}">
                <a16:creationId xmlns:a16="http://schemas.microsoft.com/office/drawing/2014/main" id="{0B5FEB91-74B4-40C7-9038-A618A842D66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人民城市的政策时间线 2024至2026</a:t>
            </a:r>
          </a:p>
        </p:txBody>
      </p:sp>
      <p:sp>
        <p:nvSpPr>
          <p:cNvPr id="2" name="来源：新华社、上海市委、《求是》、中央文件；完整链接与日期说明见备注">
            <a:extLst>
              <a:ext uri="{FF2B5EF4-FFF2-40B4-BE49-F238E27FC236}">
                <a16:creationId xmlns:a16="http://schemas.microsoft.com/office/drawing/2014/main" id="{E857543B-3366-4778-A6AC-70F2B4022A7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来源：新华社、上海市委、《求是》、中央文件；完整链接与日期说明见备注</a:t>
            </a: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C564F83F-33E3-4BE7-B132-4D64AC9030A6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4" name="可编辑纵轴">
            <a:extLst>
              <a:ext uri="{FF2B5EF4-FFF2-40B4-BE49-F238E27FC236}">
                <a16:creationId xmlns:a16="http://schemas.microsoft.com/office/drawing/2014/main" id="{D7034A26-6022-41D6-9BAC-3C4C6AD4969B}"/>
              </a:ext>
            </a:extLst>
          </p:cNvPr>
          <p:cNvSpPr>
            <a:spLocks noGrp="1"/>
          </p:cNvSpPr>
          <p:nvPr/>
        </p:nvSpPr>
        <p:spPr>
          <a:xfrm>
            <a:off x="6081713" y="1238250"/>
            <a:ext cx="28575" cy="457200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可编辑事件连接线">
            <a:extLst>
              <a:ext uri="{FF2B5EF4-FFF2-40B4-BE49-F238E27FC236}">
                <a16:creationId xmlns:a16="http://schemas.microsoft.com/office/drawing/2014/main" id="{9A2F2206-E27C-4248-9CAC-20602617932D}"/>
              </a:ext>
            </a:extLst>
          </p:cNvPr>
          <p:cNvSpPr>
            <a:spLocks noGrp="1"/>
          </p:cNvSpPr>
          <p:nvPr/>
        </p:nvSpPr>
        <p:spPr>
          <a:xfrm>
            <a:off x="5295900" y="15168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可编辑节点底色">
            <a:extLst>
              <a:ext uri="{FF2B5EF4-FFF2-40B4-BE49-F238E27FC236}">
                <a16:creationId xmlns:a16="http://schemas.microsoft.com/office/drawing/2014/main" id="{FEA0CCB3-AE50-4112-9CBA-4FABCBC8F041}"/>
              </a:ext>
            </a:extLst>
          </p:cNvPr>
          <p:cNvSpPr>
            <a:spLocks noGrp="1"/>
          </p:cNvSpPr>
          <p:nvPr/>
        </p:nvSpPr>
        <p:spPr>
          <a:xfrm>
            <a:off x="6029325" y="14573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可编辑年份节点">
            <a:extLst>
              <a:ext uri="{FF2B5EF4-FFF2-40B4-BE49-F238E27FC236}">
                <a16:creationId xmlns:a16="http://schemas.microsoft.com/office/drawing/2014/main" id="{4062E9BA-6A2E-4E00-951B-3391C8533DE0}"/>
              </a:ext>
            </a:extLst>
          </p:cNvPr>
          <p:cNvSpPr>
            <a:spLocks noGrp="1"/>
          </p:cNvSpPr>
          <p:nvPr/>
        </p:nvSpPr>
        <p:spPr>
          <a:xfrm>
            <a:off x="6053138" y="14811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2024.07.18">
            <a:extLst>
              <a:ext uri="{FF2B5EF4-FFF2-40B4-BE49-F238E27FC236}">
                <a16:creationId xmlns:a16="http://schemas.microsoft.com/office/drawing/2014/main" id="{E7CA26CA-FF28-484F-9CBD-A56A09C8981E}"/>
              </a:ext>
            </a:extLst>
          </p:cNvPr>
          <p:cNvSpPr>
            <a:spLocks noGrp="1"/>
          </p:cNvSpPr>
          <p:nvPr/>
        </p:nvSpPr>
        <p:spPr>
          <a:xfrm>
            <a:off x="838200" y="12001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2024.07.18</a:t>
            </a:r>
          </a:p>
        </p:txBody>
      </p:sp>
      <p:sp>
        <p:nvSpPr>
          <p:cNvPr id="9" name="二十届三中全会">
            <a:extLst>
              <a:ext uri="{FF2B5EF4-FFF2-40B4-BE49-F238E27FC236}">
                <a16:creationId xmlns:a16="http://schemas.microsoft.com/office/drawing/2014/main" id="{7016156D-406C-4710-A55E-27D294889336}"/>
              </a:ext>
            </a:extLst>
          </p:cNvPr>
          <p:cNvSpPr>
            <a:spLocks noGrp="1"/>
          </p:cNvSpPr>
          <p:nvPr/>
        </p:nvSpPr>
        <p:spPr>
          <a:xfrm>
            <a:off x="838200" y="14859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二十届三中全会</a:t>
            </a:r>
          </a:p>
        </p:txBody>
      </p:sp>
      <p:sp>
        <p:nvSpPr>
          <p:cNvPr id="10" name="城市更新与治理改革">
            <a:extLst>
              <a:ext uri="{FF2B5EF4-FFF2-40B4-BE49-F238E27FC236}">
                <a16:creationId xmlns:a16="http://schemas.microsoft.com/office/drawing/2014/main" id="{CB1C4E86-F1C6-42F6-A256-ACEDE72D00CA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城市更新与治理改革</a:t>
            </a:r>
          </a:p>
        </p:txBody>
      </p:sp>
      <p:sp>
        <p:nvSpPr>
          <p:cNvPr id="11" name="可编辑事件连接线">
            <a:extLst>
              <a:ext uri="{FF2B5EF4-FFF2-40B4-BE49-F238E27FC236}">
                <a16:creationId xmlns:a16="http://schemas.microsoft.com/office/drawing/2014/main" id="{77E673EB-0524-43E6-BAB9-564C6324B338}"/>
              </a:ext>
            </a:extLst>
          </p:cNvPr>
          <p:cNvSpPr>
            <a:spLocks noGrp="1"/>
          </p:cNvSpPr>
          <p:nvPr/>
        </p:nvSpPr>
        <p:spPr>
          <a:xfrm>
            <a:off x="6248400" y="23169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可编辑节点底色">
            <a:extLst>
              <a:ext uri="{FF2B5EF4-FFF2-40B4-BE49-F238E27FC236}">
                <a16:creationId xmlns:a16="http://schemas.microsoft.com/office/drawing/2014/main" id="{C09F4557-83D2-4C15-9B23-F8E5FEE36BFD}"/>
              </a:ext>
            </a:extLst>
          </p:cNvPr>
          <p:cNvSpPr>
            <a:spLocks noGrp="1"/>
          </p:cNvSpPr>
          <p:nvPr/>
        </p:nvSpPr>
        <p:spPr>
          <a:xfrm>
            <a:off x="6029325" y="22574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可编辑年份节点">
            <a:extLst>
              <a:ext uri="{FF2B5EF4-FFF2-40B4-BE49-F238E27FC236}">
                <a16:creationId xmlns:a16="http://schemas.microsoft.com/office/drawing/2014/main" id="{423E4772-1EB2-40FA-B50A-2DF02423A34B}"/>
              </a:ext>
            </a:extLst>
          </p:cNvPr>
          <p:cNvSpPr>
            <a:spLocks noGrp="1"/>
          </p:cNvSpPr>
          <p:nvPr/>
        </p:nvSpPr>
        <p:spPr>
          <a:xfrm>
            <a:off x="6053138" y="22812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2024.11.02">
            <a:extLst>
              <a:ext uri="{FF2B5EF4-FFF2-40B4-BE49-F238E27FC236}">
                <a16:creationId xmlns:a16="http://schemas.microsoft.com/office/drawing/2014/main" id="{ED42A8B0-6DFB-4507-BD7A-5A35D66F24CD}"/>
              </a:ext>
            </a:extLst>
          </p:cNvPr>
          <p:cNvSpPr>
            <a:spLocks noGrp="1"/>
          </p:cNvSpPr>
          <p:nvPr/>
        </p:nvSpPr>
        <p:spPr>
          <a:xfrm>
            <a:off x="7029450" y="20002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2024.11.02</a:t>
            </a:r>
          </a:p>
        </p:txBody>
      </p:sp>
      <p:sp>
        <p:nvSpPr>
          <p:cNvPr id="15" name="上海市委署名文章">
            <a:extLst>
              <a:ext uri="{FF2B5EF4-FFF2-40B4-BE49-F238E27FC236}">
                <a16:creationId xmlns:a16="http://schemas.microsoft.com/office/drawing/2014/main" id="{723698B1-3202-4B46-B7AD-D93139254F63}"/>
              </a:ext>
            </a:extLst>
          </p:cNvPr>
          <p:cNvSpPr>
            <a:spLocks noGrp="1"/>
          </p:cNvSpPr>
          <p:nvPr/>
        </p:nvSpPr>
        <p:spPr>
          <a:xfrm>
            <a:off x="7029450" y="22860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上海市委署名文章</a:t>
            </a:r>
          </a:p>
        </p:txBody>
      </p:sp>
      <p:sp>
        <p:nvSpPr>
          <p:cNvPr id="16" name="总结理念提出五年实践">
            <a:extLst>
              <a:ext uri="{FF2B5EF4-FFF2-40B4-BE49-F238E27FC236}">
                <a16:creationId xmlns:a16="http://schemas.microsoft.com/office/drawing/2014/main" id="{8A50FFD1-DC6F-427F-ADBC-40F66713E781}"/>
              </a:ext>
            </a:extLst>
          </p:cNvPr>
          <p:cNvSpPr>
            <a:spLocks noGrp="1"/>
          </p:cNvSpPr>
          <p:nvPr/>
        </p:nvSpPr>
        <p:spPr>
          <a:xfrm>
            <a:off x="7029450" y="26098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总结理念提出五年实践</a:t>
            </a:r>
          </a:p>
        </p:txBody>
      </p:sp>
      <p:sp>
        <p:nvSpPr>
          <p:cNvPr id="17" name="可编辑事件连接线">
            <a:extLst>
              <a:ext uri="{FF2B5EF4-FFF2-40B4-BE49-F238E27FC236}">
                <a16:creationId xmlns:a16="http://schemas.microsoft.com/office/drawing/2014/main" id="{041A7B39-D1B6-43D3-99CC-1B3F1F635DFF}"/>
              </a:ext>
            </a:extLst>
          </p:cNvPr>
          <p:cNvSpPr>
            <a:spLocks noGrp="1"/>
          </p:cNvSpPr>
          <p:nvPr/>
        </p:nvSpPr>
        <p:spPr>
          <a:xfrm>
            <a:off x="5295900" y="31170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可编辑节点底色">
            <a:extLst>
              <a:ext uri="{FF2B5EF4-FFF2-40B4-BE49-F238E27FC236}">
                <a16:creationId xmlns:a16="http://schemas.microsoft.com/office/drawing/2014/main" id="{EC5BA332-ABF1-45F0-B591-F50C35CB7BF0}"/>
              </a:ext>
            </a:extLst>
          </p:cNvPr>
          <p:cNvSpPr>
            <a:spLocks noGrp="1"/>
          </p:cNvSpPr>
          <p:nvPr/>
        </p:nvSpPr>
        <p:spPr>
          <a:xfrm>
            <a:off x="6029325" y="30575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可编辑年份节点">
            <a:extLst>
              <a:ext uri="{FF2B5EF4-FFF2-40B4-BE49-F238E27FC236}">
                <a16:creationId xmlns:a16="http://schemas.microsoft.com/office/drawing/2014/main" id="{C06257E7-E160-4A23-AE3B-6496FE19C75E}"/>
              </a:ext>
            </a:extLst>
          </p:cNvPr>
          <p:cNvSpPr>
            <a:spLocks noGrp="1"/>
          </p:cNvSpPr>
          <p:nvPr/>
        </p:nvSpPr>
        <p:spPr>
          <a:xfrm>
            <a:off x="6053138" y="30813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2024.11.04报道">
            <a:extLst>
              <a:ext uri="{FF2B5EF4-FFF2-40B4-BE49-F238E27FC236}">
                <a16:creationId xmlns:a16="http://schemas.microsoft.com/office/drawing/2014/main" id="{B667E4AF-4256-4549-A04C-1E50BADD9BD5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2024.11.04报道</a:t>
            </a:r>
          </a:p>
        </p:txBody>
      </p:sp>
      <p:sp>
        <p:nvSpPr>
          <p:cNvPr id="21" name="老杨树宣讲汇回信">
            <a:extLst>
              <a:ext uri="{FF2B5EF4-FFF2-40B4-BE49-F238E27FC236}">
                <a16:creationId xmlns:a16="http://schemas.microsoft.com/office/drawing/2014/main" id="{2EB1A50C-6744-4C7E-B4BB-848F9E15226E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老杨树宣讲汇回信</a:t>
            </a:r>
          </a:p>
        </p:txBody>
      </p:sp>
      <p:sp>
        <p:nvSpPr>
          <p:cNvPr id="22" name="鼓励市民参与城市治理">
            <a:extLst>
              <a:ext uri="{FF2B5EF4-FFF2-40B4-BE49-F238E27FC236}">
                <a16:creationId xmlns:a16="http://schemas.microsoft.com/office/drawing/2014/main" id="{CA91E6CA-6614-44C2-A2DF-BC5B76FF6E81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鼓励市民参与城市治理</a:t>
            </a:r>
          </a:p>
        </p:txBody>
      </p:sp>
      <p:sp>
        <p:nvSpPr>
          <p:cNvPr id="23" name="可编辑事件连接线">
            <a:extLst>
              <a:ext uri="{FF2B5EF4-FFF2-40B4-BE49-F238E27FC236}">
                <a16:creationId xmlns:a16="http://schemas.microsoft.com/office/drawing/2014/main" id="{0D201E69-0F2E-4EA1-87F6-C8FC7287A0DB}"/>
              </a:ext>
            </a:extLst>
          </p:cNvPr>
          <p:cNvSpPr>
            <a:spLocks noGrp="1"/>
          </p:cNvSpPr>
          <p:nvPr/>
        </p:nvSpPr>
        <p:spPr>
          <a:xfrm>
            <a:off x="6248400" y="39171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可编辑节点底色">
            <a:extLst>
              <a:ext uri="{FF2B5EF4-FFF2-40B4-BE49-F238E27FC236}">
                <a16:creationId xmlns:a16="http://schemas.microsoft.com/office/drawing/2014/main" id="{9CC94D18-9B0F-4B07-A74B-2F82C4305DFC}"/>
              </a:ext>
            </a:extLst>
          </p:cNvPr>
          <p:cNvSpPr>
            <a:spLocks noGrp="1"/>
          </p:cNvSpPr>
          <p:nvPr/>
        </p:nvSpPr>
        <p:spPr>
          <a:xfrm>
            <a:off x="6029325" y="38576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可编辑年份节点">
            <a:extLst>
              <a:ext uri="{FF2B5EF4-FFF2-40B4-BE49-F238E27FC236}">
                <a16:creationId xmlns:a16="http://schemas.microsoft.com/office/drawing/2014/main" id="{4D047978-E096-4362-885E-AEE1B9BF41F6}"/>
              </a:ext>
            </a:extLst>
          </p:cNvPr>
          <p:cNvSpPr>
            <a:spLocks noGrp="1"/>
          </p:cNvSpPr>
          <p:nvPr/>
        </p:nvSpPr>
        <p:spPr>
          <a:xfrm>
            <a:off x="6053138" y="38814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2025.07.14—15">
            <a:extLst>
              <a:ext uri="{FF2B5EF4-FFF2-40B4-BE49-F238E27FC236}">
                <a16:creationId xmlns:a16="http://schemas.microsoft.com/office/drawing/2014/main" id="{4A0427DC-7193-4968-9B80-CE8F11196EE8}"/>
              </a:ext>
            </a:extLst>
          </p:cNvPr>
          <p:cNvSpPr>
            <a:spLocks noGrp="1"/>
          </p:cNvSpPr>
          <p:nvPr/>
        </p:nvSpPr>
        <p:spPr>
          <a:xfrm>
            <a:off x="7029450" y="36004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2025.07.14—15</a:t>
            </a:r>
          </a:p>
        </p:txBody>
      </p:sp>
      <p:sp>
        <p:nvSpPr>
          <p:cNvPr id="27" name="中央城市工作会议">
            <a:extLst>
              <a:ext uri="{FF2B5EF4-FFF2-40B4-BE49-F238E27FC236}">
                <a16:creationId xmlns:a16="http://schemas.microsoft.com/office/drawing/2014/main" id="{C3CDAC31-7F71-42FE-BBE1-CF01D081EE55}"/>
              </a:ext>
            </a:extLst>
          </p:cNvPr>
          <p:cNvSpPr>
            <a:spLocks noGrp="1"/>
          </p:cNvSpPr>
          <p:nvPr/>
        </p:nvSpPr>
        <p:spPr>
          <a:xfrm>
            <a:off x="7029450" y="38862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中央城市工作会议</a:t>
            </a:r>
          </a:p>
        </p:txBody>
      </p:sp>
      <p:sp>
        <p:nvSpPr>
          <p:cNvPr id="28" name="建设现代化人民城市">
            <a:extLst>
              <a:ext uri="{FF2B5EF4-FFF2-40B4-BE49-F238E27FC236}">
                <a16:creationId xmlns:a16="http://schemas.microsoft.com/office/drawing/2014/main" id="{CA1C7D28-64F1-406D-B96A-26B5F2F998B4}"/>
              </a:ext>
            </a:extLst>
          </p:cNvPr>
          <p:cNvSpPr>
            <a:spLocks noGrp="1"/>
          </p:cNvSpPr>
          <p:nvPr/>
        </p:nvSpPr>
        <p:spPr>
          <a:xfrm>
            <a:off x="7029450" y="42100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建设现代化人民城市</a:t>
            </a:r>
          </a:p>
        </p:txBody>
      </p:sp>
      <p:sp>
        <p:nvSpPr>
          <p:cNvPr id="29" name="可编辑事件连接线">
            <a:extLst>
              <a:ext uri="{FF2B5EF4-FFF2-40B4-BE49-F238E27FC236}">
                <a16:creationId xmlns:a16="http://schemas.microsoft.com/office/drawing/2014/main" id="{9E9D114B-DD61-4F0B-894F-1EE0DB3715E8}"/>
              </a:ext>
            </a:extLst>
          </p:cNvPr>
          <p:cNvSpPr>
            <a:spLocks noGrp="1"/>
          </p:cNvSpPr>
          <p:nvPr/>
        </p:nvSpPr>
        <p:spPr>
          <a:xfrm>
            <a:off x="5295900" y="47172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可编辑节点底色">
            <a:extLst>
              <a:ext uri="{FF2B5EF4-FFF2-40B4-BE49-F238E27FC236}">
                <a16:creationId xmlns:a16="http://schemas.microsoft.com/office/drawing/2014/main" id="{3AF91812-4CB2-47FD-99F5-27522123550E}"/>
              </a:ext>
            </a:extLst>
          </p:cNvPr>
          <p:cNvSpPr>
            <a:spLocks noGrp="1"/>
          </p:cNvSpPr>
          <p:nvPr/>
        </p:nvSpPr>
        <p:spPr>
          <a:xfrm>
            <a:off x="6029325" y="46577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可编辑年份节点">
            <a:extLst>
              <a:ext uri="{FF2B5EF4-FFF2-40B4-BE49-F238E27FC236}">
                <a16:creationId xmlns:a16="http://schemas.microsoft.com/office/drawing/2014/main" id="{08E7C3C3-0DC2-45B8-89C0-16F58B7839F5}"/>
              </a:ext>
            </a:extLst>
          </p:cNvPr>
          <p:cNvSpPr>
            <a:spLocks noGrp="1"/>
          </p:cNvSpPr>
          <p:nvPr/>
        </p:nvSpPr>
        <p:spPr>
          <a:xfrm>
            <a:off x="6053138" y="46815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2025.08.15落款">
            <a:extLst>
              <a:ext uri="{FF2B5EF4-FFF2-40B4-BE49-F238E27FC236}">
                <a16:creationId xmlns:a16="http://schemas.microsoft.com/office/drawing/2014/main" id="{0AFB8DE7-536F-4834-B09E-89F891BA8D6A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2025.08.15落款</a:t>
            </a:r>
          </a:p>
        </p:txBody>
      </p:sp>
      <p:sp>
        <p:nvSpPr>
          <p:cNvPr id="33" name="城市高质量发展意见">
            <a:extLst>
              <a:ext uri="{FF2B5EF4-FFF2-40B4-BE49-F238E27FC236}">
                <a16:creationId xmlns:a16="http://schemas.microsoft.com/office/drawing/2014/main" id="{FFA77713-833B-4C95-AE20-9E259431EB9A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城市高质量发展意见</a:t>
            </a:r>
          </a:p>
        </p:txBody>
      </p:sp>
      <p:sp>
        <p:nvSpPr>
          <p:cNvPr id="34" name="明确2030和2035年目标">
            <a:extLst>
              <a:ext uri="{FF2B5EF4-FFF2-40B4-BE49-F238E27FC236}">
                <a16:creationId xmlns:a16="http://schemas.microsoft.com/office/drawing/2014/main" id="{DA2C141A-3165-4B58-8745-BB4314B29E90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明确2030和2035年目标</a:t>
            </a:r>
          </a:p>
        </p:txBody>
      </p:sp>
      <p:sp>
        <p:nvSpPr>
          <p:cNvPr id="35" name="可编辑事件连接线">
            <a:extLst>
              <a:ext uri="{FF2B5EF4-FFF2-40B4-BE49-F238E27FC236}">
                <a16:creationId xmlns:a16="http://schemas.microsoft.com/office/drawing/2014/main" id="{0BB62A05-9F53-4B51-9A47-587C24F0869E}"/>
              </a:ext>
            </a:extLst>
          </p:cNvPr>
          <p:cNvSpPr>
            <a:spLocks noGrp="1"/>
          </p:cNvSpPr>
          <p:nvPr/>
        </p:nvSpPr>
        <p:spPr>
          <a:xfrm>
            <a:off x="6248400" y="5517356"/>
            <a:ext cx="647700" cy="14288"/>
          </a:xfrm>
          <a:prstGeom prst="rect">
            <a:avLst/>
          </a:prstGeom>
          <a:solidFill>
            <a:srgbClr val="CBB9A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可编辑节点底色">
            <a:extLst>
              <a:ext uri="{FF2B5EF4-FFF2-40B4-BE49-F238E27FC236}">
                <a16:creationId xmlns:a16="http://schemas.microsoft.com/office/drawing/2014/main" id="{976DF896-CDFE-4E52-92E6-C1AF5E09D894}"/>
              </a:ext>
            </a:extLst>
          </p:cNvPr>
          <p:cNvSpPr>
            <a:spLocks noGrp="1"/>
          </p:cNvSpPr>
          <p:nvPr/>
        </p:nvSpPr>
        <p:spPr>
          <a:xfrm>
            <a:off x="6029325" y="5457825"/>
            <a:ext cx="133350" cy="133350"/>
          </a:xfrm>
          <a:prstGeom prst="ellipse">
            <a:avLst/>
          </a:prstGeom>
          <a:solidFill>
            <a:srgbClr val="F5F0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可编辑年份节点">
            <a:extLst>
              <a:ext uri="{FF2B5EF4-FFF2-40B4-BE49-F238E27FC236}">
                <a16:creationId xmlns:a16="http://schemas.microsoft.com/office/drawing/2014/main" id="{9670623A-81DE-4997-AB56-88CF20034C17}"/>
              </a:ext>
            </a:extLst>
          </p:cNvPr>
          <p:cNvSpPr>
            <a:spLocks noGrp="1"/>
          </p:cNvSpPr>
          <p:nvPr/>
        </p:nvSpPr>
        <p:spPr>
          <a:xfrm>
            <a:off x="6053138" y="5481638"/>
            <a:ext cx="85725" cy="85725"/>
          </a:xfrm>
          <a:prstGeom prst="ellipse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2026.07.15">
            <a:extLst>
              <a:ext uri="{FF2B5EF4-FFF2-40B4-BE49-F238E27FC236}">
                <a16:creationId xmlns:a16="http://schemas.microsoft.com/office/drawing/2014/main" id="{64CA3B64-0E99-4B49-896D-FD41FDB70777}"/>
              </a:ext>
            </a:extLst>
          </p:cNvPr>
          <p:cNvSpPr>
            <a:spLocks noGrp="1"/>
          </p:cNvSpPr>
          <p:nvPr/>
        </p:nvSpPr>
        <p:spPr>
          <a:xfrm>
            <a:off x="7029450" y="52006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2026.07.15</a:t>
            </a:r>
          </a:p>
        </p:txBody>
      </p:sp>
      <p:sp>
        <p:nvSpPr>
          <p:cNvPr id="39" name="上海市民新村考察">
            <a:extLst>
              <a:ext uri="{FF2B5EF4-FFF2-40B4-BE49-F238E27FC236}">
                <a16:creationId xmlns:a16="http://schemas.microsoft.com/office/drawing/2014/main" id="{28AAEA69-757D-41D4-A784-E317532BE25B}"/>
              </a:ext>
            </a:extLst>
          </p:cNvPr>
          <p:cNvSpPr>
            <a:spLocks noGrp="1"/>
          </p:cNvSpPr>
          <p:nvPr/>
        </p:nvSpPr>
        <p:spPr>
          <a:xfrm>
            <a:off x="7029450" y="5486400"/>
            <a:ext cx="4324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上海市民新村考察</a:t>
            </a:r>
          </a:p>
        </p:txBody>
      </p:sp>
      <p:sp>
        <p:nvSpPr>
          <p:cNvPr id="40" name="更新问需问计问效于民">
            <a:extLst>
              <a:ext uri="{FF2B5EF4-FFF2-40B4-BE49-F238E27FC236}">
                <a16:creationId xmlns:a16="http://schemas.microsoft.com/office/drawing/2014/main" id="{F7534852-5A55-41CC-8B0B-67EFC208294A}"/>
              </a:ext>
            </a:extLst>
          </p:cNvPr>
          <p:cNvSpPr>
            <a:spLocks noGrp="1"/>
          </p:cNvSpPr>
          <p:nvPr/>
        </p:nvSpPr>
        <p:spPr>
          <a:xfrm>
            <a:off x="7029450" y="5810250"/>
            <a:ext cx="4324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65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更新问需问计问效于民</a:t>
            </a:r>
          </a:p>
        </p:txBody>
      </p:sp>
      <p:pic>
        <p:nvPicPr>
          <p:cNvPr id="41" name="Rive时间线动画（移走后编辑下层）">
            <a:extLst>
              <a:ext uri="{FF2B5EF4-FFF2-40B4-BE49-F238E27FC236}">
                <a16:creationId xmlns:a16="http://schemas.microsoft.com/office/drawing/2014/main" id="{80F105DF-D283-4F61-90FC-7BBC8DC80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104900"/>
            <a:ext cx="11049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11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分钟生活圈中的六类服务">
            <a:extLst>
              <a:ext uri="{FF2B5EF4-FFF2-40B4-BE49-F238E27FC236}">
                <a16:creationId xmlns:a16="http://schemas.microsoft.com/office/drawing/2014/main" id="{FEA92B58-648C-47A6-BED4-84E50EEBF3D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15分钟生活圈中的六类服务</a:t>
            </a:r>
          </a:p>
        </p:txBody>
      </p:sp>
      <p:sp>
        <p:nvSpPr>
          <p:cNvPr id="2" name="选取范围：社区公共服务；健身限市民健身中心分类">
            <a:extLst>
              <a:ext uri="{FF2B5EF4-FFF2-40B4-BE49-F238E27FC236}">
                <a16:creationId xmlns:a16="http://schemas.microsoft.com/office/drawing/2014/main" id="{B2DB1CF4-8D1C-4A22-86BB-1370B938FCB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选取范围：社区公共服务；健身限市民健身中心分类</a:t>
            </a: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6AEF28E7-0BB8-4780-9C28-F338932CD47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06</a:t>
            </a:r>
          </a:p>
        </p:txBody>
      </p:sp>
      <p:sp>
        <p:nvSpPr>
          <p:cNvPr id="4" name="社区长者食堂">
            <a:extLst>
              <a:ext uri="{FF2B5EF4-FFF2-40B4-BE49-F238E27FC236}">
                <a16:creationId xmlns:a16="http://schemas.microsoft.com/office/drawing/2014/main" id="{8F7A9C1D-B91C-41DC-8E1E-45DB1B381435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社区长者食堂</a:t>
            </a:r>
          </a:p>
        </p:txBody>
      </p:sp>
      <p:sp>
        <p:nvSpPr>
          <p:cNvPr id="5" name="用餐与老年助餐">
            <a:extLst>
              <a:ext uri="{FF2B5EF4-FFF2-40B4-BE49-F238E27FC236}">
                <a16:creationId xmlns:a16="http://schemas.microsoft.com/office/drawing/2014/main" id="{D9382C7C-27DF-4CA6-A627-9EB2CF8E48E4}"/>
              </a:ext>
            </a:extLst>
          </p:cNvPr>
          <p:cNvSpPr>
            <a:spLocks noGrp="1"/>
          </p:cNvSpPr>
          <p:nvPr/>
        </p:nvSpPr>
        <p:spPr>
          <a:xfrm>
            <a:off x="571500" y="21145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用餐与老年助餐</a:t>
            </a:r>
          </a:p>
        </p:txBody>
      </p:sp>
      <p:sp>
        <p:nvSpPr>
          <p:cNvPr id="6" name="图书馆服务网点">
            <a:extLst>
              <a:ext uri="{FF2B5EF4-FFF2-40B4-BE49-F238E27FC236}">
                <a16:creationId xmlns:a16="http://schemas.microsoft.com/office/drawing/2014/main" id="{DB6E92CB-87B0-4103-9097-C632A64E2FE7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图书馆服务网点</a:t>
            </a:r>
          </a:p>
        </p:txBody>
      </p:sp>
      <p:sp>
        <p:nvSpPr>
          <p:cNvPr id="7" name="借阅、阅读与学习空间">
            <a:extLst>
              <a:ext uri="{FF2B5EF4-FFF2-40B4-BE49-F238E27FC236}">
                <a16:creationId xmlns:a16="http://schemas.microsoft.com/office/drawing/2014/main" id="{5BC56C98-256D-4548-866A-B2605A5F6CF7}"/>
              </a:ext>
            </a:extLst>
          </p:cNvPr>
          <p:cNvSpPr>
            <a:spLocks noGrp="1"/>
          </p:cNvSpPr>
          <p:nvPr/>
        </p:nvSpPr>
        <p:spPr>
          <a:xfrm>
            <a:off x="6381750" y="21145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借阅、阅读与学习空间</a:t>
            </a:r>
          </a:p>
        </p:txBody>
      </p:sp>
      <p:sp>
        <p:nvSpPr>
          <p:cNvPr id="8" name="市民健身中心">
            <a:extLst>
              <a:ext uri="{FF2B5EF4-FFF2-40B4-BE49-F238E27FC236}">
                <a16:creationId xmlns:a16="http://schemas.microsoft.com/office/drawing/2014/main" id="{1EDC1D62-6B00-4705-B1A1-DE8355E8EBD8}"/>
              </a:ext>
            </a:extLst>
          </p:cNvPr>
          <p:cNvSpPr>
            <a:spLocks noGrp="1"/>
          </p:cNvSpPr>
          <p:nvPr/>
        </p:nvSpPr>
        <p:spPr>
          <a:xfrm>
            <a:off x="571500" y="29718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市民健身中心</a:t>
            </a:r>
          </a:p>
        </p:txBody>
      </p:sp>
      <p:sp>
        <p:nvSpPr>
          <p:cNvPr id="9" name="公共体育平台对应分类">
            <a:extLst>
              <a:ext uri="{FF2B5EF4-FFF2-40B4-BE49-F238E27FC236}">
                <a16:creationId xmlns:a16="http://schemas.microsoft.com/office/drawing/2014/main" id="{DA7B5468-CAC3-4C5E-9BB5-4EA1A627DFC7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公共体育平台对应分类</a:t>
            </a:r>
          </a:p>
        </p:txBody>
      </p:sp>
      <p:sp>
        <p:nvSpPr>
          <p:cNvPr id="10" name="公园类绿地">
            <a:extLst>
              <a:ext uri="{FF2B5EF4-FFF2-40B4-BE49-F238E27FC236}">
                <a16:creationId xmlns:a16="http://schemas.microsoft.com/office/drawing/2014/main" id="{00889EC5-4FB1-4C11-9059-8869269C4B29}"/>
              </a:ext>
            </a:extLst>
          </p:cNvPr>
          <p:cNvSpPr>
            <a:spLocks noGrp="1"/>
          </p:cNvSpPr>
          <p:nvPr/>
        </p:nvSpPr>
        <p:spPr>
          <a:xfrm>
            <a:off x="6381750" y="29718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公园类绿地</a:t>
            </a:r>
          </a:p>
        </p:txBody>
      </p:sp>
      <p:sp>
        <p:nvSpPr>
          <p:cNvPr id="11" name="散步、休闲和户外活动">
            <a:extLst>
              <a:ext uri="{FF2B5EF4-FFF2-40B4-BE49-F238E27FC236}">
                <a16:creationId xmlns:a16="http://schemas.microsoft.com/office/drawing/2014/main" id="{84EA36A5-FD3E-46B9-B366-8DD27065B389}"/>
              </a:ext>
            </a:extLst>
          </p:cNvPr>
          <p:cNvSpPr>
            <a:spLocks noGrp="1"/>
          </p:cNvSpPr>
          <p:nvPr/>
        </p:nvSpPr>
        <p:spPr>
          <a:xfrm>
            <a:off x="6381750" y="35623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散步、休闲和户外活动</a:t>
            </a:r>
          </a:p>
        </p:txBody>
      </p:sp>
      <p:sp>
        <p:nvSpPr>
          <p:cNvPr id="12" name="社区文化活动中心">
            <a:extLst>
              <a:ext uri="{FF2B5EF4-FFF2-40B4-BE49-F238E27FC236}">
                <a16:creationId xmlns:a16="http://schemas.microsoft.com/office/drawing/2014/main" id="{B9558F8A-FC06-4418-8F44-22E504BB483D}"/>
              </a:ext>
            </a:extLst>
          </p:cNvPr>
          <p:cNvSpPr>
            <a:spLocks noGrp="1"/>
          </p:cNvSpPr>
          <p:nvPr/>
        </p:nvSpPr>
        <p:spPr>
          <a:xfrm>
            <a:off x="571500" y="44196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社区文化活动中心</a:t>
            </a:r>
          </a:p>
        </p:txBody>
      </p:sp>
      <p:sp>
        <p:nvSpPr>
          <p:cNvPr id="13" name="文化活动与社区学习">
            <a:extLst>
              <a:ext uri="{FF2B5EF4-FFF2-40B4-BE49-F238E27FC236}">
                <a16:creationId xmlns:a16="http://schemas.microsoft.com/office/drawing/2014/main" id="{22B41EE6-881D-425E-B640-E051F9353D95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文化活动与社区学习</a:t>
            </a:r>
          </a:p>
        </p:txBody>
      </p:sp>
      <p:sp>
        <p:nvSpPr>
          <p:cNvPr id="14" name="社区卫生服务中心">
            <a:extLst>
              <a:ext uri="{FF2B5EF4-FFF2-40B4-BE49-F238E27FC236}">
                <a16:creationId xmlns:a16="http://schemas.microsoft.com/office/drawing/2014/main" id="{43D6DD9D-096F-4965-A95E-12EB03CB7B5D}"/>
              </a:ext>
            </a:extLst>
          </p:cNvPr>
          <p:cNvSpPr>
            <a:spLocks noGrp="1"/>
          </p:cNvSpPr>
          <p:nvPr/>
        </p:nvSpPr>
        <p:spPr>
          <a:xfrm>
            <a:off x="6381750" y="44196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社区卫生服务中心</a:t>
            </a:r>
          </a:p>
        </p:txBody>
      </p:sp>
      <p:sp>
        <p:nvSpPr>
          <p:cNvPr id="15" name="基本医疗与公共卫生">
            <a:extLst>
              <a:ext uri="{FF2B5EF4-FFF2-40B4-BE49-F238E27FC236}">
                <a16:creationId xmlns:a16="http://schemas.microsoft.com/office/drawing/2014/main" id="{809CC210-3557-4B0E-9B80-0B5130A1761A}"/>
              </a:ext>
            </a:extLst>
          </p:cNvPr>
          <p:cNvSpPr>
            <a:spLocks noGrp="1"/>
          </p:cNvSpPr>
          <p:nvPr/>
        </p:nvSpPr>
        <p:spPr>
          <a:xfrm>
            <a:off x="6381750" y="5010150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基本医疗与公共卫生</a:t>
            </a:r>
          </a:p>
        </p:txBody>
      </p:sp>
      <p:sp>
        <p:nvSpPr>
          <p:cNvPr id="17" name="六类服务连接轴">
            <a:extLst>
              <a:ext uri="{FF2B5EF4-FFF2-40B4-BE49-F238E27FC236}">
                <a16:creationId xmlns:a16="http://schemas.microsoft.com/office/drawing/2014/main" id="{9B657793-4AFC-4749-AF24-ED27DEC0ABFA}"/>
              </a:ext>
            </a:extLst>
          </p:cNvPr>
          <p:cNvSpPr>
            <a:spLocks noGrp="1"/>
          </p:cNvSpPr>
          <p:nvPr/>
        </p:nvSpPr>
        <p:spPr>
          <a:xfrm>
            <a:off x="6086475" y="1695450"/>
            <a:ext cx="19050" cy="2895600"/>
          </a:xfrm>
          <a:prstGeom prst="rect">
            <a:avLst/>
          </a:prstGeom>
          <a:solidFill>
            <a:srgbClr val="DBCA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服务连接线">
            <a:extLst>
              <a:ext uri="{FF2B5EF4-FFF2-40B4-BE49-F238E27FC236}">
                <a16:creationId xmlns:a16="http://schemas.microsoft.com/office/drawing/2014/main" id="{DF172E73-0B59-47AC-9051-6D27C5743272}"/>
              </a:ext>
            </a:extLst>
          </p:cNvPr>
          <p:cNvSpPr>
            <a:spLocks noGrp="1"/>
          </p:cNvSpPr>
          <p:nvPr/>
        </p:nvSpPr>
        <p:spPr>
          <a:xfrm>
            <a:off x="5905500" y="16859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服务节点">
            <a:extLst>
              <a:ext uri="{FF2B5EF4-FFF2-40B4-BE49-F238E27FC236}">
                <a16:creationId xmlns:a16="http://schemas.microsoft.com/office/drawing/2014/main" id="{770D8876-34E7-45B0-94E2-E7ABC7298905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服务连接线">
            <a:extLst>
              <a:ext uri="{FF2B5EF4-FFF2-40B4-BE49-F238E27FC236}">
                <a16:creationId xmlns:a16="http://schemas.microsoft.com/office/drawing/2014/main" id="{041B26D9-8086-4E83-864A-4964CC37F894}"/>
              </a:ext>
            </a:extLst>
          </p:cNvPr>
          <p:cNvSpPr>
            <a:spLocks noGrp="1"/>
          </p:cNvSpPr>
          <p:nvPr/>
        </p:nvSpPr>
        <p:spPr>
          <a:xfrm>
            <a:off x="6096000" y="16859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服务节点">
            <a:extLst>
              <a:ext uri="{FF2B5EF4-FFF2-40B4-BE49-F238E27FC236}">
                <a16:creationId xmlns:a16="http://schemas.microsoft.com/office/drawing/2014/main" id="{B8E96AA3-58FB-4231-9F45-F2C771B2EE23}"/>
              </a:ext>
            </a:extLst>
          </p:cNvPr>
          <p:cNvSpPr>
            <a:spLocks noGrp="1"/>
          </p:cNvSpPr>
          <p:nvPr/>
        </p:nvSpPr>
        <p:spPr>
          <a:xfrm>
            <a:off x="6248400" y="16573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服务连接线">
            <a:extLst>
              <a:ext uri="{FF2B5EF4-FFF2-40B4-BE49-F238E27FC236}">
                <a16:creationId xmlns:a16="http://schemas.microsoft.com/office/drawing/2014/main" id="{8CE3F327-C5AE-4BF0-823C-C5B212A48E35}"/>
              </a:ext>
            </a:extLst>
          </p:cNvPr>
          <p:cNvSpPr>
            <a:spLocks noGrp="1"/>
          </p:cNvSpPr>
          <p:nvPr/>
        </p:nvSpPr>
        <p:spPr>
          <a:xfrm>
            <a:off x="5905500" y="31337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服务节点">
            <a:extLst>
              <a:ext uri="{FF2B5EF4-FFF2-40B4-BE49-F238E27FC236}">
                <a16:creationId xmlns:a16="http://schemas.microsoft.com/office/drawing/2014/main" id="{54A348B8-D02E-40E8-8114-AF2D86918B99}"/>
              </a:ext>
            </a:extLst>
          </p:cNvPr>
          <p:cNvSpPr>
            <a:spLocks noGrp="1"/>
          </p:cNvSpPr>
          <p:nvPr/>
        </p:nvSpPr>
        <p:spPr>
          <a:xfrm>
            <a:off x="5867400" y="31051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服务连接线">
            <a:extLst>
              <a:ext uri="{FF2B5EF4-FFF2-40B4-BE49-F238E27FC236}">
                <a16:creationId xmlns:a16="http://schemas.microsoft.com/office/drawing/2014/main" id="{5475EEE1-C86B-4309-8A42-6F6D80E14F86}"/>
              </a:ext>
            </a:extLst>
          </p:cNvPr>
          <p:cNvSpPr>
            <a:spLocks noGrp="1"/>
          </p:cNvSpPr>
          <p:nvPr/>
        </p:nvSpPr>
        <p:spPr>
          <a:xfrm>
            <a:off x="6096000" y="31337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服务节点">
            <a:extLst>
              <a:ext uri="{FF2B5EF4-FFF2-40B4-BE49-F238E27FC236}">
                <a16:creationId xmlns:a16="http://schemas.microsoft.com/office/drawing/2014/main" id="{F1EF6EC1-69ED-43E7-8482-01716E063815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服务连接线">
            <a:extLst>
              <a:ext uri="{FF2B5EF4-FFF2-40B4-BE49-F238E27FC236}">
                <a16:creationId xmlns:a16="http://schemas.microsoft.com/office/drawing/2014/main" id="{8AD5914F-4F0B-4DD1-B892-4F46F213F6FD}"/>
              </a:ext>
            </a:extLst>
          </p:cNvPr>
          <p:cNvSpPr>
            <a:spLocks noGrp="1"/>
          </p:cNvSpPr>
          <p:nvPr/>
        </p:nvSpPr>
        <p:spPr>
          <a:xfrm>
            <a:off x="5905500" y="45815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服务节点">
            <a:extLst>
              <a:ext uri="{FF2B5EF4-FFF2-40B4-BE49-F238E27FC236}">
                <a16:creationId xmlns:a16="http://schemas.microsoft.com/office/drawing/2014/main" id="{73C7795F-714E-4CDA-9DEB-53E3284593F0}"/>
              </a:ext>
            </a:extLst>
          </p:cNvPr>
          <p:cNvSpPr>
            <a:spLocks noGrp="1"/>
          </p:cNvSpPr>
          <p:nvPr/>
        </p:nvSpPr>
        <p:spPr>
          <a:xfrm>
            <a:off x="5867400" y="45529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服务连接线">
            <a:extLst>
              <a:ext uri="{FF2B5EF4-FFF2-40B4-BE49-F238E27FC236}">
                <a16:creationId xmlns:a16="http://schemas.microsoft.com/office/drawing/2014/main" id="{08ECDA3E-7239-4CB7-92E4-727761BAA2FE}"/>
              </a:ext>
            </a:extLst>
          </p:cNvPr>
          <p:cNvSpPr>
            <a:spLocks noGrp="1"/>
          </p:cNvSpPr>
          <p:nvPr/>
        </p:nvSpPr>
        <p:spPr>
          <a:xfrm>
            <a:off x="6096000" y="4581525"/>
            <a:ext cx="190500" cy="190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服务节点">
            <a:extLst>
              <a:ext uri="{FF2B5EF4-FFF2-40B4-BE49-F238E27FC236}">
                <a16:creationId xmlns:a16="http://schemas.microsoft.com/office/drawing/2014/main" id="{26EBA05A-CD76-459F-B1B4-48CF13600BE4}"/>
              </a:ext>
            </a:extLst>
          </p:cNvPr>
          <p:cNvSpPr>
            <a:spLocks noGrp="1"/>
          </p:cNvSpPr>
          <p:nvPr/>
        </p:nvSpPr>
        <p:spPr>
          <a:xfrm>
            <a:off x="6248400" y="4552950"/>
            <a:ext cx="76200" cy="76200"/>
          </a:xfrm>
          <a:prstGeom prst="ellipse">
            <a:avLst/>
          </a:prstGeom>
          <a:solidFill>
            <a:srgbClr val="496B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" name="Rive第6页演示（隐藏后可编辑下层）">
            <a:extLst>
              <a:ext uri="{FF2B5EF4-FFF2-40B4-BE49-F238E27FC236}">
                <a16:creationId xmlns:a16="http://schemas.microsoft.com/office/drawing/2014/main" id="{3134678C-FFE9-4607-A9CF-4C894CB6A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7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公共服务网络的规模">
            <a:extLst>
              <a:ext uri="{FF2B5EF4-FFF2-40B4-BE49-F238E27FC236}">
                <a16:creationId xmlns:a16="http://schemas.microsoft.com/office/drawing/2014/main" id="{EC567E56-70A5-43B4-AB16-6C84B386F52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公共服务网络的规模</a:t>
            </a:r>
          </a:p>
        </p:txBody>
      </p:sp>
      <p:sp>
        <p:nvSpPr>
          <p:cNvPr id="2" name="来源：市民政局、市政府新闻办、市绿化市容局；均为2025年末或年">
            <a:extLst>
              <a:ext uri="{FF2B5EF4-FFF2-40B4-BE49-F238E27FC236}">
                <a16:creationId xmlns:a16="http://schemas.microsoft.com/office/drawing/2014/main" id="{49C86FA7-5406-456E-B8FB-C2D700AF8E43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来源：市民政局、市政府新闻办、市绿化市容局；均为2025年末或年度口径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F3DDE0E1-C655-4205-A7EA-CD7EA092F72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07</a:t>
            </a:r>
          </a:p>
        </p:txBody>
      </p:sp>
      <p:sp>
        <p:nvSpPr>
          <p:cNvPr id="4" name="521">
            <a:extLst>
              <a:ext uri="{FF2B5EF4-FFF2-40B4-BE49-F238E27FC236}">
                <a16:creationId xmlns:a16="http://schemas.microsoft.com/office/drawing/2014/main" id="{56819959-C345-4520-A33E-E1D31D54A746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5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521</a:t>
            </a:r>
          </a:p>
        </p:txBody>
      </p:sp>
      <p:sp>
        <p:nvSpPr>
          <p:cNvPr id="5" name="家社区长者食堂">
            <a:extLst>
              <a:ext uri="{FF2B5EF4-FFF2-40B4-BE49-F238E27FC236}">
                <a16:creationId xmlns:a16="http://schemas.microsoft.com/office/drawing/2014/main" id="{01FB4878-9975-4085-99C7-AE3374CBE339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家社区长者食堂</a:t>
            </a:r>
          </a:p>
        </p:txBody>
      </p:sp>
      <p:sp>
        <p:nvSpPr>
          <p:cNvPr id="6" name="优先服务老年助餐">
            <a:extLst>
              <a:ext uri="{FF2B5EF4-FFF2-40B4-BE49-F238E27FC236}">
                <a16:creationId xmlns:a16="http://schemas.microsoft.com/office/drawing/2014/main" id="{6DDBB88F-7E3D-4102-B212-D1F00EB74626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优先服务老年助餐</a:t>
            </a:r>
          </a:p>
        </p:txBody>
      </p:sp>
      <p:sp>
        <p:nvSpPr>
          <p:cNvPr id="7" name="457">
            <a:extLst>
              <a:ext uri="{FF2B5EF4-FFF2-40B4-BE49-F238E27FC236}">
                <a16:creationId xmlns:a16="http://schemas.microsoft.com/office/drawing/2014/main" id="{03C50703-05BD-4C0D-BF89-0A2C453FBB8C}"/>
              </a:ext>
            </a:extLst>
          </p:cNvPr>
          <p:cNvSpPr>
            <a:spLocks noGrp="1"/>
          </p:cNvSpPr>
          <p:nvPr/>
        </p:nvSpPr>
        <p:spPr>
          <a:xfrm>
            <a:off x="3409950" y="1714500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52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457</a:t>
            </a:r>
          </a:p>
        </p:txBody>
      </p:sp>
      <p:sp>
        <p:nvSpPr>
          <p:cNvPr id="8" name="个公共阅读网点">
            <a:extLst>
              <a:ext uri="{FF2B5EF4-FFF2-40B4-BE49-F238E27FC236}">
                <a16:creationId xmlns:a16="http://schemas.microsoft.com/office/drawing/2014/main" id="{B1F1D1BD-7857-4771-A5FA-3A707258A979}"/>
              </a:ext>
            </a:extLst>
          </p:cNvPr>
          <p:cNvSpPr>
            <a:spLocks noGrp="1"/>
          </p:cNvSpPr>
          <p:nvPr/>
        </p:nvSpPr>
        <p:spPr>
          <a:xfrm>
            <a:off x="3409950" y="29337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个公共阅读网点</a:t>
            </a:r>
          </a:p>
        </p:txBody>
      </p:sp>
      <p:sp>
        <p:nvSpPr>
          <p:cNvPr id="9" name="一卡通体系259家机构">
            <a:extLst>
              <a:ext uri="{FF2B5EF4-FFF2-40B4-BE49-F238E27FC236}">
                <a16:creationId xmlns:a16="http://schemas.microsoft.com/office/drawing/2014/main" id="{03BEC4FD-12F5-468D-8ED9-7BAEF19D64A8}"/>
              </a:ext>
            </a:extLst>
          </p:cNvPr>
          <p:cNvSpPr>
            <a:spLocks noGrp="1"/>
          </p:cNvSpPr>
          <p:nvPr/>
        </p:nvSpPr>
        <p:spPr>
          <a:xfrm>
            <a:off x="3409950" y="400050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一卡通体系259家机构</a:t>
            </a:r>
          </a:p>
        </p:txBody>
      </p:sp>
      <p:sp>
        <p:nvSpPr>
          <p:cNvPr id="10" name="1100">
            <a:extLst>
              <a:ext uri="{FF2B5EF4-FFF2-40B4-BE49-F238E27FC236}">
                <a16:creationId xmlns:a16="http://schemas.microsoft.com/office/drawing/2014/main" id="{934CFFC9-2CF9-4F71-B0C4-F31F98AA52CF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5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5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1100</a:t>
            </a:r>
          </a:p>
        </p:txBody>
      </p:sp>
      <p:sp>
        <p:nvSpPr>
          <p:cNvPr id="11" name="座各类公园">
            <a:extLst>
              <a:ext uri="{FF2B5EF4-FFF2-40B4-BE49-F238E27FC236}">
                <a16:creationId xmlns:a16="http://schemas.microsoft.com/office/drawing/2014/main" id="{829F2CE1-E767-405F-B011-9D082870C712}"/>
              </a:ext>
            </a:extLst>
          </p:cNvPr>
          <p:cNvSpPr>
            <a:spLocks noGrp="1"/>
          </p:cNvSpPr>
          <p:nvPr/>
        </p:nvSpPr>
        <p:spPr>
          <a:xfrm>
            <a:off x="6248400" y="29337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座各类公园</a:t>
            </a:r>
          </a:p>
        </p:txBody>
      </p:sp>
      <p:sp>
        <p:nvSpPr>
          <p:cNvPr id="12" name="983座24小时开放">
            <a:extLst>
              <a:ext uri="{FF2B5EF4-FFF2-40B4-BE49-F238E27FC236}">
                <a16:creationId xmlns:a16="http://schemas.microsoft.com/office/drawing/2014/main" id="{2F4A92FC-22B2-45CA-AAE3-4107A123B13C}"/>
              </a:ext>
            </a:extLst>
          </p:cNvPr>
          <p:cNvSpPr>
            <a:spLocks noGrp="1"/>
          </p:cNvSpPr>
          <p:nvPr/>
        </p:nvSpPr>
        <p:spPr>
          <a:xfrm>
            <a:off x="6248400" y="400050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983座24小时开放</a:t>
            </a:r>
          </a:p>
        </p:txBody>
      </p:sp>
      <p:sp>
        <p:nvSpPr>
          <p:cNvPr id="13" name="219">
            <a:extLst>
              <a:ext uri="{FF2B5EF4-FFF2-40B4-BE49-F238E27FC236}">
                <a16:creationId xmlns:a16="http://schemas.microsoft.com/office/drawing/2014/main" id="{F12F93F1-19DA-46FE-960D-7BB00CAD3386}"/>
              </a:ext>
            </a:extLst>
          </p:cNvPr>
          <p:cNvSpPr>
            <a:spLocks noGrp="1"/>
          </p:cNvSpPr>
          <p:nvPr/>
        </p:nvSpPr>
        <p:spPr>
          <a:xfrm>
            <a:off x="9086850" y="1714500"/>
            <a:ext cx="2571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5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52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219</a:t>
            </a:r>
          </a:p>
        </p:txBody>
      </p:sp>
      <p:sp>
        <p:nvSpPr>
          <p:cNvPr id="14" name="所街镇老年学校">
            <a:extLst>
              <a:ext uri="{FF2B5EF4-FFF2-40B4-BE49-F238E27FC236}">
                <a16:creationId xmlns:a16="http://schemas.microsoft.com/office/drawing/2014/main" id="{B03A1E6C-8C89-4BC2-A0CD-F562AC307DAF}"/>
              </a:ext>
            </a:extLst>
          </p:cNvPr>
          <p:cNvSpPr>
            <a:spLocks noGrp="1"/>
          </p:cNvSpPr>
          <p:nvPr/>
        </p:nvSpPr>
        <p:spPr>
          <a:xfrm>
            <a:off x="9086850" y="29337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所街镇老年学校</a:t>
            </a:r>
          </a:p>
        </p:txBody>
      </p:sp>
      <p:sp>
        <p:nvSpPr>
          <p:cNvPr id="15" name="另有6317个居村学习点">
            <a:extLst>
              <a:ext uri="{FF2B5EF4-FFF2-40B4-BE49-F238E27FC236}">
                <a16:creationId xmlns:a16="http://schemas.microsoft.com/office/drawing/2014/main" id="{BE21B1E0-D199-498E-A215-68F3812AF2D2}"/>
              </a:ext>
            </a:extLst>
          </p:cNvPr>
          <p:cNvSpPr>
            <a:spLocks noGrp="1"/>
          </p:cNvSpPr>
          <p:nvPr/>
        </p:nvSpPr>
        <p:spPr>
          <a:xfrm>
            <a:off x="9086850" y="400050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另有6317个居村学习点</a:t>
            </a:r>
          </a:p>
        </p:txBody>
      </p:sp>
      <p:sp>
        <p:nvSpPr>
          <p:cNvPr id="16" name="不同单位分别展示，数量不能相加">
            <a:extLst>
              <a:ext uri="{FF2B5EF4-FFF2-40B4-BE49-F238E27FC236}">
                <a16:creationId xmlns:a16="http://schemas.microsoft.com/office/drawing/2014/main" id="{DF7CE2B2-9028-46A5-9DD7-624885178F6B}"/>
              </a:ext>
            </a:extLst>
          </p:cNvPr>
          <p:cNvSpPr>
            <a:spLocks noGrp="1"/>
          </p:cNvSpPr>
          <p:nvPr/>
        </p:nvSpPr>
        <p:spPr>
          <a:xfrm>
            <a:off x="571500" y="5505450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不同单位分别展示，数量不能相加</a:t>
            </a:r>
          </a:p>
        </p:txBody>
      </p:sp>
      <p:pic>
        <p:nvPicPr>
          <p:cNvPr id="18" name="Rive第7页演示（隐藏后可编辑下层）">
            <a:extLst>
              <a:ext uri="{FF2B5EF4-FFF2-40B4-BE49-F238E27FC236}">
                <a16:creationId xmlns:a16="http://schemas.microsoft.com/office/drawing/2014/main" id="{4C36703C-8864-4011-BA8A-D1FD2C91B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2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地图与折中曲线怎样读">
            <a:extLst>
              <a:ext uri="{FF2B5EF4-FFF2-40B4-BE49-F238E27FC236}">
                <a16:creationId xmlns:a16="http://schemas.microsoft.com/office/drawing/2014/main" id="{35C9827D-575F-429B-8BE8-BAC5480E673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地图与折中曲线怎样读</a:t>
            </a:r>
          </a:p>
        </p:txBody>
      </p:sp>
      <p:sp>
        <p:nvSpPr>
          <p:cNvPr id="2" name="本组测算：OSM已标注居住用地面积；直线距离；两套范围分别计算">
            <a:extLst>
              <a:ext uri="{FF2B5EF4-FFF2-40B4-BE49-F238E27FC236}">
                <a16:creationId xmlns:a16="http://schemas.microsoft.com/office/drawing/2014/main" id="{00740F8E-C650-4E11-B12F-7CAB17D5FBB0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本组测算：OSM已标注居住用地面积；直线距离；两套范围分别计算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25A3C44B-ED71-4290-A50D-680DEC491FA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08</a:t>
            </a:r>
          </a:p>
        </p:txBody>
      </p:sp>
      <p:sp>
        <p:nvSpPr>
          <p:cNvPr id="4" name="地图">
            <a:extLst>
              <a:ext uri="{FF2B5EF4-FFF2-40B4-BE49-F238E27FC236}">
                <a16:creationId xmlns:a16="http://schemas.microsoft.com/office/drawing/2014/main" id="{F4FE0D1E-8A1A-4AF3-B309-375D155E1675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地图</a:t>
            </a:r>
          </a:p>
        </p:txBody>
      </p:sp>
      <p:sp>
        <p:nvSpPr>
          <p:cNvPr id="5" name="全市16区与中心七区并排看&#10;服务半径逐步扩大&#10;显示样本居住用地的">
            <a:extLst>
              <a:ext uri="{FF2B5EF4-FFF2-40B4-BE49-F238E27FC236}">
                <a16:creationId xmlns:a16="http://schemas.microsoft.com/office/drawing/2014/main" id="{9B5E68CD-E02A-4762-B43F-F2489F377DD3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5286375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全市16区与中心七区并排看</a:t>
            </a:r>
          </a:p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服务半径逐步扩大</a:t>
            </a:r>
          </a:p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显示样本居住用地的覆盖变化</a:t>
            </a:r>
          </a:p>
        </p:txBody>
      </p:sp>
      <p:sp>
        <p:nvSpPr>
          <p:cNvPr id="6" name="折中曲线">
            <a:extLst>
              <a:ext uri="{FF2B5EF4-FFF2-40B4-BE49-F238E27FC236}">
                <a16:creationId xmlns:a16="http://schemas.microsoft.com/office/drawing/2014/main" id="{50B6AEC9-9772-4573-808B-778C955CBC92}"/>
              </a:ext>
            </a:extLst>
          </p:cNvPr>
          <p:cNvSpPr>
            <a:spLocks noGrp="1"/>
          </p:cNvSpPr>
          <p:nvPr/>
        </p:nvSpPr>
        <p:spPr>
          <a:xfrm>
            <a:off x="6667500" y="14763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40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折中曲线</a:t>
            </a:r>
          </a:p>
        </p:txBody>
      </p:sp>
      <p:sp>
        <p:nvSpPr>
          <p:cNvPr id="7" name="横轴 直线半径　纵轴 面积覆盖率&#10;圆点 折中候选　△ 85%目标">
            <a:extLst>
              <a:ext uri="{FF2B5EF4-FFF2-40B4-BE49-F238E27FC236}">
                <a16:creationId xmlns:a16="http://schemas.microsoft.com/office/drawing/2014/main" id="{A3737197-7669-40A7-B20C-18407748D4CF}"/>
              </a:ext>
            </a:extLst>
          </p:cNvPr>
          <p:cNvSpPr>
            <a:spLocks noGrp="1"/>
          </p:cNvSpPr>
          <p:nvPr/>
        </p:nvSpPr>
        <p:spPr>
          <a:xfrm>
            <a:off x="6667500" y="2247900"/>
            <a:ext cx="4953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横轴 直线半径　纵轴 面积覆盖率</a:t>
            </a:r>
          </a:p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圆点 折中候选　△ 85%目标</a:t>
            </a:r>
          </a:p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两条曲线采用共同坐标尺度</a:t>
            </a:r>
          </a:p>
        </p:txBody>
      </p:sp>
      <p:sp>
        <p:nvSpPr>
          <p:cNvPr id="8" name="同一时点数据，半径从约60%覆盖扩展到约88%覆盖">
            <a:extLst>
              <a:ext uri="{FF2B5EF4-FFF2-40B4-BE49-F238E27FC236}">
                <a16:creationId xmlns:a16="http://schemas.microsoft.com/office/drawing/2014/main" id="{5526E8DD-7780-45F9-8E06-549AA1BFD02A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同一时点数据，半径从约60%覆盖扩展到约88%覆盖</a:t>
            </a:r>
          </a:p>
        </p:txBody>
      </p:sp>
      <p:sp>
        <p:nvSpPr>
          <p:cNvPr id="9" name="全市分母531.61平方公里　中心七区85.76平方公里">
            <a:extLst>
              <a:ext uri="{FF2B5EF4-FFF2-40B4-BE49-F238E27FC236}">
                <a16:creationId xmlns:a16="http://schemas.microsoft.com/office/drawing/2014/main" id="{BEDB2596-A2C5-4D7D-A555-D85816881CEA}"/>
              </a:ext>
            </a:extLst>
          </p:cNvPr>
          <p:cNvSpPr>
            <a:spLocks noGrp="1"/>
          </p:cNvSpPr>
          <p:nvPr/>
        </p:nvSpPr>
        <p:spPr>
          <a:xfrm>
            <a:off x="571500" y="5572125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全市分母531.61平方公里　中心七区85.76平方公里</a:t>
            </a:r>
          </a:p>
        </p:txBody>
      </p:sp>
      <p:pic>
        <p:nvPicPr>
          <p:cNvPr id="11" name="Rive第8页演示（隐藏后可编辑下层）">
            <a:extLst>
              <a:ext uri="{FF2B5EF4-FFF2-40B4-BE49-F238E27FC236}">
                <a16:creationId xmlns:a16="http://schemas.microsoft.com/office/drawing/2014/main" id="{2B64504C-2646-4DF7-854A-81646BA36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1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社区长者食堂的地图与折中曲线">
            <a:extLst>
              <a:ext uri="{FF2B5EF4-FFF2-40B4-BE49-F238E27FC236}">
                <a16:creationId xmlns:a16="http://schemas.microsoft.com/office/drawing/2014/main" id="{A63E0811-5018-424B-A425-0D020B10286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社区长者食堂的地图与折中曲线</a:t>
            </a:r>
          </a:p>
        </p:txBody>
      </p:sp>
      <p:sp>
        <p:nvSpPr>
          <p:cNvPr id="2" name="本组测算；名录/点位快照 2026-10-12；© OpenSt">
            <a:extLst>
              <a:ext uri="{FF2B5EF4-FFF2-40B4-BE49-F238E27FC236}">
                <a16:creationId xmlns:a16="http://schemas.microsoft.com/office/drawing/2014/main" id="{543EEB6F-19FE-4243-9FA2-94C2AB06FD7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2026-10-12；© OpenStreetMap contributors，ODbL</a:t>
            </a: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EBBD42F5-04CC-4048-9AB2-6CFF6615AB0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0C5666-F162-4312-81A3-64BE5A4EC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D8284F5B-087F-43E9-B4A9-DFD61614E389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836EC492-4829-4A66-9A7A-D17184569E88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45C83F61-6F09-4A4F-A9E7-7908A742F61D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B0EBAF60-37C6-44E7-AE4F-746111FEE5D2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1.80公里 / 72.0%">
            <a:extLst>
              <a:ext uri="{FF2B5EF4-FFF2-40B4-BE49-F238E27FC236}">
                <a16:creationId xmlns:a16="http://schemas.microsoft.com/office/drawing/2014/main" id="{7293AD9C-2817-465B-B83C-4F8FDCCAFF9D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1.80公里 / 72.0%</a:t>
            </a:r>
          </a:p>
        </p:txBody>
      </p:sp>
      <p:sp>
        <p:nvSpPr>
          <p:cNvPr id="10" name="七区 候选 0.75公里 / 75.7%">
            <a:extLst>
              <a:ext uri="{FF2B5EF4-FFF2-40B4-BE49-F238E27FC236}">
                <a16:creationId xmlns:a16="http://schemas.microsoft.com/office/drawing/2014/main" id="{A3B8D81C-474F-4314-8C46-E2E856B75B85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0.75公里 / 75.7%</a:t>
            </a:r>
          </a:p>
        </p:txBody>
      </p:sp>
      <p:sp>
        <p:nvSpPr>
          <p:cNvPr id="11" name="同一时点半径变化　点位名录与实际开放、收费分别核实">
            <a:extLst>
              <a:ext uri="{FF2B5EF4-FFF2-40B4-BE49-F238E27FC236}">
                <a16:creationId xmlns:a16="http://schemas.microsoft.com/office/drawing/2014/main" id="{6F32D1E0-6B78-4B30-BFA0-E60B5642A47A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点位名录与实际开放、收费分别核实</a:t>
            </a:r>
          </a:p>
        </p:txBody>
      </p:sp>
    </p:spTree>
    <p:extLst>
      <p:ext uri="{BB962C8B-B14F-4D97-AF65-F5344CB8AC3E}">
        <p14:creationId xmlns:p14="http://schemas.microsoft.com/office/powerpoint/2010/main" val="463009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书馆服务网点的地图与折中曲线">
            <a:extLst>
              <a:ext uri="{FF2B5EF4-FFF2-40B4-BE49-F238E27FC236}">
                <a16:creationId xmlns:a16="http://schemas.microsoft.com/office/drawing/2014/main" id="{0E60D48E-5144-41B3-A281-5723B15B564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图书馆服务网点的地图与折中曲线</a:t>
            </a:r>
          </a:p>
        </p:txBody>
      </p:sp>
      <p:sp>
        <p:nvSpPr>
          <p:cNvPr id="2" name="本组测算；名录/点位快照 2026-10-12；© OpenSt">
            <a:extLst>
              <a:ext uri="{FF2B5EF4-FFF2-40B4-BE49-F238E27FC236}">
                <a16:creationId xmlns:a16="http://schemas.microsoft.com/office/drawing/2014/main" id="{3BB849C6-8EEC-4F5A-83D8-AF5A30411CEE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2026-10-12；© OpenStreetMap contributors，ODbL</a:t>
            </a:r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426F4126-A7AB-4EA8-B48F-CA045BA4477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49A1A5-4503-49CC-8704-29CD1D323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9404FC02-5E82-4EFB-BF5A-56284C202266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87DFBA9B-E488-45B2-9529-0AEB03695433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47EEEAA6-C771-484B-8D21-EDBE2D0CC41F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8E749EC4-8867-40CE-9BD3-8A70CB7CE1D6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1.85公里 / 72.5%">
            <a:extLst>
              <a:ext uri="{FF2B5EF4-FFF2-40B4-BE49-F238E27FC236}">
                <a16:creationId xmlns:a16="http://schemas.microsoft.com/office/drawing/2014/main" id="{0054BD84-D600-4C01-B957-2939AE64EAD0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1.85公里 / 72.5%</a:t>
            </a:r>
          </a:p>
        </p:txBody>
      </p:sp>
      <p:sp>
        <p:nvSpPr>
          <p:cNvPr id="10" name="七区 候选 1.00公里 / 77.0%">
            <a:extLst>
              <a:ext uri="{FF2B5EF4-FFF2-40B4-BE49-F238E27FC236}">
                <a16:creationId xmlns:a16="http://schemas.microsoft.com/office/drawing/2014/main" id="{3F08CB27-31FD-4AEE-94DD-B8DC08850494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1.00公里 / 77.0%</a:t>
            </a:r>
          </a:p>
        </p:txBody>
      </p:sp>
      <p:sp>
        <p:nvSpPr>
          <p:cNvPr id="11" name="同一时点半径变化　服务网点不保证自习座位">
            <a:extLst>
              <a:ext uri="{FF2B5EF4-FFF2-40B4-BE49-F238E27FC236}">
                <a16:creationId xmlns:a16="http://schemas.microsoft.com/office/drawing/2014/main" id="{F833FC4C-7EEB-4FB9-A214-DCD735E9D665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服务网点不保证自习座位</a:t>
            </a:r>
          </a:p>
        </p:txBody>
      </p:sp>
    </p:spTree>
    <p:extLst>
      <p:ext uri="{BB962C8B-B14F-4D97-AF65-F5344CB8AC3E}">
        <p14:creationId xmlns:p14="http://schemas.microsoft.com/office/powerpoint/2010/main" val="509560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市民健身中心的地图与折中曲线">
            <a:extLst>
              <a:ext uri="{FF2B5EF4-FFF2-40B4-BE49-F238E27FC236}">
                <a16:creationId xmlns:a16="http://schemas.microsoft.com/office/drawing/2014/main" id="{511C682D-0A07-430B-91B6-27B147A1FDE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市民健身中心的地图与折中曲线</a:t>
            </a:r>
          </a:p>
        </p:txBody>
      </p:sp>
      <p:sp>
        <p:nvSpPr>
          <p:cNvPr id="2" name="本组测算；名录/点位快照 2026-10-12；© OpenSt">
            <a:extLst>
              <a:ext uri="{FF2B5EF4-FFF2-40B4-BE49-F238E27FC236}">
                <a16:creationId xmlns:a16="http://schemas.microsoft.com/office/drawing/2014/main" id="{AD4E82BB-BB60-4EB2-8D75-B06097204FCA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2026-10-12；© OpenStreetMap contributors，ODbL</a:t>
            </a:r>
          </a:p>
        </p:txBody>
      </p:sp>
      <p:sp>
        <p:nvSpPr>
          <p:cNvPr id="3" name="11">
            <a:extLst>
              <a:ext uri="{FF2B5EF4-FFF2-40B4-BE49-F238E27FC236}">
                <a16:creationId xmlns:a16="http://schemas.microsoft.com/office/drawing/2014/main" id="{D7F63AF0-06C5-4CAB-BE99-E34B2C1510F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4A62FF-A683-4188-9A8C-74103195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45A97EFE-CC21-418E-BE30-8901AF38431F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EA2DA549-E07F-4FFC-9304-D31DF00E47F7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CE3794E0-BBE0-4676-9E69-DA58D59FD24B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2AED65EF-FD15-4D8B-B4A0-7CEBCA8E9029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2.63公里 / 70.9%">
            <a:extLst>
              <a:ext uri="{FF2B5EF4-FFF2-40B4-BE49-F238E27FC236}">
                <a16:creationId xmlns:a16="http://schemas.microsoft.com/office/drawing/2014/main" id="{3A0D2C22-68BC-43E6-8F69-1605F2C7EE99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2.63公里 / 70.9%</a:t>
            </a:r>
          </a:p>
        </p:txBody>
      </p:sp>
      <p:sp>
        <p:nvSpPr>
          <p:cNvPr id="10" name="七区 候选 1.20公里 / 76.2%">
            <a:extLst>
              <a:ext uri="{FF2B5EF4-FFF2-40B4-BE49-F238E27FC236}">
                <a16:creationId xmlns:a16="http://schemas.microsoft.com/office/drawing/2014/main" id="{822CC2EC-2664-42A4-A340-3FD38B71F321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1.20公里 / 76.2%</a:t>
            </a:r>
          </a:p>
        </p:txBody>
      </p:sp>
      <p:sp>
        <p:nvSpPr>
          <p:cNvPr id="11" name="同一时点半径变化　点位名录与实际开放、收费分别核实">
            <a:extLst>
              <a:ext uri="{FF2B5EF4-FFF2-40B4-BE49-F238E27FC236}">
                <a16:creationId xmlns:a16="http://schemas.microsoft.com/office/drawing/2014/main" id="{7949B7F5-C433-46E8-93C6-CFD2A029EE40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点位名录与实际开放、收费分别核实</a:t>
            </a:r>
          </a:p>
        </p:txBody>
      </p:sp>
    </p:spTree>
    <p:extLst>
      <p:ext uri="{BB962C8B-B14F-4D97-AF65-F5344CB8AC3E}">
        <p14:creationId xmlns:p14="http://schemas.microsoft.com/office/powerpoint/2010/main" val="50456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公园类绿地 初版的地图与折中曲线">
            <a:extLst>
              <a:ext uri="{FF2B5EF4-FFF2-40B4-BE49-F238E27FC236}">
                <a16:creationId xmlns:a16="http://schemas.microsoft.com/office/drawing/2014/main" id="{2167BEB7-E0C7-4814-A38B-48E8386BC5B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公园类绿地 初版的地图与折中曲线</a:t>
            </a:r>
          </a:p>
        </p:txBody>
      </p:sp>
      <p:sp>
        <p:nvSpPr>
          <p:cNvPr id="2" name="本组测算；名录/点位快照 2026-10-12；© OpenSt">
            <a:extLst>
              <a:ext uri="{FF2B5EF4-FFF2-40B4-BE49-F238E27FC236}">
                <a16:creationId xmlns:a16="http://schemas.microsoft.com/office/drawing/2014/main" id="{59A530FB-059A-45AA-ACBB-2B0E465410C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2026-10-12；© OpenStreetMap contributors，ODbL</a:t>
            </a:r>
          </a:p>
        </p:txBody>
      </p:sp>
      <p:sp>
        <p:nvSpPr>
          <p:cNvPr id="3" name="12">
            <a:extLst>
              <a:ext uri="{FF2B5EF4-FFF2-40B4-BE49-F238E27FC236}">
                <a16:creationId xmlns:a16="http://schemas.microsoft.com/office/drawing/2014/main" id="{3FB7FD2C-BFB8-47B2-B758-87BF40F6D234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FC89C8-3857-4324-BD9E-1D9696D09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D70BDF96-A8FD-4ED2-8F88-1ABC33C983EF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12FFDFFD-7C3B-4727-A5A5-9F5EFE91792D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8D265113-2415-4BFB-AF72-151A3EF231D6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B59224D4-F356-4914-8C85-BA965972CF22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0.97公里 / 76.5%">
            <a:extLst>
              <a:ext uri="{FF2B5EF4-FFF2-40B4-BE49-F238E27FC236}">
                <a16:creationId xmlns:a16="http://schemas.microsoft.com/office/drawing/2014/main" id="{6D145848-640F-4BEB-B4A9-2B3DC4A76A78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0.97公里 / 76.5%</a:t>
            </a:r>
          </a:p>
        </p:txBody>
      </p:sp>
      <p:sp>
        <p:nvSpPr>
          <p:cNvPr id="10" name="七区 候选 0.45公里 / 72.5%">
            <a:extLst>
              <a:ext uri="{FF2B5EF4-FFF2-40B4-BE49-F238E27FC236}">
                <a16:creationId xmlns:a16="http://schemas.microsoft.com/office/drawing/2014/main" id="{B1609C74-308D-4E8E-976F-B26E1B5F2E06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0.45公里 / 72.5%</a:t>
            </a:r>
          </a:p>
        </p:txBody>
      </p:sp>
      <p:sp>
        <p:nvSpPr>
          <p:cNvPr id="11" name="同一时点半径变化　绿地按范围距离；实际开放与入口待核验">
            <a:extLst>
              <a:ext uri="{FF2B5EF4-FFF2-40B4-BE49-F238E27FC236}">
                <a16:creationId xmlns:a16="http://schemas.microsoft.com/office/drawing/2014/main" id="{6E9BB25E-1E85-48E8-B893-BBF5628C1C17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绿地按范围距离；实际开放与入口待核验</a:t>
            </a:r>
          </a:p>
        </p:txBody>
      </p:sp>
    </p:spTree>
    <p:extLst>
      <p:ext uri="{BB962C8B-B14F-4D97-AF65-F5344CB8AC3E}">
        <p14:creationId xmlns:p14="http://schemas.microsoft.com/office/powerpoint/2010/main" val="191754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社区文化活动中心的地图与折中曲线">
            <a:extLst>
              <a:ext uri="{FF2B5EF4-FFF2-40B4-BE49-F238E27FC236}">
                <a16:creationId xmlns:a16="http://schemas.microsoft.com/office/drawing/2014/main" id="{5D7945C1-DCCC-43CA-BEBD-13A83FA23BE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社区文化活动中心的地图与折中曲线</a:t>
            </a:r>
          </a:p>
        </p:txBody>
      </p:sp>
      <p:sp>
        <p:nvSpPr>
          <p:cNvPr id="2" name="本组测算；名录/点位快照 2026-10-21；© OpenSt">
            <a:extLst>
              <a:ext uri="{FF2B5EF4-FFF2-40B4-BE49-F238E27FC236}">
                <a16:creationId xmlns:a16="http://schemas.microsoft.com/office/drawing/2014/main" id="{A0496757-2EAD-4173-8144-BA1306FB8F9D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2026-10-21；© OpenStreetMap contributors，ODbL</a:t>
            </a:r>
          </a:p>
        </p:txBody>
      </p:sp>
      <p:sp>
        <p:nvSpPr>
          <p:cNvPr id="3" name="13">
            <a:extLst>
              <a:ext uri="{FF2B5EF4-FFF2-40B4-BE49-F238E27FC236}">
                <a16:creationId xmlns:a16="http://schemas.microsoft.com/office/drawing/2014/main" id="{130FD35C-C001-4FEA-903A-1B043E91FD04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D41F30-5B9E-4A54-8114-943594071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123F574D-BB8F-41BF-95FE-444641C99DBD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9AA94FA4-6CD3-461C-B167-4147B45570A5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8B8286B7-94DE-407A-A260-941E806A123A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DFDBD8AD-B91C-4851-A057-FC44F83C02A7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2.52公里 / 73.4%">
            <a:extLst>
              <a:ext uri="{FF2B5EF4-FFF2-40B4-BE49-F238E27FC236}">
                <a16:creationId xmlns:a16="http://schemas.microsoft.com/office/drawing/2014/main" id="{084576CB-1A46-4220-B3F6-FB018D6F3F31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2.52公里 / 73.4%</a:t>
            </a:r>
          </a:p>
        </p:txBody>
      </p:sp>
      <p:sp>
        <p:nvSpPr>
          <p:cNvPr id="10" name="七区 候选 1.23公里 / 80.2%">
            <a:extLst>
              <a:ext uri="{FF2B5EF4-FFF2-40B4-BE49-F238E27FC236}">
                <a16:creationId xmlns:a16="http://schemas.microsoft.com/office/drawing/2014/main" id="{0A174D9A-9A32-402F-A9E2-31A4FA6EAAB3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1.23公里 / 80.2%</a:t>
            </a:r>
          </a:p>
        </p:txBody>
      </p:sp>
      <p:sp>
        <p:nvSpPr>
          <p:cNvPr id="11" name="同一时点半径变化　登记同址不等于当前设有老年大学">
            <a:extLst>
              <a:ext uri="{FF2B5EF4-FFF2-40B4-BE49-F238E27FC236}">
                <a16:creationId xmlns:a16="http://schemas.microsoft.com/office/drawing/2014/main" id="{5D436CB7-4D84-4AE1-B6CF-D09720CDC562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登记同址不等于当前设有老年大学</a:t>
            </a:r>
          </a:p>
        </p:txBody>
      </p:sp>
    </p:spTree>
    <p:extLst>
      <p:ext uri="{BB962C8B-B14F-4D97-AF65-F5344CB8AC3E}">
        <p14:creationId xmlns:p14="http://schemas.microsoft.com/office/powerpoint/2010/main" val="886849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社区卫生服务中心的地图与折中曲线">
            <a:extLst>
              <a:ext uri="{FF2B5EF4-FFF2-40B4-BE49-F238E27FC236}">
                <a16:creationId xmlns:a16="http://schemas.microsoft.com/office/drawing/2014/main" id="{60230A4A-C819-40B3-BD67-619018B1BF9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社区卫生服务中心的地图与折中曲线</a:t>
            </a:r>
          </a:p>
        </p:txBody>
      </p:sp>
      <p:sp>
        <p:nvSpPr>
          <p:cNvPr id="2" name="本组测算；名录/点位快照 2026-10-21；© OpenSt">
            <a:extLst>
              <a:ext uri="{FF2B5EF4-FFF2-40B4-BE49-F238E27FC236}">
                <a16:creationId xmlns:a16="http://schemas.microsoft.com/office/drawing/2014/main" id="{12E23821-9D1D-4B8A-A43F-84503FC0FB42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本组测算；名录/点位快照 2026-10-21；© OpenStreetMap contributors，ODbL</a:t>
            </a:r>
          </a:p>
        </p:txBody>
      </p:sp>
      <p:sp>
        <p:nvSpPr>
          <p:cNvPr id="3" name="14">
            <a:extLst>
              <a:ext uri="{FF2B5EF4-FFF2-40B4-BE49-F238E27FC236}">
                <a16:creationId xmlns:a16="http://schemas.microsoft.com/office/drawing/2014/main" id="{F6E14609-C807-4A3B-9AEA-10B6F060C37B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33B0FC-5F59-4DCA-A0CB-9A38B20F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24000"/>
            <a:ext cx="6096000" cy="4000500"/>
          </a:xfrm>
          <a:prstGeom prst="rect">
            <a:avLst/>
          </a:prstGeom>
        </p:spPr>
      </p:pic>
      <p:sp>
        <p:nvSpPr>
          <p:cNvPr id="5" name="全市16区">
            <a:extLst>
              <a:ext uri="{FF2B5EF4-FFF2-40B4-BE49-F238E27FC236}">
                <a16:creationId xmlns:a16="http://schemas.microsoft.com/office/drawing/2014/main" id="{319E9220-6D24-4FCF-BE89-C6FBDD9371A0}"/>
              </a:ext>
            </a:extLst>
          </p:cNvPr>
          <p:cNvSpPr>
            <a:spLocks noGrp="1"/>
          </p:cNvSpPr>
          <p:nvPr/>
        </p:nvSpPr>
        <p:spPr>
          <a:xfrm>
            <a:off x="7143750" y="1219200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全市16区</a:t>
            </a:r>
          </a:p>
        </p:txBody>
      </p:sp>
      <p:sp>
        <p:nvSpPr>
          <p:cNvPr id="6" name="中心七区">
            <a:extLst>
              <a:ext uri="{FF2B5EF4-FFF2-40B4-BE49-F238E27FC236}">
                <a16:creationId xmlns:a16="http://schemas.microsoft.com/office/drawing/2014/main" id="{284EBA1C-02B6-4881-854F-1A045B71BCED}"/>
              </a:ext>
            </a:extLst>
          </p:cNvPr>
          <p:cNvSpPr>
            <a:spLocks noGrp="1"/>
          </p:cNvSpPr>
          <p:nvPr/>
        </p:nvSpPr>
        <p:spPr>
          <a:xfrm>
            <a:off x="9525000" y="12192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中心七区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97F7D935-83BE-4ED9-92CC-589B059A0EA5}"/>
              </a:ext>
            </a:extLst>
          </p:cNvPr>
          <p:cNvGraphicFramePr/>
          <p:nvPr/>
        </p:nvGraphicFramePr>
        <p:xfrm>
          <a:off x="6896100" y="1657350"/>
          <a:ext cx="476250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● 折中候选　△ 85%目标">
            <a:extLst>
              <a:ext uri="{FF2B5EF4-FFF2-40B4-BE49-F238E27FC236}">
                <a16:creationId xmlns:a16="http://schemas.microsoft.com/office/drawing/2014/main" id="{15250582-2BF4-476B-AAD7-CB916B5BC40D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● 折中候选　△ 85%目标</a:t>
            </a:r>
          </a:p>
        </p:txBody>
      </p:sp>
      <p:sp>
        <p:nvSpPr>
          <p:cNvPr id="9" name="全市 候选 2.27公里 / 72.5%">
            <a:extLst>
              <a:ext uri="{FF2B5EF4-FFF2-40B4-BE49-F238E27FC236}">
                <a16:creationId xmlns:a16="http://schemas.microsoft.com/office/drawing/2014/main" id="{1881189B-7A58-4605-9610-2844C17252BE}"/>
              </a:ext>
            </a:extLst>
          </p:cNvPr>
          <p:cNvSpPr>
            <a:spLocks noGrp="1"/>
          </p:cNvSpPr>
          <p:nvPr/>
        </p:nvSpPr>
        <p:spPr>
          <a:xfrm>
            <a:off x="6953250" y="5095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全市 候选 2.27公里 / 72.5%</a:t>
            </a:r>
          </a:p>
        </p:txBody>
      </p:sp>
      <p:sp>
        <p:nvSpPr>
          <p:cNvPr id="10" name="七区 候选 1.13公里 / 77.2%">
            <a:extLst>
              <a:ext uri="{FF2B5EF4-FFF2-40B4-BE49-F238E27FC236}">
                <a16:creationId xmlns:a16="http://schemas.microsoft.com/office/drawing/2014/main" id="{124628A5-E763-4BE9-B6E3-3F2C7D6F0015}"/>
              </a:ext>
            </a:extLst>
          </p:cNvPr>
          <p:cNvSpPr>
            <a:spLocks noGrp="1"/>
          </p:cNvSpPr>
          <p:nvPr/>
        </p:nvSpPr>
        <p:spPr>
          <a:xfrm>
            <a:off x="6953250" y="54768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七区 候选 1.13公里 / 77.2%</a:t>
            </a:r>
          </a:p>
        </p:txBody>
      </p:sp>
      <p:sp>
        <p:nvSpPr>
          <p:cNvPr id="11" name="同一时点半径变化　只计已定位中心院址，不代表全部卫生服务站">
            <a:extLst>
              <a:ext uri="{FF2B5EF4-FFF2-40B4-BE49-F238E27FC236}">
                <a16:creationId xmlns:a16="http://schemas.microsoft.com/office/drawing/2014/main" id="{054102E0-8685-474F-A200-23DDD22D037C}"/>
              </a:ext>
            </a:extLst>
          </p:cNvPr>
          <p:cNvSpPr>
            <a:spLocks noGrp="1"/>
          </p:cNvSpPr>
          <p:nvPr/>
        </p:nvSpPr>
        <p:spPr>
          <a:xfrm>
            <a:off x="571500" y="576262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同一时点半径变化　只计已定位中心院址，不代表全部卫生服务站</a:t>
            </a:r>
          </a:p>
        </p:txBody>
      </p:sp>
    </p:spTree>
    <p:extLst>
      <p:ext uri="{BB962C8B-B14F-4D97-AF65-F5344CB8AC3E}">
        <p14:creationId xmlns:p14="http://schemas.microsoft.com/office/powerpoint/2010/main" val="417231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我家所在街道的公共服务">
            <a:extLst>
              <a:ext uri="{FF2B5EF4-FFF2-40B4-BE49-F238E27FC236}">
                <a16:creationId xmlns:a16="http://schemas.microsoft.com/office/drawing/2014/main" id="{8E194085-0D2E-4398-BAAD-3CE0FD37733F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我家所在街道的公共服务</a:t>
            </a:r>
          </a:p>
        </p:txBody>
      </p:sp>
      <p:sp>
        <p:nvSpPr>
          <p:cNvPr id="2" name="图片：小组提供；面积：长宁区政府街道概况，2026-03-09&#10;辖区总面积口径">
            <a:extLst>
              <a:ext uri="{FF2B5EF4-FFF2-40B4-BE49-F238E27FC236}">
                <a16:creationId xmlns:a16="http://schemas.microsoft.com/office/drawing/2014/main" id="{F1DFB1E4-BFB6-4950-9157-51BDE56ECEA5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图片：小组提供；面积：长宁区政府街道概况，2026-03-09</a:t>
            </a:r>
          </a:p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辖区总面积口径</a:t>
            </a:r>
          </a:p>
        </p:txBody>
      </p:sp>
      <p:sp>
        <p:nvSpPr>
          <p:cNvPr id="3" name="15">
            <a:extLst>
              <a:ext uri="{FF2B5EF4-FFF2-40B4-BE49-F238E27FC236}">
                <a16:creationId xmlns:a16="http://schemas.microsoft.com/office/drawing/2014/main" id="{269F2E5F-42DE-4F99-A4DD-EB6BFD88CFC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15</a:t>
            </a:r>
          </a:p>
        </p:txBody>
      </p:sp>
      <p:sp>
        <p:nvSpPr>
          <p:cNvPr id="5" name="自行标注">
            <a:extLst>
              <a:ext uri="{FF2B5EF4-FFF2-40B4-BE49-F238E27FC236}">
                <a16:creationId xmlns:a16="http://schemas.microsoft.com/office/drawing/2014/main" id="{2FFF8C31-6926-476A-82D4-815B8BB7207C}"/>
              </a:ext>
            </a:extLst>
          </p:cNvPr>
          <p:cNvSpPr>
            <a:spLocks noGrp="1"/>
          </p:cNvSpPr>
          <p:nvPr/>
        </p:nvSpPr>
        <p:spPr>
          <a:xfrm>
            <a:off x="9563100" y="1476375"/>
            <a:ext cx="2057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210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自行标注</a:t>
            </a:r>
          </a:p>
        </p:txBody>
      </p:sp>
      <p:sp>
        <p:nvSpPr>
          <p:cNvPr id="6" name="图书馆&#10;健身中心&#10;社区食堂&#10;公共绿地&#10;卫生中心">
            <a:extLst>
              <a:ext uri="{FF2B5EF4-FFF2-40B4-BE49-F238E27FC236}">
                <a16:creationId xmlns:a16="http://schemas.microsoft.com/office/drawing/2014/main" id="{F192DEDA-C78E-4F10-8DBE-426E8DFA9E21}"/>
              </a:ext>
            </a:extLst>
          </p:cNvPr>
          <p:cNvSpPr>
            <a:spLocks noGrp="1"/>
          </p:cNvSpPr>
          <p:nvPr/>
        </p:nvSpPr>
        <p:spPr>
          <a:xfrm>
            <a:off x="9563100" y="2152650"/>
            <a:ext cx="2057400" cy="2019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图书馆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健身中心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社区食堂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公共绿地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卫生中心</a:t>
            </a:r>
          </a:p>
        </p:txBody>
      </p:sp>
      <p:sp>
        <p:nvSpPr>
          <p:cNvPr id="7" name="辖区面积">
            <a:extLst>
              <a:ext uri="{FF2B5EF4-FFF2-40B4-BE49-F238E27FC236}">
                <a16:creationId xmlns:a16="http://schemas.microsoft.com/office/drawing/2014/main" id="{1E163551-95EA-4526-ACAC-9869C45681CB}"/>
              </a:ext>
            </a:extLst>
          </p:cNvPr>
          <p:cNvSpPr>
            <a:spLocks noGrp="1"/>
          </p:cNvSpPr>
          <p:nvPr/>
        </p:nvSpPr>
        <p:spPr>
          <a:xfrm>
            <a:off x="9563100" y="4505325"/>
            <a:ext cx="2057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辖区面积</a:t>
            </a:r>
          </a:p>
        </p:txBody>
      </p:sp>
      <p:sp>
        <p:nvSpPr>
          <p:cNvPr id="8" name="约2">
            <a:extLst>
              <a:ext uri="{FF2B5EF4-FFF2-40B4-BE49-F238E27FC236}">
                <a16:creationId xmlns:a16="http://schemas.microsoft.com/office/drawing/2014/main" id="{2A63487D-FD1B-4140-9CDD-39FF46098684}"/>
              </a:ext>
            </a:extLst>
          </p:cNvPr>
          <p:cNvSpPr>
            <a:spLocks noGrp="1"/>
          </p:cNvSpPr>
          <p:nvPr/>
        </p:nvSpPr>
        <p:spPr>
          <a:xfrm>
            <a:off x="9563100" y="4905375"/>
            <a:ext cx="2057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90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约2</a:t>
            </a:r>
          </a:p>
        </p:txBody>
      </p:sp>
      <p:sp>
        <p:nvSpPr>
          <p:cNvPr id="9" name="平方公里">
            <a:extLst>
              <a:ext uri="{FF2B5EF4-FFF2-40B4-BE49-F238E27FC236}">
                <a16:creationId xmlns:a16="http://schemas.microsoft.com/office/drawing/2014/main" id="{F447FE9E-D74B-423C-8E0D-0505E2D34FF3}"/>
              </a:ext>
            </a:extLst>
          </p:cNvPr>
          <p:cNvSpPr>
            <a:spLocks noGrp="1"/>
          </p:cNvSpPr>
          <p:nvPr/>
        </p:nvSpPr>
        <p:spPr>
          <a:xfrm>
            <a:off x="9563100" y="5600700"/>
            <a:ext cx="2057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00" b="0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平方公里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9346E37-507D-D7CA-C604-3E69F1CCB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408648"/>
            <a:ext cx="7587975" cy="419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1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书馆：家附近的阅读与学习空间">
            <a:extLst>
              <a:ext uri="{FF2B5EF4-FFF2-40B4-BE49-F238E27FC236}">
                <a16:creationId xmlns:a16="http://schemas.microsoft.com/office/drawing/2014/main" id="{AD0947CE-BF3B-42B1-9A54-505A9C62E59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图书馆：家附近的阅读与学习空间</a:t>
            </a:r>
          </a:p>
        </p:txBody>
      </p:sp>
      <p:sp>
        <p:nvSpPr>
          <p:cNvPr id="2" name="图片：原稿提供；开放时段：上海图书馆服务网点公开记录，2026-">
            <a:extLst>
              <a:ext uri="{FF2B5EF4-FFF2-40B4-BE49-F238E27FC236}">
                <a16:creationId xmlns:a16="http://schemas.microsoft.com/office/drawing/2014/main" id="{F9A221A6-B000-4365-85AE-C11F3BF99B47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图片：原稿提供；开放时段：上海图书馆服务网点公开记录，2026-10-12</a:t>
            </a:r>
          </a:p>
        </p:txBody>
      </p:sp>
      <p:sp>
        <p:nvSpPr>
          <p:cNvPr id="3" name="16">
            <a:extLst>
              <a:ext uri="{FF2B5EF4-FFF2-40B4-BE49-F238E27FC236}">
                <a16:creationId xmlns:a16="http://schemas.microsoft.com/office/drawing/2014/main" id="{4D648CC4-A536-4437-844E-C8A8011CD35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40F293-F38A-4D1F-A227-309914149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8768" y="1381125"/>
            <a:ext cx="6724465" cy="4476750"/>
          </a:xfrm>
          <a:prstGeom prst="rect">
            <a:avLst/>
          </a:prstGeom>
        </p:spPr>
      </p:pic>
      <p:sp>
        <p:nvSpPr>
          <p:cNvPr id="5" name="8:30—20:30">
            <a:extLst>
              <a:ext uri="{FF2B5EF4-FFF2-40B4-BE49-F238E27FC236}">
                <a16:creationId xmlns:a16="http://schemas.microsoft.com/office/drawing/2014/main" id="{44656C19-4A45-4A10-AB6E-7E1DF2D0F905}"/>
              </a:ext>
            </a:extLst>
          </p:cNvPr>
          <p:cNvSpPr>
            <a:spLocks noGrp="1"/>
          </p:cNvSpPr>
          <p:nvPr/>
        </p:nvSpPr>
        <p:spPr>
          <a:xfrm>
            <a:off x="8334375" y="1857375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4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8:30—20:30</a:t>
            </a:r>
          </a:p>
        </p:txBody>
      </p:sp>
      <p:sp>
        <p:nvSpPr>
          <p:cNvPr id="6" name="周一至周日">
            <a:extLst>
              <a:ext uri="{FF2B5EF4-FFF2-40B4-BE49-F238E27FC236}">
                <a16:creationId xmlns:a16="http://schemas.microsoft.com/office/drawing/2014/main" id="{8E7723D3-A12A-43A9-9713-97349EDAAFC5}"/>
              </a:ext>
            </a:extLst>
          </p:cNvPr>
          <p:cNvSpPr>
            <a:spLocks noGrp="1"/>
          </p:cNvSpPr>
          <p:nvPr/>
        </p:nvSpPr>
        <p:spPr>
          <a:xfrm>
            <a:off x="8334375" y="2943225"/>
            <a:ext cx="3286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周一至周日</a:t>
            </a:r>
          </a:p>
        </p:txBody>
      </p:sp>
      <p:sp>
        <p:nvSpPr>
          <p:cNvPr id="7" name="阅览与借阅&#10;自习功能以实际场馆为准">
            <a:extLst>
              <a:ext uri="{FF2B5EF4-FFF2-40B4-BE49-F238E27FC236}">
                <a16:creationId xmlns:a16="http://schemas.microsoft.com/office/drawing/2014/main" id="{DD2B5816-8A71-4C76-9162-E15AA4D3B153}"/>
              </a:ext>
            </a:extLst>
          </p:cNvPr>
          <p:cNvSpPr>
            <a:spLocks noGrp="1"/>
          </p:cNvSpPr>
          <p:nvPr/>
        </p:nvSpPr>
        <p:spPr>
          <a:xfrm>
            <a:off x="8334375" y="4010025"/>
            <a:ext cx="3286125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阅览与借阅</a:t>
            </a:r>
          </a:p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自习功能以实际场馆为准</a:t>
            </a:r>
          </a:p>
        </p:txBody>
      </p:sp>
      <p:sp>
        <p:nvSpPr>
          <p:cNvPr id="8" name="节假日及临时调整&#10;以场馆公告为准">
            <a:extLst>
              <a:ext uri="{FF2B5EF4-FFF2-40B4-BE49-F238E27FC236}">
                <a16:creationId xmlns:a16="http://schemas.microsoft.com/office/drawing/2014/main" id="{1EF6C09B-59AF-4A54-8B9C-C61848160F69}"/>
              </a:ext>
            </a:extLst>
          </p:cNvPr>
          <p:cNvSpPr>
            <a:spLocks noGrp="1"/>
          </p:cNvSpPr>
          <p:nvPr/>
        </p:nvSpPr>
        <p:spPr>
          <a:xfrm>
            <a:off x="8334375" y="5314950"/>
            <a:ext cx="3286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节假日及临时调整</a:t>
            </a:r>
          </a:p>
          <a:p>
            <a: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以场馆公告为准</a:t>
            </a:r>
          </a:p>
        </p:txBody>
      </p:sp>
      <p:sp>
        <p:nvSpPr>
          <p:cNvPr id="10" name="24小时时间刻度">
            <a:extLst>
              <a:ext uri="{FF2B5EF4-FFF2-40B4-BE49-F238E27FC236}">
                <a16:creationId xmlns:a16="http://schemas.microsoft.com/office/drawing/2014/main" id="{8EF9E946-A51E-45A6-B95A-D324DA0DF288}"/>
              </a:ext>
            </a:extLst>
          </p:cNvPr>
          <p:cNvSpPr>
            <a:spLocks noGrp="1"/>
          </p:cNvSpPr>
          <p:nvPr/>
        </p:nvSpPr>
        <p:spPr>
          <a:xfrm>
            <a:off x="8334375" y="3652838"/>
            <a:ext cx="3286125" cy="28575"/>
          </a:xfrm>
          <a:prstGeom prst="rect">
            <a:avLst/>
          </a:prstGeom>
          <a:solidFill>
            <a:srgbClr val="DBCA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开放时段">
            <a:extLst>
              <a:ext uri="{FF2B5EF4-FFF2-40B4-BE49-F238E27FC236}">
                <a16:creationId xmlns:a16="http://schemas.microsoft.com/office/drawing/2014/main" id="{E2C407BA-E265-4D7A-A579-785A760B1633}"/>
              </a:ext>
            </a:extLst>
          </p:cNvPr>
          <p:cNvSpPr>
            <a:spLocks noGrp="1"/>
          </p:cNvSpPr>
          <p:nvPr/>
        </p:nvSpPr>
        <p:spPr>
          <a:xfrm>
            <a:off x="9498211" y="3638550"/>
            <a:ext cx="1643063" cy="571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0时">
            <a:extLst>
              <a:ext uri="{FF2B5EF4-FFF2-40B4-BE49-F238E27FC236}">
                <a16:creationId xmlns:a16="http://schemas.microsoft.com/office/drawing/2014/main" id="{AFF39AFA-A762-4E0A-B251-E4D43D2939EA}"/>
              </a:ext>
            </a:extLst>
          </p:cNvPr>
          <p:cNvSpPr>
            <a:spLocks noGrp="1"/>
          </p:cNvSpPr>
          <p:nvPr/>
        </p:nvSpPr>
        <p:spPr>
          <a:xfrm>
            <a:off x="8334375" y="3752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0时</a:t>
            </a:r>
          </a:p>
        </p:txBody>
      </p:sp>
      <p:sp>
        <p:nvSpPr>
          <p:cNvPr id="13" name="12时">
            <a:extLst>
              <a:ext uri="{FF2B5EF4-FFF2-40B4-BE49-F238E27FC236}">
                <a16:creationId xmlns:a16="http://schemas.microsoft.com/office/drawing/2014/main" id="{30C277BE-9416-4074-B7CA-797D7885A111}"/>
              </a:ext>
            </a:extLst>
          </p:cNvPr>
          <p:cNvSpPr>
            <a:spLocks noGrp="1"/>
          </p:cNvSpPr>
          <p:nvPr/>
        </p:nvSpPr>
        <p:spPr>
          <a:xfrm>
            <a:off x="9767888" y="37528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12时</a:t>
            </a:r>
          </a:p>
        </p:txBody>
      </p:sp>
      <p:sp>
        <p:nvSpPr>
          <p:cNvPr id="14" name="24时">
            <a:extLst>
              <a:ext uri="{FF2B5EF4-FFF2-40B4-BE49-F238E27FC236}">
                <a16:creationId xmlns:a16="http://schemas.microsoft.com/office/drawing/2014/main" id="{91ACB7E4-F9CA-438A-A1E4-84F1839678D8}"/>
              </a:ext>
            </a:extLst>
          </p:cNvPr>
          <p:cNvSpPr>
            <a:spLocks noGrp="1"/>
          </p:cNvSpPr>
          <p:nvPr/>
        </p:nvSpPr>
        <p:spPr>
          <a:xfrm>
            <a:off x="11239500" y="3752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24时</a:t>
            </a:r>
          </a:p>
        </p:txBody>
      </p:sp>
      <p:pic>
        <p:nvPicPr>
          <p:cNvPr id="15" name="Rive第16页演示（隐藏后可编辑下层）">
            <a:extLst>
              <a:ext uri="{FF2B5EF4-FFF2-40B4-BE49-F238E27FC236}">
                <a16:creationId xmlns:a16="http://schemas.microsoft.com/office/drawing/2014/main" id="{F98234E0-B45F-47EF-AFBB-DA1C57265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01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市民健身中心：日常运动空间">
            <a:extLst>
              <a:ext uri="{FF2B5EF4-FFF2-40B4-BE49-F238E27FC236}">
                <a16:creationId xmlns:a16="http://schemas.microsoft.com/office/drawing/2014/main" id="{DCDB5945-C9ED-4808-961C-FCB288C77A2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市民健身中心：日常运动空间</a:t>
            </a:r>
          </a:p>
        </p:txBody>
      </p:sp>
      <p:sp>
        <p:nvSpPr>
          <p:cNvPr id="2" name="图片：原稿提供；开放时段：上海公共体育设施平台记录，2026-1">
            <a:extLst>
              <a:ext uri="{FF2B5EF4-FFF2-40B4-BE49-F238E27FC236}">
                <a16:creationId xmlns:a16="http://schemas.microsoft.com/office/drawing/2014/main" id="{54F571BB-F987-4C41-A15F-17BB722EEA40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图片：原稿提供；开放时段：上海公共体育设施平台记录，2026-10-12</a:t>
            </a:r>
          </a:p>
        </p:txBody>
      </p:sp>
      <p:sp>
        <p:nvSpPr>
          <p:cNvPr id="3" name="17">
            <a:extLst>
              <a:ext uri="{FF2B5EF4-FFF2-40B4-BE49-F238E27FC236}">
                <a16:creationId xmlns:a16="http://schemas.microsoft.com/office/drawing/2014/main" id="{700C98EF-3D26-4DEF-8FDC-5D086ECD103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17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653020-8E8D-4B7C-946E-5CEBF3A99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6059" y="1381125"/>
            <a:ext cx="6709883" cy="4476750"/>
          </a:xfrm>
          <a:prstGeom prst="rect">
            <a:avLst/>
          </a:prstGeom>
        </p:spPr>
      </p:pic>
      <p:sp>
        <p:nvSpPr>
          <p:cNvPr id="5" name="7:00—22:00">
            <a:extLst>
              <a:ext uri="{FF2B5EF4-FFF2-40B4-BE49-F238E27FC236}">
                <a16:creationId xmlns:a16="http://schemas.microsoft.com/office/drawing/2014/main" id="{B116076B-C205-458F-9D20-AA619827AEF5}"/>
              </a:ext>
            </a:extLst>
          </p:cNvPr>
          <p:cNvSpPr>
            <a:spLocks noGrp="1"/>
          </p:cNvSpPr>
          <p:nvPr/>
        </p:nvSpPr>
        <p:spPr>
          <a:xfrm>
            <a:off x="8334375" y="1857375"/>
            <a:ext cx="3286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34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4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7:00—22:00</a:t>
            </a:r>
          </a:p>
        </p:txBody>
      </p:sp>
      <p:sp>
        <p:nvSpPr>
          <p:cNvPr id="6" name="工作日及周末">
            <a:extLst>
              <a:ext uri="{FF2B5EF4-FFF2-40B4-BE49-F238E27FC236}">
                <a16:creationId xmlns:a16="http://schemas.microsoft.com/office/drawing/2014/main" id="{2B382EBE-BB91-4D8D-8404-C8D02C92B143}"/>
              </a:ext>
            </a:extLst>
          </p:cNvPr>
          <p:cNvSpPr>
            <a:spLocks noGrp="1"/>
          </p:cNvSpPr>
          <p:nvPr/>
        </p:nvSpPr>
        <p:spPr>
          <a:xfrm>
            <a:off x="8334375" y="2943225"/>
            <a:ext cx="3286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工作日及周末</a:t>
            </a:r>
          </a:p>
        </p:txBody>
      </p:sp>
      <p:sp>
        <p:nvSpPr>
          <p:cNvPr id="7" name="市民健身中心分类&#10;收费及预约按场馆规则">
            <a:extLst>
              <a:ext uri="{FF2B5EF4-FFF2-40B4-BE49-F238E27FC236}">
                <a16:creationId xmlns:a16="http://schemas.microsoft.com/office/drawing/2014/main" id="{E857D860-293D-4786-8F99-0CDF59AE541D}"/>
              </a:ext>
            </a:extLst>
          </p:cNvPr>
          <p:cNvSpPr>
            <a:spLocks noGrp="1"/>
          </p:cNvSpPr>
          <p:nvPr/>
        </p:nvSpPr>
        <p:spPr>
          <a:xfrm>
            <a:off x="8334375" y="4010025"/>
            <a:ext cx="3286125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市民健身中心分类</a:t>
            </a:r>
          </a:p>
          <a:p>
            <a:pPr algn="l">
              <a:defRPr sz="187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收费及预约按场馆规则</a:t>
            </a:r>
          </a:p>
        </p:txBody>
      </p:sp>
      <p:sp>
        <p:nvSpPr>
          <p:cNvPr id="8" name="节假日及临时调整&#10;以场馆公告为准">
            <a:extLst>
              <a:ext uri="{FF2B5EF4-FFF2-40B4-BE49-F238E27FC236}">
                <a16:creationId xmlns:a16="http://schemas.microsoft.com/office/drawing/2014/main" id="{E64143E2-4539-4E9F-A98D-4CC01828B825}"/>
              </a:ext>
            </a:extLst>
          </p:cNvPr>
          <p:cNvSpPr>
            <a:spLocks noGrp="1"/>
          </p:cNvSpPr>
          <p:nvPr/>
        </p:nvSpPr>
        <p:spPr>
          <a:xfrm>
            <a:off x="8334375" y="5314950"/>
            <a:ext cx="3286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节假日及临时调整</a:t>
            </a:r>
          </a:p>
          <a:p>
            <a:pPr algn="l"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以场馆公告为准</a:t>
            </a:r>
          </a:p>
        </p:txBody>
      </p:sp>
      <p:sp>
        <p:nvSpPr>
          <p:cNvPr id="10" name="24小时时间刻度">
            <a:extLst>
              <a:ext uri="{FF2B5EF4-FFF2-40B4-BE49-F238E27FC236}">
                <a16:creationId xmlns:a16="http://schemas.microsoft.com/office/drawing/2014/main" id="{0E718E2F-8408-4A45-A13F-DA2FD28FFB32}"/>
              </a:ext>
            </a:extLst>
          </p:cNvPr>
          <p:cNvSpPr>
            <a:spLocks noGrp="1"/>
          </p:cNvSpPr>
          <p:nvPr/>
        </p:nvSpPr>
        <p:spPr>
          <a:xfrm>
            <a:off x="8334375" y="3652838"/>
            <a:ext cx="3286125" cy="28575"/>
          </a:xfrm>
          <a:prstGeom prst="rect">
            <a:avLst/>
          </a:prstGeom>
          <a:solidFill>
            <a:srgbClr val="DBCA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开放时段">
            <a:extLst>
              <a:ext uri="{FF2B5EF4-FFF2-40B4-BE49-F238E27FC236}">
                <a16:creationId xmlns:a16="http://schemas.microsoft.com/office/drawing/2014/main" id="{56694428-5458-46F9-9887-5AC770EF756F}"/>
              </a:ext>
            </a:extLst>
          </p:cNvPr>
          <p:cNvSpPr>
            <a:spLocks noGrp="1"/>
          </p:cNvSpPr>
          <p:nvPr/>
        </p:nvSpPr>
        <p:spPr>
          <a:xfrm>
            <a:off x="9292828" y="3638550"/>
            <a:ext cx="2053828" cy="57150"/>
          </a:xfrm>
          <a:prstGeom prst="rect">
            <a:avLst/>
          </a:prstGeom>
          <a:solidFill>
            <a:srgbClr val="8F3E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0时">
            <a:extLst>
              <a:ext uri="{FF2B5EF4-FFF2-40B4-BE49-F238E27FC236}">
                <a16:creationId xmlns:a16="http://schemas.microsoft.com/office/drawing/2014/main" id="{D07F2E2D-C2C2-48F8-B4F0-9E1393F82E04}"/>
              </a:ext>
            </a:extLst>
          </p:cNvPr>
          <p:cNvSpPr>
            <a:spLocks noGrp="1"/>
          </p:cNvSpPr>
          <p:nvPr/>
        </p:nvSpPr>
        <p:spPr>
          <a:xfrm>
            <a:off x="8334375" y="3752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0时</a:t>
            </a:r>
          </a:p>
        </p:txBody>
      </p:sp>
      <p:sp>
        <p:nvSpPr>
          <p:cNvPr id="13" name="12时">
            <a:extLst>
              <a:ext uri="{FF2B5EF4-FFF2-40B4-BE49-F238E27FC236}">
                <a16:creationId xmlns:a16="http://schemas.microsoft.com/office/drawing/2014/main" id="{21E2E6DA-71AF-4AE2-AE15-CE2E986EB70C}"/>
              </a:ext>
            </a:extLst>
          </p:cNvPr>
          <p:cNvSpPr>
            <a:spLocks noGrp="1"/>
          </p:cNvSpPr>
          <p:nvPr/>
        </p:nvSpPr>
        <p:spPr>
          <a:xfrm>
            <a:off x="9767888" y="37528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ct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12时</a:t>
            </a:r>
          </a:p>
        </p:txBody>
      </p:sp>
      <p:sp>
        <p:nvSpPr>
          <p:cNvPr id="14" name="24时">
            <a:extLst>
              <a:ext uri="{FF2B5EF4-FFF2-40B4-BE49-F238E27FC236}">
                <a16:creationId xmlns:a16="http://schemas.microsoft.com/office/drawing/2014/main" id="{E0AF95CA-C1E3-4B16-BDE5-2F2F590780C0}"/>
              </a:ext>
            </a:extLst>
          </p:cNvPr>
          <p:cNvSpPr>
            <a:spLocks noGrp="1"/>
          </p:cNvSpPr>
          <p:nvPr/>
        </p:nvSpPr>
        <p:spPr>
          <a:xfrm>
            <a:off x="11239500" y="3752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r">
              <a:defRPr sz="1125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24时</a:t>
            </a:r>
          </a:p>
        </p:txBody>
      </p:sp>
      <p:pic>
        <p:nvPicPr>
          <p:cNvPr id="15" name="Rive第17页演示（隐藏后可编辑下层）">
            <a:extLst>
              <a:ext uri="{FF2B5EF4-FFF2-40B4-BE49-F238E27FC236}">
                <a16:creationId xmlns:a16="http://schemas.microsoft.com/office/drawing/2014/main" id="{957D1436-CE2C-4975-8272-8640B0BE9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67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家门口的其他生活场景">
            <a:extLst>
              <a:ext uri="{FF2B5EF4-FFF2-40B4-BE49-F238E27FC236}">
                <a16:creationId xmlns:a16="http://schemas.microsoft.com/office/drawing/2014/main" id="{B85175F7-A0FC-4A80-92FC-28C04CE1185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家门口的其他生活场景</a:t>
            </a:r>
          </a:p>
        </p:txBody>
      </p:sp>
      <p:sp>
        <p:nvSpPr>
          <p:cNvPr id="2" name="图片：小组提供">
            <a:extLst>
              <a:ext uri="{FF2B5EF4-FFF2-40B4-BE49-F238E27FC236}">
                <a16:creationId xmlns:a16="http://schemas.microsoft.com/office/drawing/2014/main" id="{731302A4-CB52-49E7-8096-E5EACC18C6FD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图片：小组提供</a:t>
            </a:r>
          </a:p>
        </p:txBody>
      </p:sp>
      <p:sp>
        <p:nvSpPr>
          <p:cNvPr id="3" name="18">
            <a:extLst>
              <a:ext uri="{FF2B5EF4-FFF2-40B4-BE49-F238E27FC236}">
                <a16:creationId xmlns:a16="http://schemas.microsoft.com/office/drawing/2014/main" id="{A45F8528-E1CF-41AC-9A8F-AD626DE2AC8C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18</a:t>
            </a:r>
          </a:p>
        </p:txBody>
      </p:sp>
      <p:sp>
        <p:nvSpPr>
          <p:cNvPr id="4" name="社区食堂">
            <a:extLst>
              <a:ext uri="{FF2B5EF4-FFF2-40B4-BE49-F238E27FC236}">
                <a16:creationId xmlns:a16="http://schemas.microsoft.com/office/drawing/2014/main" id="{0A87AAE3-4910-45A8-9AB4-FFD578F11CEE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3804817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社区食堂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25D9C8-F8B8-4D21-92E4-6A85C765A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228850"/>
            <a:ext cx="3804817" cy="3143250"/>
          </a:xfrm>
          <a:prstGeom prst="rect">
            <a:avLst/>
          </a:prstGeom>
        </p:spPr>
      </p:pic>
      <p:sp>
        <p:nvSpPr>
          <p:cNvPr id="6" name="公共绿地">
            <a:extLst>
              <a:ext uri="{FF2B5EF4-FFF2-40B4-BE49-F238E27FC236}">
                <a16:creationId xmlns:a16="http://schemas.microsoft.com/office/drawing/2014/main" id="{9011E5FD-D00A-4144-B206-8337957E88F3}"/>
              </a:ext>
            </a:extLst>
          </p:cNvPr>
          <p:cNvSpPr>
            <a:spLocks noGrp="1"/>
          </p:cNvSpPr>
          <p:nvPr/>
        </p:nvSpPr>
        <p:spPr>
          <a:xfrm>
            <a:off x="4628530" y="1552575"/>
            <a:ext cx="4191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公共绿地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1D73FE-C374-4D74-AFAB-F99C622A2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28530" y="2228850"/>
            <a:ext cx="4191000" cy="3143250"/>
          </a:xfrm>
          <a:prstGeom prst="rect">
            <a:avLst/>
          </a:prstGeom>
        </p:spPr>
      </p:pic>
      <p:sp>
        <p:nvSpPr>
          <p:cNvPr id="8" name="社区卫生服务中心">
            <a:extLst>
              <a:ext uri="{FF2B5EF4-FFF2-40B4-BE49-F238E27FC236}">
                <a16:creationId xmlns:a16="http://schemas.microsoft.com/office/drawing/2014/main" id="{61C2F7EF-ECF9-4D32-9677-F1EE0D2BB275}"/>
              </a:ext>
            </a:extLst>
          </p:cNvPr>
          <p:cNvSpPr>
            <a:spLocks noGrp="1"/>
          </p:cNvSpPr>
          <p:nvPr/>
        </p:nvSpPr>
        <p:spPr>
          <a:xfrm>
            <a:off x="9071744" y="1552575"/>
            <a:ext cx="2548756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社区卫生服务中心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FA80317-D158-493B-B781-0EB027DAA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71744" y="2228850"/>
            <a:ext cx="2548756" cy="3143250"/>
          </a:xfrm>
          <a:prstGeom prst="rect">
            <a:avLst/>
          </a:prstGeom>
        </p:spPr>
      </p:pic>
      <p:pic>
        <p:nvPicPr>
          <p:cNvPr id="11" name="Rive第18页演示（隐藏后可编辑下层）">
            <a:extLst>
              <a:ext uri="{FF2B5EF4-FFF2-40B4-BE49-F238E27FC236}">
                <a16:creationId xmlns:a16="http://schemas.microsoft.com/office/drawing/2014/main" id="{B736A5C1-3112-410B-BBA1-3FC9E7406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60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小组对人民城市的理解">
            <a:extLst>
              <a:ext uri="{FF2B5EF4-FFF2-40B4-BE49-F238E27FC236}">
                <a16:creationId xmlns:a16="http://schemas.microsoft.com/office/drawing/2014/main" id="{5F5AA743-C7B0-48E6-A3B0-2FE315A48DB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小组对人民城市的理解</a:t>
            </a:r>
          </a:p>
        </p:txBody>
      </p:sp>
      <p:sp>
        <p:nvSpPr>
          <p:cNvPr id="2" name="本组理解：社区公共服务是观察人民城市的一个入口">
            <a:extLst>
              <a:ext uri="{FF2B5EF4-FFF2-40B4-BE49-F238E27FC236}">
                <a16:creationId xmlns:a16="http://schemas.microsoft.com/office/drawing/2014/main" id="{D2ED0EDC-DEA3-4A3D-8F77-AF7EDBFFF85F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本组理解：社区公共服务是观察人民城市的一个入口</a:t>
            </a:r>
          </a:p>
        </p:txBody>
      </p:sp>
      <p:sp>
        <p:nvSpPr>
          <p:cNvPr id="3" name="19">
            <a:extLst>
              <a:ext uri="{FF2B5EF4-FFF2-40B4-BE49-F238E27FC236}">
                <a16:creationId xmlns:a16="http://schemas.microsoft.com/office/drawing/2014/main" id="{DD27DCAE-E405-4176-B43D-1ADC1ECE16F4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19</a:t>
            </a:r>
          </a:p>
        </p:txBody>
      </p:sp>
      <p:sp>
        <p:nvSpPr>
          <p:cNvPr id="4" name="以生活和劳动在城市中的人为主体">
            <a:extLst>
              <a:ext uri="{FF2B5EF4-FFF2-40B4-BE49-F238E27FC236}">
                <a16:creationId xmlns:a16="http://schemas.microsoft.com/office/drawing/2014/main" id="{8F4CC32F-5812-4515-8E0E-B6165C784C3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28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以生活和劳动在城市中的人为主体</a:t>
            </a:r>
          </a:p>
        </p:txBody>
      </p:sp>
      <p:sp>
        <p:nvSpPr>
          <p:cNvPr id="5" name="公共制度让城市空间和基本服务&#10;广泛惠及居民">
            <a:extLst>
              <a:ext uri="{FF2B5EF4-FFF2-40B4-BE49-F238E27FC236}">
                <a16:creationId xmlns:a16="http://schemas.microsoft.com/office/drawing/2014/main" id="{9278490F-7023-45AA-AAFC-5686680F7320}"/>
              </a:ext>
            </a:extLst>
          </p:cNvPr>
          <p:cNvSpPr>
            <a:spLocks noGrp="1"/>
          </p:cNvSpPr>
          <p:nvPr/>
        </p:nvSpPr>
        <p:spPr>
          <a:xfrm>
            <a:off x="571500" y="2981325"/>
            <a:ext cx="1104900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lvl9pPr>
          </a:lstStyle>
          <a:p>
            <a: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pPr>
            <a:r>
              <a: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rPr>
              <a:t>公共制度让城市空间和基本服务</a:t>
            </a:r>
          </a:p>
          <a:p>
            <a:pPr algn="l">
              <a:def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defRPr>
            </a:pPr>
            <a:r>
              <a:rPr sz="3375" b="0">
                <a:solidFill>
                  <a:srgbClr val="E8CFC4"/>
                </a:solidFill>
                <a:latin typeface="STZhongsong"/>
                <a:ea typeface="STZhongsong"/>
                <a:cs typeface="STZhongsong"/>
              </a:rPr>
              <a:t>广泛惠及居民</a:t>
            </a:r>
          </a:p>
        </p:txBody>
      </p:sp>
      <p:sp>
        <p:nvSpPr>
          <p:cNvPr id="6" name="能够负担生活、稳定居住、参与治理">
            <a:extLst>
              <a:ext uri="{FF2B5EF4-FFF2-40B4-BE49-F238E27FC236}">
                <a16:creationId xmlns:a16="http://schemas.microsoft.com/office/drawing/2014/main" id="{AB79E778-2981-4523-A67F-DEA60C4E4E22}"/>
              </a:ext>
            </a:extLst>
          </p:cNvPr>
          <p:cNvSpPr>
            <a:spLocks noGrp="1"/>
          </p:cNvSpPr>
          <p:nvPr/>
        </p:nvSpPr>
        <p:spPr>
          <a:xfrm>
            <a:off x="571500" y="50387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lvl9pPr>
          </a:lstStyle>
          <a:p>
            <a: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能够负担生活、稳定居住、参与治理</a:t>
            </a:r>
          </a:p>
        </p:txBody>
      </p:sp>
      <p:pic>
        <p:nvPicPr>
          <p:cNvPr id="8" name="Rive第19页演示（隐藏后可编辑下层）">
            <a:extLst>
              <a:ext uri="{FF2B5EF4-FFF2-40B4-BE49-F238E27FC236}">
                <a16:creationId xmlns:a16="http://schemas.microsoft.com/office/drawing/2014/main" id="{1C4D81FB-06C9-4932-AB4A-890DBEFF3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3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ource-footer">
            <a:extLst>
              <a:ext uri="{FF2B5EF4-FFF2-40B4-BE49-F238E27FC236}">
                <a16:creationId xmlns:a16="http://schemas.microsoft.com/office/drawing/2014/main" id="{79461888-AC34-4E44-AECB-EA3FBFE1950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 dirty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概念出处：新华社，2019-11-03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0308F667-0209-4304-8AC2-EFFE832CB615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20</a:t>
            </a:r>
          </a:p>
        </p:txBody>
      </p:sp>
      <p:sp>
        <p:nvSpPr>
          <p:cNvPr id="3" name="text-1">
            <a:extLst>
              <a:ext uri="{FF2B5EF4-FFF2-40B4-BE49-F238E27FC236}">
                <a16:creationId xmlns:a16="http://schemas.microsoft.com/office/drawing/2014/main" id="{E007B93F-0BBA-46AC-9B95-09D069208B6A}"/>
              </a:ext>
            </a:extLst>
          </p:cNvPr>
          <p:cNvSpPr>
            <a:spLocks noGrp="1"/>
          </p:cNvSpPr>
          <p:nvPr/>
        </p:nvSpPr>
        <p:spPr>
          <a:xfrm>
            <a:off x="571500" y="619125"/>
            <a:ext cx="6286500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650" b="0" dirty="0" err="1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人民城市的</a:t>
            </a:r>
            <a:endParaRPr lang="zh-CN" altLang="en-US" sz="4650" b="0" dirty="0">
              <a:solidFill>
                <a:srgbClr val="FCF7F0"/>
              </a:solidFill>
              <a:latin typeface="STZhongsong"/>
              <a:ea typeface="STZhongsong"/>
              <a:cs typeface="STZhongsong"/>
            </a:endParaRPr>
          </a:p>
          <a:p>
            <a:pPr algn="l">
              <a:defRPr sz="46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lang="zh-CN" altLang="en-US" sz="4650" b="0" dirty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上海实践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3D1F79B0-5FF8-4A95-9CF8-382BBC62C172}"/>
              </a:ext>
            </a:extLst>
          </p:cNvPr>
          <p:cNvSpPr>
            <a:spLocks noGrp="1"/>
          </p:cNvSpPr>
          <p:nvPr/>
        </p:nvSpPr>
        <p:spPr>
          <a:xfrm>
            <a:off x="571500" y="2628900"/>
            <a:ext cx="628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85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850" b="1" dirty="0" err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纽约能不能叫人民城市</a:t>
            </a:r>
            <a:r>
              <a:rPr sz="2850" b="1" dirty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？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DE0EE3C8-EF4C-409A-81CA-275BCBC3FAE2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6286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550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lang="zh-CN" altLang="en-US" sz="2550" b="1" dirty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人民城市人民建</a:t>
            </a:r>
          </a:p>
          <a:p>
            <a:pPr algn="l">
              <a:defRPr sz="2550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lang="zh-CN" altLang="en-US" sz="2550" b="1" dirty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人民城市为人民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6B558A97-EF39-49C8-8EF2-F4D786828FEF}"/>
              </a:ext>
            </a:extLst>
          </p:cNvPr>
          <p:cNvSpPr>
            <a:spLocks noGrp="1"/>
          </p:cNvSpPr>
          <p:nvPr/>
        </p:nvSpPr>
        <p:spPr>
          <a:xfrm>
            <a:off x="571500" y="4962525"/>
            <a:ext cx="6286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lang="zh-CN" altLang="en-US" sz="2025" b="0" dirty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以人民为中心，回应居民需要，</a:t>
            </a:r>
          </a:p>
          <a:p>
            <a:pPr algn="l">
              <a:defRPr sz="202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lang="zh-CN" altLang="en-US" sz="2025" b="0" dirty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让人民共同参与城市建设。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C9EA29-CC76-4AE9-B031-9ED3B7F1FE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01" r="25201"/>
          <a:stretch>
            <a:fillRect/>
          </a:stretch>
        </p:blipFill>
        <p:spPr>
          <a:xfrm>
            <a:off x="7086600" y="0"/>
            <a:ext cx="5105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75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2B73E69A-3CD2-4333-ACCF-42A3F7CA28F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开场：一座厕所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4A24D86A-AE68-4A8C-89CC-07E6F69AF863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来源：上海市公共数据开放平台；沪绿化市容局；纽约市议会公共厕所分析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51CFF0B-A7FC-4A90-992F-B8D30039877B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21</a:t>
            </a:r>
          </a:p>
        </p:txBody>
      </p:sp>
      <p:sp>
        <p:nvSpPr>
          <p:cNvPr id="4" name="text-5">
            <a:extLst>
              <a:ext uri="{FF2B5EF4-FFF2-40B4-BE49-F238E27FC236}">
                <a16:creationId xmlns:a16="http://schemas.microsoft.com/office/drawing/2014/main" id="{7FC7F4F5-0026-42A4-819A-E854F79F7B2A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上海</a:t>
            </a:r>
          </a:p>
        </p:txBody>
      </p:sp>
      <p:sp>
        <p:nvSpPr>
          <p:cNvPr id="5" name="text-6">
            <a:extLst>
              <a:ext uri="{FF2B5EF4-FFF2-40B4-BE49-F238E27FC236}">
                <a16:creationId xmlns:a16="http://schemas.microsoft.com/office/drawing/2014/main" id="{799F6561-939E-41B8-BCAA-1456F32FF73E}"/>
              </a:ext>
            </a:extLst>
          </p:cNvPr>
          <p:cNvSpPr>
            <a:spLocks noGrp="1"/>
          </p:cNvSpPr>
          <p:nvPr/>
        </p:nvSpPr>
        <p:spPr>
          <a:xfrm>
            <a:off x="6343650" y="1362075"/>
            <a:ext cx="5276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纽约</a:t>
            </a:r>
          </a:p>
        </p:txBody>
      </p:sp>
      <p:sp>
        <p:nvSpPr>
          <p:cNvPr id="6" name="text-7">
            <a:extLst>
              <a:ext uri="{FF2B5EF4-FFF2-40B4-BE49-F238E27FC236}">
                <a16:creationId xmlns:a16="http://schemas.microsoft.com/office/drawing/2014/main" id="{27CECF0D-C04C-45DE-AC4F-2DE99C085167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5143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7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7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8,325 条记录</a:t>
            </a:r>
          </a:p>
        </p:txBody>
      </p:sp>
      <p:sp>
        <p:nvSpPr>
          <p:cNvPr id="7" name="text-8">
            <a:extLst>
              <a:ext uri="{FF2B5EF4-FFF2-40B4-BE49-F238E27FC236}">
                <a16:creationId xmlns:a16="http://schemas.microsoft.com/office/drawing/2014/main" id="{36395A2E-5298-4908-B85A-1808E8A033F8}"/>
              </a:ext>
            </a:extLst>
          </p:cNvPr>
          <p:cNvSpPr>
            <a:spLocks noGrp="1"/>
          </p:cNvSpPr>
          <p:nvPr/>
        </p:nvSpPr>
        <p:spPr>
          <a:xfrm>
            <a:off x="6343650" y="1905000"/>
            <a:ext cx="52768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7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37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973 座在运营</a:t>
            </a:r>
          </a:p>
        </p:txBody>
      </p:sp>
      <p:sp>
        <p:nvSpPr>
          <p:cNvPr id="8" name="text-9">
            <a:extLst>
              <a:ext uri="{FF2B5EF4-FFF2-40B4-BE49-F238E27FC236}">
                <a16:creationId xmlns:a16="http://schemas.microsoft.com/office/drawing/2014/main" id="{D33C9D40-987A-47F0-934D-D955E28F9880}"/>
              </a:ext>
            </a:extLst>
          </p:cNvPr>
          <p:cNvSpPr>
            <a:spLocks noGrp="1"/>
          </p:cNvSpPr>
          <p:nvPr/>
        </p:nvSpPr>
        <p:spPr>
          <a:xfrm>
            <a:off x="571500" y="2686050"/>
            <a:ext cx="5143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约每 3,000 人一处</a:t>
            </a:r>
          </a:p>
        </p:txBody>
      </p:sp>
      <p:sp>
        <p:nvSpPr>
          <p:cNvPr id="9" name="text-10">
            <a:extLst>
              <a:ext uri="{FF2B5EF4-FFF2-40B4-BE49-F238E27FC236}">
                <a16:creationId xmlns:a16="http://schemas.microsoft.com/office/drawing/2014/main" id="{FD8D976F-2EC4-48D8-A23E-B5E461C5655A}"/>
              </a:ext>
            </a:extLst>
          </p:cNvPr>
          <p:cNvSpPr>
            <a:spLocks noGrp="1"/>
          </p:cNvSpPr>
          <p:nvPr/>
        </p:nvSpPr>
        <p:spPr>
          <a:xfrm>
            <a:off x="6343650" y="2686050"/>
            <a:ext cx="52768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近每 9,000 人一处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70C647A-093B-4E14-A450-6779FAA4A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3502890"/>
            <a:ext cx="2800350" cy="1757220"/>
          </a:xfrm>
          <a:prstGeom prst="rect">
            <a:avLst/>
          </a:prstGeom>
        </p:spPr>
      </p:pic>
      <p:sp>
        <p:nvSpPr>
          <p:cNvPr id="11" name="text-11">
            <a:extLst>
              <a:ext uri="{FF2B5EF4-FFF2-40B4-BE49-F238E27FC236}">
                <a16:creationId xmlns:a16="http://schemas.microsoft.com/office/drawing/2014/main" id="{84257E15-0E44-4BA1-8652-E0F07F0DADB2}"/>
              </a:ext>
            </a:extLst>
          </p:cNvPr>
          <p:cNvSpPr>
            <a:spLocks noGrp="1"/>
          </p:cNvSpPr>
          <p:nvPr/>
        </p:nvSpPr>
        <p:spPr>
          <a:xfrm>
            <a:off x="3619500" y="3629025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2,631 座改造</a:t>
            </a:r>
          </a:p>
        </p:txBody>
      </p:sp>
      <p:sp>
        <p:nvSpPr>
          <p:cNvPr id="12" name="text-12">
            <a:extLst>
              <a:ext uri="{FF2B5EF4-FFF2-40B4-BE49-F238E27FC236}">
                <a16:creationId xmlns:a16="http://schemas.microsoft.com/office/drawing/2014/main" id="{A085B7D7-DD40-44A9-9632-B1ED0072AEA5}"/>
              </a:ext>
            </a:extLst>
          </p:cNvPr>
          <p:cNvSpPr>
            <a:spLocks noGrp="1"/>
          </p:cNvSpPr>
          <p:nvPr/>
        </p:nvSpPr>
        <p:spPr>
          <a:xfrm>
            <a:off x="3619500" y="4171950"/>
            <a:ext cx="21717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适老、适幼设施</a:t>
            </a:r>
          </a:p>
          <a:p>
            <a:pPr algn="l">
              <a:defRPr sz="18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第三卫生间</a:t>
            </a:r>
          </a:p>
          <a:p>
            <a:pPr algn="l">
              <a:defRPr sz="18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免费厕纸和热水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4E33785-E58A-4D5E-A501-B70F13DFD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24947" y="3448050"/>
            <a:ext cx="4714256" cy="981075"/>
          </a:xfrm>
          <a:prstGeom prst="rect">
            <a:avLst/>
          </a:prstGeom>
        </p:spPr>
      </p:pic>
      <p:sp>
        <p:nvSpPr>
          <p:cNvPr id="14" name="text-13">
            <a:extLst>
              <a:ext uri="{FF2B5EF4-FFF2-40B4-BE49-F238E27FC236}">
                <a16:creationId xmlns:a16="http://schemas.microsoft.com/office/drawing/2014/main" id="{7B2244A0-B8E8-447A-9523-B863E0DE967C}"/>
              </a:ext>
            </a:extLst>
          </p:cNvPr>
          <p:cNvSpPr>
            <a:spLocks noGrp="1"/>
          </p:cNvSpPr>
          <p:nvPr/>
        </p:nvSpPr>
        <p:spPr>
          <a:xfrm>
            <a:off x="6343650" y="4743450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全天 24 小时开放的只有 8 座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AF30A5F1-2141-47B2-9846-40FECEB23A40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上海为平台记录，纽约为市政运营公厕，统计范围不同；这里比较设施供给的量级。</a:t>
            </a:r>
          </a:p>
        </p:txBody>
      </p:sp>
    </p:spTree>
    <p:extLst>
      <p:ext uri="{BB962C8B-B14F-4D97-AF65-F5344CB8AC3E}">
        <p14:creationId xmlns:p14="http://schemas.microsoft.com/office/powerpoint/2010/main" val="988655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B68A837D-A19A-4B18-906C-33562137DF6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比什么，怎么比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D2E65C52-F0C9-4B00-90F9-30A14EC92C0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来源：上海统计公报与住户调查；NYC RGB/ACS；纽约市规划局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7E24953-449D-4D72-84A6-9B35E4D50F6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22</a:t>
            </a:r>
          </a:p>
        </p:txBody>
      </p:sp>
      <p:sp>
        <p:nvSpPr>
          <p:cNvPr id="4" name="text-15">
            <a:extLst>
              <a:ext uri="{FF2B5EF4-FFF2-40B4-BE49-F238E27FC236}">
                <a16:creationId xmlns:a16="http://schemas.microsoft.com/office/drawing/2014/main" id="{4CFCE7CD-3ABF-4081-888D-0340A9CA790A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基础保障</a:t>
            </a:r>
          </a:p>
        </p:txBody>
      </p:sp>
      <p:sp>
        <p:nvSpPr>
          <p:cNvPr id="5" name="text-16">
            <a:extLst>
              <a:ext uri="{FF2B5EF4-FFF2-40B4-BE49-F238E27FC236}">
                <a16:creationId xmlns:a16="http://schemas.microsoft.com/office/drawing/2014/main" id="{9F676D24-6433-4DEC-B069-D6C8179605BE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住、吃、穿、行</a:t>
            </a:r>
          </a:p>
        </p:txBody>
      </p:sp>
      <p:sp>
        <p:nvSpPr>
          <p:cNvPr id="6" name="text-17">
            <a:extLst>
              <a:ext uri="{FF2B5EF4-FFF2-40B4-BE49-F238E27FC236}">
                <a16:creationId xmlns:a16="http://schemas.microsoft.com/office/drawing/2014/main" id="{AEF554F1-C4E3-4F47-A929-415C49F53C3D}"/>
              </a:ext>
            </a:extLst>
          </p:cNvPr>
          <p:cNvSpPr>
            <a:spLocks noGrp="1"/>
          </p:cNvSpPr>
          <p:nvPr/>
        </p:nvSpPr>
        <p:spPr>
          <a:xfrm>
            <a:off x="781050" y="2924175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民生福祉</a:t>
            </a:r>
          </a:p>
        </p:txBody>
      </p:sp>
      <p:sp>
        <p:nvSpPr>
          <p:cNvPr id="7" name="text-18">
            <a:extLst>
              <a:ext uri="{FF2B5EF4-FFF2-40B4-BE49-F238E27FC236}">
                <a16:creationId xmlns:a16="http://schemas.microsoft.com/office/drawing/2014/main" id="{C388E921-0296-4B33-8605-352877EC5A19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医疗、治安、教育、文化</a:t>
            </a:r>
          </a:p>
        </p:txBody>
      </p:sp>
      <p:sp>
        <p:nvSpPr>
          <p:cNvPr id="8" name="text-19">
            <a:extLst>
              <a:ext uri="{FF2B5EF4-FFF2-40B4-BE49-F238E27FC236}">
                <a16:creationId xmlns:a16="http://schemas.microsoft.com/office/drawing/2014/main" id="{D0CC05DB-3DB3-4F9B-85B6-FF81E7024FFE}"/>
              </a:ext>
            </a:extLst>
          </p:cNvPr>
          <p:cNvSpPr>
            <a:spLocks noGrp="1"/>
          </p:cNvSpPr>
          <p:nvPr/>
        </p:nvSpPr>
        <p:spPr>
          <a:xfrm>
            <a:off x="781050" y="4248150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底层关怀</a:t>
            </a:r>
          </a:p>
        </p:txBody>
      </p:sp>
      <p:sp>
        <p:nvSpPr>
          <p:cNvPr id="9" name="text-20">
            <a:extLst>
              <a:ext uri="{FF2B5EF4-FFF2-40B4-BE49-F238E27FC236}">
                <a16:creationId xmlns:a16="http://schemas.microsoft.com/office/drawing/2014/main" id="{707D3635-EA52-4760-984C-CF785414117C}"/>
              </a:ext>
            </a:extLst>
          </p:cNvPr>
          <p:cNvSpPr>
            <a:spLocks noGrp="1"/>
          </p:cNvSpPr>
          <p:nvPr/>
        </p:nvSpPr>
        <p:spPr>
          <a:xfrm>
            <a:off x="781050" y="4705350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单独看：怎么对待最穷的人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0E78BE3-5DF3-406D-9B40-6CF46D276249}"/>
              </a:ext>
            </a:extLst>
          </p:cNvPr>
          <p:cNvGraphicFramePr/>
          <p:nvPr/>
        </p:nvGraphicFramePr>
        <p:xfrm>
          <a:off x="6315075" y="1457325"/>
          <a:ext cx="5305425" cy="174307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比较对象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人口 / 面积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上海全市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2,485万人 / 6,341 km²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纽约市五区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858万人 / 778 km²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-21">
            <a:extLst>
              <a:ext uri="{FF2B5EF4-FFF2-40B4-BE49-F238E27FC236}">
                <a16:creationId xmlns:a16="http://schemas.microsoft.com/office/drawing/2014/main" id="{FF532920-E506-41E3-8109-B866AC63C2BB}"/>
              </a:ext>
            </a:extLst>
          </p:cNvPr>
          <p:cNvSpPr>
            <a:spLocks noGrp="1"/>
          </p:cNvSpPr>
          <p:nvPr/>
        </p:nvSpPr>
        <p:spPr>
          <a:xfrm>
            <a:off x="6315075" y="3562350"/>
            <a:ext cx="53054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6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6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家庭收入差约两倍半</a:t>
            </a:r>
          </a:p>
        </p:txBody>
      </p:sp>
      <p:sp>
        <p:nvSpPr>
          <p:cNvPr id="12" name="text-22">
            <a:extLst>
              <a:ext uri="{FF2B5EF4-FFF2-40B4-BE49-F238E27FC236}">
                <a16:creationId xmlns:a16="http://schemas.microsoft.com/office/drawing/2014/main" id="{02C46975-A594-4B0A-A062-97A6336C16DF}"/>
              </a:ext>
            </a:extLst>
          </p:cNvPr>
          <p:cNvSpPr>
            <a:spLocks noGrp="1"/>
          </p:cNvSpPr>
          <p:nvPr/>
        </p:nvSpPr>
        <p:spPr>
          <a:xfrm>
            <a:off x="6315075" y="4229100"/>
            <a:ext cx="53054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纽约约 55 万元　上海约 20.6 万元</a:t>
            </a:r>
          </a:p>
        </p:txBody>
      </p:sp>
      <p:sp>
        <p:nvSpPr>
          <p:cNvPr id="13" name="text-23">
            <a:extLst>
              <a:ext uri="{FF2B5EF4-FFF2-40B4-BE49-F238E27FC236}">
                <a16:creationId xmlns:a16="http://schemas.microsoft.com/office/drawing/2014/main" id="{93216B42-3378-46C2-9237-21FCE98C8780}"/>
              </a:ext>
            </a:extLst>
          </p:cNvPr>
          <p:cNvSpPr>
            <a:spLocks noGrp="1"/>
          </p:cNvSpPr>
          <p:nvPr/>
        </p:nvSpPr>
        <p:spPr>
          <a:xfrm>
            <a:off x="6315075" y="4905375"/>
            <a:ext cx="5305425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现金收入是背景，</a:t>
            </a:r>
          </a:p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具体生活要分项比较。</a:t>
            </a:r>
          </a:p>
        </p:txBody>
      </p:sp>
      <p:sp>
        <p:nvSpPr>
          <p:cNvPr id="14" name="text-24">
            <a:extLst>
              <a:ext uri="{FF2B5EF4-FFF2-40B4-BE49-F238E27FC236}">
                <a16:creationId xmlns:a16="http://schemas.microsoft.com/office/drawing/2014/main" id="{AD16C91F-9C51-4997-8ED1-6468BB0A11BD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纽约为税前户收入中位数；上海由人均可支配收入均值×户均人数估算，约2.65倍。</a:t>
            </a:r>
          </a:p>
        </p:txBody>
      </p:sp>
    </p:spTree>
    <p:extLst>
      <p:ext uri="{BB962C8B-B14F-4D97-AF65-F5344CB8AC3E}">
        <p14:creationId xmlns:p14="http://schemas.microsoft.com/office/powerpoint/2010/main" val="228671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9E9621E1-5922-476E-98F8-6357F6A65F6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住：稳定居住，上海明显占优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38884F20-BE3E-4F0F-B32A-E12AC9512B36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来源：上海2020年人口普查年鉴表9-4；NYC 2023 HVS；上海2025统计公报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EBB52DC3-B831-4532-A081-EE35E51CA0A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23</a:t>
            </a:r>
          </a:p>
        </p:txBody>
      </p:sp>
      <p:sp>
        <p:nvSpPr>
          <p:cNvPr id="4" name="text-25">
            <a:extLst>
              <a:ext uri="{FF2B5EF4-FFF2-40B4-BE49-F238E27FC236}">
                <a16:creationId xmlns:a16="http://schemas.microsoft.com/office/drawing/2014/main" id="{F7BA4B95-639E-4F21-9399-76E06000C2BD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自有住房率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E0558FA-A20B-4C5F-87C4-8CD6C742477F}"/>
              </a:ext>
            </a:extLst>
          </p:cNvPr>
          <p:cNvGraphicFramePr/>
          <p:nvPr/>
        </p:nvGraphicFramePr>
        <p:xfrm>
          <a:off x="571500" y="2009775"/>
          <a:ext cx="5219700" cy="1514475"/>
        </p:xfrm>
        <a:graphic>
          <a:graphicData uri="http://schemas.openxmlformats.org/drawingml/2006/table">
            <a:tbl>
              <a:tblPr/>
              <a:tblGrid>
                <a:gridCol w="260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纽约市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r>
                        <a:rPr sz="32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59.0%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2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32.3%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-26">
            <a:extLst>
              <a:ext uri="{FF2B5EF4-FFF2-40B4-BE49-F238E27FC236}">
                <a16:creationId xmlns:a16="http://schemas.microsoft.com/office/drawing/2014/main" id="{C49FE16C-ED69-4279-AB69-DB20B767C881}"/>
              </a:ext>
            </a:extLst>
          </p:cNvPr>
          <p:cNvSpPr>
            <a:spLocks noGrp="1"/>
          </p:cNvSpPr>
          <p:nvPr/>
        </p:nvSpPr>
        <p:spPr>
          <a:xfrm>
            <a:off x="571500" y="395287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相差约 27 个百分点</a:t>
            </a:r>
          </a:p>
        </p:txBody>
      </p:sp>
      <p:sp>
        <p:nvSpPr>
          <p:cNvPr id="7" name="text-27">
            <a:extLst>
              <a:ext uri="{FF2B5EF4-FFF2-40B4-BE49-F238E27FC236}">
                <a16:creationId xmlns:a16="http://schemas.microsoft.com/office/drawing/2014/main" id="{D374B091-2D49-4B72-B427-46C821F7858F}"/>
              </a:ext>
            </a:extLst>
          </p:cNvPr>
          <p:cNvSpPr>
            <a:spLocks noGrp="1"/>
          </p:cNvSpPr>
          <p:nvPr/>
        </p:nvSpPr>
        <p:spPr>
          <a:xfrm>
            <a:off x="571500" y="4686300"/>
            <a:ext cx="52197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纽约约一半租房家庭，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房租占收入三成以上。</a:t>
            </a:r>
          </a:p>
        </p:txBody>
      </p:sp>
      <p:sp>
        <p:nvSpPr>
          <p:cNvPr id="8" name="text-28">
            <a:extLst>
              <a:ext uri="{FF2B5EF4-FFF2-40B4-BE49-F238E27FC236}">
                <a16:creationId xmlns:a16="http://schemas.microsoft.com/office/drawing/2014/main" id="{AAE1A8F1-7AD9-4B00-9B31-3C2799A0881E}"/>
              </a:ext>
            </a:extLst>
          </p:cNvPr>
          <p:cNvSpPr>
            <a:spLocks noGrp="1"/>
          </p:cNvSpPr>
          <p:nvPr/>
        </p:nvSpPr>
        <p:spPr>
          <a:xfrm>
            <a:off x="6343650" y="1390650"/>
            <a:ext cx="527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上海继续增加住房支持</a:t>
            </a:r>
          </a:p>
        </p:txBody>
      </p:sp>
      <p:pic>
        <p:nvPicPr>
          <p:cNvPr id="9" name="图片 8" descr="2025年上海市统计公报官网完整句：全年完成零星旧改12万平方米，受益居民4354户。">
            <a:extLst>
              <a:ext uri="{FF2B5EF4-FFF2-40B4-BE49-F238E27FC236}">
                <a16:creationId xmlns:a16="http://schemas.microsoft.com/office/drawing/2014/main" id="{6B8709F6-A6A9-43EE-A56C-0C6BB339D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3650" y="2533650"/>
            <a:ext cx="5276850" cy="327016"/>
          </a:xfrm>
          <a:prstGeom prst="rect">
            <a:avLst/>
          </a:prstGeom>
        </p:spPr>
      </p:pic>
      <p:sp>
        <p:nvSpPr>
          <p:cNvPr id="10" name="text-29">
            <a:extLst>
              <a:ext uri="{FF2B5EF4-FFF2-40B4-BE49-F238E27FC236}">
                <a16:creationId xmlns:a16="http://schemas.microsoft.com/office/drawing/2014/main" id="{7BB33439-215A-4E01-B57E-9AA979A979F2}"/>
              </a:ext>
            </a:extLst>
          </p:cNvPr>
          <p:cNvSpPr>
            <a:spLocks noGrp="1"/>
          </p:cNvSpPr>
          <p:nvPr/>
        </p:nvSpPr>
        <p:spPr>
          <a:xfrm>
            <a:off x="6343650" y="3457575"/>
            <a:ext cx="5276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0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0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7.4 万套（间）</a:t>
            </a:r>
          </a:p>
        </p:txBody>
      </p:sp>
      <p:sp>
        <p:nvSpPr>
          <p:cNvPr id="11" name="text-30">
            <a:extLst>
              <a:ext uri="{FF2B5EF4-FFF2-40B4-BE49-F238E27FC236}">
                <a16:creationId xmlns:a16="http://schemas.microsoft.com/office/drawing/2014/main" id="{BFCACD08-BF33-4D1E-97CD-71BDD5812350}"/>
              </a:ext>
            </a:extLst>
          </p:cNvPr>
          <p:cNvSpPr>
            <a:spLocks noGrp="1"/>
          </p:cNvSpPr>
          <p:nvPr/>
        </p:nvSpPr>
        <p:spPr>
          <a:xfrm>
            <a:off x="6343650" y="4114800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2025年建设筹措保障性租赁住房</a:t>
            </a:r>
          </a:p>
        </p:txBody>
      </p:sp>
      <p:sp>
        <p:nvSpPr>
          <p:cNvPr id="12" name="text-31">
            <a:extLst>
              <a:ext uri="{FF2B5EF4-FFF2-40B4-BE49-F238E27FC236}">
                <a16:creationId xmlns:a16="http://schemas.microsoft.com/office/drawing/2014/main" id="{70F8D481-192C-42AE-AD56-48E2D76724CF}"/>
              </a:ext>
            </a:extLst>
          </p:cNvPr>
          <p:cNvSpPr>
            <a:spLocks noGrp="1"/>
          </p:cNvSpPr>
          <p:nvPr/>
        </p:nvSpPr>
        <p:spPr>
          <a:xfrm>
            <a:off x="6343650" y="4791075"/>
            <a:ext cx="52768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建设者之家床位 3.2 万张</a:t>
            </a:r>
          </a:p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老楼加装电梯 3,295 台</a:t>
            </a:r>
          </a:p>
        </p:txBody>
      </p:sp>
      <p:sp>
        <p:nvSpPr>
          <p:cNvPr id="13" name="text-32">
            <a:extLst>
              <a:ext uri="{FF2B5EF4-FFF2-40B4-BE49-F238E27FC236}">
                <a16:creationId xmlns:a16="http://schemas.microsoft.com/office/drawing/2014/main" id="{1F14E845-A0F5-4F24-B51D-C74ACCC81EF9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自有住房率：上海2020年七普长表家庭户；纽约2023年HVS已入住住房，年份与分母不同。</a:t>
            </a:r>
          </a:p>
        </p:txBody>
      </p:sp>
      <p:sp>
        <p:nvSpPr>
          <p:cNvPr id="15" name="housing-bulletin-source-caption">
            <a:extLst>
              <a:ext uri="{FF2B5EF4-FFF2-40B4-BE49-F238E27FC236}">
                <a16:creationId xmlns:a16="http://schemas.microsoft.com/office/drawing/2014/main" id="{090D71AC-4136-4E91-9EA4-3AED9DB04703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52768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>
              <a:defRPr sz="150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2025 年统计公报</a:t>
            </a:r>
          </a:p>
        </p:txBody>
      </p:sp>
    </p:spTree>
    <p:extLst>
      <p:ext uri="{BB962C8B-B14F-4D97-AF65-F5344CB8AC3E}">
        <p14:creationId xmlns:p14="http://schemas.microsoft.com/office/powerpoint/2010/main" val="983233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265CFB1D-DB2F-4222-B49A-51C69D4EBB7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吃和穿：纽约领先，程度不同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AD155613-0E41-4B3E-9EA8-4DBC8FA5168E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来源：BEA SAPCE（纽约州2025）；上海统计年鉴2025（2024年住户支出）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2FD394D-70CA-4704-A7C2-D14EAB8D470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24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BA56A00-009B-41A8-9AE0-81A5948BDADD}"/>
              </a:ext>
            </a:extLst>
          </p:cNvPr>
          <p:cNvGraphicFramePr/>
          <p:nvPr/>
        </p:nvGraphicFramePr>
        <p:xfrm>
          <a:off x="571500" y="1485900"/>
          <a:ext cx="11049000" cy="2476500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人均年度支出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纽约州（折人民币）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本组判定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吃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1.35 万元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约 6.3 万元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纽约稍胜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穿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1,936 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约 1.31 万元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纽约压倒性胜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-33">
            <a:extLst>
              <a:ext uri="{FF2B5EF4-FFF2-40B4-BE49-F238E27FC236}">
                <a16:creationId xmlns:a16="http://schemas.microsoft.com/office/drawing/2014/main" id="{8E95C942-98F5-433E-AA90-2F4B9F0FAC5A}"/>
              </a:ext>
            </a:extLst>
          </p:cNvPr>
          <p:cNvSpPr>
            <a:spLocks noGrp="1"/>
          </p:cNvSpPr>
          <p:nvPr/>
        </p:nvSpPr>
        <p:spPr>
          <a:xfrm>
            <a:off x="571500" y="4381500"/>
            <a:ext cx="51911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吃：账面约 4.7 倍</a:t>
            </a:r>
          </a:p>
        </p:txBody>
      </p:sp>
      <p:sp>
        <p:nvSpPr>
          <p:cNvPr id="6" name="text-34">
            <a:extLst>
              <a:ext uri="{FF2B5EF4-FFF2-40B4-BE49-F238E27FC236}">
                <a16:creationId xmlns:a16="http://schemas.microsoft.com/office/drawing/2014/main" id="{9CE9FE9F-7684-4EA1-829D-92E1E9589EAE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51911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餐饮价格随工资走，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花钱多不等于吃得好同样多。</a:t>
            </a:r>
          </a:p>
        </p:txBody>
      </p:sp>
      <p:sp>
        <p:nvSpPr>
          <p:cNvPr id="7" name="text-35">
            <a:extLst>
              <a:ext uri="{FF2B5EF4-FFF2-40B4-BE49-F238E27FC236}">
                <a16:creationId xmlns:a16="http://schemas.microsoft.com/office/drawing/2014/main" id="{14E21E6B-6514-47C2-A666-8DCC4E7039EA}"/>
              </a:ext>
            </a:extLst>
          </p:cNvPr>
          <p:cNvSpPr>
            <a:spLocks noGrp="1"/>
          </p:cNvSpPr>
          <p:nvPr/>
        </p:nvSpPr>
        <p:spPr>
          <a:xfrm>
            <a:off x="6343650" y="4381500"/>
            <a:ext cx="52768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穿：接近 7 倍</a:t>
            </a:r>
          </a:p>
        </p:txBody>
      </p:sp>
      <p:sp>
        <p:nvSpPr>
          <p:cNvPr id="8" name="text-36">
            <a:extLst>
              <a:ext uri="{FF2B5EF4-FFF2-40B4-BE49-F238E27FC236}">
                <a16:creationId xmlns:a16="http://schemas.microsoft.com/office/drawing/2014/main" id="{F4F43F1D-D9F7-4492-9FF6-6274EF59F2AD}"/>
              </a:ext>
            </a:extLst>
          </p:cNvPr>
          <p:cNvSpPr>
            <a:spLocks noGrp="1"/>
          </p:cNvSpPr>
          <p:nvPr/>
        </p:nvSpPr>
        <p:spPr>
          <a:xfrm>
            <a:off x="6343650" y="5010150"/>
            <a:ext cx="52768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全球化商品的消费差距，</a:t>
            </a:r>
          </a:p>
          <a:p>
            <a:pPr algn="l">
              <a:defRPr sz="19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比餐饮支出更直接。</a:t>
            </a:r>
          </a:p>
        </p:txBody>
      </p:sp>
      <p:sp>
        <p:nvSpPr>
          <p:cNvPr id="9" name="text-37">
            <a:extLst>
              <a:ext uri="{FF2B5EF4-FFF2-40B4-BE49-F238E27FC236}">
                <a16:creationId xmlns:a16="http://schemas.microsoft.com/office/drawing/2014/main" id="{8E79DFED-E609-4024-9C29-F3C686EA9744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纽约用州级“食品饮料＋餐饮住宿”和服装鞋类，上海为食品烟酒、衣着；汇率6.733。</a:t>
            </a:r>
          </a:p>
        </p:txBody>
      </p:sp>
    </p:spTree>
    <p:extLst>
      <p:ext uri="{BB962C8B-B14F-4D97-AF65-F5344CB8AC3E}">
        <p14:creationId xmlns:p14="http://schemas.microsoft.com/office/powerpoint/2010/main" val="1151689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FC8A0B15-7211-4CCA-BE42-7DFCE0A90BE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行：日常出行，上海压倒性占优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286F8971-FC16-4684-88C2-A5C5CCE49D82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来源：上海地铁票务规则；NYC311、MTA；上海年鉴；纽约都会区消费统计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B8C765F-ACBE-48BB-95A3-C5771FB6382B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25</a:t>
            </a:r>
          </a:p>
        </p:txBody>
      </p:sp>
      <p:sp>
        <p:nvSpPr>
          <p:cNvPr id="4" name="text-38">
            <a:extLst>
              <a:ext uri="{FF2B5EF4-FFF2-40B4-BE49-F238E27FC236}">
                <a16:creationId xmlns:a16="http://schemas.microsoft.com/office/drawing/2014/main" id="{A66938CB-84B2-492A-A69E-98F32AD21FD3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把纽约票价按收入差距折算后，再比较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8121013-BA71-4D93-95E1-120EA383588A}"/>
              </a:ext>
            </a:extLst>
          </p:cNvPr>
          <p:cNvGraphicFramePr/>
          <p:nvPr/>
        </p:nvGraphicFramePr>
        <p:xfrm>
          <a:off x="571500" y="2028825"/>
          <a:ext cx="11049000" cy="22193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票价 / 通勤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纽约（按收入折算）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单次地铁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3–4 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约 7.6 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一周通勤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约 40 元（10趟×4元）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约 89 元（周封顶35美元）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-39">
            <a:extLst>
              <a:ext uri="{FF2B5EF4-FFF2-40B4-BE49-F238E27FC236}">
                <a16:creationId xmlns:a16="http://schemas.microsoft.com/office/drawing/2014/main" id="{F89EF159-8625-4169-B963-B7833DEB867C}"/>
              </a:ext>
            </a:extLst>
          </p:cNvPr>
          <p:cNvSpPr>
            <a:spLocks noGrp="1"/>
          </p:cNvSpPr>
          <p:nvPr/>
        </p:nvSpPr>
        <p:spPr>
          <a:xfrm>
            <a:off x="571500" y="4562475"/>
            <a:ext cx="33337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一日票 18 元</a:t>
            </a:r>
          </a:p>
          <a:p>
            <a:pPr algn="l">
              <a:defRPr sz="24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三日票 45 元</a:t>
            </a:r>
          </a:p>
        </p:txBody>
      </p:sp>
      <p:sp>
        <p:nvSpPr>
          <p:cNvPr id="7" name="text-40">
            <a:extLst>
              <a:ext uri="{FF2B5EF4-FFF2-40B4-BE49-F238E27FC236}">
                <a16:creationId xmlns:a16="http://schemas.microsoft.com/office/drawing/2014/main" id="{CFA80799-84F5-4E8F-AADE-7A9E95854103}"/>
              </a:ext>
            </a:extLst>
          </p:cNvPr>
          <p:cNvSpPr>
            <a:spLocks noGrp="1"/>
          </p:cNvSpPr>
          <p:nvPr/>
        </p:nvSpPr>
        <p:spPr>
          <a:xfrm>
            <a:off x="4476750" y="4562475"/>
            <a:ext cx="400050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消费中的交通负担</a:t>
            </a:r>
          </a:p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上海交通通信 10.6%</a:t>
            </a:r>
          </a:p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纽约都会区交通 14%</a:t>
            </a:r>
          </a:p>
        </p:txBody>
      </p:sp>
      <p:sp>
        <p:nvSpPr>
          <p:cNvPr id="8" name="text-41">
            <a:extLst>
              <a:ext uri="{FF2B5EF4-FFF2-40B4-BE49-F238E27FC236}">
                <a16:creationId xmlns:a16="http://schemas.microsoft.com/office/drawing/2014/main" id="{8DD23383-DD43-4BC6-91BD-05579038DD1D}"/>
              </a:ext>
            </a:extLst>
          </p:cNvPr>
          <p:cNvSpPr>
            <a:spLocks noGrp="1"/>
          </p:cNvSpPr>
          <p:nvPr/>
        </p:nvSpPr>
        <p:spPr>
          <a:xfrm>
            <a:off x="8905875" y="4562475"/>
            <a:ext cx="271462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每人每年乘坐地铁</a:t>
            </a:r>
          </a:p>
          <a:p>
            <a:pPr algn="l">
              <a:defRPr sz="20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两城均约 150 次</a:t>
            </a:r>
          </a:p>
        </p:txBody>
      </p:sp>
      <p:sp>
        <p:nvSpPr>
          <p:cNvPr id="9" name="text-42">
            <a:extLst>
              <a:ext uri="{FF2B5EF4-FFF2-40B4-BE49-F238E27FC236}">
                <a16:creationId xmlns:a16="http://schemas.microsoft.com/office/drawing/2014/main" id="{3A1214BC-824E-481E-965A-2E995B3D63EC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票价按收入差2.65倍折算；支出占比的地域、年份及交通/交通通信分类不同，详见备注。</a:t>
            </a:r>
          </a:p>
        </p:txBody>
      </p:sp>
    </p:spTree>
    <p:extLst>
      <p:ext uri="{BB962C8B-B14F-4D97-AF65-F5344CB8AC3E}">
        <p14:creationId xmlns:p14="http://schemas.microsoft.com/office/powerpoint/2010/main" val="1462578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51D07DCA-1EE1-4542-9F1C-35E40B51022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民生福祉：四项放在一起看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7DE75983-0905-4B9C-824A-31FFABBDBC89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来源：沪卫健委、统计年鉴；NYC DOHMH、NYPD、NYSED、DCLA、公共图书馆系统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6B369C8-527E-41D5-8E00-D41FCE2B4A9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CF60B75-7F77-4C1A-9D7A-5D8569C7A173}"/>
              </a:ext>
            </a:extLst>
          </p:cNvPr>
          <p:cNvGraphicFramePr/>
          <p:nvPr/>
        </p:nvGraphicFramePr>
        <p:xfrm>
          <a:off x="571500" y="1438275"/>
          <a:ext cx="11049000" cy="3962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项目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胜负与程度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医疗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婴儿 2.34‰</a:t>
                      </a:r>
                    </a:p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孕产妇 1.85/10万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婴儿 4.2‰</a:t>
                      </a:r>
                    </a:p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孕产妇约21/10万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上海胜</a:t>
                      </a:r>
                    </a:p>
                    <a:p>
                      <a:r>
                        <a:rPr sz="17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治安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杀人立案 0.19/10万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谋杀 3.6/10万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上海胜</a:t>
                      </a:r>
                    </a:p>
                    <a:p>
                      <a:r>
                        <a:rPr sz="1725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教育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生师比 12.5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生师比 13.2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打平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文化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文化往家门口搬</a:t>
                      </a:r>
                    </a:p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演出、社区生活圈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200余图书馆网点</a:t>
                      </a:r>
                    </a:p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资助1,171家文化机构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纽约胜</a:t>
                      </a:r>
                    </a:p>
                    <a:p>
                      <a:r>
                        <a:rPr sz="1725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-43">
            <a:extLst>
              <a:ext uri="{FF2B5EF4-FFF2-40B4-BE49-F238E27FC236}">
                <a16:creationId xmlns:a16="http://schemas.microsoft.com/office/drawing/2014/main" id="{B9D20F8A-1EEB-48F9-BB89-2F965912B60C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医疗：上海2025；纽约婴儿2023、孕产妇2022（按产后42天折算）；其余口径见备注。</a:t>
            </a:r>
          </a:p>
        </p:txBody>
      </p:sp>
    </p:spTree>
    <p:extLst>
      <p:ext uri="{BB962C8B-B14F-4D97-AF65-F5344CB8AC3E}">
        <p14:creationId xmlns:p14="http://schemas.microsoft.com/office/powerpoint/2010/main" val="1228575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FC5BD58D-D858-4B07-8E80-3E8ABD94E1D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怎么对待最穷的人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D7DCDB0A-3135-476E-B183-9DAECD8FE04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来源：沪民政2026低保通知、2025统计公报；HUD NY-600 2025一夜点数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3C6F902-9491-47B5-BA9D-C8CE0829B03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27</a:t>
            </a:r>
          </a:p>
        </p:txBody>
      </p:sp>
      <p:sp>
        <p:nvSpPr>
          <p:cNvPr id="4" name="text-44">
            <a:extLst>
              <a:ext uri="{FF2B5EF4-FFF2-40B4-BE49-F238E27FC236}">
                <a16:creationId xmlns:a16="http://schemas.microsoft.com/office/drawing/2014/main" id="{26F887C3-3C0C-43E0-9B1D-BB7226768AD0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7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上海：把托底网络铺开</a:t>
            </a:r>
          </a:p>
        </p:txBody>
      </p:sp>
      <p:sp>
        <p:nvSpPr>
          <p:cNvPr id="5" name="text-45">
            <a:extLst>
              <a:ext uri="{FF2B5EF4-FFF2-40B4-BE49-F238E27FC236}">
                <a16:creationId xmlns:a16="http://schemas.microsoft.com/office/drawing/2014/main" id="{0582C89A-2BDD-48B4-802A-FC8125415ABA}"/>
              </a:ext>
            </a:extLst>
          </p:cNvPr>
          <p:cNvSpPr>
            <a:spLocks noGrp="1"/>
          </p:cNvSpPr>
          <p:nvPr/>
        </p:nvSpPr>
        <p:spPr>
          <a:xfrm>
            <a:off x="571500" y="2009775"/>
            <a:ext cx="52197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1,690 元 / 人·月</a:t>
            </a:r>
          </a:p>
        </p:txBody>
      </p:sp>
      <p:sp>
        <p:nvSpPr>
          <p:cNvPr id="6" name="text-46">
            <a:extLst>
              <a:ext uri="{FF2B5EF4-FFF2-40B4-BE49-F238E27FC236}">
                <a16:creationId xmlns:a16="http://schemas.microsoft.com/office/drawing/2014/main" id="{05DDE4C7-8F0C-401F-A3B7-2C7A9CEE3BEE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5219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2026年7月起，城乡统一低保标准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0AB0633-2DFA-4B21-AC5E-215AA369B2EC}"/>
              </a:ext>
            </a:extLst>
          </p:cNvPr>
          <p:cNvGraphicFramePr/>
          <p:nvPr/>
        </p:nvGraphicFramePr>
        <p:xfrm>
          <a:off x="571500" y="3476625"/>
          <a:ext cx="5219700" cy="2114552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日常需要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托底服务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吃饭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2,498个老年助餐点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养老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557个社区为老服务中心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就业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506个家门口就业服务站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47">
            <a:extLst>
              <a:ext uri="{FF2B5EF4-FFF2-40B4-BE49-F238E27FC236}">
                <a16:creationId xmlns:a16="http://schemas.microsoft.com/office/drawing/2014/main" id="{F040D633-EA7D-4FA2-9637-D24942194C0C}"/>
              </a:ext>
            </a:extLst>
          </p:cNvPr>
          <p:cNvSpPr>
            <a:spLocks noGrp="1"/>
          </p:cNvSpPr>
          <p:nvPr/>
        </p:nvSpPr>
        <p:spPr>
          <a:xfrm>
            <a:off x="6343650" y="1390650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7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纽约：住房出口仍然堵塞</a:t>
            </a:r>
          </a:p>
        </p:txBody>
      </p:sp>
      <p:sp>
        <p:nvSpPr>
          <p:cNvPr id="9" name="text-48">
            <a:extLst>
              <a:ext uri="{FF2B5EF4-FFF2-40B4-BE49-F238E27FC236}">
                <a16:creationId xmlns:a16="http://schemas.microsoft.com/office/drawing/2014/main" id="{91A02465-BE47-4D6C-8775-75039BD49D2F}"/>
              </a:ext>
            </a:extLst>
          </p:cNvPr>
          <p:cNvSpPr>
            <a:spLocks noGrp="1"/>
          </p:cNvSpPr>
          <p:nvPr/>
        </p:nvSpPr>
        <p:spPr>
          <a:xfrm>
            <a:off x="6343650" y="2009775"/>
            <a:ext cx="52768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12.6 万人无家可归</a:t>
            </a:r>
          </a:p>
        </p:txBody>
      </p:sp>
      <p:sp>
        <p:nvSpPr>
          <p:cNvPr id="10" name="text-49">
            <a:extLst>
              <a:ext uri="{FF2B5EF4-FFF2-40B4-BE49-F238E27FC236}">
                <a16:creationId xmlns:a16="http://schemas.microsoft.com/office/drawing/2014/main" id="{0996E224-DF01-44E4-9BA5-CFF1E6F83193}"/>
              </a:ext>
            </a:extLst>
          </p:cNvPr>
          <p:cNvSpPr>
            <a:spLocks noGrp="1"/>
          </p:cNvSpPr>
          <p:nvPr/>
        </p:nvSpPr>
        <p:spPr>
          <a:xfrm>
            <a:off x="6343650" y="2714625"/>
            <a:ext cx="5276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其中露宿街头 4,673 人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9ADF98B-3C76-41B1-AA78-6934A0B39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3650" y="3627269"/>
            <a:ext cx="5276850" cy="127337"/>
          </a:xfrm>
          <a:prstGeom prst="rect">
            <a:avLst/>
          </a:prstGeom>
        </p:spPr>
      </p:pic>
      <p:sp>
        <p:nvSpPr>
          <p:cNvPr id="12" name="text-50">
            <a:extLst>
              <a:ext uri="{FF2B5EF4-FFF2-40B4-BE49-F238E27FC236}">
                <a16:creationId xmlns:a16="http://schemas.microsoft.com/office/drawing/2014/main" id="{51B78F47-812C-460D-8845-304FC440EC63}"/>
              </a:ext>
            </a:extLst>
          </p:cNvPr>
          <p:cNvSpPr>
            <a:spLocks noGrp="1"/>
          </p:cNvSpPr>
          <p:nvPr/>
        </p:nvSpPr>
        <p:spPr>
          <a:xfrm>
            <a:off x="6343650" y="4238625"/>
            <a:ext cx="52768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租赁空置率只有 1.4%</a:t>
            </a:r>
          </a:p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收容所的人难以搬入稳定住房</a:t>
            </a:r>
          </a:p>
        </p:txBody>
      </p:sp>
      <p:sp>
        <p:nvSpPr>
          <p:cNvPr id="13" name="text-51">
            <a:extLst>
              <a:ext uri="{FF2B5EF4-FFF2-40B4-BE49-F238E27FC236}">
                <a16:creationId xmlns:a16="http://schemas.microsoft.com/office/drawing/2014/main" id="{ECA27C55-09C2-4E5C-81A8-9CFF83993793}"/>
              </a:ext>
            </a:extLst>
          </p:cNvPr>
          <p:cNvSpPr>
            <a:spLocks noGrp="1"/>
          </p:cNvSpPr>
          <p:nvPr/>
        </p:nvSpPr>
        <p:spPr>
          <a:xfrm>
            <a:off x="6457950" y="53625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本组判定：上海胜，压倒性</a:t>
            </a:r>
          </a:p>
        </p:txBody>
      </p:sp>
      <p:sp>
        <p:nvSpPr>
          <p:cNvPr id="14" name="text-52">
            <a:extLst>
              <a:ext uri="{FF2B5EF4-FFF2-40B4-BE49-F238E27FC236}">
                <a16:creationId xmlns:a16="http://schemas.microsoft.com/office/drawing/2014/main" id="{27546C09-A35F-40E2-97B2-5CC43C3C34FA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纽约是一夜点数，含收容与过渡住房；上海露宿人数未公开，本题结合制度与公布结果判断。</a:t>
            </a:r>
          </a:p>
        </p:txBody>
      </p:sp>
    </p:spTree>
    <p:extLst>
      <p:ext uri="{BB962C8B-B14F-4D97-AF65-F5344CB8AC3E}">
        <p14:creationId xmlns:p14="http://schemas.microsoft.com/office/powerpoint/2010/main" val="672893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8AFF63DF-4AEA-4DE0-AC6C-21350188C79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家门口的公共服务：四类设施分布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FB1DCD14-E5EB-4D7A-A235-D9715FD81E1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来源：上海养老服务平台、公共体育设施地图、上海图书馆；© OpenStreetMap contributors，ODbL；区界DataV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F74C698-3AD8-425E-93CB-94B5A097A177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28</a:t>
            </a:r>
          </a:p>
        </p:txBody>
      </p:sp>
      <p:sp>
        <p:nvSpPr>
          <p:cNvPr id="4" name="text-53">
            <a:extLst>
              <a:ext uri="{FF2B5EF4-FFF2-40B4-BE49-F238E27FC236}">
                <a16:creationId xmlns:a16="http://schemas.microsoft.com/office/drawing/2014/main" id="{4AE3FA6F-A0AE-4533-9AE1-840650A7A9BC}"/>
              </a:ext>
            </a:extLst>
          </p:cNvPr>
          <p:cNvSpPr>
            <a:spLocks noGrp="1"/>
          </p:cNvSpPr>
          <p:nvPr/>
        </p:nvSpPr>
        <p:spPr>
          <a:xfrm>
            <a:off x="571500" y="128587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7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中心七区 · 直线1公里 · OSM已标注居住用地面积覆盖率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2B75F5-3A1B-44A7-B385-C72C0F6E4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2083" y="1752600"/>
            <a:ext cx="1751434" cy="2019300"/>
          </a:xfrm>
          <a:prstGeom prst="rect">
            <a:avLst/>
          </a:prstGeom>
        </p:spPr>
      </p:pic>
      <p:sp>
        <p:nvSpPr>
          <p:cNvPr id="6" name="text-54">
            <a:extLst>
              <a:ext uri="{FF2B5EF4-FFF2-40B4-BE49-F238E27FC236}">
                <a16:creationId xmlns:a16="http://schemas.microsoft.com/office/drawing/2014/main" id="{9F3B3AF1-9AF2-4A50-ADED-EC70B87F3DCF}"/>
              </a:ext>
            </a:extLst>
          </p:cNvPr>
          <p:cNvSpPr>
            <a:spLocks noGrp="1"/>
          </p:cNvSpPr>
          <p:nvPr/>
        </p:nvSpPr>
        <p:spPr>
          <a:xfrm>
            <a:off x="2571750" y="1895475"/>
            <a:ext cx="333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社区长者食堂</a:t>
            </a:r>
          </a:p>
        </p:txBody>
      </p:sp>
      <p:sp>
        <p:nvSpPr>
          <p:cNvPr id="7" name="text-55">
            <a:extLst>
              <a:ext uri="{FF2B5EF4-FFF2-40B4-BE49-F238E27FC236}">
                <a16:creationId xmlns:a16="http://schemas.microsoft.com/office/drawing/2014/main" id="{4808B8E9-E2BC-4B1C-BC2D-5CDA411DCFED}"/>
              </a:ext>
            </a:extLst>
          </p:cNvPr>
          <p:cNvSpPr>
            <a:spLocks noGrp="1"/>
          </p:cNvSpPr>
          <p:nvPr/>
        </p:nvSpPr>
        <p:spPr>
          <a:xfrm>
            <a:off x="2571750" y="2409825"/>
            <a:ext cx="333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87.5%</a:t>
            </a:r>
          </a:p>
        </p:txBody>
      </p:sp>
      <p:sp>
        <p:nvSpPr>
          <p:cNvPr id="8" name="text-56">
            <a:extLst>
              <a:ext uri="{FF2B5EF4-FFF2-40B4-BE49-F238E27FC236}">
                <a16:creationId xmlns:a16="http://schemas.microsoft.com/office/drawing/2014/main" id="{FF8D3F4D-1089-4BAD-B86E-70BD9B8CD1A2}"/>
              </a:ext>
            </a:extLst>
          </p:cNvPr>
          <p:cNvSpPr>
            <a:spLocks noGrp="1"/>
          </p:cNvSpPr>
          <p:nvPr/>
        </p:nvSpPr>
        <p:spPr>
          <a:xfrm>
            <a:off x="2571750" y="31527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公开食堂名录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03EA3B-FA70-437F-87DF-7D1B9B2AF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7083" y="1752600"/>
            <a:ext cx="1751434" cy="2019300"/>
          </a:xfrm>
          <a:prstGeom prst="rect">
            <a:avLst/>
          </a:prstGeom>
        </p:spPr>
      </p:pic>
      <p:sp>
        <p:nvSpPr>
          <p:cNvPr id="10" name="text-57">
            <a:extLst>
              <a:ext uri="{FF2B5EF4-FFF2-40B4-BE49-F238E27FC236}">
                <a16:creationId xmlns:a16="http://schemas.microsoft.com/office/drawing/2014/main" id="{3A5A521D-569A-48F3-9C6A-486BB5AA0359}"/>
              </a:ext>
            </a:extLst>
          </p:cNvPr>
          <p:cNvSpPr>
            <a:spLocks noGrp="1"/>
          </p:cNvSpPr>
          <p:nvPr/>
        </p:nvSpPr>
        <p:spPr>
          <a:xfrm>
            <a:off x="8286750" y="1895475"/>
            <a:ext cx="333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公园类绿地</a:t>
            </a:r>
          </a:p>
        </p:txBody>
      </p:sp>
      <p:sp>
        <p:nvSpPr>
          <p:cNvPr id="11" name="text-58">
            <a:extLst>
              <a:ext uri="{FF2B5EF4-FFF2-40B4-BE49-F238E27FC236}">
                <a16:creationId xmlns:a16="http://schemas.microsoft.com/office/drawing/2014/main" id="{C61E5FAE-AFA8-4928-AACA-C718806FC0A0}"/>
              </a:ext>
            </a:extLst>
          </p:cNvPr>
          <p:cNvSpPr>
            <a:spLocks noGrp="1"/>
          </p:cNvSpPr>
          <p:nvPr/>
        </p:nvSpPr>
        <p:spPr>
          <a:xfrm>
            <a:off x="8286750" y="2409825"/>
            <a:ext cx="333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99.3%</a:t>
            </a:r>
          </a:p>
        </p:txBody>
      </p:sp>
      <p:sp>
        <p:nvSpPr>
          <p:cNvPr id="12" name="text-59">
            <a:extLst>
              <a:ext uri="{FF2B5EF4-FFF2-40B4-BE49-F238E27FC236}">
                <a16:creationId xmlns:a16="http://schemas.microsoft.com/office/drawing/2014/main" id="{D069DDA8-0E10-495E-A314-9A5F2184B80A}"/>
              </a:ext>
            </a:extLst>
          </p:cNvPr>
          <p:cNvSpPr>
            <a:spLocks noGrp="1"/>
          </p:cNvSpPr>
          <p:nvPr/>
        </p:nvSpPr>
        <p:spPr>
          <a:xfrm>
            <a:off x="8286750" y="31527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开放状态待核验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EF6B7B0-6762-4A25-83CD-4BBD2A92C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2083" y="3886200"/>
            <a:ext cx="1751434" cy="2019300"/>
          </a:xfrm>
          <a:prstGeom prst="rect">
            <a:avLst/>
          </a:prstGeom>
        </p:spPr>
      </p:pic>
      <p:sp>
        <p:nvSpPr>
          <p:cNvPr id="14" name="text-60">
            <a:extLst>
              <a:ext uri="{FF2B5EF4-FFF2-40B4-BE49-F238E27FC236}">
                <a16:creationId xmlns:a16="http://schemas.microsoft.com/office/drawing/2014/main" id="{B8168715-9B57-4B56-8F18-DB70A69AAD5E}"/>
              </a:ext>
            </a:extLst>
          </p:cNvPr>
          <p:cNvSpPr>
            <a:spLocks noGrp="1"/>
          </p:cNvSpPr>
          <p:nvPr/>
        </p:nvSpPr>
        <p:spPr>
          <a:xfrm>
            <a:off x="2571750" y="4029075"/>
            <a:ext cx="333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市民健身中心</a:t>
            </a:r>
          </a:p>
        </p:txBody>
      </p:sp>
      <p:sp>
        <p:nvSpPr>
          <p:cNvPr id="15" name="text-61">
            <a:extLst>
              <a:ext uri="{FF2B5EF4-FFF2-40B4-BE49-F238E27FC236}">
                <a16:creationId xmlns:a16="http://schemas.microsoft.com/office/drawing/2014/main" id="{A3D8C8C3-FEB6-4863-BB03-9E07B581BA94}"/>
              </a:ext>
            </a:extLst>
          </p:cNvPr>
          <p:cNvSpPr>
            <a:spLocks noGrp="1"/>
          </p:cNvSpPr>
          <p:nvPr/>
        </p:nvSpPr>
        <p:spPr>
          <a:xfrm>
            <a:off x="2571750" y="4543425"/>
            <a:ext cx="333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64.4%</a:t>
            </a:r>
          </a:p>
        </p:txBody>
      </p:sp>
      <p:sp>
        <p:nvSpPr>
          <p:cNvPr id="16" name="text-62">
            <a:extLst>
              <a:ext uri="{FF2B5EF4-FFF2-40B4-BE49-F238E27FC236}">
                <a16:creationId xmlns:a16="http://schemas.microsoft.com/office/drawing/2014/main" id="{23880241-A3F7-4563-A30B-F18A0DCFE144}"/>
              </a:ext>
            </a:extLst>
          </p:cNvPr>
          <p:cNvSpPr>
            <a:spLocks noGrp="1"/>
          </p:cNvSpPr>
          <p:nvPr/>
        </p:nvSpPr>
        <p:spPr>
          <a:xfrm>
            <a:off x="2571750" y="52863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仅市民健身中心分类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9B66371-701B-46E3-89BD-CE0674C5F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87083" y="3886200"/>
            <a:ext cx="1751434" cy="2019300"/>
          </a:xfrm>
          <a:prstGeom prst="rect">
            <a:avLst/>
          </a:prstGeom>
        </p:spPr>
      </p:pic>
      <p:sp>
        <p:nvSpPr>
          <p:cNvPr id="18" name="text-63">
            <a:extLst>
              <a:ext uri="{FF2B5EF4-FFF2-40B4-BE49-F238E27FC236}">
                <a16:creationId xmlns:a16="http://schemas.microsoft.com/office/drawing/2014/main" id="{380CCE0D-087D-4D0D-A765-67980D5A66F8}"/>
              </a:ext>
            </a:extLst>
          </p:cNvPr>
          <p:cNvSpPr>
            <a:spLocks noGrp="1"/>
          </p:cNvSpPr>
          <p:nvPr/>
        </p:nvSpPr>
        <p:spPr>
          <a:xfrm>
            <a:off x="8286750" y="4029075"/>
            <a:ext cx="333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图书馆服务网点</a:t>
            </a:r>
          </a:p>
        </p:txBody>
      </p:sp>
      <p:sp>
        <p:nvSpPr>
          <p:cNvPr id="19" name="text-64">
            <a:extLst>
              <a:ext uri="{FF2B5EF4-FFF2-40B4-BE49-F238E27FC236}">
                <a16:creationId xmlns:a16="http://schemas.microsoft.com/office/drawing/2014/main" id="{477A2BA1-4B38-43F1-A4B5-BBEF4C621C4A}"/>
              </a:ext>
            </a:extLst>
          </p:cNvPr>
          <p:cNvSpPr>
            <a:spLocks noGrp="1"/>
          </p:cNvSpPr>
          <p:nvPr/>
        </p:nvSpPr>
        <p:spPr>
          <a:xfrm>
            <a:off x="8286750" y="4543425"/>
            <a:ext cx="3333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32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3225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77.0%</a:t>
            </a:r>
          </a:p>
        </p:txBody>
      </p:sp>
      <p:sp>
        <p:nvSpPr>
          <p:cNvPr id="20" name="text-65">
            <a:extLst>
              <a:ext uri="{FF2B5EF4-FFF2-40B4-BE49-F238E27FC236}">
                <a16:creationId xmlns:a16="http://schemas.microsoft.com/office/drawing/2014/main" id="{AD3E9818-8F40-4AF9-A30E-1BB34C966B09}"/>
              </a:ext>
            </a:extLst>
          </p:cNvPr>
          <p:cNvSpPr>
            <a:spLocks noGrp="1"/>
          </p:cNvSpPr>
          <p:nvPr/>
        </p:nvSpPr>
        <p:spPr>
          <a:xfrm>
            <a:off x="8286750" y="52863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650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含分馆和自助借还网点</a:t>
            </a:r>
          </a:p>
        </p:txBody>
      </p:sp>
      <p:sp>
        <p:nvSpPr>
          <p:cNvPr id="21" name="text-66">
            <a:extLst>
              <a:ext uri="{FF2B5EF4-FFF2-40B4-BE49-F238E27FC236}">
                <a16:creationId xmlns:a16="http://schemas.microsoft.com/office/drawing/2014/main" id="{BD0AED05-6D29-4977-9D51-94A09E21D55A}"/>
              </a:ext>
            </a:extLst>
          </p:cNvPr>
          <p:cNvSpPr>
            <a:spLocks noGrp="1"/>
          </p:cNvSpPr>
          <p:nvPr/>
        </p:nvSpPr>
        <p:spPr>
          <a:xfrm>
            <a:off x="571500" y="593407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青绿：1公里内居住用地　橙：1公里外　绿：绿地　深色点：设施；非官方步行可达率。</a:t>
            </a:r>
          </a:p>
        </p:txBody>
      </p:sp>
    </p:spTree>
    <p:extLst>
      <p:ext uri="{BB962C8B-B14F-4D97-AF65-F5344CB8AC3E}">
        <p14:creationId xmlns:p14="http://schemas.microsoft.com/office/powerpoint/2010/main" val="709453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34EE9624-C2B0-4F6A-8CFD-C36619B63ED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办事更方便，建设也让居民参与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52EE88E0-4D27-4855-A3A3-0ACEAF8F4068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来源：上海2025统计公报；沪规划资源局，泰山人民坊案例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F55B5AF-620D-462B-B5F7-D5E24B0C77E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29</a:t>
            </a:r>
          </a:p>
        </p:txBody>
      </p:sp>
      <p:sp>
        <p:nvSpPr>
          <p:cNvPr id="4" name="text-67">
            <a:extLst>
              <a:ext uri="{FF2B5EF4-FFF2-40B4-BE49-F238E27FC236}">
                <a16:creationId xmlns:a16="http://schemas.microsoft.com/office/drawing/2014/main" id="{F3A6BD49-2F90-4169-B33E-78A011AF943C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一网通办</a:t>
            </a:r>
          </a:p>
        </p:txBody>
      </p:sp>
      <p:sp>
        <p:nvSpPr>
          <p:cNvPr id="5" name="text-68">
            <a:extLst>
              <a:ext uri="{FF2B5EF4-FFF2-40B4-BE49-F238E27FC236}">
                <a16:creationId xmlns:a16="http://schemas.microsoft.com/office/drawing/2014/main" id="{FC50B588-517A-4618-8241-803D24E550EF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泰山人民坊</a:t>
            </a:r>
          </a:p>
        </p:txBody>
      </p:sp>
      <p:sp>
        <p:nvSpPr>
          <p:cNvPr id="6" name="text-69">
            <a:extLst>
              <a:ext uri="{FF2B5EF4-FFF2-40B4-BE49-F238E27FC236}">
                <a16:creationId xmlns:a16="http://schemas.microsoft.com/office/drawing/2014/main" id="{12DCA506-921A-4431-9C29-1E0C6FCBD53E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521970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8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3,827 项服务</a:t>
            </a:r>
          </a:p>
          <a:p>
            <a:pPr algn="l">
              <a:defRPr sz="2850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850" b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实际网办率 89.53%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8597AB-2DB4-4DEA-911B-B892F4CD5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3711665"/>
            <a:ext cx="5219700" cy="720546"/>
          </a:xfrm>
          <a:prstGeom prst="rect">
            <a:avLst/>
          </a:prstGeom>
        </p:spPr>
      </p:pic>
      <p:sp>
        <p:nvSpPr>
          <p:cNvPr id="8" name="text-70">
            <a:extLst>
              <a:ext uri="{FF2B5EF4-FFF2-40B4-BE49-F238E27FC236}">
                <a16:creationId xmlns:a16="http://schemas.microsoft.com/office/drawing/2014/main" id="{A09780C2-5AA9-409D-A8E6-4300CA216850}"/>
              </a:ext>
            </a:extLst>
          </p:cNvPr>
          <p:cNvSpPr>
            <a:spLocks noGrp="1"/>
          </p:cNvSpPr>
          <p:nvPr/>
        </p:nvSpPr>
        <p:spPr>
          <a:xfrm>
            <a:off x="571500" y="4972050"/>
            <a:ext cx="52197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少跑线下窗口，</a:t>
            </a:r>
          </a:p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日常办事更方便。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B363867-82BD-4510-B2F6-70642F626B85}"/>
              </a:ext>
            </a:extLst>
          </p:cNvPr>
          <p:cNvGraphicFramePr/>
          <p:nvPr/>
        </p:nvGraphicFramePr>
        <p:xfrm>
          <a:off x="6343650" y="2095500"/>
          <a:ext cx="5276850" cy="2428876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阶段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居民如何参与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建设前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座谈、问卷提出需要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方案中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开展专题论证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建成后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居民参加评议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6C82A162-85FA-4249-83AE-22018F2CF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3650" y="5165797"/>
            <a:ext cx="5276850" cy="231631"/>
          </a:xfrm>
          <a:prstGeom prst="rect">
            <a:avLst/>
          </a:prstGeom>
        </p:spPr>
      </p:pic>
      <p:sp>
        <p:nvSpPr>
          <p:cNvPr id="11" name="text-71">
            <a:extLst>
              <a:ext uri="{FF2B5EF4-FFF2-40B4-BE49-F238E27FC236}">
                <a16:creationId xmlns:a16="http://schemas.microsoft.com/office/drawing/2014/main" id="{DDCD087A-A62E-4A0B-BC36-4071E0D958F7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4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4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实际网办率与“全程可网办事项比例”是不同指标；居民参与贯穿需求、方案和使用评价。</a:t>
            </a:r>
          </a:p>
        </p:txBody>
      </p:sp>
    </p:spTree>
    <p:extLst>
      <p:ext uri="{BB962C8B-B14F-4D97-AF65-F5344CB8AC3E}">
        <p14:creationId xmlns:p14="http://schemas.microsoft.com/office/powerpoint/2010/main" val="299541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5D26D828-367B-4FD0-97AB-643F8874A23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纽约同学访谈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CA20E7D7-F82D-4616-BD4A-77B60114346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 dirty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来源：2026年10月10日微信</a:t>
            </a:r>
            <a:r>
              <a:rPr lang="zh-CN" altLang="en-US" sz="1125" b="0" dirty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聊天记录</a:t>
            </a:r>
            <a:r>
              <a:rPr sz="1125" b="0" dirty="0" err="1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访谈与文字整理</a:t>
            </a:r>
            <a:r>
              <a:rPr sz="1125" b="0" dirty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；</a:t>
            </a:r>
            <a:r>
              <a:rPr lang="zh-CN" altLang="en-US" sz="1125" b="0" dirty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截图展示部分访谈原文，其余部分作为资料上传；</a:t>
            </a:r>
            <a:endParaRPr lang="en-US" altLang="zh-CN" sz="1125" b="0" dirty="0">
              <a:solidFill>
                <a:srgbClr val="74665F"/>
              </a:solidFill>
              <a:latin typeface="DengXian"/>
              <a:ea typeface="DengXian"/>
              <a:cs typeface="DengXian"/>
            </a:endParaRPr>
          </a:p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 dirty="0" err="1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个人经历用于补充理解</a:t>
            </a:r>
            <a:endParaRPr sz="1125" b="0" dirty="0">
              <a:solidFill>
                <a:srgbClr val="74665F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5E7C09A-2B1F-4661-9800-E2CF4A39311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30</a:t>
            </a:r>
          </a:p>
        </p:txBody>
      </p:sp>
      <p:sp>
        <p:nvSpPr>
          <p:cNvPr id="4" name="text-72">
            <a:extLst>
              <a:ext uri="{FF2B5EF4-FFF2-40B4-BE49-F238E27FC236}">
                <a16:creationId xmlns:a16="http://schemas.microsoft.com/office/drawing/2014/main" id="{BD136126-DC1D-4074-B7DF-1B03FA9F76CD}"/>
              </a:ext>
            </a:extLst>
          </p:cNvPr>
          <p:cNvSpPr>
            <a:spLocks noGrp="1"/>
          </p:cNvSpPr>
          <p:nvPr/>
        </p:nvSpPr>
        <p:spPr>
          <a:xfrm>
            <a:off x="571500" y="1419225"/>
            <a:ext cx="52578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“</a:t>
            </a:r>
            <a:r>
              <a:rPr sz="1950" b="1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租金与收入较为匹配，但是租金</a:t>
            </a:r>
            <a:endParaRPr sz="1950" b="1" dirty="0">
              <a:solidFill>
                <a:srgbClr val="342C29"/>
              </a:solidFill>
              <a:latin typeface="DengXian"/>
              <a:ea typeface="DengXian"/>
              <a:cs typeface="DengXian"/>
            </a:endParaRP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明显高于其他城市</a:t>
            </a:r>
            <a:r>
              <a:rPr sz="1950" b="1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保障性住房很难获得</a:t>
            </a:r>
            <a:r>
              <a:rPr sz="1950" b="1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。”</a:t>
            </a:r>
          </a:p>
        </p:txBody>
      </p:sp>
      <p:sp>
        <p:nvSpPr>
          <p:cNvPr id="5" name="text-73">
            <a:extLst>
              <a:ext uri="{FF2B5EF4-FFF2-40B4-BE49-F238E27FC236}">
                <a16:creationId xmlns:a16="http://schemas.microsoft.com/office/drawing/2014/main" id="{0363D50F-647A-4243-A87F-54A457E3FD64}"/>
              </a:ext>
            </a:extLst>
          </p:cNvPr>
          <p:cNvSpPr>
            <a:spLocks noGrp="1"/>
          </p:cNvSpPr>
          <p:nvPr/>
        </p:nvSpPr>
        <p:spPr>
          <a:xfrm>
            <a:off x="571500" y="2695575"/>
            <a:ext cx="52578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“通勤时间和租房水平直接挂钩，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公交接驳也较多。”</a:t>
            </a:r>
          </a:p>
        </p:txBody>
      </p:sp>
      <p:sp>
        <p:nvSpPr>
          <p:cNvPr id="6" name="text-74">
            <a:extLst>
              <a:ext uri="{FF2B5EF4-FFF2-40B4-BE49-F238E27FC236}">
                <a16:creationId xmlns:a16="http://schemas.microsoft.com/office/drawing/2014/main" id="{9F645743-2E39-4F54-ACEB-ECF782025D49}"/>
              </a:ext>
            </a:extLst>
          </p:cNvPr>
          <p:cNvSpPr>
            <a:spLocks noGrp="1"/>
          </p:cNvSpPr>
          <p:nvPr/>
        </p:nvSpPr>
        <p:spPr>
          <a:xfrm>
            <a:off x="571500" y="3724275"/>
            <a:ext cx="52578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“低成本活动空间非常非常多，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这座城市有很多公园”</a:t>
            </a:r>
          </a:p>
        </p:txBody>
      </p:sp>
      <p:sp>
        <p:nvSpPr>
          <p:cNvPr id="7" name="text-75">
            <a:extLst>
              <a:ext uri="{FF2B5EF4-FFF2-40B4-BE49-F238E27FC236}">
                <a16:creationId xmlns:a16="http://schemas.microsoft.com/office/drawing/2014/main" id="{2AAA265F-7D32-44DD-8B4E-A60BAA623B98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52578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“突发事件中自己的基本生活保障，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也依靠自己是否有储蓄，</a:t>
            </a:r>
          </a:p>
          <a:p>
            <a:pPr algn="l">
              <a:defRPr sz="19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或者高额的商业保险。”</a:t>
            </a:r>
          </a:p>
        </p:txBody>
      </p:sp>
      <p:sp>
        <p:nvSpPr>
          <p:cNvPr id="8" name="text-76">
            <a:extLst>
              <a:ext uri="{FF2B5EF4-FFF2-40B4-BE49-F238E27FC236}">
                <a16:creationId xmlns:a16="http://schemas.microsoft.com/office/drawing/2014/main" id="{49D0710A-2E2E-47C4-93CD-42E164FB6970}"/>
              </a:ext>
            </a:extLst>
          </p:cNvPr>
          <p:cNvSpPr>
            <a:spLocks noGrp="1"/>
          </p:cNvSpPr>
          <p:nvPr/>
        </p:nvSpPr>
        <p:spPr>
          <a:xfrm>
            <a:off x="4775730" y="1389696"/>
            <a:ext cx="5257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025" b="1" dirty="0" err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基础保障：住房与通勤</a:t>
            </a:r>
            <a:endParaRPr sz="2025" b="1" dirty="0">
              <a:solidFill>
                <a:srgbClr val="8F3E35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9" name="text-77">
            <a:extLst>
              <a:ext uri="{FF2B5EF4-FFF2-40B4-BE49-F238E27FC236}">
                <a16:creationId xmlns:a16="http://schemas.microsoft.com/office/drawing/2014/main" id="{B371C882-F514-41F9-86AD-FDD9167C306C}"/>
              </a:ext>
            </a:extLst>
          </p:cNvPr>
          <p:cNvSpPr>
            <a:spLocks noGrp="1"/>
          </p:cNvSpPr>
          <p:nvPr/>
        </p:nvSpPr>
        <p:spPr>
          <a:xfrm>
            <a:off x="4775730" y="1910714"/>
            <a:ext cx="393393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租金与收入较匹配，但房租高、保障房难获</a:t>
            </a:r>
            <a:r>
              <a:rPr lang="zh-CN" altLang="en-US"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得。</a:t>
            </a: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通勤时间与租房选择相连，公交接驳较多。夜间交通活跃，出行仍有安全顾虑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。</a:t>
            </a:r>
          </a:p>
        </p:txBody>
      </p:sp>
      <p:sp>
        <p:nvSpPr>
          <p:cNvPr id="10" name="text-78">
            <a:extLst>
              <a:ext uri="{FF2B5EF4-FFF2-40B4-BE49-F238E27FC236}">
                <a16:creationId xmlns:a16="http://schemas.microsoft.com/office/drawing/2014/main" id="{029BDBB0-DCB3-4B60-A5CA-2AC3EA74166C}"/>
              </a:ext>
            </a:extLst>
          </p:cNvPr>
          <p:cNvSpPr>
            <a:spLocks noGrp="1"/>
          </p:cNvSpPr>
          <p:nvPr/>
        </p:nvSpPr>
        <p:spPr>
          <a:xfrm>
            <a:off x="4775730" y="3223735"/>
            <a:ext cx="5257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025" b="1" dirty="0" err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民生福祉：日常公共服务</a:t>
            </a:r>
            <a:endParaRPr sz="2025" b="1" dirty="0">
              <a:solidFill>
                <a:srgbClr val="8F3E35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11" name="text-79">
            <a:extLst>
              <a:ext uri="{FF2B5EF4-FFF2-40B4-BE49-F238E27FC236}">
                <a16:creationId xmlns:a16="http://schemas.microsoft.com/office/drawing/2014/main" id="{A54568A9-7611-4FBE-950D-CD6CACF05261}"/>
              </a:ext>
            </a:extLst>
          </p:cNvPr>
          <p:cNvSpPr>
            <a:spLocks noGrp="1"/>
          </p:cNvSpPr>
          <p:nvPr/>
        </p:nvSpPr>
        <p:spPr>
          <a:xfrm>
            <a:off x="4775730" y="3597116"/>
            <a:ext cx="52578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公园、图书馆和低成本休闲空间丰富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，</a:t>
            </a:r>
          </a:p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多靠地铁或开车到达。心理咨询选择较多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，</a:t>
            </a:r>
          </a:p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配药、康复和慢病管理的体验相对不便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。</a:t>
            </a:r>
          </a:p>
        </p:txBody>
      </p:sp>
      <p:sp>
        <p:nvSpPr>
          <p:cNvPr id="12" name="text-80">
            <a:extLst>
              <a:ext uri="{FF2B5EF4-FFF2-40B4-BE49-F238E27FC236}">
                <a16:creationId xmlns:a16="http://schemas.microsoft.com/office/drawing/2014/main" id="{351BB363-3238-4C80-8302-29D3FF04C1F1}"/>
              </a:ext>
            </a:extLst>
          </p:cNvPr>
          <p:cNvSpPr>
            <a:spLocks noGrp="1"/>
          </p:cNvSpPr>
          <p:nvPr/>
        </p:nvSpPr>
        <p:spPr>
          <a:xfrm>
            <a:off x="4775730" y="4642009"/>
            <a:ext cx="5257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025" b="1">
                <a:solidFill>
                  <a:srgbClr val="8F3E35"/>
                </a:solidFill>
                <a:latin typeface="DengXian"/>
                <a:ea typeface="DengXian"/>
                <a:cs typeface="DengXian"/>
              </a:defRPr>
            </a:pPr>
            <a:r>
              <a:rPr sz="2025" b="1" dirty="0" err="1">
                <a:solidFill>
                  <a:srgbClr val="8F3E35"/>
                </a:solidFill>
                <a:latin typeface="DengXian"/>
                <a:ea typeface="DengXian"/>
                <a:cs typeface="DengXian"/>
              </a:rPr>
              <a:t>底层关怀：照护与应急</a:t>
            </a:r>
            <a:endParaRPr sz="2025" b="1" dirty="0">
              <a:solidFill>
                <a:srgbClr val="8F3E35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13" name="text-81">
            <a:extLst>
              <a:ext uri="{FF2B5EF4-FFF2-40B4-BE49-F238E27FC236}">
                <a16:creationId xmlns:a16="http://schemas.microsoft.com/office/drawing/2014/main" id="{A2762DD1-2A47-4FE1-B284-2586D67C8987}"/>
              </a:ext>
            </a:extLst>
          </p:cNvPr>
          <p:cNvSpPr>
            <a:spLocks noGrp="1"/>
          </p:cNvSpPr>
          <p:nvPr/>
        </p:nvSpPr>
        <p:spPr>
          <a:xfrm>
            <a:off x="4775730" y="5143500"/>
            <a:ext cx="52578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无障碍设施与助残条件较好，居家养老</a:t>
            </a:r>
            <a:endParaRPr sz="1725" b="0" dirty="0">
              <a:solidFill>
                <a:srgbClr val="342C29"/>
              </a:solidFill>
              <a:latin typeface="DengXian"/>
              <a:ea typeface="DengXian"/>
              <a:cs typeface="DengXian"/>
            </a:endParaRPr>
          </a:p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仍有费用压力。突发事件中的生活保障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，</a:t>
            </a:r>
          </a:p>
          <a:p>
            <a:pPr algn="l">
              <a:defRPr sz="172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725" b="0" dirty="0" err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还依靠个人储蓄或商业保险</a:t>
            </a:r>
            <a:r>
              <a:rPr sz="1725" b="0" dirty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140839F-1AB0-C5F4-6B51-6CDDD16BF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9001" y="100584"/>
            <a:ext cx="3272999" cy="661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14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0BC4CE01-D2DB-47DB-A624-ED070D98608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九道题，逐题看胜负和程度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C435B868-EF4E-40A3-A0C4-387720077C9B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本组基于前述指标的判定；各题差距不同，分别呈现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F250B67-1AA6-4DF3-9BCF-19E28CD1E4EB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31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66B9A4D-6050-4F55-BCC4-AE9299DEAD75}"/>
              </a:ext>
            </a:extLst>
          </p:cNvPr>
          <p:cNvGraphicFramePr/>
          <p:nvPr/>
        </p:nvGraphicFramePr>
        <p:xfrm>
          <a:off x="571500" y="1381125"/>
          <a:ext cx="11049000" cy="4305300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5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层次</a:t>
                      </a:r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题目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胜方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程度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主要依据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基础保障</a:t>
                      </a:r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住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自有住房率 59.0% 对 32.3%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吃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稍胜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消费较高，价格因素缩小实际差距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穿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人均衣着支出接近上海7倍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行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按收入折算的票价约为纽约一半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民生福祉</a:t>
                      </a:r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医疗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婴儿、孕产妇死亡率更低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治安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严重案件发生率相差一个数量级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教育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打平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—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生师比 12.5 对 13.2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endParaRPr/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文化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明显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图书馆网络、公共文化资助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底层关怀</a:t>
                      </a:r>
                    </a:p>
                  </a:txBody>
                  <a:tcPr marL="133350" marR="114300" marT="47625" marB="47625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对待底层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压倒性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托底服务与纽约无家可归结果</a:t>
                      </a:r>
                    </a:p>
                  </a:txBody>
                  <a:tcPr marL="133350" marR="114300" marT="47625" marB="47625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-82">
            <a:extLst>
              <a:ext uri="{FF2B5EF4-FFF2-40B4-BE49-F238E27FC236}">
                <a16:creationId xmlns:a16="http://schemas.microsoft.com/office/drawing/2014/main" id="{D6E8600A-AE81-4AC3-A339-6985CCF8F8A8}"/>
              </a:ext>
            </a:extLst>
          </p:cNvPr>
          <p:cNvSpPr>
            <a:spLocks noGrp="1"/>
          </p:cNvSpPr>
          <p:nvPr/>
        </p:nvSpPr>
        <p:spPr>
          <a:xfrm>
            <a:off x="571500" y="587692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0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每题都作判断，差距大小分别保留；不把九题加成一个总分。</a:t>
            </a:r>
          </a:p>
        </p:txBody>
      </p:sp>
    </p:spTree>
    <p:extLst>
      <p:ext uri="{BB962C8B-B14F-4D97-AF65-F5344CB8AC3E}">
        <p14:creationId xmlns:p14="http://schemas.microsoft.com/office/powerpoint/2010/main" val="300191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616A3BCE-EF2E-43E8-A744-F4174B9F71D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纽约能叫人民城市吗？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05EB556F-3B37-4ABA-80B2-89CFCDE9ADD9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结论限于上海与纽约两座城市，不扩大为两个国家的整体比较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E943AD8-4104-41B2-8307-832073333A33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32</a:t>
            </a:r>
          </a:p>
        </p:txBody>
      </p:sp>
      <p:sp>
        <p:nvSpPr>
          <p:cNvPr id="4" name="text-83">
            <a:extLst>
              <a:ext uri="{FF2B5EF4-FFF2-40B4-BE49-F238E27FC236}">
                <a16:creationId xmlns:a16="http://schemas.microsoft.com/office/drawing/2014/main" id="{66935667-B5B8-4BF5-A357-5B1815E243DC}"/>
              </a:ext>
            </a:extLst>
          </p:cNvPr>
          <p:cNvSpPr>
            <a:spLocks noGrp="1"/>
          </p:cNvSpPr>
          <p:nvPr/>
        </p:nvSpPr>
        <p:spPr>
          <a:xfrm>
            <a:off x="571500" y="1419225"/>
            <a:ext cx="5219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75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纽约有一部分答案</a:t>
            </a:r>
          </a:p>
        </p:txBody>
      </p:sp>
      <p:sp>
        <p:nvSpPr>
          <p:cNvPr id="5" name="text-84">
            <a:extLst>
              <a:ext uri="{FF2B5EF4-FFF2-40B4-BE49-F238E27FC236}">
                <a16:creationId xmlns:a16="http://schemas.microsoft.com/office/drawing/2014/main" id="{49032BA4-C783-4804-B446-400BA331710E}"/>
              </a:ext>
            </a:extLst>
          </p:cNvPr>
          <p:cNvSpPr>
            <a:spLocks noGrp="1"/>
          </p:cNvSpPr>
          <p:nvPr/>
        </p:nvSpPr>
        <p:spPr>
          <a:xfrm>
            <a:off x="571500" y="2171700"/>
            <a:ext cx="521970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75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吃穿用度</a:t>
            </a:r>
          </a:p>
          <a:p>
            <a:pPr algn="l">
              <a:defRPr sz="24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75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公共文化</a:t>
            </a:r>
          </a:p>
          <a:p>
            <a:pPr algn="l">
              <a:defRPr sz="24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75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数据公开</a:t>
            </a:r>
          </a:p>
        </p:txBody>
      </p:sp>
      <p:sp>
        <p:nvSpPr>
          <p:cNvPr id="6" name="text-85">
            <a:extLst>
              <a:ext uri="{FF2B5EF4-FFF2-40B4-BE49-F238E27FC236}">
                <a16:creationId xmlns:a16="http://schemas.microsoft.com/office/drawing/2014/main" id="{9600993A-3F02-48AC-AB42-D7CA889FD4E8}"/>
              </a:ext>
            </a:extLst>
          </p:cNvPr>
          <p:cNvSpPr>
            <a:spLocks noGrp="1"/>
          </p:cNvSpPr>
          <p:nvPr/>
        </p:nvSpPr>
        <p:spPr>
          <a:xfrm>
            <a:off x="571500" y="4305300"/>
            <a:ext cx="5219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但最底层的人仍未被托住，</a:t>
            </a:r>
          </a:p>
          <a:p>
            <a: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这张答卷还不算及格。</a:t>
            </a:r>
          </a:p>
        </p:txBody>
      </p:sp>
      <p:sp>
        <p:nvSpPr>
          <p:cNvPr id="7" name="text-86">
            <a:extLst>
              <a:ext uri="{FF2B5EF4-FFF2-40B4-BE49-F238E27FC236}">
                <a16:creationId xmlns:a16="http://schemas.microsoft.com/office/drawing/2014/main" id="{8A26FD44-79D4-459B-ADE9-B857E3702C66}"/>
              </a:ext>
            </a:extLst>
          </p:cNvPr>
          <p:cNvSpPr>
            <a:spLocks noGrp="1"/>
          </p:cNvSpPr>
          <p:nvPr/>
        </p:nvSpPr>
        <p:spPr>
          <a:xfrm>
            <a:off x="6343650" y="1419225"/>
            <a:ext cx="52768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75" b="1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上海答得更完整</a:t>
            </a:r>
          </a:p>
        </p:txBody>
      </p:sp>
      <p:sp>
        <p:nvSpPr>
          <p:cNvPr id="8" name="text-87">
            <a:extLst>
              <a:ext uri="{FF2B5EF4-FFF2-40B4-BE49-F238E27FC236}">
                <a16:creationId xmlns:a16="http://schemas.microsoft.com/office/drawing/2014/main" id="{37E407B5-C569-49DD-AF7A-5BA79B3E7FAD}"/>
              </a:ext>
            </a:extLst>
          </p:cNvPr>
          <p:cNvSpPr>
            <a:spLocks noGrp="1"/>
          </p:cNvSpPr>
          <p:nvPr/>
        </p:nvSpPr>
        <p:spPr>
          <a:xfrm>
            <a:off x="6343650" y="2171700"/>
            <a:ext cx="527685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住房、出行、医疗、治安</a:t>
            </a:r>
          </a:p>
          <a:p>
            <a: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与托底服务，都回应了</a:t>
            </a:r>
          </a:p>
          <a:p>
            <a:pPr algn="l">
              <a:defRPr sz="2250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普通人的具体需要。</a:t>
            </a:r>
          </a:p>
        </p:txBody>
      </p:sp>
      <p:sp>
        <p:nvSpPr>
          <p:cNvPr id="9" name="text-88">
            <a:extLst>
              <a:ext uri="{FF2B5EF4-FFF2-40B4-BE49-F238E27FC236}">
                <a16:creationId xmlns:a16="http://schemas.microsoft.com/office/drawing/2014/main" id="{4A6C611F-750E-4D21-9998-860216F11D81}"/>
              </a:ext>
            </a:extLst>
          </p:cNvPr>
          <p:cNvSpPr>
            <a:spLocks noGrp="1"/>
          </p:cNvSpPr>
          <p:nvPr/>
        </p:nvSpPr>
        <p:spPr>
          <a:xfrm>
            <a:off x="6343650" y="4305300"/>
            <a:ext cx="527685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数据公开这一题，</a:t>
            </a:r>
          </a:p>
          <a:p>
            <a:pPr algn="l">
              <a:defRPr sz="2400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上海还得补。</a:t>
            </a:r>
          </a:p>
        </p:txBody>
      </p:sp>
      <p:sp>
        <p:nvSpPr>
          <p:cNvPr id="10" name="text-89">
            <a:extLst>
              <a:ext uri="{FF2B5EF4-FFF2-40B4-BE49-F238E27FC236}">
                <a16:creationId xmlns:a16="http://schemas.microsoft.com/office/drawing/2014/main" id="{41C7EF19-C434-4A6B-AF46-21D352532C14}"/>
              </a:ext>
            </a:extLst>
          </p:cNvPr>
          <p:cNvSpPr>
            <a:spLocks noGrp="1"/>
          </p:cNvSpPr>
          <p:nvPr/>
        </p:nvSpPr>
        <p:spPr>
          <a:xfrm>
            <a:off x="714375" y="5686425"/>
            <a:ext cx="10763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1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两城已能放在同一张考卷上比，而且有输有赢，这本身就是进步。</a:t>
            </a:r>
          </a:p>
        </p:txBody>
      </p:sp>
    </p:spTree>
    <p:extLst>
      <p:ext uri="{BB962C8B-B14F-4D97-AF65-F5344CB8AC3E}">
        <p14:creationId xmlns:p14="http://schemas.microsoft.com/office/powerpoint/2010/main" val="138156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178D4BBC-9EC5-4BEF-B87D-ACF04E42F9B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数据透明：上海还需要补上什么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26A38415-1536-43D1-9DE2-845C2C254AE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来源：上海公共数据开放平台、统计年鉴与卫健委栏目；截至本次项目资料检索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E105608-9AD4-46C4-91D6-99B39047382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33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4E1390A-25A9-4D4E-BC09-8EB4CD347B36}"/>
              </a:ext>
            </a:extLst>
          </p:cNvPr>
          <p:cNvGraphicFramePr/>
          <p:nvPr/>
        </p:nvGraphicFramePr>
        <p:xfrm>
          <a:off x="571500" y="1438275"/>
          <a:ext cx="11049000" cy="319087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关心的问题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本次查到的公开情况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影响什么判断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公厕有多少、在哪里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数据集有条件开放，明细需申请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设施能否就近使用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租房负担有多重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缺少官方市场租金统计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住房政策是否减轻负担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还有多少人露宿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人数没有公开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托底制度还漏了谁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居民是否更健康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户籍人口期望寿命停在2022年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医疗和健康变化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C77A10B9-8DA2-4C2B-B8A8-C18A6EA82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676" y="4972050"/>
            <a:ext cx="3351848" cy="6572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513DAA-81C2-4977-A69B-7D4247336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00650" y="4979233"/>
            <a:ext cx="6419850" cy="671434"/>
          </a:xfrm>
          <a:prstGeom prst="rect">
            <a:avLst/>
          </a:prstGeom>
        </p:spPr>
      </p:pic>
      <p:sp>
        <p:nvSpPr>
          <p:cNvPr id="7" name="text-90">
            <a:extLst>
              <a:ext uri="{FF2B5EF4-FFF2-40B4-BE49-F238E27FC236}">
                <a16:creationId xmlns:a16="http://schemas.microsoft.com/office/drawing/2014/main" id="{2AA85B67-22DE-4B16-927B-092DA3693C65}"/>
              </a:ext>
            </a:extLst>
          </p:cNvPr>
          <p:cNvSpPr>
            <a:spLocks noGrp="1"/>
          </p:cNvSpPr>
          <p:nvPr/>
        </p:nvSpPr>
        <p:spPr>
          <a:xfrm>
            <a:off x="571500" y="5838825"/>
            <a:ext cx="1104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办事便利之外，也要让市民查得到城市运行的结果。</a:t>
            </a:r>
          </a:p>
        </p:txBody>
      </p:sp>
    </p:spTree>
    <p:extLst>
      <p:ext uri="{BB962C8B-B14F-4D97-AF65-F5344CB8AC3E}">
        <p14:creationId xmlns:p14="http://schemas.microsoft.com/office/powerpoint/2010/main" val="17980594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E886B77B-B4DE-4E67-9D0C-549CD29695B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人民城市人民建，也要让人民看得清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6A35E5B9-C2D4-4FA6-A009-2C5E0FA509CC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来源：NYC Open Data Law（2012）；DHS Daily Report；上海公报、开放平台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34D8E99-C81F-421F-9261-52B1BB7ADE3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34</a:t>
            </a:r>
          </a:p>
        </p:txBody>
      </p:sp>
      <p:sp>
        <p:nvSpPr>
          <p:cNvPr id="4" name="text-91">
            <a:extLst>
              <a:ext uri="{FF2B5EF4-FFF2-40B4-BE49-F238E27FC236}">
                <a16:creationId xmlns:a16="http://schemas.microsoft.com/office/drawing/2014/main" id="{EE90EC1B-7F8C-4B3B-A7A8-E94E45B7315B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6477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550" b="1">
                <a:solidFill>
                  <a:srgbClr val="496B63"/>
                </a:solidFill>
                <a:latin typeface="DengXian"/>
                <a:ea typeface="DengXian"/>
                <a:cs typeface="DengXian"/>
              </a:defRPr>
            </a:pPr>
            <a:r>
              <a:rPr sz="2550" b="1">
                <a:solidFill>
                  <a:srgbClr val="496B63"/>
                </a:solidFill>
                <a:latin typeface="DengXian"/>
                <a:ea typeface="DengXian"/>
                <a:cs typeface="DengXian"/>
              </a:rPr>
              <a:t>纽约：政府数据默认公开</a:t>
            </a:r>
          </a:p>
        </p:txBody>
      </p:sp>
      <p:sp>
        <p:nvSpPr>
          <p:cNvPr id="5" name="text-92">
            <a:extLst>
              <a:ext uri="{FF2B5EF4-FFF2-40B4-BE49-F238E27FC236}">
                <a16:creationId xmlns:a16="http://schemas.microsoft.com/office/drawing/2014/main" id="{0B2AF316-CEDE-46AF-8E93-F5C9EE77696C}"/>
              </a:ext>
            </a:extLst>
          </p:cNvPr>
          <p:cNvSpPr>
            <a:spLocks noGrp="1"/>
          </p:cNvSpPr>
          <p:nvPr/>
        </p:nvSpPr>
        <p:spPr>
          <a:xfrm>
            <a:off x="571500" y="2181225"/>
            <a:ext cx="525780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2012 年立法</a:t>
            </a:r>
          </a:p>
          <a:p>
            <a:pPr algn="l">
              <a:defRPr sz="22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不公开需要说明理由</a:t>
            </a:r>
          </a:p>
          <a:p>
            <a:pPr algn="l">
              <a:defRPr sz="225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收容所人数每天更新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968C09-5DCC-4B24-9917-AD6A69DA3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43650" y="2321820"/>
            <a:ext cx="5276850" cy="65226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1CAA036-887F-4359-AE0B-C9F117EDC2D7}"/>
              </a:ext>
            </a:extLst>
          </p:cNvPr>
          <p:cNvSpPr>
            <a:spLocks noGrp="1"/>
          </p:cNvSpPr>
          <p:nvPr/>
        </p:nvSpPr>
        <p:spPr>
          <a:xfrm>
            <a:off x="571500" y="3962400"/>
            <a:ext cx="11049000" cy="9525"/>
          </a:xfrm>
          <a:prstGeom prst="rect">
            <a:avLst/>
          </a:prstGeom>
          <a:solidFill>
            <a:srgbClr val="DBCA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-93">
            <a:extLst>
              <a:ext uri="{FF2B5EF4-FFF2-40B4-BE49-F238E27FC236}">
                <a16:creationId xmlns:a16="http://schemas.microsoft.com/office/drawing/2014/main" id="{382045D0-15C7-40A1-A163-B57E17C564E1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5219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住房政策有没有用？</a:t>
            </a:r>
          </a:p>
        </p:txBody>
      </p:sp>
      <p:sp>
        <p:nvSpPr>
          <p:cNvPr id="9" name="text-94">
            <a:extLst>
              <a:ext uri="{FF2B5EF4-FFF2-40B4-BE49-F238E27FC236}">
                <a16:creationId xmlns:a16="http://schemas.microsoft.com/office/drawing/2014/main" id="{4E7294BA-82AF-40A8-912F-A5B268E99960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看租金负担有没有下降。</a:t>
            </a:r>
          </a:p>
        </p:txBody>
      </p:sp>
      <p:sp>
        <p:nvSpPr>
          <p:cNvPr id="10" name="text-95">
            <a:extLst>
              <a:ext uri="{FF2B5EF4-FFF2-40B4-BE49-F238E27FC236}">
                <a16:creationId xmlns:a16="http://schemas.microsoft.com/office/drawing/2014/main" id="{E49DD4C5-746B-4635-BD04-085B5C46F044}"/>
              </a:ext>
            </a:extLst>
          </p:cNvPr>
          <p:cNvSpPr>
            <a:spLocks noGrp="1"/>
          </p:cNvSpPr>
          <p:nvPr/>
        </p:nvSpPr>
        <p:spPr>
          <a:xfrm>
            <a:off x="6343650" y="4295775"/>
            <a:ext cx="527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250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托底制度托住了多少人？</a:t>
            </a:r>
          </a:p>
        </p:txBody>
      </p:sp>
      <p:sp>
        <p:nvSpPr>
          <p:cNvPr id="11" name="text-96">
            <a:extLst>
              <a:ext uri="{FF2B5EF4-FFF2-40B4-BE49-F238E27FC236}">
                <a16:creationId xmlns:a16="http://schemas.microsoft.com/office/drawing/2014/main" id="{9D6171DE-1E50-476D-823A-2C19B3C13C3A}"/>
              </a:ext>
            </a:extLst>
          </p:cNvPr>
          <p:cNvSpPr>
            <a:spLocks noGrp="1"/>
          </p:cNvSpPr>
          <p:nvPr/>
        </p:nvSpPr>
        <p:spPr>
          <a:xfrm>
            <a:off x="6343650" y="4895850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100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看还有多少人睡在街上。</a:t>
            </a:r>
          </a:p>
        </p:txBody>
      </p:sp>
      <p:sp>
        <p:nvSpPr>
          <p:cNvPr id="12" name="text-97">
            <a:extLst>
              <a:ext uri="{FF2B5EF4-FFF2-40B4-BE49-F238E27FC236}">
                <a16:creationId xmlns:a16="http://schemas.microsoft.com/office/drawing/2014/main" id="{BD02D009-F2F7-46FE-9290-8E00F4A998EC}"/>
              </a:ext>
            </a:extLst>
          </p:cNvPr>
          <p:cNvSpPr>
            <a:spLocks noGrp="1"/>
          </p:cNvSpPr>
          <p:nvPr/>
        </p:nvSpPr>
        <p:spPr>
          <a:xfrm>
            <a:off x="571500" y="57245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32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公开结果，市民才能提出有依据的反馈。</a:t>
            </a:r>
          </a:p>
        </p:txBody>
      </p:sp>
    </p:spTree>
    <p:extLst>
      <p:ext uri="{BB962C8B-B14F-4D97-AF65-F5344CB8AC3E}">
        <p14:creationId xmlns:p14="http://schemas.microsoft.com/office/powerpoint/2010/main" val="1240983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3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-number">
            <a:extLst>
              <a:ext uri="{FF2B5EF4-FFF2-40B4-BE49-F238E27FC236}">
                <a16:creationId xmlns:a16="http://schemas.microsoft.com/office/drawing/2014/main" id="{301B36DE-6015-459A-97CB-772BA0EA80B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E8CFC4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E8CFC4"/>
                </a:solidFill>
                <a:latin typeface="DengXian"/>
                <a:ea typeface="DengXian"/>
                <a:cs typeface="DengXian"/>
              </a:rPr>
              <a:t>35</a:t>
            </a:r>
          </a:p>
        </p:txBody>
      </p:sp>
      <p:sp>
        <p:nvSpPr>
          <p:cNvPr id="2" name="text-98">
            <a:extLst>
              <a:ext uri="{FF2B5EF4-FFF2-40B4-BE49-F238E27FC236}">
                <a16:creationId xmlns:a16="http://schemas.microsoft.com/office/drawing/2014/main" id="{7D16FFB0-4B3B-417B-8371-8F5D7B47AC29}"/>
              </a:ext>
            </a:extLst>
          </p:cNvPr>
          <p:cNvSpPr>
            <a:spLocks noGrp="1"/>
          </p:cNvSpPr>
          <p:nvPr/>
        </p:nvSpPr>
        <p:spPr>
          <a:xfrm>
            <a:off x="571500" y="1800225"/>
            <a:ext cx="1104900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人民城市人民建</a:t>
            </a:r>
          </a:p>
          <a:p>
            <a:pPr algn="l">
              <a:def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defRPr>
            </a:pPr>
            <a:r>
              <a:rPr sz="4350" b="0">
                <a:solidFill>
                  <a:srgbClr val="FCF7F0"/>
                </a:solidFill>
                <a:latin typeface="STZhongsong"/>
                <a:ea typeface="STZhongsong"/>
                <a:cs typeface="STZhongsong"/>
              </a:rPr>
              <a:t>人民城市为人民</a:t>
            </a:r>
          </a:p>
        </p:txBody>
      </p:sp>
      <p:sp>
        <p:nvSpPr>
          <p:cNvPr id="3" name="text-99">
            <a:extLst>
              <a:ext uri="{FF2B5EF4-FFF2-40B4-BE49-F238E27FC236}">
                <a16:creationId xmlns:a16="http://schemas.microsoft.com/office/drawing/2014/main" id="{061DFE7C-40D2-47D4-9E08-CF026B5C8F3F}"/>
              </a:ext>
            </a:extLst>
          </p:cNvPr>
          <p:cNvSpPr>
            <a:spLocks noGrp="1"/>
          </p:cNvSpPr>
          <p:nvPr/>
        </p:nvSpPr>
        <p:spPr>
          <a:xfrm>
            <a:off x="571500" y="4524375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2775" b="0">
                <a:solidFill>
                  <a:srgbClr val="FCF7F0"/>
                </a:solidFill>
                <a:latin typeface="DengXian"/>
                <a:ea typeface="DengXian"/>
                <a:cs typeface="DengXian"/>
              </a:defRPr>
            </a:pPr>
            <a:r>
              <a:rPr sz="2775" b="0">
                <a:solidFill>
                  <a:srgbClr val="FCF7F0"/>
                </a:solidFill>
                <a:latin typeface="DengXian"/>
                <a:ea typeface="DengXian"/>
                <a:cs typeface="DengXian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578401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F8580EC6-4795-46B4-8858-0F6B42AB0A6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备份：范围、分母与折算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4520452D-B746-48B1-8B84-B6255C8F7766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追问时使用；完整报告和计算过程见备注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808F8101-A4A8-4157-B780-FEE595E1729F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8922039-67E3-4E9F-851F-392597419026}"/>
              </a:ext>
            </a:extLst>
          </p:cNvPr>
          <p:cNvGraphicFramePr/>
          <p:nvPr/>
        </p:nvGraphicFramePr>
        <p:xfrm>
          <a:off x="571500" y="1438275"/>
          <a:ext cx="11049000" cy="4105276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项目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说明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城市范围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上海全市对纽约市五区；州级消费、都会区交通另标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家庭收入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纽约税前户中位数；上海人均均值×2.24，约2.65倍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自有住房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上海2020家庭户；纽约2023已入住住房，均非租金负担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食物支出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纽约州食品饮料＋餐饮住宿（含住宿）；上海食品烟酒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孕产妇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纽约按产后42天约折为21/10万；不拿一年32.2直接比较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公厕密度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上海8325是元数据记录；纽约973是市政运营公厕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-100">
            <a:extLst>
              <a:ext uri="{FF2B5EF4-FFF2-40B4-BE49-F238E27FC236}">
                <a16:creationId xmlns:a16="http://schemas.microsoft.com/office/drawing/2014/main" id="{B4FE488E-6BB7-46DD-8B5A-1A1205E3913A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1049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分项判定是本组评价；数据边界与缺失公开列明。</a:t>
            </a:r>
          </a:p>
        </p:txBody>
      </p:sp>
    </p:spTree>
    <p:extLst>
      <p:ext uri="{BB962C8B-B14F-4D97-AF65-F5344CB8AC3E}">
        <p14:creationId xmlns:p14="http://schemas.microsoft.com/office/powerpoint/2010/main" val="594914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6BD53502-EE3B-41A0-AA0F-891B901DB9D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备份：民生福祉的年份与范围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97FE272C-B4EC-4C88-83FD-2D186AB5FD31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健康、治安、教育、文化具体口径；不延伸为所有服务质量的量化倍率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0B6E226-C2C0-4471-B748-41D034D15CF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37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281B2E-4C55-4B3C-96DF-7DE8B1F5E5C5}"/>
              </a:ext>
            </a:extLst>
          </p:cNvPr>
          <p:cNvGraphicFramePr/>
          <p:nvPr/>
        </p:nvGraphicFramePr>
        <p:xfrm>
          <a:off x="571500" y="1438275"/>
          <a:ext cx="11049000" cy="3543300"/>
        </p:xfrm>
        <a:graphic>
          <a:graphicData uri="http://schemas.openxmlformats.org/drawingml/2006/table">
            <a:tbl>
              <a:tblPr/>
              <a:tblGrid>
                <a:gridCol w="210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指标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纽约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婴儿死亡率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2025年，2.34‰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2023年，4.2‰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孕产妇死亡率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2025年，1.85/10万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2022年，产后42天约21/10万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严重案件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2024杀人立案46起，0.19/10万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2025谋杀305起，3.6/10万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生师比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2024中小学含高中，12.5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2024–25公立K–12，13.2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文化资助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8F3E35"/>
                          </a:solidFill>
                          <a:latin typeface="DengXian"/>
                          <a:ea typeface="DengXian"/>
                          <a:cs typeface="DengXian"/>
                        </a:rPr>
                        <a:t>上海分馆全市总数未取得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496B63"/>
                          </a:solidFill>
                          <a:latin typeface="DengXian"/>
                          <a:ea typeface="DengXian"/>
                          <a:cs typeface="DengXian"/>
                        </a:rPr>
                        <a:t>FY2026资助1171家；96%有免费/补贴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-101">
            <a:extLst>
              <a:ext uri="{FF2B5EF4-FFF2-40B4-BE49-F238E27FC236}">
                <a16:creationId xmlns:a16="http://schemas.microsoft.com/office/drawing/2014/main" id="{40CA5562-EEA8-4F34-9873-E06D7022F9CE}"/>
              </a:ext>
            </a:extLst>
          </p:cNvPr>
          <p:cNvSpPr>
            <a:spLocks noGrp="1"/>
          </p:cNvSpPr>
          <p:nvPr/>
        </p:nvSpPr>
        <p:spPr>
          <a:xfrm>
            <a:off x="571500" y="53530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1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区际教育配置仍有差异：上海部分流入区小学约15生/师，纽约最紧学区13.9。</a:t>
            </a:r>
          </a:p>
        </p:txBody>
      </p:sp>
    </p:spTree>
    <p:extLst>
      <p:ext uri="{BB962C8B-B14F-4D97-AF65-F5344CB8AC3E}">
        <p14:creationId xmlns:p14="http://schemas.microsoft.com/office/powerpoint/2010/main" val="66764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BC9CEF74-A909-4C0E-9A56-76CD3A214C8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defPPr>
          </a:lstStyle>
          <a:p>
            <a:pPr algn="l">
              <a:def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defRPr>
            </a:pPr>
            <a:r>
              <a:rPr sz="3150" b="0">
                <a:solidFill>
                  <a:srgbClr val="8F3E35"/>
                </a:solidFill>
                <a:latin typeface="STZhongsong"/>
                <a:ea typeface="STZhongsong"/>
                <a:cs typeface="STZhongsong"/>
              </a:rPr>
              <a:t>备份：来源索引</a:t>
            </a:r>
          </a:p>
        </p:txBody>
      </p:sp>
      <p:sp>
        <p:nvSpPr>
          <p:cNvPr id="2" name="source-footer">
            <a:extLst>
              <a:ext uri="{FF2B5EF4-FFF2-40B4-BE49-F238E27FC236}">
                <a16:creationId xmlns:a16="http://schemas.microsoft.com/office/drawing/2014/main" id="{A6C26191-25BE-4EF5-B5BB-9370B96FDE3B}"/>
              </a:ext>
            </a:extLst>
          </p:cNvPr>
          <p:cNvSpPr>
            <a:spLocks noGrp="1"/>
          </p:cNvSpPr>
          <p:nvPr/>
        </p:nvSpPr>
        <p:spPr>
          <a:xfrm>
            <a:off x="571500" y="6229350"/>
            <a:ext cx="10525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正文页脚给发布方；完整来源、讲稿原文与计算说明保存在每页讲者备注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41F965D-344D-4EB3-9988-21CB6C0CCAA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r">
              <a:defRPr sz="1125" b="0">
                <a:solidFill>
                  <a:srgbClr val="74665F"/>
                </a:solidFill>
                <a:latin typeface="DengXian"/>
                <a:ea typeface="DengXian"/>
                <a:cs typeface="DengXian"/>
              </a:defRPr>
            </a:pPr>
            <a:r>
              <a:rPr sz="1125" b="0">
                <a:solidFill>
                  <a:srgbClr val="74665F"/>
                </a:solidFill>
                <a:latin typeface="DengXian"/>
                <a:ea typeface="DengXian"/>
                <a:cs typeface="DengXian"/>
              </a:rPr>
              <a:t>38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8D5067-5DC8-449B-916E-A63E964CC054}"/>
              </a:ext>
            </a:extLst>
          </p:cNvPr>
          <p:cNvGraphicFramePr/>
          <p:nvPr/>
        </p:nvGraphicFramePr>
        <p:xfrm>
          <a:off x="571500" y="1438275"/>
          <a:ext cx="11049000" cy="3648078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正文页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主要来源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CF7F0"/>
                          </a:solidFill>
                          <a:latin typeface="DengXian"/>
                          <a:ea typeface="DengXian"/>
                          <a:cs typeface="DengXian"/>
                        </a:rPr>
                        <a:t>资料类型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>
                      <a:solidFill>
                        <a:srgbClr val="DBCAC2"/>
                      </a:solidFill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8F3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20–22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新华社、沪绿化市容局、NYC Council、RGB/ACS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概念、设施、人口收入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23–25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沪人口普查/年鉴/统计公报、NYC HVS、BEA、地铁/MTA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住房、官方消费、交通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26–27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沪卫健/年鉴/民政、DOHMH、NYPD、NYSED、DCLA、HUD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民生结果与托底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28–30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官方设施名录、OSM、沪规划资源局、微信访谈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空间测算、参与、访谈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31–34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BCAC2"/>
                      </a:solidFill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前述官方统计、NYC Open Data、DHS、上海开放平台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42C29"/>
                          </a:solidFill>
                          <a:latin typeface="DengXian"/>
                          <a:ea typeface="DengXian"/>
                          <a:cs typeface="DengXian"/>
                        </a:rPr>
                        <a:t>逐题判定、结论、透明</a:t>
                      </a:r>
                    </a:p>
                  </a:txBody>
                  <a:tcPr marL="133350" marR="114300" marT="76200" marB="76200" anchor="ctr">
                    <a:lnL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BCAC2"/>
                      </a:solidFill>
                    </a:lnR>
                    <a:lnT w="9525" cap="flat" cmpd="sng" algn="ctr">
                      <a:solidFill>
                        <a:srgbClr val="DBC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BCAC2"/>
                      </a:solidFill>
                    </a:lnB>
                    <a:solidFill>
                      <a:srgbClr val="F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-102">
            <a:extLst>
              <a:ext uri="{FF2B5EF4-FFF2-40B4-BE49-F238E27FC236}">
                <a16:creationId xmlns:a16="http://schemas.microsoft.com/office/drawing/2014/main" id="{2A3D9EE3-47B3-470E-98D7-E50191B862B3}"/>
              </a:ext>
            </a:extLst>
          </p:cNvPr>
          <p:cNvSpPr>
            <a:spLocks noGrp="1"/>
          </p:cNvSpPr>
          <p:nvPr/>
        </p:nvSpPr>
        <p:spPr>
          <a:xfrm>
            <a:off x="571500" y="544830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defPPr>
          </a:lstStyle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地图：同一中心七区、直线1公里、同一面积分母；</a:t>
            </a:r>
          </a:p>
          <a:p>
            <a:pPr algn="l">
              <a:defRPr sz="1875" b="0">
                <a:solidFill>
                  <a:srgbClr val="342C29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342C29"/>
                </a:solidFill>
                <a:latin typeface="DengXian"/>
                <a:ea typeface="DengXian"/>
                <a:cs typeface="DengXian"/>
              </a:rPr>
              <a:t>访谈：一位同学的生活观察；两者都补充统计，不替代全市调查。</a:t>
            </a:r>
          </a:p>
        </p:txBody>
      </p:sp>
    </p:spTree>
    <p:extLst>
      <p:ext uri="{BB962C8B-B14F-4D97-AF65-F5344CB8AC3E}">
        <p14:creationId xmlns:p14="http://schemas.microsoft.com/office/powerpoint/2010/main" val="10253276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342C29"/>
      </a:dk1>
      <a:lt1>
        <a:srgbClr val="F5F0E9"/>
      </a:lt1>
      <a:dk2>
        <a:srgbClr val="0E2841"/>
      </a:dk2>
      <a:lt2>
        <a:srgbClr val="E8E8E8"/>
      </a:lt2>
      <a:accent1>
        <a:srgbClr val="8F3E35"/>
      </a:accent1>
      <a:accent2>
        <a:srgbClr val="496B63"/>
      </a:accent2>
      <a:accent3>
        <a:srgbClr val="AD6C55"/>
      </a:accent3>
      <a:accent4>
        <a:srgbClr val="74665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TZhongsong"/>
        <a:ea typeface="STZhongsong"/>
        <a:cs typeface=""/>
      </a:majorFont>
      <a:minorFont>
        <a:latin typeface="DengXi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342C29"/>
      </a:dk1>
      <a:lt1>
        <a:srgbClr val="F5F0E9"/>
      </a:lt1>
      <a:dk2>
        <a:srgbClr val="0E2841"/>
      </a:dk2>
      <a:lt2>
        <a:srgbClr val="E8E8E8"/>
      </a:lt2>
      <a:accent1>
        <a:srgbClr val="8F3E35"/>
      </a:accent1>
      <a:accent2>
        <a:srgbClr val="496B63"/>
      </a:accent2>
      <a:accent3>
        <a:srgbClr val="AD6C55"/>
      </a:accent3>
      <a:accent4>
        <a:srgbClr val="74665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TZhongsong"/>
        <a:ea typeface="STZhongsong"/>
        <a:cs typeface=""/>
      </a:majorFont>
      <a:minorFont>
        <a:latin typeface="DengXi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9921</Words>
  <Application>Microsoft Office PowerPoint</Application>
  <DocSecurity>0</DocSecurity>
  <PresentationFormat>宽屏</PresentationFormat>
  <Paragraphs>1289</Paragraphs>
  <Slides>38</Slides>
  <Notes>38</Notes>
  <HiddenSlides>3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1" baseType="lpstr">
      <vt:lpstr>DengXian</vt:lpstr>
      <vt:lpstr>STZhongsong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af299@365mso.com</cp:lastModifiedBy>
  <cp:revision>3</cp:revision>
  <dcterms:created xsi:type="dcterms:W3CDTF">2026-10-17T16:39:40Z</dcterms:created>
  <dcterms:modified xsi:type="dcterms:W3CDTF">2026-10-22T05:32:25Z</dcterms:modified>
</cp:coreProperties>
</file>