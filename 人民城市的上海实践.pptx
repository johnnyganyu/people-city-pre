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4" r:id="rId11"/>
    <p:sldId id="289" r:id="rId16"/>
    <p:sldId id="290" r:id="rId17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83" r:id="rId10"/>
    <p:sldId id="285" r:id="rId12"/>
    <p:sldId id="286" r:id="rId13"/>
    <p:sldId id="287" r:id="rId14"/>
    <p:sldId id="288" r:id="rId15"/>
    <p:sldId id="291" r:id="rId18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7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28.xml"/><Relationship Id="rId6" Type="http://schemas.openxmlformats.org/officeDocument/2006/relationships/slide" Target="slides/slide29.xml"/><Relationship Id="rId7" Type="http://schemas.openxmlformats.org/officeDocument/2006/relationships/slide" Target="slides/slide30.xml"/><Relationship Id="rId8" Type="http://schemas.openxmlformats.org/officeDocument/2006/relationships/slide" Target="slides/slide4.xml"/><Relationship Id="rId9" Type="http://schemas.openxmlformats.org/officeDocument/2006/relationships/slide" Target="slides/slide31.xml"/><Relationship Id="rId10" Type="http://schemas.openxmlformats.org/officeDocument/2006/relationships/slide" Target="slides/slide32.xml"/><Relationship Id="rId11" Type="http://schemas.openxmlformats.org/officeDocument/2006/relationships/slide" Target="slides/slide5.xml"/><Relationship Id="rId12" Type="http://schemas.openxmlformats.org/officeDocument/2006/relationships/slide" Target="slides/slide33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37.xml"/><Relationship Id="rId19" Type="http://schemas.openxmlformats.org/officeDocument/2006/relationships/slide" Target="slides/slide8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/>
          <a:p>
            <a:r>
              <a:t>讲稿原文</a:t>
            </a:r>
          </a:p>
          <a:p>
            <a:r>
              <a:t>2015 年 12 月的中央城市工作会议提出："坚持以人民为中心的发展思想，坚持人民城市为人民。"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到了 2019 年 11 月，习近平总书记在上海杨浦滨江考察时，提出"人民城市人民建，人民城市为人民"。杨浦滨江原来是老工业区，后来改成了市民散步、健身的公共空间，这就是这句话最初的场景。这句话有两层意思："为人民"讲城市为谁而建，要让老百姓有休闲、健身、娱乐的地方；"人民建"讲谁来建，居民要参与决定城市怎么建、怎么改。城市做得好不好，最后要由住在里面的人来评判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人民城市落到日常生活里，最先感受到的是家门口的服务。到 2025 年底，上海有 521 家社区长者食堂、457 个公共阅读网点、1,100 座各类公园、219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这些设施离住的地方有多远？我们用开放地图数据做了一次测算。以图书馆服务网点为例：在中心七区，1 公里以内就能覆盖 77% 的居住用地；放到全市，半径要放大到 1.85 公里左右，才能覆盖 72%。全市的平均数，会掩盖市中心和郊区的差别。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再把地图放大到我家所在的街道。辖区面积约 2 平方公里，图上标出了我平时用的图书馆、健身中心、社区食堂、绿地和卫生服务中心。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图书馆每天从早上 8 点半开到晚上 8 点半，市民健身中心从早上 7 点开到晚上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/>
          <a:p>
            <a:r>
              <a:t>讲稿原文</a:t>
            </a:r>
          </a:p>
          <a:p>
            <a:r>
              <a:t>食堂、绿地和卫生服务中心也都在家门口，吃饭、散步、看小病，都不用走远。用一部纪录片里的话结束这一部分。食贫道的《何以为家》里说：</a:t>
            </a:r>
          </a:p>
          <a:p/>
          <a:p>
            <a:r>
              <a:t>（引自食贫道纪录片《何以为家》，2025，1:05:39-1:07:16）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/>
          <a:p>
            <a:r>
              <a:t>下面，我们把上海和纽约放到同一张考卷上。</a:t>
            </a:r>
          </a:p>
          <a:p/>
          <a:p>
            <a:r>
              <a:t>数据来源与完整口径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今天我们要回答一个问题：纽约能不能叫人民城市？先说清楚什么是人民城市。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15分钟讲述取舍：开场问题、改造实例、密度差异各一段；原文砍半敏感性计算可略。</a:t>
            </a:r>
          </a:p>
          <a:p>
            <a:endParaRPr/>
          </a:p>
          <a:p>
            <a:r>
              <a:t>讲稿原文</a:t>
            </a:r>
          </a:p>
          <a:p>
            <a:r>
              <a:t>先问大家一个问题：在纽约逛街，突然想上厕所，怎么办？</a:t>
            </a:r>
          </a:p>
          <a:p>
            <a:endParaRPr/>
          </a:p>
          <a:p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>
            <a:endParaRPr/>
          </a:p>
          <a:p>
            <a:r>
              <a:t>上海这几年在公厕上是下了真功夫的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>
            <a:endParaRPr/>
          </a:p>
          <a:p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>
            <a:endParaRPr/>
          </a:p>
          <a:p>
            <a:r>
              <a:t>公厕不赚钱，用得最多的是环卫工、快递员和上了年纪的人。看一座城市怎么管公厕，大致能看出它怎么对待普通人。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https://lhsr.sh.gov.cn/ywdt/20260401/00d7c161-8280-490c-a0da-d6c995e85058.html</a:t>
            </a:r>
          </a:p>
          <a:p>
            <a:endParaRPr/>
          </a:p>
          <a:p>
            <a:r>
              <a:t>https://lhsr.sh.gov.cn/ywdt/20251204/b016509f-60a6-46cd-83fa-fdab372175c7.html</a:t>
            </a:r>
          </a:p>
          <a:p>
            <a:endParaRPr/>
          </a:p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>
            <a:endParaRPr/>
          </a:p>
          <a:p>
            <a:r>
              <a:t>讲稿原文</a:t>
            </a:r>
          </a:p>
          <a:p>
            <a:r>
              <a:t>今天的题目是：纽约能不能叫人民城市？</a:t>
            </a:r>
          </a:p>
          <a:p>
            <a:endParaRPr/>
          </a:p>
          <a:p>
            <a:r>
              <a:t>要回答它，不能看一座城市怎么称呼自己，得放到具体的生活里去比。</a:t>
            </a:r>
          </a:p>
          <a:p>
            <a:endParaRPr/>
          </a:p>
          <a:p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>
            <a:endParaRPr/>
          </a:p>
          <a:p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>
            <a:endParaRPr/>
          </a:p>
          <a:p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>
            <a:endParaRPr/>
          </a:p>
          <a:p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https://www.health.ny.gov/statistics/vital_statistics/2022/table02.htm</a:t>
            </a:r>
          </a:p>
          <a:p>
            <a:endParaRPr/>
          </a:p>
          <a:p>
            <a:r>
              <a:t>https://www.nyc.gov/content/planning/pages/planning/population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15分钟讲述取舍：先讲纽约住房压力，再讲上海举措与 59.0% 对 32.3%，末句明确胜负。</a:t>
            </a:r>
          </a:p>
          <a:p>
            <a:endParaRPr/>
          </a:p>
          <a:p>
            <a:r>
              <a:t>讲稿原文</a:t>
            </a:r>
          </a:p>
          <a:p>
            <a:r>
              <a:t>住是日常开销里最大的一块，也最值得比。</a:t>
            </a:r>
          </a:p>
          <a:p>
            <a:endParaRPr/>
          </a:p>
          <a:p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>
            <a:endParaRPr/>
          </a:p>
          <a:p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>
            <a:endParaRPr/>
          </a:p>
          <a:p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>
            <a:endParaRPr/>
          </a:p>
          <a:p>
            <a:r>
              <a:t>房租负担本来是更直接的指标，可上海统计部门不公布租金，商业网站上的数各说各话，这一项我们只好放弃，最后再说。</a:t>
            </a:r>
          </a:p>
          <a:p>
            <a:endParaRPr/>
          </a:p>
          <a:p>
            <a:r>
              <a:t>59% 对 32%，住这方面，上海有明显优势。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15分钟讲述取舍：吃讲花销与价格效应，穿讲可贸易商品，避免连续重复 4.7 倍与 7 倍。</a:t>
            </a:r>
          </a:p>
          <a:p>
            <a:endParaRPr/>
          </a:p>
          <a:p>
            <a:r>
              <a:t>讲稿原文</a:t>
            </a:r>
          </a:p>
          <a:p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>
            <a:endParaRPr/>
          </a:p>
          <a:p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>
            <a:endParaRPr/>
          </a:p>
          <a:p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>
            <a:endParaRPr/>
          </a:p>
          <a:p>
            <a:r>
              <a:t>讲稿原文</a:t>
            </a:r>
          </a:p>
          <a:p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>
            <a:endParaRPr/>
          </a:p>
          <a:p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>
            <a:endParaRPr/>
          </a:p>
          <a:p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>
            <a:endParaRPr/>
          </a:p>
          <a:p>
            <a:r>
              <a:t>对比下来，显然是上海的性价比更高。日常出行，上海是压倒性优势。</a:t>
            </a:r>
          </a:p>
          <a:p>
            <a:endParaRPr/>
          </a:p>
          <a:p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，原因到计分表再说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建议讲述：110秒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>
            <a:endParaRPr/>
          </a:p>
          <a:p>
            <a:r>
              <a:t>讲稿原文</a:t>
            </a:r>
          </a:p>
          <a:p>
            <a:r>
              <a:t>上海在医疗上肯花钱：2024 年财政花在卫生健康上的是 732 亿元，参加医保的超过 2,000 万人。但钱花得值不值，不看投入，要看结果。</a:t>
            </a:r>
          </a:p>
          <a:p>
            <a:endParaRPr/>
          </a:p>
          <a:p>
            <a:r>
              <a:t>先看人均期望寿命：上海 83.18 岁，纽约 83.2 岁，几乎一样，分不出高下。上海这个数还停在 2022 年，这一点最后再说。</a:t>
            </a:r>
          </a:p>
          <a:p>
            <a:endParaRPr/>
          </a:p>
          <a:p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>
            <a:endParaRPr/>
          </a:p>
          <a:p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>
            <a:endParaRPr/>
          </a:p>
          <a:p>
            <a:r>
              <a:t>婴儿差八成，产妇差十倍。寿命已经拉不开，这两项拉开了，所以医疗方面，上海优势明显。</a:t>
            </a:r>
          </a:p>
          <a:p>
            <a:endParaRPr/>
          </a:p>
          <a:p>
            <a:r>
              <a:t>治安更不用多说。2024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>
            <a:endParaRPr/>
          </a:p>
          <a:p>
            <a:r>
              <a:t>教育只比义务教育，也就是每个孩子都要上的那部分。</a:t>
            </a:r>
          </a:p>
          <a:p>
            <a:endParaRPr/>
          </a:p>
          <a:p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>
            <a:endParaRPr/>
          </a:p>
          <a:p>
            <a:r>
              <a:t>现在能比的是生师比，也就是一位老师平均带几个学生。上海中小学是 12.5 个，纽约公立学校是 13.2 个，差不多。</a:t>
            </a:r>
          </a:p>
          <a:p>
            <a:endParaRPr/>
          </a:p>
          <a:p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个左右。学生往哪里去，老师没有完全跟上。</a:t>
            </a:r>
          </a:p>
          <a:p>
            <a:endParaRPr/>
          </a:p>
          <a:p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>
            <a:endParaRPr/>
          </a:p>
          <a:p>
            <a:r>
              <a:t>上海这几年在把文化往家门口搬。全市划出 1,600 个"15 分钟社区生活圈"，走十几分钟就能到文化、体育、养老设施；公园一年新开 127 座，2025 年全市营业性演出 6 万多场。</a:t>
            </a:r>
          </a:p>
          <a:p>
            <a:endParaRPr/>
          </a:p>
          <a:p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>
            <a:endParaRPr/>
          </a:p>
          <a:p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>
            <a:endParaRPr/>
          </a:p>
          <a:p>
            <a:r>
              <a:t>讲稿原文</a:t>
            </a:r>
          </a:p>
          <a:p>
            <a:r>
              <a:t>最后一项，是两座城市怎么对待最穷的人。</a:t>
            </a:r>
          </a:p>
          <a:p>
            <a:endParaRPr/>
          </a:p>
          <a:p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>
            <a:endParaRPr/>
          </a:p>
          <a:p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>
            <a:endParaRPr/>
          </a:p>
          <a:p>
            <a:r>
              <a:t>最让人想不通的是，纽约不是不知道这些人在哪里。收容所住了多少人，市政府每天公布，2026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>
            <a:endParaRPr/>
          </a:p>
          <a:p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15分钟讲述取舍：从文化与养老接到“上海做了什么”；只说空间分布，四个百分比不逐个念。</a:t>
            </a:r>
          </a:p>
          <a:p>
            <a:endParaRPr/>
          </a:p>
          <a:p>
            <a:r>
              <a:t>讲稿原文</a:t>
            </a:r>
          </a:p>
          <a:p>
            <a:r>
              <a:t>九道题之外，再补两件上海做的事。先看托底的服务离居民有多近。我们拿开放地图的数据，在中心七区算了一笔账：住宅用地里，一公里内有社区长者食堂的占 87.5%，有图书馆服务点的占 77%，有市民健身中心的只占 64%。</a:t>
            </a:r>
          </a:p>
          <a:p>
            <a:r>
              <a:t>吃饭这件事，基本已经送到了家门口；健身设施还有三分之一多的住宅区够不着。这组数按直线距离算，看的是分布：哪里方便，哪里还要补，图上一目了然。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>
            <a:r>
              <a:t>15分钟讲述取舍：每个例子一句，承接公共服务，同时为末尾数据透明作伏笔。</a:t>
            </a:r>
          </a:p>
          <a:p>
            <a:endParaRPr/>
          </a:p>
          <a:p>
            <a:r>
              <a:t>讲稿原文</a:t>
            </a:r>
          </a:p>
          <a:p>
            <a:r>
              <a:t>上海这几年也在改办事的过程。"一网通办"接了 3,800 多项服务，实际网办率 89.53%，很多事已经不用再去窗口排队。</a:t>
            </a:r>
          </a:p>
          <a:p>
            <a:r>
              <a:t>建设上，居民也插得上话。普陀区泰山人民坊改造，动工前开了 12 场座谈会，收回 3,826 份问卷；方案拿出来，又开了 5 轮专题论证；建成以后，还请居民开了 3 场评议会。从提需求、定方案到建成后的评价，居民每一步都有发言的机会。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请一位在纽约生活的同学谈了谈那里的日常。挑两句原话：一句是"这座城市有很多公园"，另一句是"突发事件中自己的基本生活保障，也依靠自己是否有储蓄，或者高额的商业保险"。这和前面托底那一题的数据对得上：公共空间不缺，遇到急事却要靠自己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>
            <a:endParaRPr/>
          </a:p>
          <a:p>
            <a:r>
              <a:t>讲稿原文</a:t>
            </a:r>
          </a:p>
          <a:p>
            <a:r>
              <a:t>把九道题放到一张表上。</a:t>
            </a:r>
          </a:p>
          <a:p>
            <a:endParaRPr/>
          </a:p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>
            <a:endParaRPr/>
          </a:p>
          <a:p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>
            <a:endParaRPr/>
          </a:p>
          <a:p>
            <a:r>
              <a:t>讲稿原文</a:t>
            </a:r>
          </a:p>
          <a:p>
            <a:r>
              <a:t>回到开头的问题：纽约能不能叫人民城市？</a:t>
            </a:r>
          </a:p>
          <a:p>
            <a:endParaRPr/>
          </a:p>
          <a:p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>
            <a:endParaRPr/>
          </a:p>
          <a:p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>
            <a:endParaRPr/>
          </a:p>
          <a:p>
            <a:r>
              <a:t>比完这一圈，我们觉得更值得说的是，两座城市真的已经能放在一张卷子上比了，而且有输有赢。上海第一条地铁 1993 年才开通，三十多年后，上海人一年坐地铁的次数已经和纽约人一样多。三十多年前，这样的比较是比不起来的。这本身就是进步。</a:t>
            </a:r>
          </a:p>
          <a:p>
            <a:endParaRPr/>
          </a:p>
          <a:p>
            <a:r>
              <a:t>但这个比较不能往大了说，更不能拿两座城市去概括两个国家。</a:t>
            </a:r>
          </a:p>
          <a:p>
            <a:endParaRPr/>
          </a:p>
          <a:p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>
            <a:endParaRPr/>
          </a:p>
          <a:p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15分钟讲述取舍：四个缺口各一句；一网通办便利已在第 10 页讲过，此处对照一句即可。</a:t>
            </a:r>
          </a:p>
          <a:p/>
          <a:p>
            <a:r>
              <a:t>讲稿原文</a:t>
            </a:r>
          </a:p>
          <a:p>
            <a:r>
              <a:t>最后单独说数据透明。这一题不在计分表里，但前面说过，纽约领先。</a:t>
            </a:r>
          </a:p>
          <a:p/>
          <a:p>
            <a:r>
              <a:t>上海做得好的先说。前面讲过，在上海办事是真方便，"一网通办"的好评率是 99.94%，高到小数点后两位。</a:t>
            </a:r>
          </a:p>
          <a:p/>
          <a:p>
            <a:r>
              <a:t>可一到查数据，就换了一张脸。做这份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15分钟讲述取舍：用住房和托底两个具体例子说明透明为何重要，最后一句收束。</a:t>
            </a:r>
          </a:p>
          <a:p/>
          <a:p>
            <a:r>
              <a:t>讲稿原文</a:t>
            </a:r>
          </a:p>
          <a:p>
            <a:r>
              <a:t>纽约在 2012 年就立了法：政府数据默认公开，不公开要说明理由。收容所里住了多少人，每天更新。</a:t>
            </a:r>
          </a:p>
          <a:p/>
          <a:p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/>
          <a:p>
            <a:r>
              <a:t>人民城市人民建。真想让人民参与建设，就应该尽量把城市运行的数据摆出来。</a:t>
            </a:r>
          </a:p>
          <a:p/>
          <a:p>
            <a:r>
              <a:t>数据来源与完整口径</a:t>
            </a:r>
          </a:p>
          <a:p>
            <a:r>
              <a:t>https://data.sh.gov.cn/</a:t>
            </a:r>
          </a:p>
          <a:p/>
          <a:p>
            <a:r>
              <a:t>https://tjj.sh.gov.cn/tjgb/20260330/e0772941e8e041eaaad2df850b44ef98.html</a:t>
            </a:r>
          </a:p>
          <a:p/>
          <a:p>
            <a:r>
              <a:t>https://wsjkw.sh.gov.cn/2022wsjkzkbg/index.html</a:t>
            </a:r>
          </a:p>
          <a:p/>
          <a:p>
            <a:r>
              <a:t>https://wsjkw.sh.gov.cn/2023wsjkzkbg/index.html</a:t>
            </a:r>
          </a:p>
          <a:p/>
          <a:p>
            <a:r>
              <a:t>https://wsjkw.sh.gov.cn/2024wsjkzkbg/index.html</a:t>
            </a:r>
          </a:p>
          <a:p/>
          <a:p>
            <a:r>
              <a:t>https://opendata.cityofnewyork.us/open-data-law/</a:t>
            </a:r>
          </a:p>
          <a:p/>
          <a:p>
            <a:r>
              <a:t>https://data.cityofnewyork.us/Social-Services/DHS-Daily-Report/k46n-sa2m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建议讲述：15秒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最后说一句：这次用到的数据、出处、计算过程和地图脚本，我们都公开在网上，链接就在这一页，欢迎大家自己核对，也欢迎指出我们的错误。谢谢大家。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数据、出处、计算过程与地图脚本公开：github.com/JohnnyGanYu/people-city-pre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