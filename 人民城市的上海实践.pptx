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3" r:id="rId10"/>
    <p:sldId id="284" r:id="rId11"/>
    <p:sldId id="285" r:id="rId12"/>
    <p:sldId id="286" r:id="rId13"/>
    <p:sldId id="287" r:id="rId14"/>
    <p:sldId id="288" r:id="rId15"/>
    <p:sldId id="264" r:id="rId29"/>
    <p:sldId id="265" r:id="rId30"/>
    <p:sldId id="289" r:id="rId16"/>
    <p:sldId id="290" r:id="rId17"/>
    <p:sldId id="291" r:id="rId18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3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34.xml"/><Relationship Id="rId6" Type="http://schemas.openxmlformats.org/officeDocument/2006/relationships/slide" Target="slides/slide35.xml"/><Relationship Id="rId7" Type="http://schemas.openxmlformats.org/officeDocument/2006/relationships/slide" Target="slides/slide36.xml"/><Relationship Id="rId8" Type="http://schemas.openxmlformats.org/officeDocument/2006/relationships/slide" Target="slides/slide4.xml"/><Relationship Id="rId9" Type="http://schemas.openxmlformats.org/officeDocument/2006/relationships/slide" Target="slides/slide37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建议讲述：15秒</a:t>
            </a:r>
          </a:p>
          <a:p/>
          <a:p>
            <a:r>
              <a:t>讲稿原文</a:t>
            </a:r>
          </a:p>
          <a:p>
            <a:r>
              <a:t>这一表述可以追溯到 2015 年 12 月的中央城市工作会议，会议提出："坚持以人民为中心的发展思想，坚持人民城市为人民。"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2019 年 11 月，习近平总书记在上海杨浦滨江考察时，完整提出了"人民城市人民建，人民城市为人民"。杨浦滨江过去是老工业区，后来改造成市民散步、健身的公共空间。"为人民"回答城市为谁而建，"人民建"回答谁来建；城市建设得好不好，最终要由生活在其中的人来判断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建议讲述：20秒</a:t>
            </a:r>
          </a:p>
          <a:p>
            <a:r>
              <a:t>讲法：照念。</a:t>
            </a:r>
          </a:p>
          <a:p/>
          <a:p>
            <a:r>
              <a:t>讲稿原文</a:t>
            </a:r>
          </a:p>
          <a:p>
            <a:r>
              <a:t>理念落到日常生活中，最先感受到的是家门口的公共服务。截至 2025 年底，上海有 521 家社区长者食堂、457 个公共阅读网点、1,100 座各类公园和 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下面六张图是我们用开放地图数据做的测算，看每类设施的服务半径能覆盖多少居住用地。社区长者食堂，全市约 1.80 公里覆盖 72.0%，中心七区约 0.75 公里覆盖 75.7%。</a:t>
            </a:r>
          </a:p>
          <a:p/>
          <a:p>
            <a:r>
              <a:t>数据来源与完整口径</a:t>
            </a:r>
          </a:p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图书馆服务网点，全市约 1.85 公里覆盖 72.5%，中心七区约 1.00 公里覆盖 77.0%。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市民健身中心，全市约 2.63 公里覆盖 70.9%，中心七区约 1.20 公里覆盖 76.2%。</a:t>
            </a:r>
          </a:p>
          <a:p/>
          <a:p>
            <a:r>
              <a:t>数据来源与完整口径</a:t>
            </a:r>
          </a:p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公园类绿地，全市约 0.97 公里覆盖 76.5%，中心七区约 0.45 公里覆盖 72.5%。</a:t>
            </a:r>
          </a:p>
          <a:p/>
          <a:p>
            <a:r>
              <a:t>数据来源与完整口径</a:t>
            </a:r>
          </a:p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社区文化活动中心，全市约 2.52 公里覆盖 73.4%，中心七区约 1.23 公里覆盖 80.2%。</a:t>
            </a:r>
          </a:p>
          <a:p/>
          <a:p>
            <a:r>
              <a:t>数据来源与完整口径</a:t>
            </a:r>
          </a:p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建议讲述：20秒</a:t>
            </a:r>
          </a:p>
          <a:p>
            <a:r>
              <a:t>讲法：照念数据。</a:t>
            </a:r>
          </a:p>
          <a:p/>
          <a:p>
            <a:r>
              <a:t>讲稿原文</a:t>
            </a:r>
          </a:p>
          <a:p>
            <a:r>
              <a:t>社区卫生服务中心，全市约 2.27 公里覆盖 72.5%，中心七区约 1.13 公里覆盖 77.2%。六类设施在中心七区的半径都更短，全市平均数会掩盖市中心和郊区的差别。</a:t>
            </a:r>
          </a:p>
          <a:p/>
          <a:p>
            <a:r>
              <a:t>数据来源与完整口径</a:t>
            </a:r>
          </a:p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这是我家所在的街道，辖区约 2 平方公里。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社区图书馆每天 8:30 到 20:30 开放。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建议讲述：10秒</a:t>
            </a:r>
          </a:p>
          <a:p>
            <a:r>
              <a:t>讲法：对着图讲解，讲稿作参考。</a:t>
            </a:r>
          </a:p>
          <a:p/>
          <a:p>
            <a:r>
              <a:t>讲稿原文</a:t>
            </a:r>
          </a:p>
          <a:p>
            <a:r>
              <a:t>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建议讲述：40秒</a:t>
            </a:r>
          </a:p>
          <a:p>
            <a:r>
              <a:t>讲法：对着图讲解，讲稿作参考，结尾引文照念。</a:t>
            </a:r>
          </a:p>
          <a:p/>
          <a:p>
            <a:r>
              <a:t>讲稿原文</a:t>
            </a:r>
          </a:p>
          <a:p>
            <a:r>
              <a:t>社区食堂、公共绿地和卫生服务中心也都在家门口。借食贫道纪录片《何以为家》里的一段话作结：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>
            <a:r>
              <a:t>下面把上海和纽约放到同一张考卷上。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引文出处：食贫道纪录片《何以为家》（2025），1:05:39-1:07:16。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建议讲述：20秒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大家好，我们小组汇报的题目是《人民城市的上海实践》。我们想回答的问题是，纽约这样的国际大都市能不能叫人民城市。在比较之前，先把"人民城市"这个概念讲清楚。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建议讲述：70秒</a:t>
            </a:r>
          </a:p>
          <a:p>
            <a:r>
              <a:t>15分钟讲述取舍：开场问题、改造实例、密度差异各一段；原文砍半敏感性计算可略。</a:t>
            </a:r>
          </a:p>
          <a:p/>
          <a:p>
            <a:r>
              <a:t>讲稿原文</a:t>
            </a:r>
          </a:p>
          <a:p>
            <a:r>
              <a:t>先从一个日常问题说起：在纽约逛街时想上厕所，该去哪里？</a:t>
            </a:r>
          </a:p>
          <a:p/>
          <a:p>
            <a:r>
              <a:t>纽约市政府管理的公厕有一千零六十多座，正常开放的不到一千座，将近九千人才分到一座，全天开放的全市只有八座。</a:t>
            </a:r>
          </a:p>
          <a:p/>
          <a:p>
            <a:r>
              <a:t>上海有两千六百多座环卫公厕完成了适老、适幼改造，一千二百多座配建了第三卫生间，不少还免费提供厕纸、冬季供应热水。</a:t>
            </a:r>
          </a:p>
          <a:p/>
          <a:p>
            <a:r>
              <a:t>上海的公厕总数在统计公报里查不到，开放平台的数据集记录了八千三百多处，约三千人一处，密度约为纽约的三倍。两边口径不同，但即使把上海的数减半，也比纽约密。</a:t>
            </a:r>
          </a:p>
          <a:p/>
          <a:p>
            <a:r>
              <a:t>公厕不盈利，用得最多的是环卫工人、快递员和老年人，一座城市怎样管理公厕，也能反映出它怎样对待普通人。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https://lhsr.sh.gov.cn/ywdt/20260401/00d7c161-8280-490c-a0da-d6c995e85058.html</a:t>
            </a:r>
          </a:p>
          <a:p/>
          <a:p>
            <a:r>
              <a:t>https://lhsr.sh.gov.cn/ywdt/20251204/b016509f-60a6-46cd-83fa-fdab372175c7.html</a:t>
            </a:r>
          </a:p>
          <a:p/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/>
          <a:p>
            <a:r>
              <a:t>讲稿原文</a:t>
            </a:r>
          </a:p>
          <a:p>
            <a:r>
              <a:t>回到我们的主题。判断纽约能不能叫人民城市，需要放到具体的生活中去比较。</a:t>
            </a:r>
          </a:p>
          <a:p/>
          <a:p>
            <a:r>
              <a:t>GDP 和人均收入不够用，因为房租、看病、上学这些服务的价格由本地决定，无法直接换算，所以我们把日常生活拆开，逐项比较。</a:t>
            </a:r>
          </a:p>
          <a:p/>
          <a:p>
            <a:r>
              <a:t>比较对象是纽约市的五个区和上海全市，因为我们关心的是一座城市的政府如何对待自己的市民。两者面积相差八倍，所以能算人均的指标都按人均比。</a:t>
            </a:r>
          </a:p>
          <a:p/>
          <a:p>
            <a:r>
              <a:t>收入方面，纽约家庭收入中位数约合人民币 55 万元，上海一户约 20.6 万元。纽约是税前收入，上海是平均数，各自打折后，差距仍在两倍半左右。</a:t>
            </a:r>
          </a:p>
          <a:p/>
          <a:p>
            <a:r>
              <a:t>但收入相差两倍半，并不意味着生活水平也相差两倍半。下面先比住、吃、穿、行四个基本项，再比医疗、治安、教育、文化四个加分项，最后单独看城市如何对待最穷的人。</a:t>
            </a:r>
          </a:p>
          <a:p/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https://www.health.ny.gov/statistics/vital_statistics/2022/table02.htm</a:t>
            </a:r>
          </a:p>
          <a:p/>
          <a:p>
            <a:r>
              <a:t>https://www.nyc.gov/content/planning/pages/planning/population</a:t>
            </a:r>
          </a:p>
          <a:p/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建议讲述：60秒</a:t>
            </a:r>
          </a:p>
          <a:p>
            <a:r>
              <a:t>15分钟讲述取舍：先讲纽约住房压力，再讲上海举措与 59.0% 对 32.3%，末句明确胜负。</a:t>
            </a:r>
          </a:p>
          <a:p/>
          <a:p>
            <a:r>
              <a:t>讲稿原文</a:t>
            </a:r>
          </a:p>
          <a:p>
            <a:r>
              <a:t>第一项是住。</a:t>
            </a:r>
          </a:p>
          <a:p/>
          <a:p>
            <a:r>
              <a:t>2023 年，纽约市只有 32% 的家庭住在自有住房里，租房家庭中一半以上要把三成以上的收入交房租。租房空置率只有 1.4%，是 1968 年以来最低。</a:t>
            </a:r>
          </a:p>
          <a:p/>
          <a:p>
            <a:r>
              <a:t>根据 2020 年人口普查，上海家庭的自有住房比例为 59%，其中一部分是当年房改时职工购买的原公有住房。普查不含集体宿舍，实际比例会低一些，但两边相差 27 个百分点，差距依然很大。</a:t>
            </a:r>
          </a:p>
          <a:p/>
          <a:p>
            <a:r>
              <a:t>对没有自有住房的人，上海 2025 年筹措了 7.4 万套保障性租赁住房，还为老楼加装了 3,000 多台电梯。</a:t>
            </a:r>
          </a:p>
          <a:p/>
          <a:p>
            <a:r>
              <a:t>在住这一项上，上海有明显优势。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主讲：RIGORNUT</a:t>
            </a:r>
          </a:p>
          <a:p>
            <a:r>
              <a:t>建议讲述：50秒</a:t>
            </a:r>
          </a:p>
          <a:p>
            <a:r>
              <a:t>15分钟讲述取舍：吃讲花销与价格效应，穿讲可贸易商品，避免连续重复 4.7 倍与 7 倍。</a:t>
            </a:r>
          </a:p>
          <a:p/>
          <a:p>
            <a:r>
              <a:t>讲稿原文</a:t>
            </a:r>
          </a:p>
          <a:p>
            <a:r>
              <a:t>吃和穿是上海的短板。2025 年纽约州人均饮食支出 9,394 美元，折合人民币 6.3 万元；上海 2024 年人均食品烟酒支出 1.35 万元，纽约是上海的 4.7 倍。</a:t>
            </a:r>
          </a:p>
          <a:p/>
          <a:p>
            <a:r>
              <a:t>不过餐饮价格随工资水平变化，纽约同样一顿饭也贵得多，所以纽约人吃得好一些，但优势没有数字显示的那么大。</a:t>
            </a:r>
          </a:p>
          <a:p/>
          <a:p>
            <a:r>
              <a:t>穿的差距是压倒性的。纽约州人均衣着支出约 1.3 万元，接近上海 1,936 元的 7 倍。衣服是全球化商品，两地价格相差不大，这一项必须承认纽约的水平高得多。</a:t>
            </a:r>
          </a:p>
          <a:p/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建议讲述：70秒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/>
          <a:p>
            <a:r>
              <a:t>讲稿原文</a:t>
            </a:r>
          </a:p>
          <a:p>
            <a:r>
              <a:t>出行方面，纽约是美国公共交通最发达的城市，将近一半的家庭靠公共交通出行。</a:t>
            </a:r>
          </a:p>
          <a:p/>
          <a:p>
            <a:r>
              <a:t>上海第一条地铁 1993 年才开通，三十多年修了 960 多公里，里程是纽约的两倍多。上海地铁一年运送 37 亿人次，纽约近 13 亿人次，按人口算，两城每人每年都坐 150 次左右。</a:t>
            </a:r>
          </a:p>
          <a:p/>
          <a:p>
            <a:r>
              <a:t>两城的差别在于负担得起与否。纽约坐一次地铁 3 美元，按两城收入差距折算，相当于上海人花 7 元多，上海只要 3 到 4 元；上海还有 18 元的一日票和 45 元的三日票。上海交通和通信合计只占消费的 10.6%，纽约仅交通就占 14%。</a:t>
            </a:r>
          </a:p>
          <a:p/>
          <a:p>
            <a:r>
              <a:t>在日常出行上，上海具有压倒性优势。</a:t>
            </a:r>
          </a:p>
          <a:p/>
          <a:p>
            <a:r>
              <a:t>衣食住行四项，双方各有一项压倒性优势，可以算作二比二打平。</a:t>
            </a:r>
          </a:p>
          <a:p/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https://tjj.sh.gov.cn/ydsj71/20260120/39ae4cd58421478d897b739d83f39c10.html</a:t>
            </a:r>
          </a:p>
          <a:p/>
          <a:p>
            <a:r>
              <a:t>https://tjj.sh.gov.cn/tjgb/20260630/b74619258aee4912a55a1da928b5be30.html</a:t>
            </a:r>
          </a:p>
          <a:p/>
          <a:p>
            <a:r>
              <a:t>https://rentguidelinesboard.cityofnewyork.us/wp-content/uploads/2026/04/2026-IA.pdf</a:t>
            </a:r>
          </a:p>
          <a:p/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建议讲述：100秒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/>
          <a:p>
            <a:r>
              <a:t>讲稿原文</a:t>
            </a:r>
          </a:p>
          <a:p>
            <a:r>
              <a:t>加分项先看医疗。</a:t>
            </a:r>
          </a:p>
          <a:p/>
          <a:p>
            <a:r>
              <a:t>两城的期望寿命几乎相同，上海 83.18 岁，纽约 83.2 岁。</a:t>
            </a:r>
          </a:p>
          <a:p/>
          <a:p>
            <a:r>
              <a:t>差距出在婴儿死亡率和孕产妇死亡率上。婴儿死亡率上海为千分之 2.34，纽约为千分之 4.2；孕产妇死亡率纽约约为上海的 10 倍以上。</a:t>
            </a:r>
          </a:p>
          <a:p/>
          <a:p>
            <a:r>
              <a:t>所以医疗方面，上海优势明显。</a:t>
            </a:r>
          </a:p>
          <a:p/>
          <a:p>
            <a:r>
              <a:t>治安方面，上海每 10 万人杀人案约 0.19 起，纽约约 3.6 起，相差一个数量级，两地没有可比性。</a:t>
            </a:r>
          </a:p>
          <a:p/>
          <a:p>
            <a:r>
              <a:t>教育只比义务教育。生师比上海为 12.5，纽约为 13.2，相差不大，算作打平。</a:t>
            </a:r>
          </a:p>
          <a:p/>
          <a:p>
            <a:r>
              <a:t>但在人口流入较多的嘉定、松江、闵行，一位小学老师要带 15 名学生，比纽约最紧张的学区还紧，区与区之间的均衡是上海要补的。</a:t>
            </a:r>
          </a:p>
          <a:p/>
          <a:p>
            <a:r>
              <a:t>文化方面，上海全市划定了 1,600 个"15 分钟社区生活圈"，公园一年新开放 127 座。</a:t>
            </a:r>
          </a:p>
          <a:p/>
          <a:p>
            <a:r>
              <a:t>不过文化是纽约的传统强项。纽约三大公共图书馆系统有 200 多个网点，市政府今年资助了 1,171 家文化机构，其中 96% 提供免费或有补贴的项目。</a:t>
            </a:r>
          </a:p>
          <a:p/>
          <a:p>
            <a:r>
              <a:t>所以在文化方面，纽约领先。</a:t>
            </a:r>
          </a:p>
          <a:p/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建议讲述：65秒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/>
          <a:p>
            <a:r>
              <a:t>讲稿原文</a:t>
            </a:r>
          </a:p>
          <a:p>
            <a:r>
              <a:t>最后单独看两座城市如何对待最穷的人。</a:t>
            </a:r>
          </a:p>
          <a:p/>
          <a:p>
            <a:r>
              <a:t>上海低保标准城乡统一，2026 年 7 月起为每人每月 1,690 元，全市还有近 2,500 个老年助餐点和 500 多个家门口的就业服务站。</a:t>
            </a:r>
          </a:p>
          <a:p/>
          <a:p>
            <a:r>
              <a:t>纽约官方贫困率为 18%。2025 年的一夜点数显示，纽约市无家可归者有 12.6 万人，其中 4,600 多人露宿街头。</a:t>
            </a:r>
          </a:p>
          <a:p/>
          <a:p>
            <a:r>
              <a:t>这些人在哪里，纽约其实清楚，收容所人数每天公布。问题在于租房空置率只有 1.4%，收容所里的人找不到房子可搬。</a:t>
            </a:r>
          </a:p>
          <a:p/>
          <a:p>
            <a:r>
              <a:t>上海露宿街头的人数官方没有公布，我们不做估计，只比较两边的做法和纽约公布的结果。这一题上海做得好得多，也是纽约失分最重的一题。</a:t>
            </a:r>
          </a:p>
          <a:p/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建议讲述：25秒</a:t>
            </a:r>
          </a:p>
          <a:p>
            <a:r>
              <a:t>讲法：照念数据。</a:t>
            </a:r>
          </a:p>
          <a:p>
            <a:r>
              <a:t>15分钟讲述取舍：从文化与养老接到“上海做了什么”；只说空间分布，四个百分比不逐个念。</a:t>
            </a:r>
          </a:p>
          <a:p/>
          <a:p>
            <a:r>
              <a:t>讲稿原文</a:t>
            </a:r>
          </a:p>
          <a:p>
            <a:r>
              <a:t>换成统一的 1 公里来看，在中心七区，有社区长者食堂的居住用地占 87.5%，有市民健身中心的只占 64%。</a:t>
            </a:r>
          </a:p>
          <a:p>
            <a:r>
              <a:t>吃饭基本在家门口解决了，健身设施还有三分之一以上的居住区覆盖不到。</a:t>
            </a:r>
          </a:p>
          <a:p/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建议讲述：25秒</a:t>
            </a:r>
          </a:p>
          <a:p>
            <a:r>
              <a:t>讲法：照念数据。</a:t>
            </a:r>
          </a:p>
          <a:p>
            <a:r>
              <a:t>15分钟讲述取舍：每个例子一句，承接公共服务，同时为末尾数据透明作伏笔。</a:t>
            </a:r>
          </a:p>
          <a:p/>
          <a:p>
            <a:r>
              <a:t>讲稿原文</a:t>
            </a:r>
          </a:p>
          <a:p>
            <a:r>
              <a:t>办事方面，"一网通办"接入了 3,800 多项服务，实际网办率为 89.53%。</a:t>
            </a:r>
          </a:p>
          <a:p>
            <a:r>
              <a:t>建设方面，普陀区泰山人民坊改造前开了 12 场座谈会，收回 3,826 份问卷，建成后又请居民参加了 3 场评议会。</a:t>
            </a:r>
          </a:p>
          <a:p/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主讲：Mickeeeeeey</a:t>
            </a:r>
          </a:p>
          <a:p>
            <a:r>
              <a:t>建议讲述：25秒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我们还访谈了一位在纽约生活的同学。对方说"这座城市有很多公园"，却也说"突发事件中自己的基本生活保障，也依靠自己是否有储蓄，或者高额的商业保险"。这和托底一题的数据相互印证。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建议讲述：35秒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/>
          <a:p>
            <a:r>
              <a:t>讲稿原文</a:t>
            </a:r>
          </a:p>
          <a:p>
            <a:r>
              <a:t>最后把九道题放在一张表上。</a:t>
            </a:r>
          </a:p>
          <a:p/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/>
          <a:p>
            <a:r>
              <a:t>除了教育打平，其余每一题都分出了胜负，但我们不计算总分。各题差距的大小不同，穿衣是压倒性的，吃饭只是稍胜，一个总分会把这些差别抹平。</a:t>
            </a:r>
          </a:p>
          <a:p/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/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/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/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/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/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建议讲述：90秒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/>
          <a:p>
            <a:r>
              <a:t>讲稿原文</a:t>
            </a:r>
          </a:p>
          <a:p>
            <a:r>
              <a:t>回到开头的问题，纽约能不能叫人民城市？</a:t>
            </a:r>
          </a:p>
          <a:p/>
          <a:p>
            <a:r>
              <a:t>纽约在吃穿和公共文化上答得不错，数据公开也做得更好，这一项不计分，最后单独讲；但在最该答好的一题，也就是如何对待最底层的人上，没有答好，十二万多人无家可归。所以我们的回答是，这张考卷纽约还不算及格。</a:t>
            </a:r>
          </a:p>
          <a:p/>
          <a:p>
            <a:r>
              <a:t>上海的答卷更完整，但人民城市人民建，前提是人民看得到账本，数据公开这一题上海还需要补课。</a:t>
            </a:r>
          </a:p>
          <a:p/>
          <a:p>
            <a:r>
              <a:t>上海的地铁才通了三十多年，乘坐次数已经和纽约一样多，两座城市能放在同一张考卷上比较，而且有输有赢，这本身就是一种进步。</a:t>
            </a:r>
          </a:p>
          <a:p/>
          <a:p>
            <a:r>
              <a:t>不过这个比较不能扩大化。纽约输掉的住房和底层保障，在美国也是出了名的差，纽约人口不到全美的 3%，无家可归者却占六分之一；上海输掉的吃和穿，在国内已经处于前列，人均饮食支出是全国平均的 1.6 倍。纽约在美国并不典型，上海在中国同样不典型。</a:t>
            </a:r>
          </a:p>
          <a:p/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/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/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建议讲述：25秒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最后谈数据透明，这一项不计分。</a:t>
            </a:r>
          </a:p>
          <a:p/>
          <a:p>
            <a:r>
              <a:t>在上海办事很方便，"一网通办"的好评率达到 99.94%。</a:t>
            </a:r>
          </a:p>
          <a:p/>
          <a:p>
            <a:r>
              <a:t>但一到查数据就困难得多。上海的公厕明细需要申请，租金统计和露宿人数没有公布，户籍人口期望寿命 2022 年以后也没有更新。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建议讲述：40秒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年就通过立法，规定政府数据默认公开，不公开需要说明理由，收容所的入住人数每天更新。</a:t>
            </a:r>
          </a:p>
          <a:p/>
          <a:p>
            <a:r>
              <a:t>一项住房政策是否有效，要看房租负担有没有下降；一套托底制度保障了多少人，要看还有多少人露宿街头。只靠替代数据和估算数据，政策就很难得到理性的反馈。</a:t>
            </a:r>
          </a:p>
          <a:p/>
          <a:p>
            <a:r>
              <a:t>人民城市人民建。要让人民真正参与城市建设，就应该尽可能把城市运行的数据公开出来。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主讲：JohnnyGanYu</a:t>
            </a:r>
          </a:p>
          <a:p>
            <a:r>
              <a:t>建议讲述：10秒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这次用到的数据、出处和计算过程都已公开，链接就在这一页，欢迎大家核对和指正。谢谢大家。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4EFE8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solidFill>
            <a:srgbClr val="F5F0E9"/>
          </a:solidFill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25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26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28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29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