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17dfaf8aa5f945aa" Type="http://schemas.openxmlformats.org/officeDocument/2006/relationships/officeDocument" Target="ppt/presentation.xml"/><Relationship Id="R538893a8fc49497e" Type="http://schemas.openxmlformats.org/package/2006/relationships/metadata/core-properties" Target="docProps/core.xml"/><Relationship Id="Rd9b5cb33615e402a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9b5144f1a6b4810"/>
  </p:sldMasterIdLst>
  <p:notesMasterIdLst>
    <p:notesMasterId xmlns:r="http://schemas.openxmlformats.org/officeDocument/2006/relationships" r:id="R33275c9ea68044a9"/>
  </p:notesMasterIdLst>
  <p:sldIdLst>
    <p:sldId xmlns:r="http://schemas.openxmlformats.org/officeDocument/2006/relationships" id="256" r:id="R52891a0fbe854aed"/>
    <p:sldId xmlns:r="http://schemas.openxmlformats.org/officeDocument/2006/relationships" id="257" r:id="R14664abed6214258"/>
    <p:sldId xmlns:r="http://schemas.openxmlformats.org/officeDocument/2006/relationships" id="258" r:id="R8cf57bf3d65d45f3"/>
    <p:sldId xmlns:r="http://schemas.openxmlformats.org/officeDocument/2006/relationships" id="259" r:id="R4d11c15412504a0a"/>
    <p:sldId xmlns:r="http://schemas.openxmlformats.org/officeDocument/2006/relationships" id="260" r:id="Ref682f6141944723"/>
    <p:sldId xmlns:r="http://schemas.openxmlformats.org/officeDocument/2006/relationships" id="261" r:id="R1520c3dff7384669"/>
    <p:sldId xmlns:r="http://schemas.openxmlformats.org/officeDocument/2006/relationships" id="262" r:id="R8d325286b4e14920"/>
    <p:sldId xmlns:r="http://schemas.openxmlformats.org/officeDocument/2006/relationships" id="263" r:id="R05fa8b66b5414723"/>
    <p:sldId xmlns:r="http://schemas.openxmlformats.org/officeDocument/2006/relationships" id="264" r:id="R4337992bff6b419b"/>
    <p:sldId xmlns:r="http://schemas.openxmlformats.org/officeDocument/2006/relationships" id="265" r:id="R91afe412b5de4738"/>
    <p:sldId xmlns:r="http://schemas.openxmlformats.org/officeDocument/2006/relationships" id="266" r:id="Rddcd458038fc4241"/>
    <p:sldId xmlns:r="http://schemas.openxmlformats.org/officeDocument/2006/relationships" id="267" r:id="R7c871cf1126f4a2c"/>
    <p:sldId xmlns:r="http://schemas.openxmlformats.org/officeDocument/2006/relationships" id="268" r:id="R968faaa51b4f45fe"/>
    <p:sldId xmlns:r="http://schemas.openxmlformats.org/officeDocument/2006/relationships" id="269" r:id="R8c2435065338437d"/>
    <p:sldId xmlns:r="http://schemas.openxmlformats.org/officeDocument/2006/relationships" id="270" r:id="R5211c18bbef442e4"/>
    <p:sldId xmlns:r="http://schemas.openxmlformats.org/officeDocument/2006/relationships" id="271" r:id="Rd8e73cdcd384483a"/>
    <p:sldId xmlns:r="http://schemas.openxmlformats.org/officeDocument/2006/relationships" id="272" r:id="R6cbbc5ec3340466b"/>
    <p:sldId xmlns:r="http://schemas.openxmlformats.org/officeDocument/2006/relationships" id="273" r:id="R64c70686ae064585"/>
    <p:sldId xmlns:r="http://schemas.openxmlformats.org/officeDocument/2006/relationships" id="274" r:id="R6f415346081c4ad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5fa8b66b5414723" Type="http://schemas.openxmlformats.org/officeDocument/2006/relationships/slide" Target="slides/slide8.xml"/><Relationship Id="R14664abed6214258" Type="http://schemas.openxmlformats.org/officeDocument/2006/relationships/slide" Target="slides/slide2.xml"/><Relationship Id="R1520c3dff7384669" Type="http://schemas.openxmlformats.org/officeDocument/2006/relationships/slide" Target="slides/slide6.xml"/><Relationship Id="R33275c9ea68044a9" Type="http://schemas.openxmlformats.org/officeDocument/2006/relationships/notesMaster" Target="notesMasters/notesMaster1.xml"/><Relationship Id="R4337992bff6b419b" Type="http://schemas.openxmlformats.org/officeDocument/2006/relationships/slide" Target="slides/slide9.xml"/><Relationship Id="R4d11c15412504a0a" Type="http://schemas.openxmlformats.org/officeDocument/2006/relationships/slide" Target="slides/slide4.xml"/><Relationship Id="R5211c18bbef442e4" Type="http://schemas.openxmlformats.org/officeDocument/2006/relationships/slide" Target="slides/slide15.xml"/><Relationship Id="R52891a0fbe854aed" Type="http://schemas.openxmlformats.org/officeDocument/2006/relationships/slide" Target="slides/slide1.xml"/><Relationship Id="R64c70686ae064585" Type="http://schemas.openxmlformats.org/officeDocument/2006/relationships/slide" Target="slides/slide18.xml"/><Relationship Id="R6cbbc5ec3340466b" Type="http://schemas.openxmlformats.org/officeDocument/2006/relationships/slide" Target="slides/slide17.xml"/><Relationship Id="R6eb0a00e52d144dd" Type="http://schemas.openxmlformats.org/officeDocument/2006/relationships/presProps" Target="presProps.xml"/><Relationship Id="R6f415346081c4ad4" Type="http://schemas.openxmlformats.org/officeDocument/2006/relationships/slide" Target="slides/slide19.xml"/><Relationship Id="R7c871cf1126f4a2c" Type="http://schemas.openxmlformats.org/officeDocument/2006/relationships/slide" Target="slides/slide12.xml"/><Relationship Id="R8c2435065338437d" Type="http://schemas.openxmlformats.org/officeDocument/2006/relationships/slide" Target="slides/slide14.xml"/><Relationship Id="R8cf57bf3d65d45f3" Type="http://schemas.openxmlformats.org/officeDocument/2006/relationships/slide" Target="slides/slide3.xml"/><Relationship Id="R8d325286b4e14920" Type="http://schemas.openxmlformats.org/officeDocument/2006/relationships/slide" Target="slides/slide7.xml"/><Relationship Id="R8d341f5ba2484e36" Type="http://schemas.openxmlformats.org/officeDocument/2006/relationships/tableStyles" Target="tableStyles.xml"/><Relationship Id="R91afe412b5de4738" Type="http://schemas.openxmlformats.org/officeDocument/2006/relationships/slide" Target="slides/slide10.xml"/><Relationship Id="R968faaa51b4f45fe" Type="http://schemas.openxmlformats.org/officeDocument/2006/relationships/slide" Target="slides/slide13.xml"/><Relationship Id="Rd8e73cdcd384483a" Type="http://schemas.openxmlformats.org/officeDocument/2006/relationships/slide" Target="slides/slide16.xml"/><Relationship Id="Rddcd458038fc4241" Type="http://schemas.openxmlformats.org/officeDocument/2006/relationships/slide" Target="slides/slide11.xml"/><Relationship Id="Rec9d4566170b4425" Type="http://schemas.openxmlformats.org/officeDocument/2006/relationships/theme" Target="theme/theme1.xml"/><Relationship Id="Ref682f6141944723" Type="http://schemas.openxmlformats.org/officeDocument/2006/relationships/slide" Target="slides/slide5.xml"/><Relationship Id="Rf9b5144f1a6b4810" Type="http://schemas.openxmlformats.org/officeDocument/2006/relationships/slideMaster" Target="slideMasters/slideMaster1.xml"/></Relationships>
</file>

<file path=ppt/notesMasters/_rels/notesMaster1.xml.rels><?xml version='1.0' encoding='UTF-8' standalone='yes'?>
<Relationships xmlns="http://schemas.openxmlformats.org/package/2006/relationships"><Relationship Id="R46a78284249b408a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7b0b5d28c0da4d33" Type="http://schemas.openxmlformats.org/officeDocument/2006/relationships/slide" Target="../slides/slide1.xml"/><Relationship Id="Rc6601ab60d5c423f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242bb5cc701649c6" Type="http://schemas.openxmlformats.org/officeDocument/2006/relationships/notesMaster" Target="../notesMasters/notesMaster1.xml"/><Relationship Id="Raf3e2ad1238846ca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134d9e97784d43e4" Type="http://schemas.openxmlformats.org/officeDocument/2006/relationships/notesMaster" Target="../notesMasters/notesMaster1.xml"/><Relationship Id="R8a2eb7c7a115459f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3fae7f6f336e403a" Type="http://schemas.openxmlformats.org/officeDocument/2006/relationships/slide" Target="../slides/slide4.xml"/><Relationship Id="R89c7c1dedcfb45e6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89f2059eaf2e4ef9" Type="http://schemas.openxmlformats.org/officeDocument/2006/relationships/slide" Target="../slides/slide5.xml"/><Relationship Id="Rb685cea295e74236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855c9ea54b564f7e" Type="http://schemas.openxmlformats.org/officeDocument/2006/relationships/notesMaster" Target="../notesMasters/notesMaster1.xml"/><Relationship Id="R8e9f8034365247da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4787fcbe27784f9e" Type="http://schemas.openxmlformats.org/officeDocument/2006/relationships/notesMaster" Target="../notesMasters/notesMaster1.xml"/><Relationship Id="R5e18008d087f42ae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1f032cd0f8664756" Type="http://schemas.openxmlformats.org/officeDocument/2006/relationships/slide" Target="../slides/slide8.xml"/><Relationship Id="R392a26616c254beb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49ac2edf66af436d" Type="http://schemas.openxmlformats.org/officeDocument/2006/relationships/notesMaster" Target="../notesMasters/notesMaster1.xml"/><Relationship Id="Rd257e6ed8a5942ee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4c70c1f7d3bb41f2" Type="http://schemas.openxmlformats.org/officeDocument/2006/relationships/slide" Target="../slides/slide10.xml"/><Relationship Id="R75857283f3d049ad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64a70cb07cb84743" Type="http://schemas.openxmlformats.org/officeDocument/2006/relationships/notesMaster" Target="../notesMasters/notesMaster1.xml"/><Relationship Id="Rfc54212fdd364f85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6c60d4038f3e4fa7" Type="http://schemas.openxmlformats.org/officeDocument/2006/relationships/slide" Target="../slides/slide12.xml"/><Relationship Id="R986342a2162540e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471e5496bdb44b26" Type="http://schemas.openxmlformats.org/officeDocument/2006/relationships/notesMaster" Target="../notesMasters/notesMaster1.xml"/><Relationship Id="R814be13ed0434ba3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15eb3856e8e8488e" Type="http://schemas.openxmlformats.org/officeDocument/2006/relationships/notesMaster" Target="../notesMasters/notesMaster1.xml"/><Relationship Id="Rf3b8032a110c479a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34414774d2444499" Type="http://schemas.openxmlformats.org/officeDocument/2006/relationships/notesMaster" Target="../notesMasters/notesMaster1.xml"/><Relationship Id="R6271c8213fdb465f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293bc9b5e8524697" Type="http://schemas.openxmlformats.org/officeDocument/2006/relationships/slide" Target="../slides/slide16.xml"/><Relationship Id="R5930f52ff079431e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c572c27035784dc9" Type="http://schemas.openxmlformats.org/officeDocument/2006/relationships/notesMaster" Target="../notesMasters/notesMaster1.xml"/><Relationship Id="Rd8328e82c41d481a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56301bacf3284d21" Type="http://schemas.openxmlformats.org/officeDocument/2006/relationships/slide" Target="../slides/slide18.xml"/><Relationship Id="R7c7e57b8049842b3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5b1fb211969a4de5" Type="http://schemas.openxmlformats.org/officeDocument/2006/relationships/slide" Target="../slides/slide19.xml"/><Relationship Id="R8478b75e77fc40c1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建议讲述：25秒</a:t>
            </a:r>
          </a:p>
          <a:p xmlns:a="http://schemas.openxmlformats.org/drawingml/2006/main">
            <a:r>
              <a:t>15分钟讲述取舍：定义只说一句，不在封面解释所有分项。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讲稿原文</a:t>
            </a:r>
          </a:p>
          <a:p xmlns:a="http://schemas.openxmlformats.org/drawingml/2006/main">
            <a:r>
              <a:t>人民城市强调以人民为中心，让城市建设和治理回应普通人的生活需要。今天把这个问题拆成一张日常生活的考卷：上海做了什么，纽约能不能交出一份合格的答卷？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数据来源与完整口径</a:t>
            </a:r>
          </a:p>
          <a:p xmlns:a="http://schemas.openxmlformats.org/drawingml/2006/main">
            <a:r>
              <a:t>新华社《习近平：人民城市人民建，人民城市为人民》，中国政府网，2019-11-03</a:t>
            </a:r>
          </a:p>
          <a:p xmlns:a="http://schemas.openxmlformats.org/drawingml/2006/main">
            <a:r>
              <a:t>https://www.gov.cn/xinwen/2019-11/03/content_5448082.htm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外滩滨江步道照片：d’n’c / Wikimedia Commons · CC BY-SA 2.0 · 2007</a:t>
            </a:r>
          </a:p>
          <a:p xmlns:a="http://schemas.openxmlformats.org/drawingml/2006/main">
            <a:r>
              <a:t>https://commons.wikimedia.org/wiki/File:Promenade_-The_Bund_(Wai_Tan)_Shanghai-_(685405681).jpg</a:t>
            </a:r>
          </a:p>
          <a:p xmlns:a="http://schemas.openxmlformats.org/drawingml/2006/main">
            <a:r>
              <a:t>https://creativecommons.org/licenses/by-sa/2.0</a:t>
            </a:r>
          </a:p>
          <a:p xmlns:a="http://schemas.openxmlformats.org/drawingml/2006/main">
            <a:r>
              <a:t>本页为概念引入；第2页开始贴讲稿第1节。采用原彩色照片，未改变空间内容。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建议讲述：80秒</a:t>
            </a:r>
          </a:p>
          <a:p xmlns:a="http://schemas.openxmlformats.org/drawingml/2006/main">
            <a:r>
              <a:t>15分钟讲述取舍：开场问题、改造实例、密度差异各一段；原文砍半敏感性计算可略。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讲稿原文</a:t>
            </a:r>
          </a:p>
          <a:p xmlns:a="http://schemas.openxmlformats.org/drawingml/2006/main">
            <a:r>
              <a:t>先问大家一个问题：在纽约逛街，突然想上厕所，怎么办？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答案是，不太好办。纽约市政府管的公厕一共一千零六十多座，正常开放的不到一千座。纽约八百五十多万人，算下来将近九千人才摊到一座能用的。全天二十四小时开门的，整个纽约市只有八座。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上海这几年在公厕上是下了真功夫的。两千六百多座环卫公厕做了适老、适幼改造，一千二百多座配了第三卫生间；两千六百多座免费供应厕纸，两千多座冬天有热水。上海还在推动商场、地铁站、文化场馆的厕所向公众开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上海一共有多少处公厕？统计公报里查不到，开放平台上的公共厕所数据集记录了八千三百多处，大约三千人一处，密度是纽约的三倍左右。纽约那个数只算市政府管的，上海这个数据集统计得可能更宽；就算把这八千多处砍掉一半，也还是六千人一处，比纽约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公厕不赚钱，用得最多的是环卫工、快递员和上了年纪的人。看一座城市怎么管公厕，大致能看出它怎么对待普通人。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数据来源与完整口径</a:t>
            </a:r>
          </a:p>
          <a:p xmlns:a="http://schemas.openxmlformats.org/drawingml/2006/main">
            <a:r>
              <a:t>https://data.sh.gov.cn/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https://lhsr.sh.gov.cn/ywdt/20260401/00d7c161-8280-490c-a0da-d6c995e85058.html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https://lhsr.sh.gov.cn/ywdt/20251204/b016509f-60a6-46cd-83fa-fdab372175c7.html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https://council.nyc.gov/data/public-restroom-analysis/</a:t>
            </a:r>
          </a:p>
          <a:p xmlns:a="http://schemas.openxmlformats.org/drawingml/2006/main">
            <a:r>
              <a:t>上海记录元数据：开放平台“城市设施-公共厕所”接口元数据；2020–2025时间范围，2026-09-21更新；有条件开放。人口2485.41万人÷8325≈2985人/条；纽约8584629÷973≈8823人/座。上海尚未清洗明细，不能写成已核实公厕总数。</a:t>
            </a:r>
          </a:p>
          <a:p xmlns:a="http://schemas.openxmlformats.org/drawingml/2006/main">
            <a:r>
              <a:t>截图保留原始色彩、文字和数值。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建议讲述：80秒</a:t>
            </a:r>
          </a:p>
          <a:p xmlns:a="http://schemas.openxmlformats.org/drawingml/2006/main">
            <a:r>
              <a:t>15分钟讲述取舍：压缩 GDP、HDI、PPP 方法论铺垫；重点说政府管辖范围和收入量级。</a:t>
            </a:r>
          </a:p>
          <a:p xmlns:a="http://schemas.openxmlformats.org/drawingml/2006/main"/>
          <a:p xmlns:a="http://schemas.openxmlformats.org/drawingml/2006/main">
            <a:r>
              <a:t>讲稿原文</a:t>
            </a:r>
          </a:p>
          <a:p xmlns:a="http://schemas.openxmlformats.org/drawingml/2006/main">
            <a:r>
              <a:t>今天的题目是：纽约能不能叫人民城市？</a:t>
            </a:r>
          </a:p>
          <a:p xmlns:a="http://schemas.openxmlformats.org/drawingml/2006/main"/>
          <a:p xmlns:a="http://schemas.openxmlformats.org/drawingml/2006/main">
            <a:r>
              <a:t>要回答它，不能看一座城市怎么称呼自己，得放到具体的生活里去比。</a:t>
            </a:r>
          </a:p>
          <a:p xmlns:a="http://schemas.openxmlformats.org/drawingml/2006/main"/>
          <a:p xmlns:a="http://schemas.openxmlformats.org/drawingml/2006/main">
            <a:r>
              <a:t>怎么比？最常用的尺子是 GDP 和人均收入，但它们有个毛病：房租、看病、上学、理发这些服务，价格都是本地定的，没法拿现金直接换算。联合国的人类发展指数把寿命、教育、收入放在一起算，还是太粗；购买力平价算了几十年，到现在也没有一个公认的版本。所以我们只能把日常生活拆开，一项一项地比，用普通人看得懂的指标。</a:t>
            </a:r>
          </a:p>
          <a:p xmlns:a="http://schemas.openxmlformats.org/drawingml/2006/main"/>
          <a:p xmlns:a="http://schemas.openxmlformats.org/drawingml/2006/main">
            <a:r>
              <a:t>比之前，先得说清楚比的是哪个纽约。纽约市有五个区，780 平方公里，850 多万人，面积只有上海的八分之一。上海全市 6,300 多平方公里，2,480 多万人，其中将近 1,000 万是外地来沪的常住人口。纽约都会区两千万人，规模更接近上海，但它跨了三个州，没有一个统一的政府。我们要看的是一座城市的政府怎么对待自己的市民，所以拿纽约市政府管的五个区，对比上海市政府管的全市，比较合适。面积差了八倍，比总量没有意义，所以下面凡是能算人均的，我们都算人均。</a:t>
            </a:r>
          </a:p>
          <a:p xmlns:a="http://schemas.openxmlformats.org/drawingml/2006/main"/>
          <a:p xmlns:a="http://schemas.openxmlformats.org/drawingml/2006/main">
            <a:r>
              <a:t>再看收入。2024 年，纽约一户人家的收入中位数是 8.1 万美元，折合人民币约 55 万元。上海 2025 年人均可支配收入 9.2 万元，一户平均 2.24 人，一户约 20.6 万元。纽约是上海的两倍半以上。纽约这个数是税前的，扣完税要缩水；上海这个数是平均数，普通家庭够不着平均数，也要缩水。两边都挤掉水分，还是两倍半上下。从手里的现金看，纽约比上海宽裕得多。</a:t>
            </a:r>
          </a:p>
          <a:p xmlns:a="http://schemas.openxmlformats.org/drawingml/2006/main"/>
          <a:p xmlns:a="http://schemas.openxmlformats.org/drawingml/2006/main">
            <a:r>
              <a:t>但收入差两倍半，不等于日子差两倍半。所以我们先比住、吃、穿、行四个基本项，再比医疗、治安、教育、文化四个加分项，最后单独看一题：怎么对待最穷的人。能找到上海具体做法的题，我们先讲上海做了什么，再看结果。</a:t>
            </a:r>
          </a:p>
          <a:p xmlns:a="http://schemas.openxmlformats.org/drawingml/2006/main"/>
          <a:p xmlns:a="http://schemas.openxmlformats.org/drawingml/2006/main">
            <a:r>
              <a:t>数据来源与完整口径</a:t>
            </a:r>
          </a:p>
          <a:p xmlns:a="http://schemas.openxmlformats.org/drawingml/2006/main">
            <a:r>
              <a:t>https://tjj.sh.gov.cn/ydsj71/20260120/39ae4cd58421478d897b739d83f39c10.html</a:t>
            </a:r>
          </a:p>
          <a:p xmlns:a="http://schemas.openxmlformats.org/drawingml/2006/main"/>
          <a:p xmlns:a="http://schemas.openxmlformats.org/drawingml/2006/main">
            <a:r>
              <a:t>https://tjj.sh.gov.cn/tjgb/20260630/b74619258aee4912a55a1da928b5be30.html</a:t>
            </a:r>
          </a:p>
          <a:p xmlns:a="http://schemas.openxmlformats.org/drawingml/2006/main"/>
          <a:p xmlns:a="http://schemas.openxmlformats.org/drawingml/2006/main">
            <a:r>
              <a:t>https://rentguidelinesboard.cityofnewyork.us/wp-content/uploads/2026/04/2026-IA.pdf</a:t>
            </a:r>
          </a:p>
          <a:p xmlns:a="http://schemas.openxmlformats.org/drawingml/2006/main"/>
          <a:p xmlns:a="http://schemas.openxmlformats.org/drawingml/2006/main">
            <a:r>
              <a:t>https://tjj.sh.gov.cn/tjgb/20260330/e0772941e8e041eaaad2df850b44ef98.html</a:t>
            </a:r>
          </a:p>
          <a:p xmlns:a="http://schemas.openxmlformats.org/drawingml/2006/main"/>
          <a:p xmlns:a="http://schemas.openxmlformats.org/drawingml/2006/main">
            <a:r>
              <a:t>https://www.health.ny.gov/statistics/vital_statistics/2022/table02.htm</a:t>
            </a:r>
          </a:p>
          <a:p xmlns:a="http://schemas.openxmlformats.org/drawingml/2006/main"/>
          <a:p xmlns:a="http://schemas.openxmlformats.org/drawingml/2006/main">
            <a:r>
              <a:t>https://www.nyc.gov/content/planning/pages/planning/population</a:t>
            </a:r>
          </a:p>
          <a:p xmlns:a="http://schemas.openxmlformats.org/drawingml/2006/main"/>
          <a:p xmlns:a="http://schemas.openxmlformats.org/drawingml/2006/main">
            <a:r>
              <a:t>口径：</a:t>
            </a:r>
          </a:p>
          <a:p xmlns:a="http://schemas.openxmlformats.org/drawingml/2006/main">
            <a:r>
              <a:t>纽约为税前户收入中位数；上海由人均可支配收入均值×家庭户规模估算。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建议讲述：75秒</a:t>
            </a:r>
          </a:p>
          <a:p xmlns:a="http://schemas.openxmlformats.org/drawingml/2006/main">
            <a:r>
              <a:t>15分钟讲述取舍：先讲纽约住房压力，再讲上海举措与 59.0% 对 32.3%，末句明确胜负。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讲稿原文</a:t>
            </a:r>
          </a:p>
          <a:p xmlns:a="http://schemas.openxmlformats.org/drawingml/2006/main">
            <a:r>
              <a:t>住是日常开销里最大的一块，也最值得比。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纽约的问题在于，大多数人住的房子不是自己的。2023 年，纽约市只有 32% 的家庭住在自己的房子里，三分之二租房；租房的家庭里，一半以上要把三成以上的收入交给房东。租房空置率只有 1.4%，是 1968 年以来最低。在纽约，连找到一套能租的房子都难。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上海的情况正好相反。2020 年人口普查，上海家庭的自有住房比例是 59%。这里面有一块，是当年房改时职工买下的原公有住房，算是住房政策留下的成果。普查只算家庭户，住集体宿舍的人没算进去，真实比例会低一些；但两边差了 27 个百分点，扣掉几个点也还是一大截。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没有自己房子的人，上海这几年也在管。2025 年一年筹措了 7.4 万套保障性租赁住房，给一线务工人员备下 3.2 万张床位。老小区也在修，一年给老楼加装了 3,000 多台电梯。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房租负担本来是更直接的指标，可上海统计部门不公布租金，商业网站上的数各说各话，这一项我们只好放弃，最后再说。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59% 对 32%，住这方面，上海有明显优势。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数据来源与完整口径</a:t>
            </a:r>
          </a:p>
          <a:p xmlns:a="http://schemas.openxmlformats.org/drawingml/2006/main">
            <a:r>
              <a:t>https://tjj.sh.gov.cn/tjnj/2020rktjnj/BNJc-9-4.jpg</a:t>
            </a:r>
          </a:p>
          <a:p xmlns:a="http://schemas.openxmlformats.org/drawingml/2006/main">
            <a:r>
              <a:t>https://www.nyc.gov/assets/hpd/downloads/pdfs/about/2023%20NYCHVS%20Selected%20Initial%20Findings.pdf</a:t>
            </a:r>
          </a:p>
          <a:p xmlns:a="http://schemas.openxmlformats.org/drawingml/2006/main">
            <a:r>
              <a:t>https://tjj.sh.gov.cn/tjgb/20260330/e0772941e8e041eaaad2df850b44ef98.html</a:t>
            </a:r>
          </a:p>
          <a:p xmlns:a="http://schemas.openxmlformats.org/drawingml/2006/main">
            <a:r>
              <a:t>上海为七普长表家庭户，纽约为HVS已入住住房；分母与年份不同。</a:t>
            </a:r>
          </a:p>
          <a:p xmlns:a="http://schemas.openxmlformats.org/drawingml/2006/main">
            <a:r>
              <a:t>纽约租金负担51.6%为2024ACS，2026 RGB报告引用；租赁空置率1.41%来自2023 HVS。上海7.4万为建设筹措量，非全部交付量。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建议讲述：75秒</a:t>
            </a:r>
          </a:p>
          <a:p xmlns:a="http://schemas.openxmlformats.org/drawingml/2006/main">
            <a:r>
              <a:t>15分钟讲述取舍：吃讲花销与价格效应，穿讲可贸易商品，避免连续重复 4.7 倍与 7 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讲稿原文</a:t>
            </a:r>
          </a:p>
          <a:p xmlns:a="http://schemas.openxmlformats.org/drawingml/2006/main">
            <a:r>
              <a:t>吃和穿，是上海的短板。纽约市没有单独的统计，我们用纽约州的数据：2025 年，纽约州人均一年在家吃饭花 4,389 美元，在外吃饭花 5,005 美元，加起来 9,394 美元，折合人民币 6.3 万元。上海 2024 年人均食品烟酒支出 1.35 万元，纽约是上海的 4.7 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但这个 4.7 倍不能按字面来看。餐饮价格和工资关联很大，纽约工资高，同样一顿饭也贵得多，花的钱多不等于吃得好那么多。反过来，美国的基础农产品供应水平确实比我们高。所以吃这一项，纽约人比上海人吃得好一些，但优势没有数字看上去那么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穿就是压倒性的了。2024 年，上海人均一年买衣服花 1,936 元；2025 年，纽约州人均花 1,947 美元，折合人民币 1.3 万元，接近上海的 7 倍。这次不能拿购买力做借口：衣服是全球化程度最高的商品，同一件衣服在两地的价格差不了太多，花的钱差 7 倍，就是穿得差。这方面必须承认，纽约的水平高得多。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数据来源与完整口径</a:t>
            </a:r>
          </a:p>
          <a:p xmlns:a="http://schemas.openxmlformats.org/drawingml/2006/main">
            <a:r>
              <a:t>https://apps.bea.gov/regional/zip/SAPCE.zip</a:t>
            </a:r>
          </a:p>
          <a:p xmlns:a="http://schemas.openxmlformats.org/drawingml/2006/main">
            <a:r>
              <a:t>https://tjj.sh.gov.cn/tjnj/2025tjnj/C0905.htm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https://apps.bea.gov/regional/zip/SAPCE.zip</a:t>
            </a:r>
          </a:p>
          <a:p xmlns:a="http://schemas.openxmlformats.org/drawingml/2006/main">
            <a:r>
              <a:t>https://tjj.sh.gov.cn/tjnj/2025tjnj/C0905.htm</a:t>
            </a:r>
          </a:p>
          <a:p xmlns:a="http://schemas.openxmlformats.org/drawingml/2006/main">
            <a:r>
              <a:t>纽约州2025在家食品饮料4389美元，餐饮住宿5005美元（含住宿），合9394美元，折63249.802元；上海食品烟酒13550元。衣着纽约州1947美元×6.733=13109.151元，对上海1936元。不得把餐饮住宿写成纯餐饮。数据与图示为官方年度消费记录，不采用Wise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建议讲述：80秒</a:t>
            </a:r>
          </a:p>
          <a:p xmlns:a="http://schemas.openxmlformats.org/drawingml/2006/main">
            <a:r>
              <a:t>15分钟讲述取舍：只保留一个票价折算例子；正文不报衣食住行“二比二”。备注仍完整保留新版第 5 节原文。</a:t>
            </a:r>
          </a:p>
          <a:p xmlns:a="http://schemas.openxmlformats.org/drawingml/2006/main"/>
          <a:p xmlns:a="http://schemas.openxmlformats.org/drawingml/2006/main">
            <a:r>
              <a:t>讲稿原文</a:t>
            </a:r>
          </a:p>
          <a:p xmlns:a="http://schemas.openxmlformats.org/drawingml/2006/main">
            <a:r>
              <a:t>纽约是美国公共交通最好的城市。将近一半的纽约家庭靠公共交通出行，全美只有 4%。所以纽约都会区的家庭，花在交通上的钱只占消费的 14%，全美平均是 17%。</a:t>
            </a:r>
          </a:p>
          <a:p xmlns:a="http://schemas.openxmlformats.org/drawingml/2006/main"/>
          <a:p xmlns:a="http://schemas.openxmlformats.org/drawingml/2006/main">
            <a:r>
              <a:t>但放到上海面前，纽约这点优势就不够看了。上海第一条地铁 1993 年才开通，三十多年修了 22 条线、960 多公里，是纽约的两倍多；地铁和公交两小时内换乘，还能优惠 1 块钱。2025 年，上海地铁运了 37 亿人次，纽约将近 13 亿人次，按人头算，两边每人每年都坐 150 次左右，用得一样多。</a:t>
            </a:r>
          </a:p>
          <a:p xmlns:a="http://schemas.openxmlformats.org/drawingml/2006/main"/>
          <a:p xmlns:a="http://schemas.openxmlformats.org/drawingml/2006/main">
            <a:r>
              <a:t>差别在用不用得起。纽约坐一趟地铁 3 美元，合人民币 20 块钱；就算按两城两倍半的收入差距打个折，也相当于上海人花 7 块多钱坐一趟，上海只要 3 到 4 块。纽约一周通勤最多收 35 美元，打完折也要 90 块左右，上海按一周 10 趟、每趟 4 块算，是 40 块。上海还有 18 块钱的一日票、45 块钱的三日票，72 小时随便坐。上海交通加通信两项合计，只占消费的 10.6%，纽约光交通一项就是 14%。</a:t>
            </a:r>
          </a:p>
          <a:p xmlns:a="http://schemas.openxmlformats.org/drawingml/2006/main"/>
          <a:p xmlns:a="http://schemas.openxmlformats.org/drawingml/2006/main">
            <a:r>
              <a:t>对比下来，显然是上海的性价比更高。日常出行，上海是压倒性优势。</a:t>
            </a:r>
          </a:p>
          <a:p xmlns:a="http://schemas.openxmlformats.org/drawingml/2006/main"/>
          <a:p xmlns:a="http://schemas.openxmlformats.org/drawingml/2006/main">
            <a:r>
              <a:t>衣食住行四项比下来：上海出行领先得最多，住房明显占优；纽约穿衣差距最大，吃饭稍微胜出。双方各有一个压倒性优势，这四项算二比二打平。这只是给基本项收个尾，整张卷子我们不算总分，原因到计分表再说。</a:t>
            </a:r>
          </a:p>
          <a:p xmlns:a="http://schemas.openxmlformats.org/drawingml/2006/main"/>
          <a:p xmlns:a="http://schemas.openxmlformats.org/drawingml/2006/main">
            <a:r>
              <a:t>数据来源与完整口径</a:t>
            </a:r>
          </a:p>
          <a:p xmlns:a="http://schemas.openxmlformats.org/drawingml/2006/main">
            <a:r>
              <a:t>https://portal.311.nyc.gov/article/?kanumber=KA-01014</a:t>
            </a:r>
          </a:p>
          <a:p xmlns:a="http://schemas.openxmlformats.org/drawingml/2006/main">
            <a:r>
              <a:t>https://www.nyc.gov/site/opa/commuters/commuters.page</a:t>
            </a:r>
          </a:p>
          <a:p xmlns:a="http://schemas.openxmlformats.org/drawingml/2006/main">
            <a:r>
              <a:t>https://service.shmetro.com/cpxz/3983.htm</a:t>
            </a:r>
          </a:p>
          <a:p xmlns:a="http://schemas.openxmlformats.org/drawingml/2006/main">
            <a:r>
              <a:t>https://service.shmetro.com/pwyh/index.htm</a:t>
            </a:r>
          </a:p>
          <a:p xmlns:a="http://schemas.openxmlformats.org/drawingml/2006/main">
            <a:r>
              <a:t>https://service.shmetro.com/cpxz/index.htm</a:t>
            </a:r>
          </a:p>
          <a:p xmlns:a="http://schemas.openxmlformats.org/drawingml/2006/main">
            <a:r>
              <a:t>https://tjj.sh.gov.cn/tjnj/2025tjnj/C0913.htm</a:t>
            </a:r>
          </a:p>
          <a:p xmlns:a="http://schemas.openxmlformats.org/drawingml/2006/main">
            <a:r>
              <a:t>https://www.bls.gov/regions/northeast/news-release/consumerexpenditures_newyork.htm</a:t>
            </a:r>
          </a:p>
          <a:p xmlns:a="http://schemas.openxmlformats.org/drawingml/2006/main"/>
          <a:p xmlns:a="http://schemas.openxmlformats.org/drawingml/2006/main">
            <a:r>
              <a:t>https://tjj.sh.gov.cn/ydsj71/20260120/39ae4cd58421478d897b739d83f39c10.html</a:t>
            </a:r>
          </a:p>
          <a:p xmlns:a="http://schemas.openxmlformats.org/drawingml/2006/main"/>
          <a:p xmlns:a="http://schemas.openxmlformats.org/drawingml/2006/main">
            <a:r>
              <a:t>https://tjj.sh.gov.cn/tjgb/20260630/b74619258aee4912a55a1da928b5be30.html</a:t>
            </a:r>
          </a:p>
          <a:p xmlns:a="http://schemas.openxmlformats.org/drawingml/2006/main"/>
          <a:p xmlns:a="http://schemas.openxmlformats.org/drawingml/2006/main">
            <a:r>
              <a:t>https://rentguidelinesboard.cityofnewyork.us/wp-content/uploads/2026/04/2026-IA.pdf</a:t>
            </a:r>
          </a:p>
          <a:p xmlns:a="http://schemas.openxmlformats.org/drawingml/2006/main"/>
          <a:p xmlns:a="http://schemas.openxmlformats.org/drawingml/2006/main">
            <a:r>
              <a:t>口径：</a:t>
            </a:r>
          </a:p>
          <a:p xmlns:a="http://schemas.openxmlformats.org/drawingml/2006/main">
            <a:r>
              <a:t>票价按户收入差2.65倍折算；支出占比为纽约都会区交通（2022–23）对上海交通通信（2024）。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建议讲述：110秒</a:t>
            </a:r>
          </a:p>
          <a:p xmlns:a="http://schemas.openxmlformats.org/drawingml/2006/main">
            <a:r>
              <a:t>15分钟讲述取舍：四行各约 25 秒：结果指标、判分和一句解释；原文投入、寿命、PISA、百老汇作备注参考，不逐字朗读。</a:t>
            </a:r>
          </a:p>
          <a:p xmlns:a="http://schemas.openxmlformats.org/drawingml/2006/main"/>
          <a:p xmlns:a="http://schemas.openxmlformats.org/drawingml/2006/main">
            <a:r>
              <a:t>讲稿原文</a:t>
            </a:r>
          </a:p>
          <a:p xmlns:a="http://schemas.openxmlformats.org/drawingml/2006/main">
            <a:r>
              <a:t>上海在医疗上肯花钱：2024 年财政花在卫生健康上的是 732 亿元，参加医保的超过 2,000 万人。但钱花得值不值，不看投入，要看结果。</a:t>
            </a:r>
          </a:p>
          <a:p xmlns:a="http://schemas.openxmlformats.org/drawingml/2006/main"/>
          <a:p xmlns:a="http://schemas.openxmlformats.org/drawingml/2006/main">
            <a:r>
              <a:t>先看人均期望寿命：上海 83.18 岁，纽约 83.2 岁，几乎一样，分不出高下。上海这个数还停在 2022 年，这一点最后再说。</a:t>
            </a:r>
          </a:p>
          <a:p xmlns:a="http://schemas.openxmlformats.org/drawingml/2006/main"/>
          <a:p xmlns:a="http://schemas.openxmlformats.org/drawingml/2006/main">
            <a:r>
              <a:t>寿命分不出来，就看两个国际上衡量医疗体系最常用的指标：婴儿死亡率和孕产妇死亡率。它们看的是普通家庭生孩子、养孩子的时候，医疗体系兜不兜得住。</a:t>
            </a:r>
          </a:p>
          <a:p xmlns:a="http://schemas.openxmlformats.org/drawingml/2006/main"/>
          <a:p xmlns:a="http://schemas.openxmlformats.org/drawingml/2006/main">
            <a:r>
              <a:t>婴儿死亡率，上海 2025 年是千分之 2.34，纽约 2023 年是千分之 4.2，高出八成。孕产妇死亡率差得更远：上海 2025 年每 10 万名活产婴儿对应 1.85 例；纽约 2022 年同样算到产后 42 天，大约是 21 例，是上海的 10 倍以上。</a:t>
            </a:r>
          </a:p>
          <a:p xmlns:a="http://schemas.openxmlformats.org/drawingml/2006/main"/>
          <a:p xmlns:a="http://schemas.openxmlformats.org/drawingml/2006/main">
            <a:r>
              <a:t>婴儿差八成，产妇差十倍。寿命已经拉不开，这两项拉开了，所以医疗方面，上海优势明显。</a:t>
            </a:r>
          </a:p>
          <a:p xmlns:a="http://schemas.openxmlformats.org/drawingml/2006/main"/>
          <a:p xmlns:a="http://schemas.openxmlformats.org/drawingml/2006/main">
            <a:r>
              <a:t>治安更不用多说。2024 年，上海杀人案立案 46 起，平均八天一起，每 10 万人约 0.19 起。2025 年，纽约谋杀案 305 起，差不多每天一起，每 10 万人约 3.6 起，是上海的 19 倍。两边统计口径略有不同，但差了一个数量级，纽约在安全方面和上海没有可比性。</a:t>
            </a:r>
          </a:p>
          <a:p xmlns:a="http://schemas.openxmlformats.org/drawingml/2006/main"/>
          <a:p xmlns:a="http://schemas.openxmlformats.org/drawingml/2006/main">
            <a:r>
              <a:t>教育只比义务教育，也就是每个孩子都要上的那部分。</a:t>
            </a:r>
          </a:p>
          <a:p xmlns:a="http://schemas.openxmlformats.org/drawingml/2006/main"/>
          <a:p xmlns:a="http://schemas.openxmlformats.org/drawingml/2006/main">
            <a:r>
              <a:t>上海的小学和初中，净入学率都是 99.9%。上海学生在国际学生测评 PISA 里拿过两次第一：2009 年阅读 556 分，2012 年数学 613 分，同一年美国学生的数学是 481 分。不过这是十多年前的成绩，之后上海不再单独参加，只能当背景。</a:t>
            </a:r>
          </a:p>
          <a:p xmlns:a="http://schemas.openxmlformats.org/drawingml/2006/main"/>
          <a:p xmlns:a="http://schemas.openxmlformats.org/drawingml/2006/main">
            <a:r>
              <a:t>现在能比的是生师比，也就是一位老师平均带几个学生。上海中小学是 12.5 个，纽约公立学校是 13.2 个，差不多。</a:t>
            </a:r>
          </a:p>
          <a:p xmlns:a="http://schemas.openxmlformats.org/drawingml/2006/main"/>
          <a:p xmlns:a="http://schemas.openxmlformats.org/drawingml/2006/main">
            <a:r>
              <a:t>差别在区与区之间。纽约 32 个学区，最宽松的一位老师带 8.7 个学生，最紧的带 13.9 个。上海各区的小学也差得不小：人口还在往里涌的嘉定、松江、闵行，一位小学老师要带 15 个学生；黄浦、长宁这些老城区，只带 11 个左右。学生往哪里去，老师没有完全跟上。</a:t>
            </a:r>
          </a:p>
          <a:p xmlns:a="http://schemas.openxmlformats.org/drawingml/2006/main"/>
          <a:p xmlns:a="http://schemas.openxmlformats.org/drawingml/2006/main">
            <a:r>
              <a:t>教育方面，两城整体差不多，算打平。但上海最紧的区，一位老师带 15 个学生，比纽约最紧的学区还紧，区与区之间的均衡是上海要补的。</a:t>
            </a:r>
          </a:p>
          <a:p xmlns:a="http://schemas.openxmlformats.org/drawingml/2006/main"/>
          <a:p xmlns:a="http://schemas.openxmlformats.org/drawingml/2006/main">
            <a:r>
              <a:t>上海这几年在把文化往家门口搬。全市划出 1,600 个"15 分钟社区生活圈"，走十几分钟就能到文化、体育、养老设施；公园一年新开 127 座，2025 年全市营业性演出 6 万多场。</a:t>
            </a:r>
          </a:p>
          <a:p xmlns:a="http://schemas.openxmlformats.org/drawingml/2006/main"/>
          <a:p xmlns:a="http://schemas.openxmlformats.org/drawingml/2006/main">
            <a:r>
              <a:t>但文化是纽约的传统强项。百老汇一个演出季将近 1,460 万人次观众，不过那是生意，更值得比的是不赚钱的那部分：纽约三大公共图书馆系统有 200 多个网点，大约四万人就有一个；市政府今年资助了 1,171 家文化机构，其中 96% 提供免费或者有补贴的项目。</a:t>
            </a:r>
          </a:p>
          <a:p xmlns:a="http://schemas.openxmlformats.org/drawingml/2006/main"/>
          <a:p xmlns:a="http://schemas.openxmlformats.org/drawingml/2006/main">
            <a:r>
              <a:t>上海街道、乡镇图书馆分馆的全市数字，我们没找到；但光看由财政托底、向所有市民免费开放的文化项目，纽约做到了上千家机构的规模。文化方面，纽约领先。</a:t>
            </a:r>
          </a:p>
          <a:p xmlns:a="http://schemas.openxmlformats.org/drawingml/2006/main"/>
          <a:p xmlns:a="http://schemas.openxmlformats.org/drawingml/2006/main">
            <a:r>
              <a:t>数据来源与完整口径</a:t>
            </a:r>
          </a:p>
          <a:p xmlns:a="http://schemas.openxmlformats.org/drawingml/2006/main">
            <a:r>
              <a:t>医疗</a:t>
            </a:r>
          </a:p>
          <a:p xmlns:a="http://schemas.openxmlformats.org/drawingml/2006/main">
            <a:r>
              <a:t>https://tjj.sh.gov.cn/tjgb/20260330/e0772941e8e041eaaad2df850b44ef98.html</a:t>
            </a:r>
          </a:p>
          <a:p xmlns:a="http://schemas.openxmlformats.org/drawingml/2006/main">
            <a:r>
              <a:t>https://wsjkw.sh.gov.cn/tjsj2/20260730/7154e5b1603642a8a3c7c0b2b8b3b149.html</a:t>
            </a:r>
          </a:p>
          <a:p xmlns:a="http://schemas.openxmlformats.org/drawingml/2006/main">
            <a:r>
              <a:t>https://www.nyc.gov/assets/doh/downloads/pdf/vs/2023sum.pdf</a:t>
            </a:r>
          </a:p>
          <a:p xmlns:a="http://schemas.openxmlformats.org/drawingml/2006/main">
            <a:r>
              <a:t>https://www.nyc.gov/assets/doh/downloads/pdf/data/maternal-mortality-annual-report-2025.pdf</a:t>
            </a:r>
          </a:p>
          <a:p xmlns:a="http://schemas.openxmlformats.org/drawingml/2006/main"/>
          <a:p xmlns:a="http://schemas.openxmlformats.org/drawingml/2006/main">
            <a:r>
              <a:t>治安</a:t>
            </a:r>
          </a:p>
          <a:p xmlns:a="http://schemas.openxmlformats.org/drawingml/2006/main">
            <a:r>
              <a:t>https://tjj.sh.gov.cn/tjnj/2025tjnj/C2303.htm</a:t>
            </a:r>
          </a:p>
          <a:p xmlns:a="http://schemas.openxmlformats.org/drawingml/2006/main">
            <a:r>
              <a:t>https://www.nyc.gov/site/nypd/news/PR001/nypd-safest-year-ever-gun-violence-fewest-shooting-incidents-shooting</a:t>
            </a:r>
          </a:p>
          <a:p xmlns:a="http://schemas.openxmlformats.org/drawingml/2006/main"/>
          <a:p xmlns:a="http://schemas.openxmlformats.org/drawingml/2006/main">
            <a:r>
              <a:t>教育</a:t>
            </a:r>
          </a:p>
          <a:p xmlns:a="http://schemas.openxmlformats.org/drawingml/2006/main">
            <a:r>
              <a:t>https://tjj.sh.gov.cn/tjnj/2025tjnj/C2015.htm</a:t>
            </a:r>
          </a:p>
          <a:p xmlns:a="http://schemas.openxmlformats.org/drawingml/2006/main">
            <a:r>
              <a:t>https://tjj.sh.gov.cn/tjnj/2025tjnj/C2013.htm</a:t>
            </a:r>
          </a:p>
          <a:p xmlns:a="http://schemas.openxmlformats.org/drawingml/2006/main">
            <a:r>
              <a:t>https://tjj.sh.gov.cn/tjnj/2025tjnj/C2004.htm</a:t>
            </a:r>
          </a:p>
          <a:p xmlns:a="http://schemas.openxmlformats.org/drawingml/2006/main">
            <a:r>
              <a:t>https://data.nysed.gov/studenteducator.php?year=2025&amp;instid=7889678368</a:t>
            </a:r>
          </a:p>
          <a:p xmlns:a="http://schemas.openxmlformats.org/drawingml/2006/main"/>
          <a:p xmlns:a="http://schemas.openxmlformats.org/drawingml/2006/main">
            <a:r>
              <a:t>文化</a:t>
            </a:r>
          </a:p>
          <a:p xmlns:a="http://schemas.openxmlformats.org/drawingml/2006/main">
            <a:r>
              <a:t>https://www.nypl.org/about/locations</a:t>
            </a:r>
          </a:p>
          <a:p xmlns:a="http://schemas.openxmlformats.org/drawingml/2006/main">
            <a:r>
              <a:t>https://www.bklynlibrary.org/browse-the-branches/about</a:t>
            </a:r>
          </a:p>
          <a:p xmlns:a="http://schemas.openxmlformats.org/drawingml/2006/main">
            <a:r>
              <a:t>http://gis.nyc.gov/site/dcla/about/pressrelease/PR-2026-2-26-NYC-Department-of-Cultural-Affairs-Announces-74.3-Million-in-Grants-for-1171-Cultural-Organizations-Across-the-City.page</a:t>
            </a:r>
          </a:p>
          <a:p xmlns:a="http://schemas.openxmlformats.org/drawingml/2006/main">
            <a:r>
              <a:t>https://tjj.sh.gov.cn/tjgb/20260330/e0772941e8e041eaaad2df850b44ef98.html</a:t>
            </a:r>
          </a:p>
          <a:p xmlns:a="http://schemas.openxmlformats.org/drawingml/2006/main">
            <a:r>
              <a:t>https://english.shanghai.gov.cn/en-Latest-WhatsNew/20260212/af11d8de7fd24819bff50c940e428855.html</a:t>
            </a:r>
          </a:p>
          <a:p xmlns:a="http://schemas.openxmlformats.org/drawingml/2006/main"/>
          <a:p xmlns:a="http://schemas.openxmlformats.org/drawingml/2006/main">
            <a:r>
              <a:t>口径：</a:t>
            </a:r>
          </a:p>
          <a:p xmlns:a="http://schemas.openxmlformats.org/drawingml/2006/main">
            <a:r>
              <a:t>纽约孕产妇死亡约21/10万由报告按产后42天折算；两项医疗结局统计年份不同。</a:t>
            </a:r>
          </a:p>
          <a:p xmlns:a="http://schemas.openxmlformats.org/drawingml/2006/main">
            <a:r>
              <a:t>上海为杀人案立案，纽约为谋杀案；年份不同，比率由案件与人口计算。</a:t>
            </a:r>
          </a:p>
          <a:p xmlns:a="http://schemas.openxmlformats.org/drawingml/2006/main">
            <a:r>
              <a:t>生师比由官方学生与教师数计算；上海中小学含高中，纽约为K–12。</a:t>
            </a:r>
          </a:p>
          <a:p xmlns:a="http://schemas.openxmlformats.org/drawingml/2006/main">
            <a:r>
              <a:t>按公共图书馆网络与文化资助作判断；上海市区馆20个不用于与纽约全部网点硬比。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建议讲述：75秒</a:t>
            </a:r>
          </a:p>
          <a:p xmlns:a="http://schemas.openxmlformats.org/drawingml/2006/main">
            <a:r>
              <a:t>15分钟讲述取舍：只报纽约总量与街头露宿人数，不再串报贫困率、收容所日均和庇护者人数。</a:t>
            </a:r>
          </a:p>
          <a:p xmlns:a="http://schemas.openxmlformats.org/drawingml/2006/main"/>
          <a:p xmlns:a="http://schemas.openxmlformats.org/drawingml/2006/main">
            <a:r>
              <a:t>讲稿原文</a:t>
            </a:r>
          </a:p>
          <a:p xmlns:a="http://schemas.openxmlformats.org/drawingml/2006/main">
            <a:r>
              <a:t>最后一项，是两座城市怎么对待最穷的人。</a:t>
            </a:r>
          </a:p>
          <a:p xmlns:a="http://schemas.openxmlformats.org/drawingml/2006/main"/>
          <a:p xmlns:a="http://schemas.openxmlformats.org/drawingml/2006/main">
            <a:r>
              <a:t>上海的做法是先把网铺开，真穷到底了，有人接着。低保标准城乡统一，2026 年 7 月起是每人每月 1,690 元；吃饭有近 2,500 个老年助餐点，养老有社区为老服务中心，找工作有 500 多个家门口的就业服务站。</a:t>
            </a:r>
          </a:p>
          <a:p xmlns:a="http://schemas.openxmlformats.org/drawingml/2006/main"/>
          <a:p xmlns:a="http://schemas.openxmlformats.org/drawingml/2006/main">
            <a:r>
              <a:t>纽约这边，官方贫困率 18%，布朗克斯区接近 29%。2025 年 1 月联邦政府做了一次一夜点数，纽约市无家可归的有 12.6 万人，其中 4,600 多人直接睡在街上。</a:t>
            </a:r>
          </a:p>
          <a:p xmlns:a="http://schemas.openxmlformats.org/drawingml/2006/main"/>
          <a:p xmlns:a="http://schemas.openxmlformats.org/drawingml/2006/main">
            <a:r>
              <a:t>最让人想不通的是，纽约不是不知道这些人在哪里。收容所住了多少人，市政府每天公布，2026 年 3 月平均每天约八万五千人。问题出在出口上：全市租房空置率只有 1.4%，收容所里的人找不到房子可搬。人数数得清清楚楚，问题就是解决不了。</a:t>
            </a:r>
          </a:p>
          <a:p xmlns:a="http://schemas.openxmlformats.org/drawingml/2006/main"/>
          <a:p xmlns:a="http://schemas.openxmlformats.org/drawingml/2006/main">
            <a:r>
              <a:t>上海有多少人露宿街头？官方没有公布，我们不估。能比的，是两边的做法和纽约公布的结果：上海的托底从低保铺到了吃饭、养老、找工作；纽约自己公布的数字里，有十二万多人没有住处。对待最穷的人，上海做得好得多，这也是纽约失分最重的一题。</a:t>
            </a:r>
          </a:p>
          <a:p xmlns:a="http://schemas.openxmlformats.org/drawingml/2006/main"/>
          <a:p xmlns:a="http://schemas.openxmlformats.org/drawingml/2006/main">
            <a:r>
              <a:t>数据来源与完整口径</a:t>
            </a:r>
          </a:p>
          <a:p xmlns:a="http://schemas.openxmlformats.org/drawingml/2006/main">
            <a:r>
              <a:t>https://files.hudexchange.info/reports/published/CoC_PopSub_CoC_NY-600-2025_NY_2025.pdf</a:t>
            </a:r>
          </a:p>
          <a:p xmlns:a="http://schemas.openxmlformats.org/drawingml/2006/main">
            <a:r>
              <a:t>https://rentguidelinesboard.cityofnewyork.us/wp-content/uploads/2026/04/2026-IA.pdf</a:t>
            </a:r>
          </a:p>
          <a:p xmlns:a="http://schemas.openxmlformats.org/drawingml/2006/main">
            <a:r>
              <a:t>https://www.nyc.gov/assets/dhs/downloads/pdf/dashboard/tables/FY26-DHS-Data-Dashboard-Data.pdf</a:t>
            </a:r>
          </a:p>
          <a:p xmlns:a="http://schemas.openxmlformats.org/drawingml/2006/main">
            <a:r>
              <a:t>https://mzj.sh.gov.cn/MZ_zhuzhan277_0-2-8-15-55-229/20260702/d95374094d6041a19b2591fd241126cb.html</a:t>
            </a:r>
          </a:p>
          <a:p xmlns:a="http://schemas.openxmlformats.org/drawingml/2006/main">
            <a:r>
              <a:t>https://tjj.sh.gov.cn/tjgb/20260330/e0772941e8e041eaaad2df850b44ef98.html</a:t>
            </a:r>
          </a:p>
          <a:p xmlns:a="http://schemas.openxmlformats.org/drawingml/2006/main"/>
          <a:p xmlns:a="http://schemas.openxmlformats.org/drawingml/2006/main">
            <a:r>
              <a:t>口径：</a:t>
            </a:r>
          </a:p>
          <a:p xmlns:a="http://schemas.openxmlformats.org/drawingml/2006/main">
            <a:r>
              <a:t>纽约为HUD一夜点数；上海露宿人数未公开，判断结合托底制度与纽约结果。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建议讲述：35秒</a:t>
            </a:r>
          </a:p>
          <a:p xmlns:a="http://schemas.openxmlformats.org/drawingml/2006/main">
            <a:r>
              <a:t>15分钟讲述取舍：从文化与养老接到“上海做了什么”；只说空间分布，四个百分比不逐个念。</a:t>
            </a:r>
          </a:p>
          <a:p xmlns:a="http://schemas.openxmlformats.org/drawingml/2006/main"/>
          <a:p xmlns:a="http://schemas.openxmlformats.org/drawingml/2006/main">
            <a:r>
              <a:t>讲稿原文</a:t>
            </a:r>
          </a:p>
          <a:p xmlns:a="http://schemas.openxmlformats.org/drawingml/2006/main">
            <a:r>
              <a:t>九道题之外，再补两件上海做的事。先看托底的服务离居民有多近。我们拿开放地图的数据，在中心七区算了一笔账：住宅用地里，一公里内有社区长者食堂的占 87.5%，有图书馆服务点的占 77%，有市民健身中心的只占 64%。</a:t>
            </a:r>
          </a:p>
          <a:p xmlns:a="http://schemas.openxmlformats.org/drawingml/2006/main">
            <a:r>
              <a:t>吃饭这件事，基本已经送到了家门口；健身设施还有三分之一多的住宅区够不着。这组数按直线距离算，看的是分布：哪里方便，哪里还要补，图上一目了然。</a:t>
            </a:r>
          </a:p>
          <a:p xmlns:a="http://schemas.openxmlformats.org/drawingml/2006/main"/>
          <a:p xmlns:a="http://schemas.openxmlformats.org/drawingml/2006/main">
            <a:r>
              <a:t>数据来源与完整口径</a:t>
            </a:r>
          </a:p>
          <a:p xmlns:a="http://schemas.openxmlformats.org/drawingml/2006/main">
            <a:r>
              <a:t>地图由同学提供，快照2026-10-12</a:t>
            </a:r>
          </a:p>
          <a:p xmlns:a="http://schemas.openxmlformats.org/drawingml/2006/main">
            <a:r>
              <a:t>https://shyl.mzj.sh.gov.cn/agencyQuery</a:t>
            </a:r>
          </a:p>
          <a:p xmlns:a="http://schemas.openxmlformats.org/drawingml/2006/main">
            <a:r>
              <a:t>https://www.shggty.com.cn/facilityMap.html</a:t>
            </a:r>
          </a:p>
          <a:p xmlns:a="http://schemas.openxmlformats.org/drawingml/2006/main">
            <a:r>
              <a:t>https://www.library.sh.cn/guide/libraryLocation</a:t>
            </a:r>
          </a:p>
          <a:p xmlns:a="http://schemas.openxmlformats.org/drawingml/2006/main">
            <a:r>
              <a:t>https://www.openstreetmap.org/copyright</a:t>
            </a:r>
          </a:p>
          <a:p xmlns:a="http://schemas.openxmlformats.org/drawingml/2006/main">
            <a:r>
              <a:t>补充材料口播：这四张图把家门口的服务落到空间上。食堂、绿地、健身中心和图书馆的分布不同，便于我们观察哪里更方便、哪里还需要补。</a:t>
            </a:r>
          </a:p>
          <a:p xmlns:a="http://schemas.openxmlformats.org/drawingml/2006/main">
            <a:r>
              <a:t>统一中心七区：黄浦、徐汇、长宁、静安、普陀、虹口、杨浦；不含浦东。分母为OSM已标注residential面积85.75580078037885平方公里，非人口、非全市官方住宅用地。仅七区内部设施，有边缘效应。原面相交结果87.48193829834865%、99.32504463710123%、64.3537336960096%、77.01016818720243%。绿地517个面不是517座公园，按边界测距、开放状态未完全核验；其他按点测距。未建模路网、围墙、营业时间、容量。四项不可相加、平均成综合覆盖。保留地图原始色系，几何和数据不变。官方2024年15分钟步行可达覆盖率88%属另一口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建议讲述：30秒</a:t>
            </a:r>
          </a:p>
          <a:p xmlns:a="http://schemas.openxmlformats.org/drawingml/2006/main">
            <a:r>
              <a:t>15分钟讲述取舍：每个例子一句，承接公共服务，同时为末尾数据透明作伏笔。</a:t>
            </a:r>
          </a:p>
          <a:p xmlns:a="http://schemas.openxmlformats.org/drawingml/2006/main"/>
          <a:p xmlns:a="http://schemas.openxmlformats.org/drawingml/2006/main">
            <a:r>
              <a:t>讲稿原文</a:t>
            </a:r>
          </a:p>
          <a:p xmlns:a="http://schemas.openxmlformats.org/drawingml/2006/main">
            <a:r>
              <a:t>上海这几年也在改办事的过程。"一网通办"接了 3,800 多项服务，实际网办率 89.53%，很多事已经不用再去窗口排队。</a:t>
            </a:r>
          </a:p>
          <a:p xmlns:a="http://schemas.openxmlformats.org/drawingml/2006/main">
            <a:r>
              <a:t>建设上，居民也插得上话。普陀区泰山人民坊改造，动工前开了 12 场座谈会，收回 3,826 份问卷；方案拿出来，又开了 5 轮专题论证；建成以后，还请居民开了 3 场评议会。从提需求、定方案到建成后的评价，居民每一步都有发言的机会。</a:t>
            </a:r>
          </a:p>
          <a:p xmlns:a="http://schemas.openxmlformats.org/drawingml/2006/main"/>
          <a:p xmlns:a="http://schemas.openxmlformats.org/drawingml/2006/main">
            <a:r>
              <a:t>数据来源与完整口径</a:t>
            </a:r>
          </a:p>
          <a:p xmlns:a="http://schemas.openxmlformats.org/drawingml/2006/main">
            <a:r>
              <a:t>https://tjj.sh.gov.cn/tjgb/20260330/e0772941e8e041eaaad2df850b44ef98.html</a:t>
            </a:r>
          </a:p>
          <a:p xmlns:a="http://schemas.openxmlformats.org/drawingml/2006/main"/>
          <a:p xmlns:a="http://schemas.openxmlformats.org/drawingml/2006/main">
            <a:r>
              <a:t>https://ghzyj.sh.gov.cn/gzdt/20251224/f5b8e34f5c834200910639b27717dfdf.html</a:t>
            </a:r>
          </a:p>
          <a:p xmlns:a="http://schemas.openxmlformats.org/drawingml/2006/main">
            <a:r>
              <a:t>补充材料口播：上海不仅增加设施，也在改变服务的过程。一网通办减少线下跑腿；泰山人民坊让居民从提出需要、论证方案一直参与到建成后的评议。</a:t>
            </a:r>
          </a:p>
          <a:p xmlns:a="http://schemas.openxmlformats.org/drawingml/2006/main">
            <a:r>
              <a:t>实际网办率89.53%，好评率99.94%，不写成89.53%的事项可从头到尾网办。泰山人民坊：12场专项座谈、3826份问卷，5轮专题论证，3场事后评议。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建议讲述：35秒</a:t>
            </a:r>
          </a:p>
          <a:p xmlns:a="http://schemas.openxmlformats.org/drawingml/2006/main">
            <a:r>
              <a:t>15分钟讲述取舍：挑两条摘录口播，其他留给观众阅读；用个人体验呼应前面的统计。</a:t>
            </a:r>
          </a:p>
          <a:p xmlns:a="http://schemas.openxmlformats.org/drawingml/2006/main"/>
          <a:p xmlns:a="http://schemas.openxmlformats.org/drawingml/2006/main">
            <a:r>
              <a:t>讲稿原文</a:t>
            </a:r>
          </a:p>
          <a:p xmlns:a="http://schemas.openxmlformats.org/drawingml/2006/main"/>
          <a:p xmlns:a="http://schemas.openxmlformats.org/drawingml/2006/main"/>
          <a:p xmlns:a="http://schemas.openxmlformats.org/drawingml/2006/main">
            <a:r>
              <a:t>数据来源与完整口径</a:t>
            </a:r>
          </a:p>
          <a:p xmlns:a="http://schemas.openxmlformats.org/drawingml/2006/main">
            <a:r>
              <a:t>原始微信截图和访谈文字整理由组员保存。</a:t>
            </a:r>
          </a:p>
          <a:p xmlns:a="http://schemas.openxmlformats.org/drawingml/2006/main">
            <a:r>
              <a:t>本页补充讲稿：一位在纽约生活的同学，谈到住房、通勤、公共空间和应急保障。这里挑两条原话：公共空间很多，但突发事件中的生活保障仍需要个人储蓄或商业保险。个人体验与前面的统计相互补充。</a:t>
            </a:r>
          </a:p>
          <a:p xmlns:a="http://schemas.openxmlformats.org/drawingml/2006/main">
            <a:r>
              <a:t>摘录定位：住房20:34:33、通勤20:35:38、公共空间20:44:09、应急20:46:18。右侧另涉及心理健康20:37:05、养老助残20:42:49、无障碍20:45:34。只依据整理记录，不推断居住年限、区域、年龄、职业。公共空间地铁/驾车可达不等同15分钟步行；储蓄和保险不表示公共救助只有自费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建议讲述：45秒</a:t>
            </a:r>
          </a:p>
          <a:p xmlns:a="http://schemas.openxmlformats.org/drawingml/2006/main">
            <a:r>
              <a:t>15分钟讲述取舍：不重新念九行数据，不报上海几胜、纽约几胜或基本项二比二；概括各自强项，转到答题是否完整。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讲稿原文</a:t>
            </a:r>
          </a:p>
          <a:p xmlns:a="http://schemas.openxmlformats.org/drawingml/2006/main">
            <a:r>
              <a:t>把九道题放到一张表上。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| 题 | 胜方 | 程度 | 依据 |</a:t>
            </a:r>
          </a:p>
          <a:p xmlns:a="http://schemas.openxmlformats.org/drawingml/2006/main">
            <a:r>
              <a:t>|---|---|---|---|---|</a:t>
            </a:r>
          </a:p>
          <a:p xmlns:a="http://schemas.openxmlformats.org/drawingml/2006/main">
            <a:r>
              <a:t>| 基本项 | 住 | 上海 | 明显 | 自有住房率：上海 59%，纽约 32% |</a:t>
            </a:r>
          </a:p>
          <a:p xmlns:a="http://schemas.openxmlformats.org/drawingml/2006/main">
            <a:r>
              <a:t>| | 吃 | 纽约 | 稍胜 | 人均吃的花销：纽约州 6.3 万元，上海 1.35 万元；餐饮价格随工资走，实际差距小于账面 |</a:t>
            </a:r>
          </a:p>
          <a:p xmlns:a="http://schemas.openxmlformats.org/drawingml/2006/main">
            <a:r>
              <a:t>| | 穿 | 纽约 | 压倒性 | 人均衣着支出：纽约州接近上海的 7 倍 |</a:t>
            </a:r>
          </a:p>
          <a:p xmlns:a="http://schemas.openxmlformats.org/drawingml/2006/main">
            <a:r>
              <a:t>| | 行 | 上海 | 压倒性 | 票价按收入折算约为纽约一半；交通支出占比更低 |</a:t>
            </a:r>
          </a:p>
          <a:p xmlns:a="http://schemas.openxmlformats.org/drawingml/2006/main">
            <a:r>
              <a:t>| 加分项 | 医疗 | 上海 | 明显 | 婴儿死亡率：上海 2.34‰，纽约 4.2‰；孕产妇死亡率差 10 倍以上 |</a:t>
            </a:r>
          </a:p>
          <a:p xmlns:a="http://schemas.openxmlformats.org/drawingml/2006/main">
            <a:r>
              <a:t>| | 治安 | 上海 | 压倒性 | 每 10 万人杀人案：上海 0.19 起，纽约 3.6 起 |</a:t>
            </a:r>
          </a:p>
          <a:p xmlns:a="http://schemas.openxmlformats.org/drawingml/2006/main">
            <a:r>
              <a:t>| | 教育 | 打平 | — | 生师比：上海 12.5，纽约 13.2 |</a:t>
            </a:r>
          </a:p>
          <a:p xmlns:a="http://schemas.openxmlformats.org/drawingml/2006/main">
            <a:r>
              <a:t>| | 文化 | 纽约 | 明显 | 公共图书馆网络和文化资助 |</a:t>
            </a:r>
          </a:p>
          <a:p xmlns:a="http://schemas.openxmlformats.org/drawingml/2006/main">
            <a:r>
              <a:t>| 单列 | 对待底层 | 上海 | 压倒性 | 纽约无家可归 12.6 万人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除了教育打平，每一题都分了胜负，但我们不加总分。各题差距的大小不一样，穿衣是压倒性的，吃饭只是稍胜，一个总比分会把这些差别抹平。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数据来源与完整口径</a:t>
            </a:r>
          </a:p>
          <a:p xmlns:a="http://schemas.openxmlformats.org/drawingml/2006/main">
            <a:r>
              <a:t>住：https://tjj.sh.gov.cn/tjnj/2020rktjnj/BNJc-9-4.jpg</a:t>
            </a:r>
          </a:p>
          <a:p xmlns:a="http://schemas.openxmlformats.org/drawingml/2006/main">
            <a:r>
              <a:t>https://www.nyc.gov/assets/hpd/downloads/pdfs/about/2023%20NYCHVS%20Selected%20Initial%20Findings.pdf</a:t>
            </a:r>
          </a:p>
          <a:p xmlns:a="http://schemas.openxmlformats.org/drawingml/2006/main">
            <a:r>
              <a:t>https://tjj.sh.gov.cn/tjgb/20260330/e0772941e8e041eaaad2df850b44ef98.html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吃：https://apps.bea.gov/regional/zip/SAPCE.zip</a:t>
            </a:r>
          </a:p>
          <a:p xmlns:a="http://schemas.openxmlformats.org/drawingml/2006/main">
            <a:r>
              <a:t>https://tjj.sh.gov.cn/tjnj/2025tjnj/C0905.htm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穿：https://apps.bea.gov/regional/zip/SAPCE.zip</a:t>
            </a:r>
          </a:p>
          <a:p xmlns:a="http://schemas.openxmlformats.org/drawingml/2006/main">
            <a:r>
              <a:t>https://tjj.sh.gov.cn/tjnj/2025tjnj/C0905.htm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行：https://portal.311.nyc.gov/article/?kanumber=KA-01014</a:t>
            </a:r>
          </a:p>
          <a:p xmlns:a="http://schemas.openxmlformats.org/drawingml/2006/main">
            <a:r>
              <a:t>https://www.nyc.gov/site/opa/commuters/commuters.page</a:t>
            </a:r>
          </a:p>
          <a:p xmlns:a="http://schemas.openxmlformats.org/drawingml/2006/main">
            <a:r>
              <a:t>https://service.shmetro.com/cpxz/3983.htm</a:t>
            </a:r>
          </a:p>
          <a:p xmlns:a="http://schemas.openxmlformats.org/drawingml/2006/main">
            <a:r>
              <a:t>https://service.shmetro.com/pwyh/index.htm</a:t>
            </a:r>
          </a:p>
          <a:p xmlns:a="http://schemas.openxmlformats.org/drawingml/2006/main">
            <a:r>
              <a:t>https://service.shmetro.com/cpxz/index.htm</a:t>
            </a:r>
          </a:p>
          <a:p xmlns:a="http://schemas.openxmlformats.org/drawingml/2006/main">
            <a:r>
              <a:t>https://tjj.sh.gov.cn/tjnj/2025tjnj/C0913.htm</a:t>
            </a:r>
          </a:p>
          <a:p xmlns:a="http://schemas.openxmlformats.org/drawingml/2006/main">
            <a:r>
              <a:t>https://www.bls.gov/regions/northeast/news-release/consumerexpenditures_newyork.htm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医疗：https://tjj.sh.gov.cn/tjgb/20260330/e0772941e8e041eaaad2df850b44ef98.html</a:t>
            </a:r>
          </a:p>
          <a:p xmlns:a="http://schemas.openxmlformats.org/drawingml/2006/main">
            <a:r>
              <a:t>https://wsjkw.sh.gov.cn/tjsj2/20260730/7154e5b1603642a8a3c7c0b2b8b3b149.html</a:t>
            </a:r>
          </a:p>
          <a:p xmlns:a="http://schemas.openxmlformats.org/drawingml/2006/main">
            <a:r>
              <a:t>https://www.nyc.gov/assets/doh/downloads/pdf/vs/2023sum.pdf</a:t>
            </a:r>
          </a:p>
          <a:p xmlns:a="http://schemas.openxmlformats.org/drawingml/2006/main">
            <a:r>
              <a:t>https://www.nyc.gov/assets/doh/downloads/pdf/data/maternal-mortality-annual-report-2025.pdf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治安：https://tjj.sh.gov.cn/tjnj/2025tjnj/C2303.htm</a:t>
            </a:r>
          </a:p>
          <a:p xmlns:a="http://schemas.openxmlformats.org/drawingml/2006/main">
            <a:r>
              <a:t>https://www.nyc.gov/site/nypd/news/PR001/nypd-safest-year-ever-gun-violence-fewest-shooting-incidents-shooting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教育：https://tjj.sh.gov.cn/tjnj/2025tjnj/C2015.htm</a:t>
            </a:r>
          </a:p>
          <a:p xmlns:a="http://schemas.openxmlformats.org/drawingml/2006/main">
            <a:r>
              <a:t>https://tjj.sh.gov.cn/tjnj/2025tjnj/C2013.htm</a:t>
            </a:r>
          </a:p>
          <a:p xmlns:a="http://schemas.openxmlformats.org/drawingml/2006/main">
            <a:r>
              <a:t>https://tjj.sh.gov.cn/tjnj/2025tjnj/C2004.htm</a:t>
            </a:r>
          </a:p>
          <a:p xmlns:a="http://schemas.openxmlformats.org/drawingml/2006/main">
            <a:r>
              <a:t>https://data.nysed.gov/studenteducator.php?year=2025&amp;instid=7889678368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文化：https://www.nypl.org/about/locations</a:t>
            </a:r>
          </a:p>
          <a:p xmlns:a="http://schemas.openxmlformats.org/drawingml/2006/main">
            <a:r>
              <a:t>https://www.bklynlibrary.org/browse-the-branches/about</a:t>
            </a:r>
          </a:p>
          <a:p xmlns:a="http://schemas.openxmlformats.org/drawingml/2006/main">
            <a:r>
              <a:t>http://gis.nyc.gov/site/dcla/about/pressrelease/PR-2026-2-26-NYC-Department-of-Cultural-Affairs-Announces-74.3-Million-in-Grants-for-1171-Cultural-Organizations-Across-the-City.page</a:t>
            </a:r>
          </a:p>
          <a:p xmlns:a="http://schemas.openxmlformats.org/drawingml/2006/main">
            <a:r>
              <a:t>https://tjj.sh.gov.cn/tjgb/20260330/e0772941e8e041eaaad2df850b44ef98.html</a:t>
            </a:r>
          </a:p>
          <a:p xmlns:a="http://schemas.openxmlformats.org/drawingml/2006/main">
            <a:r>
              <a:t>https://english.shanghai.gov.cn/en-Latest-WhatsNew/20260212/af11d8de7fd24819bff50c940e428855.html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对待底层：https://files.hudexchange.info/reports/published/CoC_PopSub_CoC_NY-600-2025_NY_2025.pdf</a:t>
            </a:r>
          </a:p>
          <a:p xmlns:a="http://schemas.openxmlformats.org/drawingml/2006/main">
            <a:r>
              <a:t>https://rentguidelinesboard.cityofnewyork.us/wp-content/uploads/2026/04/2026-IA.pdf</a:t>
            </a:r>
          </a:p>
          <a:p xmlns:a="http://schemas.openxmlformats.org/drawingml/2006/main">
            <a:r>
              <a:t>https://www.nyc.gov/assets/dhs/downloads/pdf/dashboard/tables/FY26-DHS-Data-Dashboard-Data.pdf</a:t>
            </a:r>
          </a:p>
          <a:p xmlns:a="http://schemas.openxmlformats.org/drawingml/2006/main">
            <a:r>
              <a:t>https://mzj.sh.gov.cn/MZ_zhuzhan277_0-2-8-15-55-229/20260702/d95374094d6041a19b2591fd241126cb.html</a:t>
            </a:r>
          </a:p>
          <a:p xmlns:a="http://schemas.openxmlformats.org/drawingml/2006/main">
            <a:r>
              <a:t>https://tjj.sh.gov.cn/tjgb/20260330/e0772941e8e041eaaad2df850b44ef98.html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建议讲述：50秒</a:t>
            </a:r>
          </a:p>
          <a:p xmlns:a="http://schemas.openxmlformats.org/drawingml/2006/main">
            <a:r>
              <a:t>15分钟讲述取舍：直接回答纽约还不算及格、上海答得更完整但透明需补，再说两城能比本身就是进步；两国范围说明用一句，全国对照数据留在原文备注中参考。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讲稿原文</a:t>
            </a:r>
          </a:p>
          <a:p xmlns:a="http://schemas.openxmlformats.org/drawingml/2006/main">
            <a:r>
              <a:t>回到开头的问题：纽约能不能叫人民城市？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拿同一张考卷来看，纽约有几道题答得好：吃穿用度和公共文化，它比上海强；数据公开，它也比上海做得好，这一点最后单独说。但最该答好的那道题，怎么对待最底层的人，它没有答好：十二万多人无家可归，三分之二的家庭租房，这些都是纽约自己公布的数字。所以我们的回答是：这张卷子，纽约还不算及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上海这张卷子答得更完整，住、行、医疗、治安和托底都拿了分。但人民城市人民建，前提是人民看得到账本，数据公开这一题，上海还得补。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比完这一圈，我们觉得更值得说的是，两座城市真的已经能放在一张卷子上比了，而且有输有赢。上海第一条地铁 1993 年才开通，三十多年后，上海人一年坐地铁的次数已经和纽约人一样多。三十多年前，这样的比较是比不起来的。这本身就是进步。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但这个比较不能往大了说，更不能拿两座城市去概括两个国家。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纽约输给上海的住和底层，在美国也是出了名的差：全美租房空置率 7% 左右，纽约只有 1.4%；纽约人口不到全美的 3%，无家可归的人却占了全美的六分之一。医疗和治安反过来，纽约比全美还好一些：婴儿死亡率纽约是千分之 4.2，全美是 5.61；谋杀率纽约每 10 万人 3.6 起，全美 4.1 起。纽约在这两项上输给上海，输的是美国的整体水平。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上海也一样。输给纽约的吃和穿，在国内已经排在前面，人均吃的花销是全国平均的 1.6 倍，穿是 1.3 倍。纽约在美国不典型，上海在中国也不典型。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数据来源与完整口径</a:t>
            </a:r>
          </a:p>
          <a:p xmlns:a="http://schemas.openxmlformats.org/drawingml/2006/main">
            <a:r>
              <a:t>https://tjj.sh.gov.cn/tjnj/2020rktjnj/BNJc-9-4.jpg</a:t>
            </a:r>
          </a:p>
          <a:p xmlns:a="http://schemas.openxmlformats.org/drawingml/2006/main">
            <a:r>
              <a:t>https://www.nyc.gov/assets/hpd/downloads/pdfs/about/2023%20NYCHVS%20Selected%20Initial%20Findings.pdf</a:t>
            </a:r>
          </a:p>
          <a:p xmlns:a="http://schemas.openxmlformats.org/drawingml/2006/main">
            <a:r>
              <a:t>https://tjj.sh.gov.cn/tjgb/20260330/e0772941e8e041eaaad2df850b44ef98.html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https://portal.311.nyc.gov/article/?kanumber=KA-01014</a:t>
            </a:r>
          </a:p>
          <a:p xmlns:a="http://schemas.openxmlformats.org/drawingml/2006/main">
            <a:r>
              <a:t>https://www.nyc.gov/site/opa/commuters/commuters.page</a:t>
            </a:r>
          </a:p>
          <a:p xmlns:a="http://schemas.openxmlformats.org/drawingml/2006/main">
            <a:r>
              <a:t>https://service.shmetro.com/cpxz/3983.htm</a:t>
            </a:r>
          </a:p>
          <a:p xmlns:a="http://schemas.openxmlformats.org/drawingml/2006/main">
            <a:r>
              <a:t>https://service.shmetro.com/pwyh/index.htm</a:t>
            </a:r>
          </a:p>
          <a:p xmlns:a="http://schemas.openxmlformats.org/drawingml/2006/main">
            <a:r>
              <a:t>https://service.shmetro.com/cpxz/index.htm</a:t>
            </a:r>
          </a:p>
          <a:p xmlns:a="http://schemas.openxmlformats.org/drawingml/2006/main">
            <a:r>
              <a:t>https://tjj.sh.gov.cn/tjnj/2025tjnj/C0913.htm</a:t>
            </a:r>
          </a:p>
          <a:p xmlns:a="http://schemas.openxmlformats.org/drawingml/2006/main">
            <a:r>
              <a:t>https://www.bls.gov/regions/northeast/news-release/consumerexpenditures_newyork.htm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https://files.hudexchange.info/reports/published/CoC_PopSub_CoC_NY-600-2025_NY_2025.pdf</a:t>
            </a:r>
          </a:p>
          <a:p xmlns:a="http://schemas.openxmlformats.org/drawingml/2006/main">
            <a:r>
              <a:t>https://rentguidelinesboard.cityofnewyork.us/wp-content/uploads/2026/04/2026-IA.pdf</a:t>
            </a:r>
          </a:p>
          <a:p xmlns:a="http://schemas.openxmlformats.org/drawingml/2006/main">
            <a:r>
              <a:t>https://www.nyc.gov/assets/dhs/downloads/pdf/dashboard/tables/FY26-DHS-Data-Dashboard-Data.pdf</a:t>
            </a:r>
          </a:p>
          <a:p xmlns:a="http://schemas.openxmlformats.org/drawingml/2006/main">
            <a:r>
              <a:t>https://mzj.sh.gov.cn/MZ_zhuzhan277_0-2-8-15-55-229/20260702/d95374094d6041a19b2591fd241126cb.html</a:t>
            </a:r>
          </a:p>
          <a:p xmlns:a="http://schemas.openxmlformats.org/drawingml/2006/main">
            <a:r>
              <a:t>https://tjj.sh.gov.cn/tjgb/20260330/e0772941e8e041eaaad2df850b44ef98.html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https://data.sh.gov.cn/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https://tjj.sh.gov.cn/tjgb/20260330/e0772941e8e041eaaad2df850b44ef98.html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https://wsjkw.sh.gov.cn/2022wsjkzkbg/index.html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https://wsjkw.sh.gov.cn/2023wsjkzkbg/index.html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https://wsjkw.sh.gov.cn/2024wsjkzkbg/index.html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https://opendata.cityofnewyork.us/open-data-law/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https://data.cityofnewyork.us/Social-Services/DHS-Daily-Report/k46n-sa2m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建议讲述：40秒</a:t>
            </a:r>
          </a:p>
          <a:p xmlns:a="http://schemas.openxmlformats.org/drawingml/2006/main">
            <a:r>
              <a:t>15分钟讲述取舍：四个缺口各一句；一网通办便利已在第 10 页讲过，此处对照一句即可。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讲稿原文</a:t>
            </a:r>
          </a:p>
          <a:p xmlns:a="http://schemas.openxmlformats.org/drawingml/2006/main">
            <a:r>
              <a:t>最后单独说数据透明。这一题不在计分表里，但前面说过，纽约领先。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上海做得好的先说。在上海办事是真方便，"一网通办"接了 3,800 多项服务，近九成能在网上从头办到尾，好评率 99.94%，高到小数点后两位。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可一到查数据，就换了一张脸。做这份 pre，我们找上海数据花的时间，比找纽约的多得多，好几道题最后只能拿替代的数。开场的公厕，统计公报和统计年鉴里都没有总数，开放平台的数据集标着"有条件开放"，明细要写申请才能看。住这一题，上海没有租金统计，只能用 2020 年人口普查的自有住房比例。底层这一题，露宿街头的人数没有公布。医疗这一题，户籍人口的期望寿命，2022 年以后就没有再公布。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数据来源与完整口径</a:t>
            </a:r>
          </a:p>
          <a:p xmlns:a="http://schemas.openxmlformats.org/drawingml/2006/main">
            <a:r>
              <a:t>https://data.sh.gov.cn/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https://tjj.sh.gov.cn/tjgb/20260330/e0772941e8e041eaaad2df850b44ef98.html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https://wsjkw.sh.gov.cn/2022wsjkzkbg/index.html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https://wsjkw.sh.gov.cn/2023wsjkzkbg/index.html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https://wsjkw.sh.gov.cn/2024wsjkzkbg/index.html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https://opendata.cityofnewyork.us/open-data-law/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https://data.cityofnewyork.us/Social-Services/DHS-Daily-Report/k46n-sa2m</a:t>
            </a:r>
          </a:p>
          <a:p xmlns:a="http://schemas.openxmlformats.org/drawingml/2006/main">
            <a:r>
              <a:t>“未公开/缺少”均按项目检索与用户锁定材料表述；不是将单个接口概括为整个平台。实际网办率89.53%，新版口播“近九成能网上从头办到尾”存在指标混称，PPT正文已用真实指标名称。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建议讲述：60秒</a:t>
            </a:r>
          </a:p>
          <a:p xmlns:a="http://schemas.openxmlformats.org/drawingml/2006/main">
            <a:r>
              <a:t>15分钟讲述取舍：用住房和托底两个具体例子说明透明为何重要，最后一句收束。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讲稿原文</a:t>
            </a:r>
          </a:p>
          <a:p xmlns:a="http://schemas.openxmlformats.org/drawingml/2006/main">
            <a:r>
              <a:t>纽约在 2012 年就立了法：政府数据默认公开，不公开要说明理由。收容所里住了多少人，每天更新。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件事为什么重要？一项住房政策有没有用，要看房租负担降没降；一套托底制度托住了多少人，要看还有多少人睡在街上。如果市民总是拿替代的数、估算的数去了解自己的城市，政策就很难得到理性的反馈：做得不够的地方没人知道，做得好的地方也拿不出证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人民城市人民建。真想让人民参与建设，就应该尽量把城市运行的数据摆出来。谢谢大家。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数据来源与完整口径</a:t>
            </a:r>
          </a:p>
          <a:p xmlns:a="http://schemas.openxmlformats.org/drawingml/2006/main">
            <a:r>
              <a:t>https://data.sh.gov.cn/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https://tjj.sh.gov.cn/tjgb/20260330/e0772941e8e041eaaad2df850b44ef98.html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https://wsjkw.sh.gov.cn/2022wsjkzkbg/index.html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https://wsjkw.sh.gov.cn/2023wsjkzkbg/index.html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https://wsjkw.sh.gov.cn/2024wsjkzkbg/index.html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https://opendata.cityofnewyork.us/open-data-law/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https://data.cityofnewyork.us/Social-Services/DHS-Daily-Report/k46n-sa2m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建议讲述：5秒</a:t>
            </a:r>
          </a:p>
          <a:p xmlns:a="http://schemas.openxmlformats.org/drawingml/2006/main">
            <a:r>
              <a:t>15分钟讲述取舍：收束，不增加新观点。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讲稿原文</a:t>
            </a:r>
          </a:p>
          <a:p xmlns:a="http://schemas.openxmlformats.org/drawingml/2006/main">
            <a:r>
              <a:t>谢谢大家。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数据来源与完整口径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答辩依据：data/data-table.md；script/口径表.md；script/答辩卡.md。</a:t>
            </a:r>
          </a:p>
          <a:p xmlns:a="http://schemas.openxmlformats.org/drawingml/2006/main"/>
          <a:p xmlns:a="http://schemas.openxmlformats.org/drawingml/2006/main">
            <a:r>
              <a:t>问：为什么不用纽约都会区？</a:t>
            </a:r>
          </a:p>
          <a:p xmlns:a="http://schemas.openxmlformats.org/drawingml/2006/main">
            <a:r>
              <a:t>答：我们比的是城市政府怎么对待市民，纽约市政府只管五个区。都会区跨三个州，自有住房率等数据也取不全（NY-C6）</a:t>
            </a:r>
          </a:p>
          <a:p xmlns:a="http://schemas.openxmlformats.org/drawingml/2006/main">
            <a:r>
              <a:t>问：收入能直接比吗？</a:t>
            </a:r>
          </a:p>
          <a:p xmlns:a="http://schemas.openxmlformats.org/drawingml/2006/main">
            <a:r>
              <a:t>答：纽约是户收入中位数、税前；上海是人均可支配收入乘户均人口，是均值、到手。前者偏高，后者也偏高（均值高于中位数），所以只取"两倍半上下"这个量级（CALC-2）</a:t>
            </a:r>
          </a:p>
          <a:p xmlns:a="http://schemas.openxmlformats.org/drawingml/2006/main">
            <a:r>
              <a:t>问：上海 59% 自有住房率可靠吗？</a:t>
            </a:r>
          </a:p>
          <a:p xmlns:a="http://schemas.openxmlformats.org/drawingml/2006/main">
            <a:r>
              <a:t>答：2020 年七普长表，按家庭户统计，不含集体户，所以偏高。纽约 32.3% 是 2023 年住房与空置调查（SH-C1、NY-C5）</a:t>
            </a:r>
          </a:p>
          <a:p xmlns:a="http://schemas.openxmlformats.org/drawingml/2006/main">
            <a:r>
              <a:t>问：为什么不比房租负担？</a:t>
            </a:r>
          </a:p>
          <a:p xmlns:a="http://schemas.openxmlformats.org/drawingml/2006/main">
            <a:r>
              <a:t>答：纽约有官方数（租房户房租收入比中位数约 31%），上海统计部门没有公布租金；商业网站和行业报告的数口径不一致，算不出可比的负担</a:t>
            </a:r>
          </a:p>
          <a:p xmlns:a="http://schemas.openxmlformats.org/drawingml/2006/main">
            <a:r>
              <a:t>问：吃的花销口径一样吗？</a:t>
            </a:r>
          </a:p>
          <a:p xmlns:a="http://schemas.openxmlformats.org/drawingml/2006/main">
            <a:r>
              <a:t>答：纽约的"餐饮住宿"含住宿，上海的"食品烟酒"含烟酒，两边都偏高一点，不改变量级</a:t>
            </a:r>
          </a:p>
          <a:p xmlns:a="http://schemas.openxmlformats.org/drawingml/2006/main">
            <a:r>
              <a:t>问：吃和穿为什么用纽约州？</a:t>
            </a:r>
          </a:p>
          <a:p xmlns:a="http://schemas.openxmlformats.org/drawingml/2006/main">
            <a:r>
              <a:t>答：纽约市没有单独的消费分项统计，用的是美国商务部经济分析局的州级数据；它的分母含雇主和政府代付的医疗等，比住户调查宽，纽约的比例偏低（3.6 节）</a:t>
            </a:r>
          </a:p>
          <a:p xmlns:a="http://schemas.openxmlformats.org/drawingml/2006/main">
            <a:r>
              <a:t>问：孕产妇死亡率口径一样吗？</a:t>
            </a:r>
          </a:p>
          <a:p xmlns:a="http://schemas.openxmlformats.org/drawingml/2006/main">
            <a:r>
              <a:t>答：纽约原始口径算到产后一年（32.2/10 万，2022）；按纽约报告里的死亡时间分布截到 42 天约 21/10 万，与上海口径一致（NY-H11）</a:t>
            </a:r>
          </a:p>
          <a:p xmlns:a="http://schemas.openxmlformats.org/drawingml/2006/main">
            <a:r>
              <a:t>问：上海公厕 8,325 处包括哪些？</a:t>
            </a:r>
          </a:p>
          <a:p xmlns:a="http://schemas.openxmlformats.org/drawingml/2006/main">
            <a:r>
              <a:t>答：这是开放平台"城市设施-公共厕所"数据集的记录条数，由市绿化市容局提供，平台没有写明统计范围，样例里还有已撤销的"闸北区"。纽约 1,064 座只算市政府管理的公厕。所以"三倍"只说明量级（SH-T1、NY-G5、CALC-7）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问：期望寿命为什么不判分？</a:t>
            </a:r>
          </a:p>
          <a:p xmlns:a="http://schemas.openxmlformats.org/drawingml/2006/main">
            <a:r>
              <a:t>答：上海 83.18 岁是 2022 年户籍人口，之后未公布；纽约 83.2 岁是 2024 年全体居民的临时数。年份和人群都不同</a:t>
            </a:r>
          </a:p>
          <a:p xmlns:a="http://schemas.openxmlformats.org/drawingml/2006/main">
            <a:r>
              <a:t>问：孕产妇死亡率口径一样吗？</a:t>
            </a:r>
          </a:p>
          <a:p xmlns:a="http://schemas.openxmlformats.org/drawingml/2006/main">
            <a:r>
              <a:t>答：纽约原始口径算到产后一年（32.2/10 万，2022）；按纽约报告里的死亡时间分布截到 42 天约 21/10 万，与上海口径一致（NY-H11）</a:t>
            </a:r>
          </a:p>
          <a:p xmlns:a="http://schemas.openxmlformats.org/drawingml/2006/main">
            <a:r>
              <a:t>问：杀人案能比吗？</a:t>
            </a:r>
          </a:p>
          <a:p xmlns:a="http://schemas.openxmlformats.org/drawingml/2006/main">
            <a:r>
              <a:t>答：上海是公安立案的杀人案，纽约是谋杀案，口径略有不同，但差约 19 倍（SH-H10、NY-H4a）</a:t>
            </a:r>
          </a:p>
          <a:p xmlns:a="http://schemas.openxmlformats.org/drawingml/2006/main">
            <a:r>
              <a:t>问：文化为什么判纽约胜？</a:t>
            </a:r>
          </a:p>
          <a:p xmlns:a="http://schemas.openxmlformats.org/drawingml/2006/main">
            <a:r>
              <a:t>答：纽约有三大图书馆系统 200 多个网点、财政资助 1,171 家机构且 96% 有免费或补贴项目；上海只查到市、区两级图书馆 20 个，街镇分馆和免费场馆的全市统一数字没有找到。按能查到的数据判</a:t>
            </a:r>
          </a:p>
          <a:p xmlns:a="http://schemas.openxmlformats.org/drawingml/2006/main"/>
          <a:p xmlns:a="http://schemas.openxmlformats.org/drawingml/2006/main">
            <a:r>
              <a:t>口径：</a:t>
            </a:r>
          </a:p>
          <a:p xmlns:a="http://schemas.openxmlformats.org/drawingml/2006/main">
            <a:r>
              <a:t>纽约孕产妇死亡约21/10万由报告按产后42天折算；两项医疗结局统计年份不同。</a:t>
            </a:r>
          </a:p>
          <a:p xmlns:a="http://schemas.openxmlformats.org/drawingml/2006/main">
            <a:r>
              <a:t>上海为杀人案立案，纽约为谋杀案；年份不同，比率由案件与人口计算。</a:t>
            </a:r>
          </a:p>
          <a:p xmlns:a="http://schemas.openxmlformats.org/drawingml/2006/main">
            <a:r>
              <a:t>生师比由官方学生与教师数计算；上海中小学含高中，纽约为K–12。</a:t>
            </a:r>
          </a:p>
          <a:p xmlns:a="http://schemas.openxmlformats.org/drawingml/2006/main">
            <a:r>
              <a:t>按公共图书馆网络与文化资助作判断；上海市区馆20个不用于与纽约全部网点硬比。</a:t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https://tjj.sh.gov.cn/tjgb/20260330/e0772941e8e041eaaad2df850b44ef98.html</a:t>
            </a:r>
          </a:p>
          <a:p xmlns:a="http://schemas.openxmlformats.org/drawingml/2006/main">
            <a:r>
              <a:t>https://wsjkw.sh.gov.cn/tjsj2/20260730/7154e5b1603642a8a3c7c0b2b8b3b149.html</a:t>
            </a:r>
          </a:p>
          <a:p xmlns:a="http://schemas.openxmlformats.org/drawingml/2006/main">
            <a:r>
              <a:t>https://www.nyc.gov/assets/doh/downloads/pdf/vs/2023sum.pdf</a:t>
            </a:r>
          </a:p>
          <a:p xmlns:a="http://schemas.openxmlformats.org/drawingml/2006/main">
            <a:r>
              <a:t>https://www.nyc.gov/assets/doh/downloads/pdf/data/maternal-mortality-annual-report-2025.pdf</a:t>
            </a:r>
          </a:p>
          <a:p xmlns:a="http://schemas.openxmlformats.org/drawingml/2006/main">
            <a:r>
              <a:t>https://tjj.sh.gov.cn/tjnj/2025tjnj/C2303.htm</a:t>
            </a:r>
          </a:p>
          <a:p xmlns:a="http://schemas.openxmlformats.org/drawingml/2006/main">
            <a:r>
              <a:t>https://www.nyc.gov/site/nypd/news/PR001/nypd-safest-year-ever-gun-violence-fewest-shooting-incidents-shooting</a:t>
            </a:r>
          </a:p>
          <a:p xmlns:a="http://schemas.openxmlformats.org/drawingml/2006/main">
            <a:r>
              <a:t>https://tjj.sh.gov.cn/tjnj/2025tjnj/C2015.htm</a:t>
            </a:r>
          </a:p>
          <a:p xmlns:a="http://schemas.openxmlformats.org/drawingml/2006/main">
            <a:r>
              <a:t>https://tjj.sh.gov.cn/tjnj/2025tjnj/C2013.htm</a:t>
            </a:r>
          </a:p>
          <a:p xmlns:a="http://schemas.openxmlformats.org/drawingml/2006/main">
            <a:r>
              <a:t>https://tjj.sh.gov.cn/tjnj/2025tjnj/C2004.htm</a:t>
            </a:r>
          </a:p>
          <a:p xmlns:a="http://schemas.openxmlformats.org/drawingml/2006/main">
            <a:r>
              <a:t>https://data.nysed.gov/studenteducator.php?year=2025&amp;instid=7889678368</a:t>
            </a:r>
          </a:p>
          <a:p xmlns:a="http://schemas.openxmlformats.org/drawingml/2006/main">
            <a:r>
              <a:t>https://www.nypl.org/about/locations</a:t>
            </a:r>
          </a:p>
          <a:p xmlns:a="http://schemas.openxmlformats.org/drawingml/2006/main">
            <a:r>
              <a:t>https://www.bklynlibrary.org/browse-the-branches/about</a:t>
            </a:r>
          </a:p>
          <a:p xmlns:a="http://schemas.openxmlformats.org/drawingml/2006/main">
            <a:r>
              <a:t>http://gis.nyc.gov/site/dcla/about/pressrelease/PR-2026-2-26-NYC-Department-of-Cultural-Affairs-Announces-74.3-Million-in-Grants-for-1171-Cultural-Organizations-Across-the-City.page</a:t>
            </a:r>
          </a:p>
          <a:p xmlns:a="http://schemas.openxmlformats.org/drawingml/2006/main">
            <a:r>
              <a:t>https://english.shanghai.gov.cn/en-Latest-WhatsNew/20260212/af11d8de7fd24819bff50c940e428855.html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原资料截图于2026-10-10采集；黑框为采集者添加。地图快照2026-10-12，原始HTML由同学提供，本版恢复地图原始色系，保留几何、点位和数值。</a:t>
            </a:r>
          </a:p>
          <a:p xmlns:a="http://schemas.openxmlformats.org/drawingml/2006/main"/>
          <a:p xmlns:a="http://schemas.openxmlformats.org/drawingml/2006/main">
            <a:r>
              <a:t>口径：</a:t>
            </a:r>
          </a:p>
          <a:p xmlns:a="http://schemas.openxmlformats.org/drawingml/2006/main">
            <a:r>
              <a:t>纽约为税前户收入中位数；上海由人均可支配收入均值×家庭户规模估算。</a:t>
            </a:r>
          </a:p>
          <a:p xmlns:a="http://schemas.openxmlformats.org/drawingml/2006/main">
            <a:r>
              <a:t>上海为开放平台记录，纽约为市政运营公厕；只比较量级。</a:t>
            </a:r>
          </a:p>
          <a:p xmlns:a="http://schemas.openxmlformats.org/drawingml/2006/main">
            <a:r>
              <a:t>上海为七普长表家庭户，纽约为HVS已入住住房；分母与年份不同。</a:t>
            </a:r>
          </a:p>
          <a:p xmlns:a="http://schemas.openxmlformats.org/drawingml/2006/main">
            <a:r>
              <a:t>纽约州在家食品饮料＋餐饮住宿，上海食品烟酒；价格与分类差异使实际差距小于账面。</a:t>
            </a:r>
          </a:p>
          <a:p xmlns:a="http://schemas.openxmlformats.org/drawingml/2006/main">
            <a:r>
              <a:t>纽约使用州级数据；按2026-10-09汇率换算。</a:t>
            </a:r>
          </a:p>
          <a:p xmlns:a="http://schemas.openxmlformats.org/drawingml/2006/main">
            <a:r>
              <a:t>票价按户收入差2.65倍折算；支出占比为纽约都会区交通（2022–23）对上海交通通信（2024）。</a:t>
            </a:r>
          </a:p>
          <a:p xmlns:a="http://schemas.openxmlformats.org/drawingml/2006/main">
            <a:r>
              <a:t>纽约孕产妇死亡约21/10万由报告按产后42天折算；两项医疗结局统计年份不同。</a:t>
            </a:r>
          </a:p>
          <a:p xmlns:a="http://schemas.openxmlformats.org/drawingml/2006/main">
            <a:r>
              <a:t>上海为杀人案立案，纽约为谋杀案；年份不同，比率由案件与人口计算。</a:t>
            </a:r>
          </a:p>
          <a:p xmlns:a="http://schemas.openxmlformats.org/drawingml/2006/main">
            <a:r>
              <a:t>生师比由官方学生与教师数计算；上海中小学含高中，纽约为K–12。</a:t>
            </a:r>
          </a:p>
          <a:p xmlns:a="http://schemas.openxmlformats.org/drawingml/2006/main">
            <a:r>
              <a:t>按公共图书馆网络与文化资助作判断；上海市区馆20个不用于与纽约全部网点硬比。</a:t>
            </a:r>
          </a:p>
          <a:p xmlns:a="http://schemas.openxmlformats.org/drawingml/2006/main">
            <a:r>
              <a:t>纽约为HUD一夜点数；上海露宿人数未公开，判断结合托底制度与纽约结果。</a:t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https://tjj.sh.gov.cn/tjgb/20260330/e0772941e8e041eaaad2df850b44ef98.html</a:t>
            </a:r>
          </a:p>
          <a:p xmlns:a="http://schemas.openxmlformats.org/drawingml/2006/main">
            <a:r>
              <a:t>https://www.health.ny.gov/statistics/vital_statistics/2022/table02.htm</a:t>
            </a:r>
          </a:p>
          <a:p xmlns:a="http://schemas.openxmlformats.org/drawingml/2006/main">
            <a:r>
              <a:t>https://www.nyc.gov/content/planning/pages/planning/population</a:t>
            </a:r>
          </a:p>
          <a:p xmlns:a="http://schemas.openxmlformats.org/drawingml/2006/main">
            <a:r>
              <a:t>https://rentguidelinesboard.cityofnewyork.us/wp-content/uploads/2026/04/2026-IA.pdf</a:t>
            </a:r>
          </a:p>
          <a:p xmlns:a="http://schemas.openxmlformats.org/drawingml/2006/main">
            <a:r>
              <a:t>https://tjj.sh.gov.cn/ydsj71/20260120/39ae4cd58421478d897b739d83f39c10.html</a:t>
            </a:r>
          </a:p>
          <a:p xmlns:a="http://schemas.openxmlformats.org/drawingml/2006/main">
            <a:r>
              <a:t>https://tjj.sh.gov.cn/tjgb/20260630/b74619258aee4912a55a1da928b5be30.html</a:t>
            </a:r>
          </a:p>
          <a:p xmlns:a="http://schemas.openxmlformats.org/drawingml/2006/main">
            <a:r>
              <a:t>https://data.sh.gov.cn/</a:t>
            </a:r>
          </a:p>
          <a:p xmlns:a="http://schemas.openxmlformats.org/drawingml/2006/main">
            <a:r>
              <a:t>https://lhsr.sh.gov.cn/ywdt/20260401/00d7c161-8280-490c-a0da-d6c995e85058.html</a:t>
            </a:r>
          </a:p>
          <a:p xmlns:a="http://schemas.openxmlformats.org/drawingml/2006/main">
            <a:r>
              <a:t>https://lhsr.sh.gov.cn/ywdt/20251204/b016509f-60a6-46cd-83fa-fdab372175c7.html</a:t>
            </a:r>
          </a:p>
          <a:p xmlns:a="http://schemas.openxmlformats.org/drawingml/2006/main">
            <a:r>
              <a:t>https://council.nyc.gov/data/public-restroom-analysis/</a:t>
            </a:r>
          </a:p>
          <a:p xmlns:a="http://schemas.openxmlformats.org/drawingml/2006/main">
            <a:r>
              <a:t>https://tjj.sh.gov.cn/tjnj/2020rktjnj/BNJc-9-4.jpg</a:t>
            </a:r>
          </a:p>
          <a:p xmlns:a="http://schemas.openxmlformats.org/drawingml/2006/main">
            <a:r>
              <a:t>https://www.nyc.gov/assets/hpd/downloads/pdfs/about/2023%20NYCHVS%20Selected%20Initial%20Findings.pdf</a:t>
            </a:r>
          </a:p>
          <a:p xmlns:a="http://schemas.openxmlformats.org/drawingml/2006/main">
            <a:r>
              <a:t>https://apps.bea.gov/regional/zip/SAPCE.zip</a:t>
            </a:r>
          </a:p>
          <a:p xmlns:a="http://schemas.openxmlformats.org/drawingml/2006/main">
            <a:r>
              <a:t>https://tjj.sh.gov.cn/tjnj/2025tjnj/C0905.htm</a:t>
            </a:r>
          </a:p>
          <a:p xmlns:a="http://schemas.openxmlformats.org/drawingml/2006/main">
            <a:r>
              <a:t>https://portal.311.nyc.gov/article/?kanumber=KA-01014</a:t>
            </a:r>
          </a:p>
          <a:p xmlns:a="http://schemas.openxmlformats.org/drawingml/2006/main">
            <a:r>
              <a:t>https://www.nyc.gov/site/opa/commuters/commuters.page</a:t>
            </a:r>
          </a:p>
          <a:p xmlns:a="http://schemas.openxmlformats.org/drawingml/2006/main">
            <a:r>
              <a:t>https://service.shmetro.com/cpxz/3983.htm</a:t>
            </a:r>
          </a:p>
          <a:p xmlns:a="http://schemas.openxmlformats.org/drawingml/2006/main">
            <a:r>
              <a:t>https://service.shmetro.com/pwyh/index.htm</a:t>
            </a:r>
          </a:p>
          <a:p xmlns:a="http://schemas.openxmlformats.org/drawingml/2006/main">
            <a:r>
              <a:t>https://service.shmetro.com/cpxz/index.htm</a:t>
            </a:r>
          </a:p>
          <a:p xmlns:a="http://schemas.openxmlformats.org/drawingml/2006/main">
            <a:r>
              <a:t>https://tjj.sh.gov.cn/tjnj/2025tjnj/C0913.htm</a:t>
            </a:r>
          </a:p>
          <a:p xmlns:a="http://schemas.openxmlformats.org/drawingml/2006/main">
            <a:r>
              <a:t>https://www.bls.gov/regions/northeast/news-release/consumerexpenditures_newyork.htm</a:t>
            </a:r>
          </a:p>
          <a:p xmlns:a="http://schemas.openxmlformats.org/drawingml/2006/main">
            <a:r>
              <a:t>https://wsjkw.sh.gov.cn/tjsj2/20260730/7154e5b1603642a8a3c7c0b2b8b3b149.html</a:t>
            </a:r>
          </a:p>
          <a:p xmlns:a="http://schemas.openxmlformats.org/drawingml/2006/main">
            <a:r>
              <a:t>https://www.nyc.gov/assets/doh/downloads/pdf/vs/2023sum.pdf</a:t>
            </a:r>
          </a:p>
          <a:p xmlns:a="http://schemas.openxmlformats.org/drawingml/2006/main">
            <a:r>
              <a:t>https://www.nyc.gov/assets/doh/downloads/pdf/data/maternal-mortality-annual-report-2025.pdf</a:t>
            </a:r>
          </a:p>
          <a:p xmlns:a="http://schemas.openxmlformats.org/drawingml/2006/main">
            <a:r>
              <a:t>https://tjj.sh.gov.cn/tjnj/2025tjnj/C2303.htm</a:t>
            </a:r>
          </a:p>
          <a:p xmlns:a="http://schemas.openxmlformats.org/drawingml/2006/main">
            <a:r>
              <a:t>https://www.nyc.gov/site/nypd/news/PR001/nypd-safest-year-ever-gun-violence-fewest-shooting-incidents-shooting</a:t>
            </a:r>
          </a:p>
          <a:p xmlns:a="http://schemas.openxmlformats.org/drawingml/2006/main">
            <a:r>
              <a:t>https://tjj.sh.gov.cn/tjnj/2025tjnj/C2015.htm</a:t>
            </a:r>
          </a:p>
          <a:p xmlns:a="http://schemas.openxmlformats.org/drawingml/2006/main">
            <a:r>
              <a:t>https://tjj.sh.gov.cn/tjnj/2025tjnj/C2013.htm</a:t>
            </a:r>
          </a:p>
          <a:p xmlns:a="http://schemas.openxmlformats.org/drawingml/2006/main">
            <a:r>
              <a:t>https://tjj.sh.gov.cn/tjnj/2025tjnj/C2004.htm</a:t>
            </a:r>
          </a:p>
          <a:p xmlns:a="http://schemas.openxmlformats.org/drawingml/2006/main">
            <a:r>
              <a:t>https://data.nysed.gov/studenteducator.php?year=2025&amp;instid=7889678368</a:t>
            </a:r>
          </a:p>
          <a:p xmlns:a="http://schemas.openxmlformats.org/drawingml/2006/main">
            <a:r>
              <a:t>https://www.nypl.org/about/locations</a:t>
            </a:r>
          </a:p>
          <a:p xmlns:a="http://schemas.openxmlformats.org/drawingml/2006/main">
            <a:r>
              <a:t>https://www.bklynlibrary.org/browse-the-branches/about</a:t>
            </a:r>
          </a:p>
          <a:p xmlns:a="http://schemas.openxmlformats.org/drawingml/2006/main">
            <a:r>
              <a:t>http://gis.nyc.gov/site/dcla/about/pressrelease/PR-2026-2-26-NYC-Department-of-Cultural-Affairs-Announces-74.3-Million-in-Grants-for-1171-Cultural-Organizations-Across-the-City.page</a:t>
            </a:r>
          </a:p>
          <a:p xmlns:a="http://schemas.openxmlformats.org/drawingml/2006/main">
            <a:r>
              <a:t>https://english.shanghai.gov.cn/en-Latest-WhatsNew/20260212/af11d8de7fd24819bff50c940e428855.html</a:t>
            </a:r>
          </a:p>
          <a:p xmlns:a="http://schemas.openxmlformats.org/drawingml/2006/main">
            <a:r>
              <a:t>https://files.hudexchange.info/reports/published/CoC_PopSub_CoC_NY-600-2025_NY_2025.pdf</a:t>
            </a:r>
          </a:p>
          <a:p xmlns:a="http://schemas.openxmlformats.org/drawingml/2006/main">
            <a:r>
              <a:t>https://www.nyc.gov/assets/dhs/downloads/pdf/dashboard/tables/FY26-DHS-Data-Dashboard-Data.pdf</a:t>
            </a:r>
          </a:p>
          <a:p xmlns:a="http://schemas.openxmlformats.org/drawingml/2006/main">
            <a:r>
              <a:t>https://mzj.sh.gov.cn/MZ_zhuzhan277_0-2-8-15-55-229/20260702/d95374094d6041a19b2591fd241126cb.html</a:t>
            </a:r>
          </a:p>
          <a:p xmlns:a="http://schemas.openxmlformats.org/drawingml/2006/main">
            <a:r>
              <a:t>https://wsjkw.sh.gov.cn/2022wsjkzkbg/index.html</a:t>
            </a:r>
          </a:p>
          <a:p xmlns:a="http://schemas.openxmlformats.org/drawingml/2006/main">
            <a:r>
              <a:t>https://wsjkw.sh.gov.cn/2023wsjkzkbg/index.html</a:t>
            </a:r>
          </a:p>
          <a:p xmlns:a="http://schemas.openxmlformats.org/drawingml/2006/main">
            <a:r>
              <a:t>https://wsjkw.sh.gov.cn/2024wsjkzkbg/index.html</a:t>
            </a:r>
          </a:p>
          <a:p xmlns:a="http://schemas.openxmlformats.org/drawingml/2006/main">
            <a:r>
              <a:t>https://opendata.cityofnewyork.us/open-data-law/</a:t>
            </a:r>
          </a:p>
          <a:p xmlns:a="http://schemas.openxmlformats.org/drawingml/2006/main">
            <a:r>
              <a:t>https://data.cityofnewyork.us/Social-Services/DHS-Daily-Report/k46n-sa2m</a:t>
            </a:r>
          </a:p>
          <a:p xmlns:a="http://schemas.openxmlformats.org/drawingml/2006/main">
            <a:r>
              <a:t>https://ghzyj.sh.gov.cn/gzdt/20251224/f5b8e34f5c834200910639b27717dfdf.html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f4dc418bc576449e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933875c6671f440e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21173c70038d48fb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3c83e4b563da4b20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fea34e54eeb8435a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d58576ac8bf54178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146FE35-2976-4418-8A70-29B1CA91B09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9866BFA6-9969-48EF-B426-45FBA3E63AC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4022E1FF-EA2F-406A-8A66-C3AEF1A4FD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441A096-88B5-49A6-8277-DC9D44C89E4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BA5D26C0-037D-4B9F-B706-A864A419699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D527F0A-2EF3-455B-AA7A-43601FDBB9D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6A3B089-61B2-4E7F-9ACA-35C5E17760C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9ABD53D7-B77B-4D40-AA3B-6BE377BBDCE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259656D-95CA-4FDB-8779-C84A456A7FD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FACBA60-FE24-454D-A8C4-1505E5B6241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71a15676f09d4f36" Type="http://schemas.openxmlformats.org/officeDocument/2006/relationships/slideLayout" Target="../slideLayouts/slideLayout2.xml"/><Relationship Id="R7de6d5ae1b704877" Type="http://schemas.openxmlformats.org/officeDocument/2006/relationships/slideLayout" Target="../slideLayouts/slideLayout5.xml"/><Relationship Id="R84c96ac003fe4cc8" Type="http://schemas.openxmlformats.org/officeDocument/2006/relationships/slideLayout" Target="../slideLayouts/slideLayout3.xml"/><Relationship Id="R87279f75c34f4809" Type="http://schemas.openxmlformats.org/officeDocument/2006/relationships/theme" Target="theme/theme2.xml"/><Relationship Id="R894767cdfc914948" Type="http://schemas.openxmlformats.org/officeDocument/2006/relationships/slideLayout" Target="../slideLayouts/slideLayout1.xml"/><Relationship Id="Rad76812a32ec4b05" Type="http://schemas.openxmlformats.org/officeDocument/2006/relationships/slideLayout" Target="../slideLayouts/slideLayout6.xml"/><Relationship Id="Reef4e43d093c40d0" Type="http://schemas.openxmlformats.org/officeDocument/2006/relationships/slideLayout" Target="../slideLayouts/slideLayout4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94767cdfc914948"/>
    <p:sldLayoutId xmlns:r="http://schemas.openxmlformats.org/officeDocument/2006/relationships" id="2147483650" r:id="R71a15676f09d4f36"/>
    <p:sldLayoutId xmlns:r="http://schemas.openxmlformats.org/officeDocument/2006/relationships" id="2147483651" r:id="R84c96ac003fe4cc8"/>
    <p:sldLayoutId xmlns:r="http://schemas.openxmlformats.org/officeDocument/2006/relationships" id="2147483652" r:id="Reef4e43d093c40d0"/>
    <p:sldLayoutId xmlns:r="http://schemas.openxmlformats.org/officeDocument/2006/relationships" id="2147483653" r:id="R7de6d5ae1b704877"/>
    <p:sldLayoutId xmlns:r="http://schemas.openxmlformats.org/officeDocument/2006/relationships" id="2147483654" r:id="Rad76812a32ec4b0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48c21086840b414e" Type="http://schemas.openxmlformats.org/officeDocument/2006/relationships/notesSlide" Target="../notesSlides/notesSlide1.xml"/><Relationship Id="Rab5cebca74874dd5" Type="http://schemas.openxmlformats.org/officeDocument/2006/relationships/image" Target="../media/image.png"/><Relationship Id="Rbbe7c5253f3f4b99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02da569aa9164457" Type="http://schemas.openxmlformats.org/officeDocument/2006/relationships/notesSlide" Target="../notesSlides/notesSlide2.xml"/><Relationship Id="R6036b2af900c40cf" Type="http://schemas.openxmlformats.org/officeDocument/2006/relationships/slideLayout" Target="../slideLayouts/slideLayout6.xml"/><Relationship Id="Ra17bf9c5c7a349f8" Type="http://schemas.openxmlformats.org/officeDocument/2006/relationships/image" Target="../media/image3.png"/><Relationship Id="Rfa6f658d21cd464f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4cbe65b895324747" Type="http://schemas.openxmlformats.org/officeDocument/2006/relationships/slideLayout" Target="../slideLayouts/slideLayout6.xml"/><Relationship Id="R82515225c5f14a3e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16ae4cc41fb34489" Type="http://schemas.openxmlformats.org/officeDocument/2006/relationships/slideLayout" Target="../slideLayouts/slideLayout6.xml"/><Relationship Id="R56de2cd5a9704e2c" Type="http://schemas.openxmlformats.org/officeDocument/2006/relationships/notesSlide" Target="../notesSlides/notesSlide4.xml"/><Relationship Id="Rb747e1f621ed4c4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409bf0341d534837" Type="http://schemas.openxmlformats.org/officeDocument/2006/relationships/notesSlide" Target="../notesSlides/notesSlide5.xml"/><Relationship Id="R4a5a71ff91e84023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4abdcd6b78b645e3" Type="http://schemas.openxmlformats.org/officeDocument/2006/relationships/notesSlide" Target="../notesSlides/notesSlide6.xml"/><Relationship Id="Rb63083491ed94d6e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afe605342e664700" Type="http://schemas.openxmlformats.org/officeDocument/2006/relationships/notesSlide" Target="../notesSlides/notesSlide7.xml"/><Relationship Id="Rb6e8bd1a1cd348f7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23a3351725ad474c" Type="http://schemas.openxmlformats.org/officeDocument/2006/relationships/slideLayout" Target="../slideLayouts/slideLayout6.xml"/><Relationship Id="Rd226c10e79324e76" Type="http://schemas.openxmlformats.org/officeDocument/2006/relationships/image" Target="../media/image5.png"/><Relationship Id="Rd870ed86bd9f4e87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395f8d228fe54378" Type="http://schemas.openxmlformats.org/officeDocument/2006/relationships/image" Target="../media/image8.png"/><Relationship Id="R424cef7cba9340eb" Type="http://schemas.openxmlformats.org/officeDocument/2006/relationships/slideLayout" Target="../slideLayouts/slideLayout6.xml"/><Relationship Id="R4915d711f99d46af" Type="http://schemas.openxmlformats.org/officeDocument/2006/relationships/notesSlide" Target="../notesSlides/notesSlide9.xml"/><Relationship Id="R6916583b0d88494d" Type="http://schemas.openxmlformats.org/officeDocument/2006/relationships/image" Target="../media/image6.png"/><Relationship Id="Rc42bc173c7c34ee1" Type="http://schemas.openxmlformats.org/officeDocument/2006/relationships/image" Target="../media/image7.png"/><Relationship Id="Rfc2d01e0eedf4299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563d3be0624f43b1" Type="http://schemas.openxmlformats.org/officeDocument/2006/relationships/slideLayout" Target="../slideLayouts/slideLayout6.xml"/><Relationship Id="R84ebc948c8444e9e" Type="http://schemas.openxmlformats.org/officeDocument/2006/relationships/image" Target="../media/image10.png"/><Relationship Id="Rea08f1012bfa49cd" Type="http://schemas.openxmlformats.org/officeDocument/2006/relationships/notesSlide" Target="../notesSlides/notesSlide10.xml"/><Relationship Id="Rfa6dd8db5db94171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7c3d32d3684b4cb0" Type="http://schemas.openxmlformats.org/officeDocument/2006/relationships/notesSlide" Target="../notesSlides/notesSlide11.xml"/><Relationship Id="Ra5b3139ff6ea442c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2b7f89a90c8e43f7" Type="http://schemas.openxmlformats.org/officeDocument/2006/relationships/slideLayout" Target="../slideLayouts/slideLayout6.xml"/><Relationship Id="Rd36bde3666b84f26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0ebe5ee5b4c74643" Type="http://schemas.openxmlformats.org/officeDocument/2006/relationships/notesSlide" Target="../notesSlides/notesSlide13.xml"/><Relationship Id="R5ed6256402bc4160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71f7caef79894d24" Type="http://schemas.openxmlformats.org/officeDocument/2006/relationships/image" Target="../media/image12.png"/><Relationship Id="R9562b15243b24913" Type="http://schemas.openxmlformats.org/officeDocument/2006/relationships/image" Target="../media/image13.png"/><Relationship Id="Rcc8bcebba13149df" Type="http://schemas.openxmlformats.org/officeDocument/2006/relationships/slideLayout" Target="../slideLayouts/slideLayout6.xml"/><Relationship Id="Rdccda2e75b2849a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303b58c926904478" Type="http://schemas.openxmlformats.org/officeDocument/2006/relationships/image" Target="../media/image14.png"/><Relationship Id="R4a597d50bae748bd" Type="http://schemas.openxmlformats.org/officeDocument/2006/relationships/notesSlide" Target="../notesSlides/notesSlide15.xml"/><Relationship Id="R80ca14f7cecc48c6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47875582608b42da" Type="http://schemas.openxmlformats.org/officeDocument/2006/relationships/slideLayout" Target="../slideLayouts/slideLayout6.xml"/><Relationship Id="Ra9459bdabe95449a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4cd4a791e9fd4686" Type="http://schemas.openxmlformats.org/officeDocument/2006/relationships/notesSlide" Target="../notesSlides/notesSlide17.xml"/><Relationship Id="R78bafa5c6a5e4fea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7a3af45c1f5846cb" Type="http://schemas.openxmlformats.org/officeDocument/2006/relationships/notesSlide" Target="../notesSlides/notesSlide18.xml"/><Relationship Id="Re544d8e274004ad0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0546e69726324e31" Type="http://schemas.openxmlformats.org/officeDocument/2006/relationships/slideLayout" Target="../slideLayouts/slideLayout6.xml"/><Relationship Id="Rc4ab5cc5349f440d" Type="http://schemas.openxmlformats.org/officeDocument/2006/relationships/notesSlide" Target="../notesSlides/notesSlide19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42C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79461888-AC34-4E44-AECB-EA3FBFE19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29350"/>
            <a:ext cx="61912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CEE0D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CEE0D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CEE0DC"/>
                </a:solidFill>
                <a:latin typeface="Microsoft YaHei"/>
                <a:ea typeface="Microsoft YaHei"/>
                <a:cs typeface="Microsoft YaHei"/>
              </a:rPr>
              <a:t>概念出处：新华社，2019-11-03；“以人民为中心”为课堂概括</a:t>
            </a:r>
          </a:p>
        </p:txBody>
      </p:sp>
      <p:sp>
        <p:nvSpPr>
          <p:cNvPr id="2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0308F667-0209-4304-8AC2-EFFE832CB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CEE0D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125" b="0">
                <a:solidFill>
                  <a:srgbClr val="CEE0D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CEE0DC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3" name="text-1">
            <a:extLst xmlns:a="http://schemas.openxmlformats.org/drawingml/2006/main">
              <a:ext uri="{FF2B5EF4-FFF2-40B4-BE49-F238E27FC236}">
                <a16:creationId xmlns:a16="http://schemas.microsoft.com/office/drawing/2014/main" id="{E007B93F-0BBA-46AC-9B95-09D069208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"/>
            <a:ext cx="62865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人民城市的</a:t>
            </a:r>
          </a:p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上海实践</a:t>
            </a:r>
          </a:p>
        </p:txBody>
      </p:sp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3D1F79B0-5FF8-4A95-9CF8-382BBC62C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28900"/>
            <a:ext cx="628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纽约能不能叫人民城市？</a:t>
            </a:r>
          </a:p>
        </p:txBody>
      </p:sp>
      <p:sp>
        <p:nvSpPr>
          <p:cNvPr id="5" name="text-3">
            <a:extLst xmlns:a="http://schemas.openxmlformats.org/drawingml/2006/main">
              <a:ext uri="{FF2B5EF4-FFF2-40B4-BE49-F238E27FC236}">
                <a16:creationId xmlns:a16="http://schemas.microsoft.com/office/drawing/2014/main" id="{DE0EE3C8-EF4C-409A-81CA-275BCBC3F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62350"/>
            <a:ext cx="6286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93C9B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93C9B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93C9BB"/>
                </a:solidFill>
                <a:latin typeface="Microsoft YaHei"/>
                <a:ea typeface="Microsoft YaHei"/>
                <a:cs typeface="Microsoft YaHei"/>
              </a:rPr>
              <a:t>人民城市人民建</a:t>
            </a:r>
          </a:p>
          <a:p xmlns:a="http://schemas.openxmlformats.org/drawingml/2006/main">
            <a:pPr algn="l">
              <a:defRPr sz="2550" b="1">
                <a:solidFill>
                  <a:srgbClr val="93C9B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93C9BB"/>
                </a:solidFill>
                <a:latin typeface="Microsoft YaHei"/>
                <a:ea typeface="Microsoft YaHei"/>
                <a:cs typeface="Microsoft YaHei"/>
              </a:rPr>
              <a:t>人民城市为人民</a:t>
            </a:r>
          </a:p>
        </p:txBody>
      </p:sp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6B558A97-EF39-49C8-8EF2-F4D786828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62525"/>
            <a:ext cx="6286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以人民为中心，回应居民需要，</a:t>
            </a:r>
          </a:p>
          <a:p xmlns:a="http://schemas.openxmlformats.org/drawingml/2006/main">
            <a:pPr algn="l">
              <a:defRPr sz="202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让人民共同参与城市建设。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C9EA29-CC76-4AE9-B031-9ED3B7F1FE5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5cebca74874dd5"/>
          <a:srcRect xmlns:a="http://schemas.openxmlformats.org/drawingml/2006/main" l="25201" t="0" r="2520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86600" y="0"/>
            <a:ext cx="51054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917579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B73E69A-3CD2-4333-ACCF-42A3F7CA2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开场：一座厕所</a:t>
            </a:r>
          </a:p>
        </p:txBody>
      </p:sp>
      <p:sp>
        <p:nvSpPr>
          <p:cNvPr id="2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4A24D86A-AE68-4A8C-89CC-07E6F69AF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29350"/>
            <a:ext cx="10525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来源：上海市公共数据开放平台；沪绿化市容局；纽约市议会公共厕所分析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A51CFF0B-A7FC-4A90-992F-B8D300398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4" name="text-5">
            <a:extLst xmlns:a="http://schemas.openxmlformats.org/drawingml/2006/main">
              <a:ext uri="{FF2B5EF4-FFF2-40B4-BE49-F238E27FC236}">
                <a16:creationId xmlns:a16="http://schemas.microsoft.com/office/drawing/2014/main" id="{7FC7F4F5-0026-42A4-819A-E854F79F7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上海</a:t>
            </a:r>
          </a:p>
        </p:txBody>
      </p:sp>
      <p:sp>
        <p:nvSpPr>
          <p:cNvPr id="5" name="text-6">
            <a:extLst xmlns:a="http://schemas.openxmlformats.org/drawingml/2006/main">
              <a:ext uri="{FF2B5EF4-FFF2-40B4-BE49-F238E27FC236}">
                <a16:creationId xmlns:a16="http://schemas.microsoft.com/office/drawing/2014/main" id="{799F6561-939E-41B8-BCAA-1456F32FF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362075"/>
            <a:ext cx="527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B9603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B9603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B9603F"/>
                </a:solidFill>
                <a:latin typeface="Microsoft YaHei"/>
                <a:ea typeface="Microsoft YaHei"/>
                <a:cs typeface="Microsoft YaHei"/>
              </a:rPr>
              <a:t>纽约</a:t>
            </a:r>
          </a:p>
        </p:txBody>
      </p:sp>
      <p:sp>
        <p:nvSpPr>
          <p:cNvPr id="6" name="text-7">
            <a:extLst xmlns:a="http://schemas.openxmlformats.org/drawingml/2006/main">
              <a:ext uri="{FF2B5EF4-FFF2-40B4-BE49-F238E27FC236}">
                <a16:creationId xmlns:a16="http://schemas.microsoft.com/office/drawing/2014/main" id="{27CECF0D-C04C-45DE-AC4F-2DE99C085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05000"/>
            <a:ext cx="5143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75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8,325 条记录</a:t>
            </a:r>
          </a:p>
        </p:txBody>
      </p:sp>
      <p:sp>
        <p:nvSpPr>
          <p:cNvPr id="7" name="text-8">
            <a:extLst xmlns:a="http://schemas.openxmlformats.org/drawingml/2006/main">
              <a:ext uri="{FF2B5EF4-FFF2-40B4-BE49-F238E27FC236}">
                <a16:creationId xmlns:a16="http://schemas.microsoft.com/office/drawing/2014/main" id="{36395A2E-5298-4908-B85A-1808E8A03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905000"/>
            <a:ext cx="52768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B9603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B9603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750" b="1">
                <a:solidFill>
                  <a:srgbClr val="B9603F"/>
                </a:solidFill>
                <a:latin typeface="Microsoft YaHei"/>
                <a:ea typeface="Microsoft YaHei"/>
                <a:cs typeface="Microsoft YaHei"/>
              </a:rPr>
              <a:t>973 座在运营</a:t>
            </a:r>
          </a:p>
        </p:txBody>
      </p:sp>
      <p:sp>
        <p:nvSpPr>
          <p:cNvPr id="8" name="text-9">
            <a:extLst xmlns:a="http://schemas.openxmlformats.org/drawingml/2006/main">
              <a:ext uri="{FF2B5EF4-FFF2-40B4-BE49-F238E27FC236}">
                <a16:creationId xmlns:a16="http://schemas.microsoft.com/office/drawing/2014/main" id="{D33C9D40-987A-47F0-934D-D955E28F9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86050"/>
            <a:ext cx="5143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4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约每 3,000 人一处</a:t>
            </a:r>
          </a:p>
        </p:txBody>
      </p:sp>
      <p:sp>
        <p:nvSpPr>
          <p:cNvPr id="9" name="text-10">
            <a:extLst xmlns:a="http://schemas.openxmlformats.org/drawingml/2006/main">
              <a:ext uri="{FF2B5EF4-FFF2-40B4-BE49-F238E27FC236}">
                <a16:creationId xmlns:a16="http://schemas.microsoft.com/office/drawing/2014/main" id="{FD8D976F-2EC4-48D8-A23E-B5E461C56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686050"/>
            <a:ext cx="5276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4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近每 9,000 人一处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0C647A-093B-4E14-A450-6779FAA4AC7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6f658d21cd464f"/>
          <a:stretch xmlns:a="http://schemas.openxmlformats.org/drawingml/2006/main"/>
        </p:blipFill>
        <p:spPr>
          <a:xfrm xmlns:a="http://schemas.openxmlformats.org/drawingml/2006/main">
            <a:off x="571500" y="3502890"/>
            <a:ext cx="2800350" cy="1757220"/>
          </a:xfrm>
          <a:prstGeom xmlns:a="http://schemas.openxmlformats.org/drawingml/2006/main" prst="rect">
            <a:avLst/>
          </a:prstGeom>
        </p:spPr>
      </p:pic>
      <p:sp>
        <p:nvSpPr>
          <p:cNvPr id="11" name="text-11">
            <a:extLst xmlns:a="http://schemas.openxmlformats.org/drawingml/2006/main">
              <a:ext uri="{FF2B5EF4-FFF2-40B4-BE49-F238E27FC236}">
                <a16:creationId xmlns:a16="http://schemas.microsoft.com/office/drawing/2014/main" id="{84257E15-0E44-4BA1-8652-E0F07F0DA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629025"/>
            <a:ext cx="21717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2,631 座改造</a:t>
            </a:r>
          </a:p>
        </p:txBody>
      </p:sp>
      <p:sp>
        <p:nvSpPr>
          <p:cNvPr id="12" name="text-12">
            <a:extLst xmlns:a="http://schemas.openxmlformats.org/drawingml/2006/main">
              <a:ext uri="{FF2B5EF4-FFF2-40B4-BE49-F238E27FC236}">
                <a16:creationId xmlns:a16="http://schemas.microsoft.com/office/drawing/2014/main" id="{A085B7D7-DD40-44A9-9632-B1ED0072A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171950"/>
            <a:ext cx="21717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适老、适幼设施</a:t>
            </a:r>
          </a:p>
          <a:p xmlns:a="http://schemas.openxmlformats.org/drawingml/2006/main">
            <a:pPr algn="l">
              <a:defRPr sz="18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第三卫生间</a:t>
            </a:r>
          </a:p>
          <a:p xmlns:a="http://schemas.openxmlformats.org/drawingml/2006/main">
            <a:pPr algn="l">
              <a:defRPr sz="18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免费厕纸和热水</a:t>
            </a:r>
          </a:p>
        </p:txBody>
      </p:sp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E33785-E58A-4D5E-A501-B70F13DFDDE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7bf9c5c7a349f8"/>
          <a:stretch xmlns:a="http://schemas.openxmlformats.org/drawingml/2006/main"/>
        </p:blipFill>
        <p:spPr>
          <a:xfrm xmlns:a="http://schemas.openxmlformats.org/drawingml/2006/main">
            <a:off x="6624947" y="3448050"/>
            <a:ext cx="4714256" cy="981075"/>
          </a:xfrm>
          <a:prstGeom xmlns:a="http://schemas.openxmlformats.org/drawingml/2006/main" prst="rect">
            <a:avLst/>
          </a:prstGeom>
        </p:spPr>
      </p:pic>
      <p:sp>
        <p:nvSpPr>
          <p:cNvPr id="14" name="text-13">
            <a:extLst xmlns:a="http://schemas.openxmlformats.org/drawingml/2006/main">
              <a:ext uri="{FF2B5EF4-FFF2-40B4-BE49-F238E27FC236}">
                <a16:creationId xmlns:a16="http://schemas.microsoft.com/office/drawing/2014/main" id="{7B2244A0-B8E8-447A-9523-B863E0DE9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743450"/>
            <a:ext cx="52768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全天 24 小时开放的只有 8 座</a:t>
            </a:r>
          </a:p>
        </p:txBody>
      </p:sp>
      <p:sp>
        <p:nvSpPr>
          <p:cNvPr id="15" name="text-14">
            <a:extLst xmlns:a="http://schemas.openxmlformats.org/drawingml/2006/main">
              <a:ext uri="{FF2B5EF4-FFF2-40B4-BE49-F238E27FC236}">
                <a16:creationId xmlns:a16="http://schemas.microsoft.com/office/drawing/2014/main" id="{AF30A5F1-2141-47B2-9846-40FECEB23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102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上海为平台记录，纽约为市政运营公厕，统计范围不同；这里比较设施供给的量级。</a:t>
            </a:r>
          </a:p>
        </p:txBody>
      </p:sp>
    </p:spTree>
    <p:extLst>
      <p:ext uri="{BB962C8B-B14F-4D97-AF65-F5344CB8AC3E}">
        <p14:creationId xmlns:p14="http://schemas.microsoft.com/office/powerpoint/2010/main" val="98865579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68A837D-A19A-4B18-906C-33562137D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比什么，怎么比</a:t>
            </a:r>
          </a:p>
        </p:txBody>
      </p:sp>
      <p:sp>
        <p:nvSpPr>
          <p:cNvPr id="2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D2E65C52-F0C9-4B00-90F9-30A14EC92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29350"/>
            <a:ext cx="10525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来源：上海统计公报与住户调查；NYC RGB/ACS；纽约市规划局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C7E24953-449D-4D72-84A6-9B35E4D50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4" name="text-15">
            <a:extLst xmlns:a="http://schemas.openxmlformats.org/drawingml/2006/main">
              <a:ext uri="{FF2B5EF4-FFF2-40B4-BE49-F238E27FC236}">
                <a16:creationId xmlns:a16="http://schemas.microsoft.com/office/drawing/2014/main" id="{4CFCE7CD-3ABF-4081-888D-0340A9CA7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4667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基础保障</a:t>
            </a:r>
          </a:p>
        </p:txBody>
      </p:sp>
      <p:sp>
        <p:nvSpPr>
          <p:cNvPr id="5" name="text-16">
            <a:extLst xmlns:a="http://schemas.openxmlformats.org/drawingml/2006/main">
              <a:ext uri="{FF2B5EF4-FFF2-40B4-BE49-F238E27FC236}">
                <a16:creationId xmlns:a16="http://schemas.microsoft.com/office/drawing/2014/main" id="{9F676D24-6433-4DEC-B069-D6C817960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57400"/>
            <a:ext cx="466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住、吃、穿、行</a:t>
            </a:r>
          </a:p>
        </p:txBody>
      </p:sp>
      <p:sp>
        <p:nvSpPr>
          <p:cNvPr id="6" name="text-17">
            <a:extLst xmlns:a="http://schemas.openxmlformats.org/drawingml/2006/main">
              <a:ext uri="{FF2B5EF4-FFF2-40B4-BE49-F238E27FC236}">
                <a16:creationId xmlns:a16="http://schemas.microsoft.com/office/drawing/2014/main" id="{AEF554F1-C4E3-4F47-A929-415C49F53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24175"/>
            <a:ext cx="4667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民生福祉</a:t>
            </a:r>
          </a:p>
        </p:txBody>
      </p:sp>
      <p:sp>
        <p:nvSpPr>
          <p:cNvPr id="7" name="text-18">
            <a:extLst xmlns:a="http://schemas.openxmlformats.org/drawingml/2006/main">
              <a:ext uri="{FF2B5EF4-FFF2-40B4-BE49-F238E27FC236}">
                <a16:creationId xmlns:a16="http://schemas.microsoft.com/office/drawing/2014/main" id="{C388E921-0296-4B33-8605-352877EC5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81375"/>
            <a:ext cx="466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医疗、治安、教育、文化</a:t>
            </a:r>
          </a:p>
        </p:txBody>
      </p:sp>
      <p:sp>
        <p:nvSpPr>
          <p:cNvPr id="8" name="text-19">
            <a:extLst xmlns:a="http://schemas.openxmlformats.org/drawingml/2006/main">
              <a:ext uri="{FF2B5EF4-FFF2-40B4-BE49-F238E27FC236}">
                <a16:creationId xmlns:a16="http://schemas.microsoft.com/office/drawing/2014/main" id="{D0CC05DB-3DB3-4F9B-85B6-FF81E7024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48150"/>
            <a:ext cx="4667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底层关怀</a:t>
            </a:r>
          </a:p>
        </p:txBody>
      </p:sp>
      <p:sp>
        <p:nvSpPr>
          <p:cNvPr id="9" name="text-20">
            <a:extLst xmlns:a="http://schemas.openxmlformats.org/drawingml/2006/main">
              <a:ext uri="{FF2B5EF4-FFF2-40B4-BE49-F238E27FC236}">
                <a16:creationId xmlns:a16="http://schemas.microsoft.com/office/drawing/2014/main" id="{707D3635-EA52-4760-984C-CF7854141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05350"/>
            <a:ext cx="466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单独看：怎么对待最穷的人</a:t>
            </a:r>
          </a:p>
        </p:txBody>
      </p:sp>
      <p:graphicFrame>
        <p:nvGraphicFrame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E78BE3-5DF3-406D-9B40-6CF46D276249}"/>
              </a:ext>
            </a:extLst>
          </p:cNvPr>
          <p:cNvGraphicFramePr/>
          <p:nvPr/>
        </p:nvGraphicFramePr>
        <p:xfrm>
          <a:off xmlns:a="http://schemas.openxmlformats.org/drawingml/2006/main" x="6315075" y="1457325"/>
          <a:ext xmlns:a="http://schemas.openxmlformats.org/drawingml/2006/main" cx="5305425" cy="17430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714500"/>
                <a:gridCol w="3590925"/>
              </a:tblGrid>
              <a:tr h="581025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比较对象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人口 / 面积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上海全市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2,485万人 / 6,341 km²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B9603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纽约市五区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858万人 / 778 km²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</a:tbl>
          </a:graphicData>
        </a:graphic>
      </p:graphicFrame>
      <p:sp>
        <p:nvSpPr>
          <p:cNvPr id="11" name="text-21">
            <a:extLst xmlns:a="http://schemas.openxmlformats.org/drawingml/2006/main">
              <a:ext uri="{FF2B5EF4-FFF2-40B4-BE49-F238E27FC236}">
                <a16:creationId xmlns:a16="http://schemas.microsoft.com/office/drawing/2014/main" id="{FF532920-E506-41E3-8109-B866AC63C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562350"/>
            <a:ext cx="5305425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6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家庭收入差约两倍半</a:t>
            </a:r>
          </a:p>
        </p:txBody>
      </p:sp>
      <p:sp>
        <p:nvSpPr>
          <p:cNvPr id="12" name="text-22">
            <a:extLst xmlns:a="http://schemas.openxmlformats.org/drawingml/2006/main">
              <a:ext uri="{FF2B5EF4-FFF2-40B4-BE49-F238E27FC236}">
                <a16:creationId xmlns:a16="http://schemas.microsoft.com/office/drawing/2014/main" id="{02C46975-A594-4B0A-A062-97A6336C1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4229100"/>
            <a:ext cx="53054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纽约约 55 万元　上海约 20.6 万元</a:t>
            </a:r>
          </a:p>
        </p:txBody>
      </p:sp>
      <p:sp>
        <p:nvSpPr>
          <p:cNvPr id="13" name="text-23">
            <a:extLst xmlns:a="http://schemas.openxmlformats.org/drawingml/2006/main">
              <a:ext uri="{FF2B5EF4-FFF2-40B4-BE49-F238E27FC236}">
                <a16:creationId xmlns:a16="http://schemas.microsoft.com/office/drawing/2014/main" id="{93216B42-3378-46C2-9237-21FCE98C8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4905375"/>
            <a:ext cx="5305425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现金收入是背景，</a:t>
            </a:r>
          </a:p>
          <a:p xmlns:a="http://schemas.openxmlformats.org/drawingml/2006/main">
            <a:pPr algn="l">
              <a:defRPr sz="21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具体生活要分项比较。</a:t>
            </a:r>
          </a:p>
        </p:txBody>
      </p:sp>
      <p:sp>
        <p:nvSpPr>
          <p:cNvPr id="14" name="text-24">
            <a:extLst xmlns:a="http://schemas.openxmlformats.org/drawingml/2006/main">
              <a:ext uri="{FF2B5EF4-FFF2-40B4-BE49-F238E27FC236}">
                <a16:creationId xmlns:a16="http://schemas.microsoft.com/office/drawing/2014/main" id="{AD16C91F-9C51-4997-8ED1-6468BB0A1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102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纽约为税前户收入中位数；上海由人均可支配收入均值×户均人数估算，约2.65倍。</a:t>
            </a:r>
          </a:p>
        </p:txBody>
      </p:sp>
    </p:spTree>
    <p:extLst>
      <p:ext uri="{BB962C8B-B14F-4D97-AF65-F5344CB8AC3E}">
        <p14:creationId xmlns:p14="http://schemas.microsoft.com/office/powerpoint/2010/main" val="22867191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E9621E1-5922-476E-98F8-6357F6A65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住：稳定居住，上海明显占优</a:t>
            </a:r>
          </a:p>
        </p:txBody>
      </p:sp>
      <p:sp>
        <p:nvSpPr>
          <p:cNvPr id="2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38884F20-BE3E-4F0F-B32A-E12AC9512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29350"/>
            <a:ext cx="10525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来源：上海2020年人口普查年鉴表9-4；NYC 2023 HVS；上海2025统计公报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EBB52DC3-B831-4532-A081-EE35E51CA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4" name="text-25">
            <a:extLst xmlns:a="http://schemas.openxmlformats.org/drawingml/2006/main">
              <a:ext uri="{FF2B5EF4-FFF2-40B4-BE49-F238E27FC236}">
                <a16:creationId xmlns:a16="http://schemas.microsoft.com/office/drawing/2014/main" id="{F7BA4B95-639E-4F21-9399-76E06000C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90650"/>
            <a:ext cx="5048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自有住房率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0558FA-A20B-4C5F-87C4-8CD6C742477F}"/>
              </a:ext>
            </a:extLst>
          </p:cNvPr>
          <p:cNvGraphicFramePr/>
          <p:nvPr/>
        </p:nvGraphicFramePr>
        <p:xfrm>
          <a:off xmlns:a="http://schemas.openxmlformats.org/drawingml/2006/main" x="571500" y="2009775"/>
          <a:ext xmlns:a="http://schemas.openxmlformats.org/drawingml/2006/main" cx="5219700" cy="15144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609850"/>
                <a:gridCol w="2609850"/>
              </a:tblGrid>
              <a:tr h="533400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上海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纽约市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</a:tr>
              <a:tr h="981075">
                <a:tc>
                  <a:txBody>
                    <a:bodyPr/>
                    <a:lstStyle/>
                    <a:p>
                      <a:r>
                        <a:rPr sz="3225" b="1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59.0%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3225" b="1">
                          <a:solidFill>
                            <a:srgbClr val="B9603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32.3%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</a:tbl>
          </a:graphicData>
        </a:graphic>
      </p:graphicFrame>
      <p:sp>
        <p:nvSpPr>
          <p:cNvPr id="6" name="text-26">
            <a:extLst xmlns:a="http://schemas.openxmlformats.org/drawingml/2006/main">
              <a:ext uri="{FF2B5EF4-FFF2-40B4-BE49-F238E27FC236}">
                <a16:creationId xmlns:a16="http://schemas.microsoft.com/office/drawing/2014/main" id="{C49FE16C-ED69-4279-AB69-DB20B767C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52875"/>
            <a:ext cx="52197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3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相差约 27 个百分点</a:t>
            </a:r>
          </a:p>
        </p:txBody>
      </p:sp>
      <p:sp>
        <p:nvSpPr>
          <p:cNvPr id="7" name="text-27">
            <a:extLst xmlns:a="http://schemas.openxmlformats.org/drawingml/2006/main">
              <a:ext uri="{FF2B5EF4-FFF2-40B4-BE49-F238E27FC236}">
                <a16:creationId xmlns:a16="http://schemas.microsoft.com/office/drawing/2014/main" id="{D374B091-2D49-4B72-B427-46C821F78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86300"/>
            <a:ext cx="52197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纽约约一半租房家庭，</a:t>
            </a:r>
          </a:p>
          <a:p xmlns:a="http://schemas.openxmlformats.org/drawingml/2006/main">
            <a:pPr algn="l">
              <a:defRPr sz="195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房租占收入三成以上。</a:t>
            </a:r>
          </a:p>
        </p:txBody>
      </p:sp>
      <p:sp>
        <p:nvSpPr>
          <p:cNvPr id="8" name="text-28">
            <a:extLst xmlns:a="http://schemas.openxmlformats.org/drawingml/2006/main">
              <a:ext uri="{FF2B5EF4-FFF2-40B4-BE49-F238E27FC236}">
                <a16:creationId xmlns:a16="http://schemas.microsoft.com/office/drawing/2014/main" id="{AAE1A8F1-7AD9-4B00-9B31-3C2799A08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390650"/>
            <a:ext cx="5276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上海继续增加住房支持</a:t>
            </a:r>
          </a:p>
        </p:txBody>
      </p:sp>
      <p:pic>
        <p:nvPicPr>
          <p:cNvPr id="9" name="" descr="2025年上海市统计公报官网完整句：全年完成零星旧改12万平方米，受益居民4354户。">
            <a:extLst xmlns:a="http://schemas.openxmlformats.org/drawingml/2006/main">
              <a:ext uri="{FF2B5EF4-FFF2-40B4-BE49-F238E27FC236}">
                <a16:creationId xmlns:a16="http://schemas.microsoft.com/office/drawing/2014/main" id="{6B8709F6-A6A9-43EE-A56C-0C6BB339D9F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47e1f621ed4c42"/>
          <a:stretch xmlns:a="http://schemas.openxmlformats.org/drawingml/2006/main"/>
        </p:blipFill>
        <p:spPr>
          <a:xfrm xmlns:a="http://schemas.openxmlformats.org/drawingml/2006/main">
            <a:off x="6343650" y="2533650"/>
            <a:ext cx="5276850" cy="327016"/>
          </a:xfrm>
          <a:prstGeom xmlns:a="http://schemas.openxmlformats.org/drawingml/2006/main" prst="rect">
            <a:avLst/>
          </a:prstGeom>
        </p:spPr>
      </p:pic>
      <p:sp>
        <p:nvSpPr>
          <p:cNvPr id="10" name="text-29">
            <a:extLst xmlns:a="http://schemas.openxmlformats.org/drawingml/2006/main">
              <a:ext uri="{FF2B5EF4-FFF2-40B4-BE49-F238E27FC236}">
                <a16:creationId xmlns:a16="http://schemas.microsoft.com/office/drawing/2014/main" id="{7BB33439-215A-4E01-B57E-9AA979A97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457575"/>
            <a:ext cx="52768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00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7.4 万套（间）</a:t>
            </a:r>
          </a:p>
        </p:txBody>
      </p:sp>
      <p:sp>
        <p:nvSpPr>
          <p:cNvPr id="11" name="text-30">
            <a:extLst xmlns:a="http://schemas.openxmlformats.org/drawingml/2006/main">
              <a:ext uri="{FF2B5EF4-FFF2-40B4-BE49-F238E27FC236}">
                <a16:creationId xmlns:a16="http://schemas.microsoft.com/office/drawing/2014/main" id="{BFCACD08-BF33-4D1E-97CD-71BDD5812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114800"/>
            <a:ext cx="52768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2025年建设筹措保障性租赁住房</a:t>
            </a:r>
          </a:p>
        </p:txBody>
      </p:sp>
      <p:sp>
        <p:nvSpPr>
          <p:cNvPr id="12" name="text-31">
            <a:extLst xmlns:a="http://schemas.openxmlformats.org/drawingml/2006/main">
              <a:ext uri="{FF2B5EF4-FFF2-40B4-BE49-F238E27FC236}">
                <a16:creationId xmlns:a16="http://schemas.microsoft.com/office/drawing/2014/main" id="{70F8D481-192C-42AE-AD56-48E2D7672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791075"/>
            <a:ext cx="52768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建设者之家床位 3.2 万张</a:t>
            </a:r>
          </a:p>
          <a:p xmlns:a="http://schemas.openxmlformats.org/drawingml/2006/main">
            <a:pPr algn="l">
              <a:defRPr sz="20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老楼加装电梯 3,295 台</a:t>
            </a:r>
          </a:p>
        </p:txBody>
      </p:sp>
      <p:sp>
        <p:nvSpPr>
          <p:cNvPr id="13" name="text-32">
            <a:extLst xmlns:a="http://schemas.openxmlformats.org/drawingml/2006/main">
              <a:ext uri="{FF2B5EF4-FFF2-40B4-BE49-F238E27FC236}">
                <a16:creationId xmlns:a16="http://schemas.microsoft.com/office/drawing/2014/main" id="{1F14E845-A0F5-4F24-B51D-C74ACCC81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102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自有住房率：上海2020年七普长表家庭户；纽约2023年HVS已入住住房，年份与分母不同。</a:t>
            </a:r>
          </a:p>
        </p:txBody>
      </p:sp>
      <p:sp>
        <p:nvSpPr>
          <p:cNvPr id="15" name="housing-bulletin-source-caption">
            <a:extLst xmlns:a="http://schemas.openxmlformats.org/drawingml/2006/main">
              <a:ext uri="{FF2B5EF4-FFF2-40B4-BE49-F238E27FC236}">
                <a16:creationId xmlns:a16="http://schemas.microsoft.com/office/drawing/2014/main" id="{090D71AC-4136-4E91-9EA4-3AED9DB04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076450"/>
            <a:ext cx="5276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2025 年统计公报</a:t>
            </a:r>
          </a:p>
        </p:txBody>
      </p:sp>
    </p:spTree>
    <p:extLst>
      <p:ext uri="{BB962C8B-B14F-4D97-AF65-F5344CB8AC3E}">
        <p14:creationId xmlns:p14="http://schemas.microsoft.com/office/powerpoint/2010/main" val="98323330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65CFB1D-DB2F-4222-B49A-51C69D4EB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吃和穿：纽约领先，程度不同</a:t>
            </a:r>
          </a:p>
        </p:txBody>
      </p:sp>
      <p:sp>
        <p:nvSpPr>
          <p:cNvPr id="2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AD155613-0E41-4B3E-9EA8-4DBC8FA51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29350"/>
            <a:ext cx="10525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来源：BEA SAPCE（纽约州2025）；上海统计年鉴2025（2024年住户支出）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B2FD394D-70CA-4704-A7C2-D14EAB8D4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A56A00-009B-41A8-9AE0-81A5948BDADD}"/>
              </a:ext>
            </a:extLst>
          </p:cNvPr>
          <p:cNvGraphicFramePr/>
          <p:nvPr/>
        </p:nvGraphicFramePr>
        <p:xfrm>
          <a:off xmlns:a="http://schemas.openxmlformats.org/drawingml/2006/main" x="571500" y="1485900"/>
          <a:ext xmlns:a="http://schemas.openxmlformats.org/drawingml/2006/main" cx="11049000" cy="2476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28850"/>
                <a:gridCol w="2286000"/>
                <a:gridCol w="3905250"/>
                <a:gridCol w="2628900"/>
              </a:tblGrid>
              <a:tr h="60960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人均年度支出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上海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纽约州（折人民币）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本组判定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</a:tr>
              <a:tr h="93345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吃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1.35 万元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B9603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约 6.3 万元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B9603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纽约稍胜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93345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穿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1,936 元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B9603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约 1.31 万元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B9603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纽约压倒性胜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</a:tbl>
          </a:graphicData>
        </a:graphic>
      </p:graphicFrame>
      <p:sp>
        <p:nvSpPr>
          <p:cNvPr id="5" name="text-33">
            <a:extLst xmlns:a="http://schemas.openxmlformats.org/drawingml/2006/main">
              <a:ext uri="{FF2B5EF4-FFF2-40B4-BE49-F238E27FC236}">
                <a16:creationId xmlns:a16="http://schemas.microsoft.com/office/drawing/2014/main" id="{8E95C942-98F5-433E-AA90-2F4B9F0FA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81500"/>
            <a:ext cx="5191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3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吃：账面约 4.7 倍</a:t>
            </a:r>
          </a:p>
        </p:txBody>
      </p:sp>
      <p:sp>
        <p:nvSpPr>
          <p:cNvPr id="6" name="text-34">
            <a:extLst xmlns:a="http://schemas.openxmlformats.org/drawingml/2006/main">
              <a:ext uri="{FF2B5EF4-FFF2-40B4-BE49-F238E27FC236}">
                <a16:creationId xmlns:a16="http://schemas.microsoft.com/office/drawing/2014/main" id="{9CE9FE9F-7684-4EA1-829D-92E1E9589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10150"/>
            <a:ext cx="5191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餐饮价格随工资走，</a:t>
            </a:r>
          </a:p>
          <a:p xmlns:a="http://schemas.openxmlformats.org/drawingml/2006/main">
            <a:pPr algn="l">
              <a:defRPr sz="195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花钱多不等于吃得好同样多。</a:t>
            </a:r>
          </a:p>
        </p:txBody>
      </p:sp>
      <p:sp>
        <p:nvSpPr>
          <p:cNvPr id="7" name="text-35">
            <a:extLst xmlns:a="http://schemas.openxmlformats.org/drawingml/2006/main">
              <a:ext uri="{FF2B5EF4-FFF2-40B4-BE49-F238E27FC236}">
                <a16:creationId xmlns:a16="http://schemas.microsoft.com/office/drawing/2014/main" id="{14E21E6B-6514-47C2-A666-8DCC4E703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381500"/>
            <a:ext cx="5276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3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穿：接近 7 倍</a:t>
            </a:r>
          </a:p>
        </p:txBody>
      </p:sp>
      <p:sp>
        <p:nvSpPr>
          <p:cNvPr id="8" name="text-36">
            <a:extLst xmlns:a="http://schemas.openxmlformats.org/drawingml/2006/main">
              <a:ext uri="{FF2B5EF4-FFF2-40B4-BE49-F238E27FC236}">
                <a16:creationId xmlns:a16="http://schemas.microsoft.com/office/drawing/2014/main" id="{F4F43F1D-D9F7-4492-9FF6-6274EF59F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010150"/>
            <a:ext cx="5276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全球化商品的消费差距，</a:t>
            </a:r>
          </a:p>
          <a:p xmlns:a="http://schemas.openxmlformats.org/drawingml/2006/main">
            <a:pPr algn="l">
              <a:defRPr sz="195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比餐饮支出更直接。</a:t>
            </a:r>
          </a:p>
        </p:txBody>
      </p:sp>
      <p:sp>
        <p:nvSpPr>
          <p:cNvPr id="9" name="text-37">
            <a:extLst xmlns:a="http://schemas.openxmlformats.org/drawingml/2006/main">
              <a:ext uri="{FF2B5EF4-FFF2-40B4-BE49-F238E27FC236}">
                <a16:creationId xmlns:a16="http://schemas.microsoft.com/office/drawing/2014/main" id="{8E79DFED-E609-4024-9C29-F3C686EA9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57875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纽约用州级“食品饮料＋餐饮住宿”和服装鞋类，上海为食品烟酒、衣着；汇率6.733。</a:t>
            </a:r>
          </a:p>
        </p:txBody>
      </p:sp>
    </p:spTree>
    <p:extLst>
      <p:ext uri="{BB962C8B-B14F-4D97-AF65-F5344CB8AC3E}">
        <p14:creationId xmlns:p14="http://schemas.microsoft.com/office/powerpoint/2010/main" val="115168944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C8A0B15-7211-4CCA-BE42-7DFCE0A90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行：日常出行，上海压倒性占优</a:t>
            </a:r>
          </a:p>
        </p:txBody>
      </p:sp>
      <p:sp>
        <p:nvSpPr>
          <p:cNvPr id="2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286F8971-FC16-4684-88C2-A5C5CCE49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29350"/>
            <a:ext cx="10525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来源：上海地铁票务规则；NYC311、MTA；上海年鉴；纽约都会区消费统计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6B8C765F-ACBE-48BB-95A3-C5771FB63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4" name="text-38">
            <a:extLst xmlns:a="http://schemas.openxmlformats.org/drawingml/2006/main">
              <a:ext uri="{FF2B5EF4-FFF2-40B4-BE49-F238E27FC236}">
                <a16:creationId xmlns:a16="http://schemas.microsoft.com/office/drawing/2014/main" id="{A66938CB-84B2-492A-A69E-98F32AD21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11049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把纽约票价按收入差距折算后，再比较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121013-BA71-4D93-95E1-120EA383588A}"/>
              </a:ext>
            </a:extLst>
          </p:cNvPr>
          <p:cNvGraphicFramePr/>
          <p:nvPr/>
        </p:nvGraphicFramePr>
        <p:xfrm>
          <a:off xmlns:a="http://schemas.openxmlformats.org/drawingml/2006/main" x="571500" y="2028825"/>
          <a:ext xmlns:a="http://schemas.openxmlformats.org/drawingml/2006/main" cx="11049000" cy="22193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667000"/>
                <a:gridCol w="4010025"/>
                <a:gridCol w="4371975"/>
              </a:tblGrid>
              <a:tr h="542925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票价 / 通勤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上海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纽约（按收入折算）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单次地铁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3–4 元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B9603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约 7.6 元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一周通勤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约 40 元（10趟×4元）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B9603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约 89 元（周封顶35美元）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</a:tbl>
          </a:graphicData>
        </a:graphic>
      </p:graphicFrame>
      <p:sp>
        <p:nvSpPr>
          <p:cNvPr id="6" name="text-39">
            <a:extLst xmlns:a="http://schemas.openxmlformats.org/drawingml/2006/main">
              <a:ext uri="{FF2B5EF4-FFF2-40B4-BE49-F238E27FC236}">
                <a16:creationId xmlns:a16="http://schemas.microsoft.com/office/drawing/2014/main" id="{F89EF159-8625-4169-B963-B7833DEB8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62475"/>
            <a:ext cx="333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一日票 18 元</a:t>
            </a:r>
          </a:p>
          <a:p xmlns:a="http://schemas.openxmlformats.org/drawingml/2006/main">
            <a:pPr algn="l">
              <a:defRPr sz="247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三日票 45 元</a:t>
            </a:r>
          </a:p>
        </p:txBody>
      </p:sp>
      <p:sp>
        <p:nvSpPr>
          <p:cNvPr id="7" name="text-40">
            <a:extLst xmlns:a="http://schemas.openxmlformats.org/drawingml/2006/main">
              <a:ext uri="{FF2B5EF4-FFF2-40B4-BE49-F238E27FC236}">
                <a16:creationId xmlns:a16="http://schemas.microsoft.com/office/drawing/2014/main" id="{CFA80799-84F5-4E8F-AADE-7A9E95854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562475"/>
            <a:ext cx="400050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消费中的交通负担</a:t>
            </a:r>
          </a:p>
          <a:p xmlns:a="http://schemas.openxmlformats.org/drawingml/2006/main">
            <a:pPr algn="l">
              <a:def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上海交通通信 10.6%</a:t>
            </a:r>
          </a:p>
          <a:p xmlns:a="http://schemas.openxmlformats.org/drawingml/2006/main">
            <a:pPr algn="l">
              <a:def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纽约都会区交通 14%</a:t>
            </a:r>
          </a:p>
        </p:txBody>
      </p:sp>
      <p:sp>
        <p:nvSpPr>
          <p:cNvPr id="8" name="text-41">
            <a:extLst xmlns:a="http://schemas.openxmlformats.org/drawingml/2006/main">
              <a:ext uri="{FF2B5EF4-FFF2-40B4-BE49-F238E27FC236}">
                <a16:creationId xmlns:a16="http://schemas.microsoft.com/office/drawing/2014/main" id="{8DD23383-DD43-4BC6-91BD-05579038D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4562475"/>
            <a:ext cx="27146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每人每年乘坐地铁</a:t>
            </a:r>
          </a:p>
          <a:p xmlns:a="http://schemas.openxmlformats.org/drawingml/2006/main">
            <a:pPr algn="l">
              <a:defRPr sz="20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两城均约 150 次</a:t>
            </a:r>
          </a:p>
        </p:txBody>
      </p:sp>
      <p:sp>
        <p:nvSpPr>
          <p:cNvPr id="9" name="text-42">
            <a:extLst xmlns:a="http://schemas.openxmlformats.org/drawingml/2006/main">
              <a:ext uri="{FF2B5EF4-FFF2-40B4-BE49-F238E27FC236}">
                <a16:creationId xmlns:a16="http://schemas.microsoft.com/office/drawing/2014/main" id="{3A1214BC-824E-481E-965A-2E995B3D6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102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票价按收入差2.65倍折算；支出占比的地域、年份及交通/交通通信分类不同，详见备注。</a:t>
            </a:r>
          </a:p>
        </p:txBody>
      </p:sp>
    </p:spTree>
    <p:extLst>
      <p:ext uri="{BB962C8B-B14F-4D97-AF65-F5344CB8AC3E}">
        <p14:creationId xmlns:p14="http://schemas.microsoft.com/office/powerpoint/2010/main" val="146257825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1D07DCA-1EE1-4542-9F1C-35E40B510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民生福祉：四项放在一起看</a:t>
            </a:r>
          </a:p>
        </p:txBody>
      </p:sp>
      <p:sp>
        <p:nvSpPr>
          <p:cNvPr id="2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7DE75983-0905-4B9C-824A-31FFABBDB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29350"/>
            <a:ext cx="10525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来源：沪卫健委、统计年鉴；NYC DOHMH、NYPD、NYSED、DCLA、公共图书馆系统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F6B369C8-527E-41D5-8E00-D41FCE2B4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F60B75-7F77-4C1A-9D7A-5D8569C7A173}"/>
              </a:ext>
            </a:extLst>
          </p:cNvPr>
          <p:cNvGraphicFramePr/>
          <p:nvPr/>
        </p:nvGraphicFramePr>
        <p:xfrm>
          <a:off xmlns:a="http://schemas.openxmlformats.org/drawingml/2006/main" x="571500" y="1438275"/>
          <a:ext xmlns:a="http://schemas.openxmlformats.org/drawingml/2006/main" cx="11049000" cy="3962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219200"/>
                <a:gridCol w="3467100"/>
                <a:gridCol w="3867150"/>
                <a:gridCol w="2495550"/>
              </a:tblGrid>
              <a:tr h="5143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上海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纽约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胜负与程度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医疗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婴儿 2.34‰</a:t>
                      </a:r>
                    </a:p>
                    <a:p>
                      <a:r>
                        <a:rPr sz="1725" b="0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孕产妇 1.85/10万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B9603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婴儿 4.2‰</a:t>
                      </a:r>
                    </a:p>
                    <a:p>
                      <a:r>
                        <a:rPr sz="1725" b="0">
                          <a:solidFill>
                            <a:srgbClr val="B9603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孕产妇约21/10万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上海胜</a:t>
                      </a:r>
                    </a:p>
                    <a:p>
                      <a:r>
                        <a:rPr sz="1725" b="1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明显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治安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杀人立案 0.19/10万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B9603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谋杀 3.6/10万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上海胜</a:t>
                      </a:r>
                    </a:p>
                    <a:p>
                      <a:r>
                        <a:rPr sz="1725" b="1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压倒性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教育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生师比 12.5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B9603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生师比 13.2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打平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文化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文化往家门口搬</a:t>
                      </a:r>
                    </a:p>
                    <a:p>
                      <a:r>
                        <a:rPr sz="1725" b="0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演出、社区生活圈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B9603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200余图书馆网点</a:t>
                      </a:r>
                    </a:p>
                    <a:p>
                      <a:r>
                        <a:rPr sz="1725" b="0">
                          <a:solidFill>
                            <a:srgbClr val="B9603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资助1,171家文化机构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B9603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纽约胜</a:t>
                      </a:r>
                    </a:p>
                    <a:p>
                      <a:r>
                        <a:rPr sz="1725" b="1">
                          <a:solidFill>
                            <a:srgbClr val="B9603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明显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</a:tbl>
          </a:graphicData>
        </a:graphic>
      </p:graphicFrame>
      <p:sp>
        <p:nvSpPr>
          <p:cNvPr id="5" name="text-43">
            <a:extLst xmlns:a="http://schemas.openxmlformats.org/drawingml/2006/main">
              <a:ext uri="{FF2B5EF4-FFF2-40B4-BE49-F238E27FC236}">
                <a16:creationId xmlns:a16="http://schemas.microsoft.com/office/drawing/2014/main" id="{B9D20F8A-1EEB-48F9-BB89-2F965912B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43575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医疗：上海2025；纽约婴儿2023、孕产妇2022（按产后42天折算）；其余口径见备注。</a:t>
            </a:r>
          </a:p>
        </p:txBody>
      </p:sp>
    </p:spTree>
    <p:extLst>
      <p:ext uri="{BB962C8B-B14F-4D97-AF65-F5344CB8AC3E}">
        <p14:creationId xmlns:p14="http://schemas.microsoft.com/office/powerpoint/2010/main" val="122857541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C5BD58D-D858-4B07-8E80-3E8ABD94E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怎么对待最穷的人</a:t>
            </a:r>
          </a:p>
        </p:txBody>
      </p:sp>
      <p:sp>
        <p:nvSpPr>
          <p:cNvPr id="2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D7DCDB0A-3135-476E-B183-9DAECD8FE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29350"/>
            <a:ext cx="10525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来源：沪民政2026低保通知、2025统计公报；HUD NY-600 2025一夜点数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A3C6F902-9491-47B5-BA9D-C8CE0829B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4" name="text-44">
            <a:extLst xmlns:a="http://schemas.openxmlformats.org/drawingml/2006/main">
              <a:ext uri="{FF2B5EF4-FFF2-40B4-BE49-F238E27FC236}">
                <a16:creationId xmlns:a16="http://schemas.microsoft.com/office/drawing/2014/main" id="{26F887C3-3C0C-43E0-9B1D-BB7226768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90650"/>
            <a:ext cx="5219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上海：把托底网络铺开</a:t>
            </a:r>
          </a:p>
        </p:txBody>
      </p:sp>
      <p:sp>
        <p:nvSpPr>
          <p:cNvPr id="5" name="text-45">
            <a:extLst xmlns:a="http://schemas.openxmlformats.org/drawingml/2006/main">
              <a:ext uri="{FF2B5EF4-FFF2-40B4-BE49-F238E27FC236}">
                <a16:creationId xmlns:a16="http://schemas.microsoft.com/office/drawing/2014/main" id="{0582C89A-2BDD-48B4-802A-FC8125415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09775"/>
            <a:ext cx="52197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2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2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1,690 元 / 人·月</a:t>
            </a:r>
          </a:p>
        </p:txBody>
      </p:sp>
      <p:sp>
        <p:nvSpPr>
          <p:cNvPr id="6" name="text-46">
            <a:extLst xmlns:a="http://schemas.openxmlformats.org/drawingml/2006/main">
              <a:ext uri="{FF2B5EF4-FFF2-40B4-BE49-F238E27FC236}">
                <a16:creationId xmlns:a16="http://schemas.microsoft.com/office/drawing/2014/main" id="{05DDE4C7-8F0C-401F-A3B7-2C7A9CEE3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14625"/>
            <a:ext cx="52197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2026年7月起，城乡统一低保标准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AB0633-2DFA-4B21-AC5E-215AA369B2EC}"/>
              </a:ext>
            </a:extLst>
          </p:cNvPr>
          <p:cNvGraphicFramePr/>
          <p:nvPr/>
        </p:nvGraphicFramePr>
        <p:xfrm>
          <a:off xmlns:a="http://schemas.openxmlformats.org/drawingml/2006/main" x="571500" y="3476625"/>
          <a:ext xmlns:a="http://schemas.openxmlformats.org/drawingml/2006/main" cx="5219700" cy="21145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333500"/>
                <a:gridCol w="3886200"/>
              </a:tblGrid>
              <a:tr h="528638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日常需要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托底服务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</a:tr>
              <a:tr h="528638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吃饭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2,498个老年助餐点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528638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养老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557个社区为老服务中心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528638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就业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506个家门口就业服务站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</a:tbl>
          </a:graphicData>
        </a:graphic>
      </p:graphicFrame>
      <p:sp>
        <p:nvSpPr>
          <p:cNvPr id="8" name="text-47">
            <a:extLst xmlns:a="http://schemas.openxmlformats.org/drawingml/2006/main">
              <a:ext uri="{FF2B5EF4-FFF2-40B4-BE49-F238E27FC236}">
                <a16:creationId xmlns:a16="http://schemas.microsoft.com/office/drawing/2014/main" id="{F040D633-EA7D-4FA2-9637-D24942194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390650"/>
            <a:ext cx="52768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B9603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B9603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B9603F"/>
                </a:solidFill>
                <a:latin typeface="Microsoft YaHei"/>
                <a:ea typeface="Microsoft YaHei"/>
                <a:cs typeface="Microsoft YaHei"/>
              </a:rPr>
              <a:t>纽约：住房出口仍然堵塞</a:t>
            </a:r>
          </a:p>
        </p:txBody>
      </p:sp>
      <p:sp>
        <p:nvSpPr>
          <p:cNvPr id="9" name="text-48">
            <a:extLst xmlns:a="http://schemas.openxmlformats.org/drawingml/2006/main">
              <a:ext uri="{FF2B5EF4-FFF2-40B4-BE49-F238E27FC236}">
                <a16:creationId xmlns:a16="http://schemas.microsoft.com/office/drawing/2014/main" id="{91A02465-BE47-4D6C-8775-75039BD49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009775"/>
            <a:ext cx="52768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225" b="1">
                <a:solidFill>
                  <a:srgbClr val="B9603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225" b="1">
                <a:solidFill>
                  <a:srgbClr val="B9603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B9603F"/>
                </a:solidFill>
                <a:latin typeface="Microsoft YaHei"/>
                <a:ea typeface="Microsoft YaHei"/>
                <a:cs typeface="Microsoft YaHei"/>
              </a:rPr>
              <a:t>12.6 万人无家可归</a:t>
            </a:r>
          </a:p>
        </p:txBody>
      </p:sp>
      <p:sp>
        <p:nvSpPr>
          <p:cNvPr id="10" name="text-49">
            <a:extLst xmlns:a="http://schemas.openxmlformats.org/drawingml/2006/main">
              <a:ext uri="{FF2B5EF4-FFF2-40B4-BE49-F238E27FC236}">
                <a16:creationId xmlns:a16="http://schemas.microsoft.com/office/drawing/2014/main" id="{0996E224-DF01-44E4-9BA5-CFF1E6F83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714625"/>
            <a:ext cx="52768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其中露宿街头 4,673 人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ADF98B-3C76-41B1-AA78-6934A0B3941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26c10e79324e76"/>
          <a:stretch xmlns:a="http://schemas.openxmlformats.org/drawingml/2006/main"/>
        </p:blipFill>
        <p:spPr>
          <a:xfrm xmlns:a="http://schemas.openxmlformats.org/drawingml/2006/main">
            <a:off x="6343650" y="3627269"/>
            <a:ext cx="5276850" cy="127337"/>
          </a:xfrm>
          <a:prstGeom xmlns:a="http://schemas.openxmlformats.org/drawingml/2006/main" prst="rect">
            <a:avLst/>
          </a:prstGeom>
        </p:spPr>
      </p:pic>
      <p:sp>
        <p:nvSpPr>
          <p:cNvPr id="12" name="text-50">
            <a:extLst xmlns:a="http://schemas.openxmlformats.org/drawingml/2006/main">
              <a:ext uri="{FF2B5EF4-FFF2-40B4-BE49-F238E27FC236}">
                <a16:creationId xmlns:a16="http://schemas.microsoft.com/office/drawing/2014/main" id="{51B78F47-812C-460D-8845-304FC440E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238625"/>
            <a:ext cx="52768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租赁空置率只有 1.4%</a:t>
            </a:r>
          </a:p>
          <a:p xmlns:a="http://schemas.openxmlformats.org/drawingml/2006/main">
            <a:pPr algn="l">
              <a:defRPr sz="21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收容所的人难以搬入稳定住房</a:t>
            </a:r>
          </a:p>
        </p:txBody>
      </p:sp>
      <p:sp>
        <p:nvSpPr>
          <p:cNvPr id="13" name="text-51">
            <a:extLst xmlns:a="http://schemas.openxmlformats.org/drawingml/2006/main">
              <a:ext uri="{FF2B5EF4-FFF2-40B4-BE49-F238E27FC236}">
                <a16:creationId xmlns:a16="http://schemas.microsoft.com/office/drawing/2014/main" id="{ECA27C55-09C2-4E5C-81A8-9CFF83993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5362575"/>
            <a:ext cx="504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本组判定：上海胜，压倒性</a:t>
            </a:r>
          </a:p>
        </p:txBody>
      </p:sp>
      <p:sp>
        <p:nvSpPr>
          <p:cNvPr id="14" name="text-52">
            <a:extLst xmlns:a="http://schemas.openxmlformats.org/drawingml/2006/main">
              <a:ext uri="{FF2B5EF4-FFF2-40B4-BE49-F238E27FC236}">
                <a16:creationId xmlns:a16="http://schemas.microsoft.com/office/drawing/2014/main" id="{27546C09-A35F-40E2-97B2-5CC43C3C3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102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纽约是一夜点数，含收容与过渡住房；上海露宿人数未公开，本题结合制度与公布结果判断。</a:t>
            </a:r>
          </a:p>
        </p:txBody>
      </p:sp>
    </p:spTree>
    <p:extLst>
      <p:ext uri="{BB962C8B-B14F-4D97-AF65-F5344CB8AC3E}">
        <p14:creationId xmlns:p14="http://schemas.microsoft.com/office/powerpoint/2010/main" val="67289380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AFF63DF-4AEA-4DE0-AC6C-21350188C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家门口的公共服务：四类设施分布</a:t>
            </a:r>
          </a:p>
        </p:txBody>
      </p:sp>
      <p:sp>
        <p:nvSpPr>
          <p:cNvPr id="2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FB1DCD14-E5EB-4D7A-A235-D9715FD81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29350"/>
            <a:ext cx="10525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来源：上海养老服务平台、公共体育设施地图、上海图书馆；© OpenStreetMap contributors，ODbL；区界DataV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BF74C698-3AD8-425E-93CB-94B5A097A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sp>
        <p:nvSpPr>
          <p:cNvPr id="4" name="text-53">
            <a:extLst xmlns:a="http://schemas.openxmlformats.org/drawingml/2006/main">
              <a:ext uri="{FF2B5EF4-FFF2-40B4-BE49-F238E27FC236}">
                <a16:creationId xmlns:a16="http://schemas.microsoft.com/office/drawing/2014/main" id="{4AE3FA6F-A0AE-4533-9AE1-840650A7A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85875"/>
            <a:ext cx="1104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中心七区 · 直线1公里 · OSM已标注居住用地面积覆盖率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2B75F5-3A1B-44A7-B385-C72C0F6E4B5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16583b0d88494d"/>
          <a:stretch xmlns:a="http://schemas.openxmlformats.org/drawingml/2006/main"/>
        </p:blipFill>
        <p:spPr>
          <a:xfrm xmlns:a="http://schemas.openxmlformats.org/drawingml/2006/main">
            <a:off x="572083" y="1752600"/>
            <a:ext cx="1751434" cy="2019300"/>
          </a:xfrm>
          <a:prstGeom xmlns:a="http://schemas.openxmlformats.org/drawingml/2006/main" prst="rect">
            <a:avLst/>
          </a:prstGeom>
        </p:spPr>
      </p:pic>
      <p:sp>
        <p:nvSpPr>
          <p:cNvPr id="6" name="text-54">
            <a:extLst xmlns:a="http://schemas.openxmlformats.org/drawingml/2006/main">
              <a:ext uri="{FF2B5EF4-FFF2-40B4-BE49-F238E27FC236}">
                <a16:creationId xmlns:a16="http://schemas.microsoft.com/office/drawing/2014/main" id="{9F3B3AF1-9AF2-4A50-ADED-EC70B87F3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895475"/>
            <a:ext cx="33337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社区长者食堂</a:t>
            </a:r>
          </a:p>
        </p:txBody>
      </p:sp>
      <p:sp>
        <p:nvSpPr>
          <p:cNvPr id="7" name="text-55">
            <a:extLst xmlns:a="http://schemas.openxmlformats.org/drawingml/2006/main">
              <a:ext uri="{FF2B5EF4-FFF2-40B4-BE49-F238E27FC236}">
                <a16:creationId xmlns:a16="http://schemas.microsoft.com/office/drawing/2014/main" id="{4808B8E9-E2BC-4B1C-BC2D-5CDA411DC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409825"/>
            <a:ext cx="3333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2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2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87.5%</a:t>
            </a:r>
          </a:p>
        </p:txBody>
      </p:sp>
      <p:sp>
        <p:nvSpPr>
          <p:cNvPr id="8" name="text-56">
            <a:extLst xmlns:a="http://schemas.openxmlformats.org/drawingml/2006/main">
              <a:ext uri="{FF2B5EF4-FFF2-40B4-BE49-F238E27FC236}">
                <a16:creationId xmlns:a16="http://schemas.microsoft.com/office/drawing/2014/main" id="{FF8D3F4D-1089-4BAD-B86E-70BD9B8CD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152775"/>
            <a:ext cx="3333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公开食堂名录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03EA3B-FA70-437F-87DF-7D1B9B2AF12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2bc173c7c34ee1"/>
          <a:stretch xmlns:a="http://schemas.openxmlformats.org/drawingml/2006/main"/>
        </p:blipFill>
        <p:spPr>
          <a:xfrm xmlns:a="http://schemas.openxmlformats.org/drawingml/2006/main">
            <a:off x="6287083" y="1752600"/>
            <a:ext cx="1751434" cy="2019300"/>
          </a:xfrm>
          <a:prstGeom xmlns:a="http://schemas.openxmlformats.org/drawingml/2006/main" prst="rect">
            <a:avLst/>
          </a:prstGeom>
        </p:spPr>
      </p:pic>
      <p:sp>
        <p:nvSpPr>
          <p:cNvPr id="10" name="text-57">
            <a:extLst xmlns:a="http://schemas.openxmlformats.org/drawingml/2006/main">
              <a:ext uri="{FF2B5EF4-FFF2-40B4-BE49-F238E27FC236}">
                <a16:creationId xmlns:a16="http://schemas.microsoft.com/office/drawing/2014/main" id="{3A5A521D-569A-48F3-9C6A-486BB5AA0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895475"/>
            <a:ext cx="33337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公园类绿地</a:t>
            </a:r>
          </a:p>
        </p:txBody>
      </p:sp>
      <p:sp>
        <p:nvSpPr>
          <p:cNvPr id="11" name="text-58">
            <a:extLst xmlns:a="http://schemas.openxmlformats.org/drawingml/2006/main">
              <a:ext uri="{FF2B5EF4-FFF2-40B4-BE49-F238E27FC236}">
                <a16:creationId xmlns:a16="http://schemas.microsoft.com/office/drawing/2014/main" id="{C61E5FAE-AFA8-4928-AACA-C718806FC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409825"/>
            <a:ext cx="3333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2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2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99.3%</a:t>
            </a:r>
          </a:p>
        </p:txBody>
      </p:sp>
      <p:sp>
        <p:nvSpPr>
          <p:cNvPr id="12" name="text-59">
            <a:extLst xmlns:a="http://schemas.openxmlformats.org/drawingml/2006/main">
              <a:ext uri="{FF2B5EF4-FFF2-40B4-BE49-F238E27FC236}">
                <a16:creationId xmlns:a16="http://schemas.microsoft.com/office/drawing/2014/main" id="{D069DDA8-0E10-495E-A314-9A5F2184B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152775"/>
            <a:ext cx="3333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开放状态待核验</a:t>
            </a:r>
          </a:p>
        </p:txBody>
      </p:sp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EF6B7B0-6762-4A25-83CD-4BBD2A92CC1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5f8d228fe54378"/>
          <a:stretch xmlns:a="http://schemas.openxmlformats.org/drawingml/2006/main"/>
        </p:blipFill>
        <p:spPr>
          <a:xfrm xmlns:a="http://schemas.openxmlformats.org/drawingml/2006/main">
            <a:off x="572083" y="3886200"/>
            <a:ext cx="1751434" cy="2019300"/>
          </a:xfrm>
          <a:prstGeom xmlns:a="http://schemas.openxmlformats.org/drawingml/2006/main" prst="rect">
            <a:avLst/>
          </a:prstGeom>
        </p:spPr>
      </p:pic>
      <p:sp>
        <p:nvSpPr>
          <p:cNvPr id="14" name="text-60">
            <a:extLst xmlns:a="http://schemas.openxmlformats.org/drawingml/2006/main">
              <a:ext uri="{FF2B5EF4-FFF2-40B4-BE49-F238E27FC236}">
                <a16:creationId xmlns:a16="http://schemas.microsoft.com/office/drawing/2014/main" id="{B8168715-9B57-4B56-8F18-DB70A69AA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029075"/>
            <a:ext cx="33337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市民健身中心</a:t>
            </a:r>
          </a:p>
        </p:txBody>
      </p:sp>
      <p:sp>
        <p:nvSpPr>
          <p:cNvPr id="15" name="text-61">
            <a:extLst xmlns:a="http://schemas.openxmlformats.org/drawingml/2006/main">
              <a:ext uri="{FF2B5EF4-FFF2-40B4-BE49-F238E27FC236}">
                <a16:creationId xmlns:a16="http://schemas.microsoft.com/office/drawing/2014/main" id="{A3D8C8C3-FEB6-4863-BB03-9E07B581B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543425"/>
            <a:ext cx="3333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2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2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64.4%</a:t>
            </a:r>
          </a:p>
        </p:txBody>
      </p:sp>
      <p:sp>
        <p:nvSpPr>
          <p:cNvPr id="16" name="text-62">
            <a:extLst xmlns:a="http://schemas.openxmlformats.org/drawingml/2006/main">
              <a:ext uri="{FF2B5EF4-FFF2-40B4-BE49-F238E27FC236}">
                <a16:creationId xmlns:a16="http://schemas.microsoft.com/office/drawing/2014/main" id="{23880241-A3F7-4563-A30B-F18A0DCFE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286375"/>
            <a:ext cx="3333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仅市民健身中心分类</a:t>
            </a:r>
          </a:p>
        </p:txBody>
      </p:sp>
      <p:pic>
        <p:nvPic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9B66371-701B-46E3-89BD-CE0674C5F9A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2d01e0eedf4299"/>
          <a:stretch xmlns:a="http://schemas.openxmlformats.org/drawingml/2006/main"/>
        </p:blipFill>
        <p:spPr>
          <a:xfrm xmlns:a="http://schemas.openxmlformats.org/drawingml/2006/main">
            <a:off x="6287083" y="3886200"/>
            <a:ext cx="1751434" cy="2019300"/>
          </a:xfrm>
          <a:prstGeom xmlns:a="http://schemas.openxmlformats.org/drawingml/2006/main" prst="rect">
            <a:avLst/>
          </a:prstGeom>
        </p:spPr>
      </p:pic>
      <p:sp>
        <p:nvSpPr>
          <p:cNvPr id="18" name="text-63">
            <a:extLst xmlns:a="http://schemas.openxmlformats.org/drawingml/2006/main">
              <a:ext uri="{FF2B5EF4-FFF2-40B4-BE49-F238E27FC236}">
                <a16:creationId xmlns:a16="http://schemas.microsoft.com/office/drawing/2014/main" id="{380CCE0D-087D-4D0D-A765-67980D5A6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029075"/>
            <a:ext cx="33337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图书馆服务网点</a:t>
            </a:r>
          </a:p>
        </p:txBody>
      </p:sp>
      <p:sp>
        <p:nvSpPr>
          <p:cNvPr id="19" name="text-64">
            <a:extLst xmlns:a="http://schemas.openxmlformats.org/drawingml/2006/main">
              <a:ext uri="{FF2B5EF4-FFF2-40B4-BE49-F238E27FC236}">
                <a16:creationId xmlns:a16="http://schemas.microsoft.com/office/drawing/2014/main" id="{477A2BA1-4B38-43F1-A4B5-BBEF4C621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543425"/>
            <a:ext cx="3333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2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2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77.0%</a:t>
            </a:r>
          </a:p>
        </p:txBody>
      </p:sp>
      <p:sp>
        <p:nvSpPr>
          <p:cNvPr id="20" name="text-65">
            <a:extLst xmlns:a="http://schemas.openxmlformats.org/drawingml/2006/main">
              <a:ext uri="{FF2B5EF4-FFF2-40B4-BE49-F238E27FC236}">
                <a16:creationId xmlns:a16="http://schemas.microsoft.com/office/drawing/2014/main" id="{AD3E9818-8F40-4AF9-A30E-1BB34C966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5286375"/>
            <a:ext cx="3333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含分馆和自助借还网点</a:t>
            </a:r>
          </a:p>
        </p:txBody>
      </p:sp>
      <p:sp>
        <p:nvSpPr>
          <p:cNvPr id="21" name="text-66">
            <a:extLst xmlns:a="http://schemas.openxmlformats.org/drawingml/2006/main">
              <a:ext uri="{FF2B5EF4-FFF2-40B4-BE49-F238E27FC236}">
                <a16:creationId xmlns:a16="http://schemas.microsoft.com/office/drawing/2014/main" id="{BD0AED05-6D29-4977-9D51-94A09E21D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34075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青绿：1公里内居住用地　橙：1公里外　绿：绿地　深色点：设施；非官方步行可达率。</a:t>
            </a:r>
          </a:p>
        </p:txBody>
      </p:sp>
    </p:spTree>
    <p:extLst>
      <p:ext uri="{BB962C8B-B14F-4D97-AF65-F5344CB8AC3E}">
        <p14:creationId xmlns:p14="http://schemas.microsoft.com/office/powerpoint/2010/main" val="70945371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4EE9624-C2B0-4F6A-8CFD-C36619B63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办事更方便，建设也让居民参与</a:t>
            </a:r>
          </a:p>
        </p:txBody>
      </p:sp>
      <p:sp>
        <p:nvSpPr>
          <p:cNvPr id="2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52EE88E0-4D27-4855-A3A3-0ACEAF8F4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29350"/>
            <a:ext cx="10525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来源：上海2025统计公报；沪规划资源局，泰山人民坊案例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4F55B5AF-620D-462B-B5F7-D5E24B0C7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4" name="text-67">
            <a:extLst xmlns:a="http://schemas.openxmlformats.org/drawingml/2006/main">
              <a:ext uri="{FF2B5EF4-FFF2-40B4-BE49-F238E27FC236}">
                <a16:creationId xmlns:a16="http://schemas.microsoft.com/office/drawing/2014/main" id="{F3A6BD49-2F90-4169-B33E-78A011AF9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219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一网通办</a:t>
            </a:r>
          </a:p>
        </p:txBody>
      </p:sp>
      <p:sp>
        <p:nvSpPr>
          <p:cNvPr id="5" name="text-68">
            <a:extLst xmlns:a="http://schemas.openxmlformats.org/drawingml/2006/main">
              <a:ext uri="{FF2B5EF4-FFF2-40B4-BE49-F238E27FC236}">
                <a16:creationId xmlns:a16="http://schemas.microsoft.com/office/drawing/2014/main" id="{FC50B588-517A-4618-8241-803D24E55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381125"/>
            <a:ext cx="52768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泰山人民坊</a:t>
            </a:r>
          </a:p>
        </p:txBody>
      </p:sp>
      <p:sp>
        <p:nvSpPr>
          <p:cNvPr id="6" name="text-69">
            <a:extLst xmlns:a="http://schemas.openxmlformats.org/drawingml/2006/main">
              <a:ext uri="{FF2B5EF4-FFF2-40B4-BE49-F238E27FC236}">
                <a16:creationId xmlns:a16="http://schemas.microsoft.com/office/drawing/2014/main" id="{12DCA506-921A-4431-9C29-1E0C6FCBD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95500"/>
            <a:ext cx="5219700" cy="1152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3,827 项服务</a:t>
            </a:r>
          </a:p>
          <a:p xmlns:a="http://schemas.openxmlformats.org/drawingml/2006/main">
            <a:pPr algn="l">
              <a:defRPr sz="285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实际网办率 89.53%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8597AB-2DB4-4DEA-911B-B892F4CD5E5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ebc948c8444e9e"/>
          <a:stretch xmlns:a="http://schemas.openxmlformats.org/drawingml/2006/main"/>
        </p:blipFill>
        <p:spPr>
          <a:xfrm xmlns:a="http://schemas.openxmlformats.org/drawingml/2006/main">
            <a:off x="571500" y="3711665"/>
            <a:ext cx="5219700" cy="720546"/>
          </a:xfrm>
          <a:prstGeom xmlns:a="http://schemas.openxmlformats.org/drawingml/2006/main" prst="rect">
            <a:avLst/>
          </a:prstGeom>
        </p:spPr>
      </p:pic>
      <p:sp>
        <p:nvSpPr>
          <p:cNvPr id="8" name="text-70">
            <a:extLst xmlns:a="http://schemas.openxmlformats.org/drawingml/2006/main">
              <a:ext uri="{FF2B5EF4-FFF2-40B4-BE49-F238E27FC236}">
                <a16:creationId xmlns:a16="http://schemas.microsoft.com/office/drawing/2014/main" id="{A09780C2-5AA9-409D-A8E6-4300CA216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72050"/>
            <a:ext cx="52197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少跑线下窗口，</a:t>
            </a:r>
          </a:p>
          <a:p xmlns:a="http://schemas.openxmlformats.org/drawingml/2006/main">
            <a:pPr algn="l">
              <a:defRPr sz="21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日常办事更方便。</a:t>
            </a:r>
          </a:p>
        </p:txBody>
      </p:sp>
      <p:graphicFrame>
        <p:nvGraphicFrame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363867-82BD-4510-B2F6-70642F626B85}"/>
              </a:ext>
            </a:extLst>
          </p:cNvPr>
          <p:cNvGraphicFramePr/>
          <p:nvPr/>
        </p:nvGraphicFramePr>
        <p:xfrm>
          <a:off xmlns:a="http://schemas.openxmlformats.org/drawingml/2006/main" x="6343650" y="2095500"/>
          <a:ext xmlns:a="http://schemas.openxmlformats.org/drawingml/2006/main" cx="5276850" cy="24288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314450"/>
                <a:gridCol w="3962400"/>
              </a:tblGrid>
              <a:tr h="60721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阶段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居民如何参与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</a:tr>
              <a:tr h="60721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建设前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座谈、问卷提出需要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60721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方案中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开展专题论证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60721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建成后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居民参加评议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</a:tbl>
          </a:graphicData>
        </a:graphic>
      </p:graphicFrame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82A162-85FA-4249-83AE-22018F2CF16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6dd8db5db94171"/>
          <a:stretch xmlns:a="http://schemas.openxmlformats.org/drawingml/2006/main"/>
        </p:blipFill>
        <p:spPr>
          <a:xfrm xmlns:a="http://schemas.openxmlformats.org/drawingml/2006/main">
            <a:off x="6343650" y="5165797"/>
            <a:ext cx="5276850" cy="231631"/>
          </a:xfrm>
          <a:prstGeom xmlns:a="http://schemas.openxmlformats.org/drawingml/2006/main" prst="rect">
            <a:avLst/>
          </a:prstGeom>
        </p:spPr>
      </p:pic>
      <p:sp>
        <p:nvSpPr>
          <p:cNvPr id="11" name="text-71">
            <a:extLst xmlns:a="http://schemas.openxmlformats.org/drawingml/2006/main">
              <a:ext uri="{FF2B5EF4-FFF2-40B4-BE49-F238E27FC236}">
                <a16:creationId xmlns:a16="http://schemas.microsoft.com/office/drawing/2014/main" id="{DDCD087A-A62E-4A0B-BC36-4071E0D95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102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实际网办率与“全程可网办事项比例”是不同指标；居民参与贯穿需求、方案和使用评价。</a:t>
            </a:r>
          </a:p>
        </p:txBody>
      </p:sp>
    </p:spTree>
    <p:extLst>
      <p:ext uri="{BB962C8B-B14F-4D97-AF65-F5344CB8AC3E}">
        <p14:creationId xmlns:p14="http://schemas.microsoft.com/office/powerpoint/2010/main" val="29954128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D26D828-367B-4FD0-97AB-643F8874A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纽约同学访谈</a:t>
            </a:r>
          </a:p>
        </p:txBody>
      </p:sp>
      <p:sp>
        <p:nvSpPr>
          <p:cNvPr id="2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CA20E7D7-F82D-4616-BD4A-77B601143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29350"/>
            <a:ext cx="10525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来源：2026年10月10日微信访谈与文字整理；个人经历用于补充理解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75E7C09A-2B1F-4661-9800-E2CF4A393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  <p:sp>
        <p:nvSpPr>
          <p:cNvPr id="4" name="text-72">
            <a:extLst xmlns:a="http://schemas.openxmlformats.org/drawingml/2006/main">
              <a:ext uri="{FF2B5EF4-FFF2-40B4-BE49-F238E27FC236}">
                <a16:creationId xmlns:a16="http://schemas.microsoft.com/office/drawing/2014/main" id="{BD136126-DC1D-4074-B7DF-1B03FA9F7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19225"/>
            <a:ext cx="5257800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“租金与收入较为匹配，但是租金</a:t>
            </a:r>
          </a:p>
          <a:p xmlns:a="http://schemas.openxmlformats.org/drawingml/2006/main">
            <a:pPr algn="l">
              <a:defRPr sz="19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明显高于其他城市，</a:t>
            </a:r>
          </a:p>
          <a:p xmlns:a="http://schemas.openxmlformats.org/drawingml/2006/main">
            <a:pPr algn="l">
              <a:defRPr sz="19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保障性住房很难获得。”</a:t>
            </a:r>
          </a:p>
        </p:txBody>
      </p:sp>
      <p:sp>
        <p:nvSpPr>
          <p:cNvPr id="5" name="text-73">
            <a:extLst xmlns:a="http://schemas.openxmlformats.org/drawingml/2006/main">
              <a:ext uri="{FF2B5EF4-FFF2-40B4-BE49-F238E27FC236}">
                <a16:creationId xmlns:a16="http://schemas.microsoft.com/office/drawing/2014/main" id="{0363D50F-647A-4243-A87F-54A457E3F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95575"/>
            <a:ext cx="5257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“通勤时间和租房水平直接挂钩，</a:t>
            </a:r>
          </a:p>
          <a:p xmlns:a="http://schemas.openxmlformats.org/drawingml/2006/main">
            <a:pPr algn="l">
              <a:defRPr sz="19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公交接驳也较多。”</a:t>
            </a:r>
          </a:p>
        </p:txBody>
      </p:sp>
      <p:sp>
        <p:nvSpPr>
          <p:cNvPr id="6" name="text-74">
            <a:extLst xmlns:a="http://schemas.openxmlformats.org/drawingml/2006/main">
              <a:ext uri="{FF2B5EF4-FFF2-40B4-BE49-F238E27FC236}">
                <a16:creationId xmlns:a16="http://schemas.microsoft.com/office/drawing/2014/main" id="{9F645743-2E39-4F54-ACEB-ECF782025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24275"/>
            <a:ext cx="5257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“低成本活动空间非常非常多，</a:t>
            </a:r>
          </a:p>
          <a:p xmlns:a="http://schemas.openxmlformats.org/drawingml/2006/main">
            <a:pPr algn="l">
              <a:defRPr sz="19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这座城市有很多公园”</a:t>
            </a:r>
          </a:p>
        </p:txBody>
      </p:sp>
      <p:sp>
        <p:nvSpPr>
          <p:cNvPr id="7" name="text-75">
            <a:extLst xmlns:a="http://schemas.openxmlformats.org/drawingml/2006/main">
              <a:ext uri="{FF2B5EF4-FFF2-40B4-BE49-F238E27FC236}">
                <a16:creationId xmlns:a16="http://schemas.microsoft.com/office/drawing/2014/main" id="{2AAA265F-7D32-44DD-8B4E-A60BAA623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62500"/>
            <a:ext cx="525780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“突发事件中自己的基本生活保障，</a:t>
            </a:r>
          </a:p>
          <a:p xmlns:a="http://schemas.openxmlformats.org/drawingml/2006/main">
            <a:pPr algn="l">
              <a:defRPr sz="19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也依靠自己是否有储蓄，</a:t>
            </a:r>
          </a:p>
          <a:p xmlns:a="http://schemas.openxmlformats.org/drawingml/2006/main">
            <a:pPr algn="l">
              <a:defRPr sz="19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或者高额的商业保险。”</a:t>
            </a:r>
          </a:p>
        </p:txBody>
      </p:sp>
      <p:sp>
        <p:nvSpPr>
          <p:cNvPr id="8" name="text-76">
            <a:extLst xmlns:a="http://schemas.openxmlformats.org/drawingml/2006/main">
              <a:ext uri="{FF2B5EF4-FFF2-40B4-BE49-F238E27FC236}">
                <a16:creationId xmlns:a16="http://schemas.microsoft.com/office/drawing/2014/main" id="{49D0710A-2E2E-47C4-93CD-42E164FB6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419225"/>
            <a:ext cx="5257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基础保障：住房与通勤</a:t>
            </a:r>
          </a:p>
        </p:txBody>
      </p:sp>
      <p:sp>
        <p:nvSpPr>
          <p:cNvPr id="9" name="text-77">
            <a:extLst xmlns:a="http://schemas.openxmlformats.org/drawingml/2006/main">
              <a:ext uri="{FF2B5EF4-FFF2-40B4-BE49-F238E27FC236}">
                <a16:creationId xmlns:a16="http://schemas.microsoft.com/office/drawing/2014/main" id="{B371C882-F514-41F9-86AD-FDD9167C3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905000"/>
            <a:ext cx="525780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租金与收入较匹配，但房租高、保障房难获得。</a:t>
            </a:r>
          </a:p>
          <a:p xmlns:a="http://schemas.openxmlformats.org/drawingml/2006/main">
            <a:pPr algn="l">
              <a:defRPr sz="17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通勤时间与租房选择相连，公交接驳较多。</a:t>
            </a:r>
          </a:p>
          <a:p xmlns:a="http://schemas.openxmlformats.org/drawingml/2006/main">
            <a:pPr algn="l">
              <a:defRPr sz="17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夜间交通活跃，出行仍有安全顾虑。</a:t>
            </a:r>
          </a:p>
        </p:txBody>
      </p:sp>
      <p:sp>
        <p:nvSpPr>
          <p:cNvPr id="10" name="text-78">
            <a:extLst xmlns:a="http://schemas.openxmlformats.org/drawingml/2006/main">
              <a:ext uri="{FF2B5EF4-FFF2-40B4-BE49-F238E27FC236}">
                <a16:creationId xmlns:a16="http://schemas.microsoft.com/office/drawing/2014/main" id="{029BDBB0-DCB3-4B60-A5CA-2AC3EA741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028950"/>
            <a:ext cx="5257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民生福祉：日常公共服务</a:t>
            </a:r>
          </a:p>
        </p:txBody>
      </p:sp>
      <p:sp>
        <p:nvSpPr>
          <p:cNvPr id="11" name="text-79">
            <a:extLst xmlns:a="http://schemas.openxmlformats.org/drawingml/2006/main">
              <a:ext uri="{FF2B5EF4-FFF2-40B4-BE49-F238E27FC236}">
                <a16:creationId xmlns:a16="http://schemas.microsoft.com/office/drawing/2014/main" id="{A54568A9-7611-4FBE-950D-CD6CACF05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514725"/>
            <a:ext cx="525780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公园、图书馆和低成本休闲空间丰富，</a:t>
            </a:r>
          </a:p>
          <a:p xmlns:a="http://schemas.openxmlformats.org/drawingml/2006/main">
            <a:pPr algn="l">
              <a:defRPr sz="17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多靠地铁或开车到达。心理咨询选择较多，</a:t>
            </a:r>
          </a:p>
          <a:p xmlns:a="http://schemas.openxmlformats.org/drawingml/2006/main">
            <a:pPr algn="l">
              <a:defRPr sz="17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配药、康复和慢病管理的体验相对不便。</a:t>
            </a:r>
          </a:p>
        </p:txBody>
      </p:sp>
      <p:sp>
        <p:nvSpPr>
          <p:cNvPr id="12" name="text-80">
            <a:extLst xmlns:a="http://schemas.openxmlformats.org/drawingml/2006/main">
              <a:ext uri="{FF2B5EF4-FFF2-40B4-BE49-F238E27FC236}">
                <a16:creationId xmlns:a16="http://schemas.microsoft.com/office/drawing/2014/main" id="{351BB363-3238-4C80-8302-29D3FF04C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638675"/>
            <a:ext cx="5257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9796F"/>
                </a:solidFill>
                <a:latin typeface="Microsoft YaHei"/>
                <a:ea typeface="Microsoft YaHei"/>
                <a:cs typeface="Microsoft YaHei"/>
              </a:rPr>
              <a:t>底层关怀：照护与应急</a:t>
            </a:r>
          </a:p>
        </p:txBody>
      </p:sp>
      <p:sp>
        <p:nvSpPr>
          <p:cNvPr id="13" name="text-81">
            <a:extLst xmlns:a="http://schemas.openxmlformats.org/drawingml/2006/main">
              <a:ext uri="{FF2B5EF4-FFF2-40B4-BE49-F238E27FC236}">
                <a16:creationId xmlns:a16="http://schemas.microsoft.com/office/drawing/2014/main" id="{A2762DD1-2A47-4FE1-B284-2586D67C8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124450"/>
            <a:ext cx="525780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无障碍设施与助残条件较好，居家养老</a:t>
            </a:r>
          </a:p>
          <a:p xmlns:a="http://schemas.openxmlformats.org/drawingml/2006/main">
            <a:pPr algn="l">
              <a:defRPr sz="17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仍有费用压力。突发事件中的生活保障，</a:t>
            </a:r>
          </a:p>
          <a:p xmlns:a="http://schemas.openxmlformats.org/drawingml/2006/main">
            <a:pPr algn="l">
              <a:defRPr sz="17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还依靠个人储蓄或商业保险。</a:t>
            </a:r>
          </a:p>
        </p:txBody>
      </p:sp>
    </p:spTree>
    <p:extLst>
      <p:ext uri="{BB962C8B-B14F-4D97-AF65-F5344CB8AC3E}">
        <p14:creationId xmlns:p14="http://schemas.microsoft.com/office/powerpoint/2010/main" val="68871427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BC4CE01-D2DB-47DB-A624-ED070D986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九道题，逐题看胜负和程度</a:t>
            </a:r>
          </a:p>
        </p:txBody>
      </p:sp>
      <p:sp>
        <p:nvSpPr>
          <p:cNvPr id="2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C435B868-EF4E-40A3-A0C4-387720077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29350"/>
            <a:ext cx="10525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本组基于前述指标的判定；各题差距不同，分别呈现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BF250B67-1AA6-4DF3-9BCF-19E28CD1E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6B9A4D-6050-4F55-BCC4-AE9299DEAD75}"/>
              </a:ext>
            </a:extLst>
          </p:cNvPr>
          <p:cNvGraphicFramePr/>
          <p:nvPr/>
        </p:nvGraphicFramePr>
        <p:xfrm>
          <a:off xmlns:a="http://schemas.openxmlformats.org/drawingml/2006/main" x="571500" y="1381125"/>
          <a:ext xmlns:a="http://schemas.openxmlformats.org/drawingml/2006/main" cx="11049000" cy="43053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533525"/>
                <a:gridCol w="1495425"/>
                <a:gridCol w="1047750"/>
                <a:gridCol w="1409700"/>
                <a:gridCol w="5562600"/>
              </a:tblGrid>
              <a:tr h="43053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层次</a:t>
                      </a:r>
                    </a:p>
                  </a:txBody>
                  <a:tcPr marL="133350" marR="114300" marT="47625" marB="47625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题目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胜方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程度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主要依据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</a:tr>
              <a:tr h="43053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基础保障</a:t>
                      </a:r>
                    </a:p>
                  </a:txBody>
                  <a:tcPr marL="133350" marR="114300" marT="47625" marB="47625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住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上海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明显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自有住房率 59.0% 对 32.3%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43053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133350" marR="114300" marT="47625" marB="47625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吃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B9603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纽约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稍胜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消费较高，价格因素缩小实际差距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43053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133350" marR="114300" marT="47625" marB="47625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穿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B9603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纽约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压倒性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人均衣着支出接近上海7倍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43053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133350" marR="114300" marT="47625" marB="47625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行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上海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压倒性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按收入折算的票价约为纽约一半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43053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民生福祉</a:t>
                      </a:r>
                    </a:p>
                  </a:txBody>
                  <a:tcPr marL="133350" marR="114300" marT="47625" marB="47625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医疗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上海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明显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婴儿、孕产妇死亡率更低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43053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133350" marR="114300" marT="47625" marB="47625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治安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上海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压倒性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严重案件发生率相差一个数量级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43053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133350" marR="114300" marT="47625" marB="47625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教育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打平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—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生师比 12.5 对 13.2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43053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133350" marR="114300" marT="47625" marB="47625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文化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B9603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纽约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明显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图书馆网络、公共文化资助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43053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底层关怀</a:t>
                      </a:r>
                    </a:p>
                  </a:txBody>
                  <a:tcPr marL="133350" marR="114300" marT="47625" marB="47625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对待底层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上海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压倒性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托底服务与纽约无家可归结果</a:t>
                      </a:r>
                    </a:p>
                  </a:txBody>
                  <a:tcPr marL="133350" marR="114300" marT="47625" marB="47625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</a:tbl>
          </a:graphicData>
        </a:graphic>
      </p:graphicFrame>
      <p:sp>
        <p:nvSpPr>
          <p:cNvPr id="5" name="text-82">
            <a:extLst xmlns:a="http://schemas.openxmlformats.org/drawingml/2006/main">
              <a:ext uri="{FF2B5EF4-FFF2-40B4-BE49-F238E27FC236}">
                <a16:creationId xmlns:a16="http://schemas.microsoft.com/office/drawing/2014/main" id="{D6E8600A-AE81-4AC3-A339-6985CCF8F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76925"/>
            <a:ext cx="11049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每题都作判断，差距大小分别保留；不把九题加成一个总分。</a:t>
            </a:r>
          </a:p>
        </p:txBody>
      </p:sp>
    </p:spTree>
    <p:extLst>
      <p:ext uri="{BB962C8B-B14F-4D97-AF65-F5344CB8AC3E}">
        <p14:creationId xmlns:p14="http://schemas.microsoft.com/office/powerpoint/2010/main" val="30019131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142C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16A3BCE-EF2E-43E8-A744-F4174B9F7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纽约能叫人民城市吗？</a:t>
            </a:r>
          </a:p>
        </p:txBody>
      </p:sp>
      <p:sp>
        <p:nvSpPr>
          <p:cNvPr id="2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05EB556F-3B37-4ABA-80B2-89CFCDE9A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29350"/>
            <a:ext cx="10525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CEE0D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CEE0D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CEE0DC"/>
                </a:solidFill>
                <a:latin typeface="Microsoft YaHei"/>
                <a:ea typeface="Microsoft YaHei"/>
                <a:cs typeface="Microsoft YaHei"/>
              </a:rPr>
              <a:t>结论限于上海与纽约两座城市，不扩大为两个国家的整体比较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FE943AD8-4104-41B2-8307-832073333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CEE0D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125" b="0">
                <a:solidFill>
                  <a:srgbClr val="CEE0D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CEE0DC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  <p:sp>
        <p:nvSpPr>
          <p:cNvPr id="4" name="text-83">
            <a:extLst xmlns:a="http://schemas.openxmlformats.org/drawingml/2006/main">
              <a:ext uri="{FF2B5EF4-FFF2-40B4-BE49-F238E27FC236}">
                <a16:creationId xmlns:a16="http://schemas.microsoft.com/office/drawing/2014/main" id="{66935667-B5B8-4BF5-A357-5B1815E24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19225"/>
            <a:ext cx="5219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1">
                <a:solidFill>
                  <a:srgbClr val="93C9B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93C9B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93C9BB"/>
                </a:solidFill>
                <a:latin typeface="Microsoft YaHei"/>
                <a:ea typeface="Microsoft YaHei"/>
                <a:cs typeface="Microsoft YaHei"/>
              </a:rPr>
              <a:t>纽约有一部分答案</a:t>
            </a:r>
          </a:p>
        </p:txBody>
      </p:sp>
      <p:sp>
        <p:nvSpPr>
          <p:cNvPr id="5" name="text-84">
            <a:extLst xmlns:a="http://schemas.openxmlformats.org/drawingml/2006/main">
              <a:ext uri="{FF2B5EF4-FFF2-40B4-BE49-F238E27FC236}">
                <a16:creationId xmlns:a16="http://schemas.microsoft.com/office/drawing/2014/main" id="{49032BA4-C783-4804-B446-400BA3317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71700"/>
            <a:ext cx="521970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4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吃穿用度</a:t>
            </a:r>
          </a:p>
          <a:p xmlns:a="http://schemas.openxmlformats.org/drawingml/2006/main">
            <a:pPr algn="l">
              <a:defRPr sz="24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公共文化</a:t>
            </a:r>
          </a:p>
          <a:p xmlns:a="http://schemas.openxmlformats.org/drawingml/2006/main">
            <a:pPr algn="l">
              <a:defRPr sz="24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数据公开</a:t>
            </a:r>
          </a:p>
        </p:txBody>
      </p:sp>
      <p:sp>
        <p:nvSpPr>
          <p:cNvPr id="6" name="text-85">
            <a:extLst xmlns:a="http://schemas.openxmlformats.org/drawingml/2006/main">
              <a:ext uri="{FF2B5EF4-FFF2-40B4-BE49-F238E27FC236}">
                <a16:creationId xmlns:a16="http://schemas.microsoft.com/office/drawing/2014/main" id="{9600993A-3F02-48AC-AB42-D7CA889FD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1970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但最底层的人仍未被托住，</a:t>
            </a:r>
          </a:p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这张答卷还不算及格。</a:t>
            </a:r>
          </a:p>
        </p:txBody>
      </p:sp>
      <p:sp>
        <p:nvSpPr>
          <p:cNvPr id="7" name="text-86">
            <a:extLst xmlns:a="http://schemas.openxmlformats.org/drawingml/2006/main">
              <a:ext uri="{FF2B5EF4-FFF2-40B4-BE49-F238E27FC236}">
                <a16:creationId xmlns:a16="http://schemas.microsoft.com/office/drawing/2014/main" id="{8A26FD44-79D4-459B-ADE9-B857E3702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419225"/>
            <a:ext cx="5276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1">
                <a:solidFill>
                  <a:srgbClr val="93C9B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93C9B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93C9BB"/>
                </a:solidFill>
                <a:latin typeface="Microsoft YaHei"/>
                <a:ea typeface="Microsoft YaHei"/>
                <a:cs typeface="Microsoft YaHei"/>
              </a:rPr>
              <a:t>上海答得更完整</a:t>
            </a:r>
          </a:p>
        </p:txBody>
      </p:sp>
      <p:sp>
        <p:nvSpPr>
          <p:cNvPr id="8" name="text-87">
            <a:extLst xmlns:a="http://schemas.openxmlformats.org/drawingml/2006/main">
              <a:ext uri="{FF2B5EF4-FFF2-40B4-BE49-F238E27FC236}">
                <a16:creationId xmlns:a16="http://schemas.microsoft.com/office/drawing/2014/main" id="{37E407B5-C569-49DD-AF7A-5BA79B3E7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171700"/>
            <a:ext cx="527685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2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住房、出行、医疗、治安</a:t>
            </a:r>
          </a:p>
          <a:p xmlns:a="http://schemas.openxmlformats.org/drawingml/2006/main">
            <a:pPr algn="l">
              <a:defRPr sz="22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与托底服务，都回应了</a:t>
            </a:r>
          </a:p>
          <a:p xmlns:a="http://schemas.openxmlformats.org/drawingml/2006/main">
            <a:pPr algn="l">
              <a:defRPr sz="22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普通人的具体需要。</a:t>
            </a:r>
          </a:p>
        </p:txBody>
      </p:sp>
      <p:sp>
        <p:nvSpPr>
          <p:cNvPr id="9" name="text-88">
            <a:extLst xmlns:a="http://schemas.openxmlformats.org/drawingml/2006/main">
              <a:ext uri="{FF2B5EF4-FFF2-40B4-BE49-F238E27FC236}">
                <a16:creationId xmlns:a16="http://schemas.microsoft.com/office/drawing/2014/main" id="{4A6C611F-750E-4D21-9998-860216F11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305300"/>
            <a:ext cx="527685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数据公开这一题，</a:t>
            </a:r>
          </a:p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上海还得补。</a:t>
            </a:r>
          </a:p>
        </p:txBody>
      </p:sp>
      <p:sp>
        <p:nvSpPr>
          <p:cNvPr id="10" name="text-89">
            <a:extLst xmlns:a="http://schemas.openxmlformats.org/drawingml/2006/main">
              <a:ext uri="{FF2B5EF4-FFF2-40B4-BE49-F238E27FC236}">
                <a16:creationId xmlns:a16="http://schemas.microsoft.com/office/drawing/2014/main" id="{41C7EF19-C434-4A6B-AF46-21D352532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686425"/>
            <a:ext cx="107632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两城已能放在同一张考卷上比，而且有输有赢，这本身就是进步。</a:t>
            </a:r>
          </a:p>
        </p:txBody>
      </p:sp>
    </p:spTree>
    <p:extLst>
      <p:ext uri="{BB962C8B-B14F-4D97-AF65-F5344CB8AC3E}">
        <p14:creationId xmlns:p14="http://schemas.microsoft.com/office/powerpoint/2010/main" val="13815612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78D4BBC-9EC5-4BEF-B87D-ACF04E42F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数据透明：上海还需要补上什么</a:t>
            </a:r>
          </a:p>
        </p:txBody>
      </p:sp>
      <p:sp>
        <p:nvSpPr>
          <p:cNvPr id="2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26A38415-1536-43D1-9DE2-845C2C254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29350"/>
            <a:ext cx="10525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来源：上海公共数据开放平台、统计年鉴与卫健委栏目；截至本次项目资料检索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AE105608-9AD4-46C4-91D6-99B390473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E1390A-25A9-4D4E-BC09-8EB4CD347B36}"/>
              </a:ext>
            </a:extLst>
          </p:cNvPr>
          <p:cNvGraphicFramePr/>
          <p:nvPr/>
        </p:nvGraphicFramePr>
        <p:xfrm>
          <a:off xmlns:a="http://schemas.openxmlformats.org/drawingml/2006/main" x="571500" y="1438275"/>
          <a:ext xmlns:a="http://schemas.openxmlformats.org/drawingml/2006/main" cx="11049000" cy="31908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57500"/>
                <a:gridCol w="5048250"/>
                <a:gridCol w="3143250"/>
              </a:tblGrid>
              <a:tr h="5238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关心的问题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本次查到的公开情况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影响什么判断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公厕有多少、在哪里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数据集有条件开放，明细需申请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设施能否就近使用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租房负担有多重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缺少官方市场租金统计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住房政策是否减轻负担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还有多少人露宿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人数没有公开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托底制度还漏了谁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居民是否更健康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户籍人口期望寿命停在2022年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医疗和健康变化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</a:tbl>
          </a:graphicData>
        </a:graphic>
      </p:graphicFrame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7A10B9-8DA2-4C2B-B8A8-C18A6EA8249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f7caef79894d24"/>
          <a:stretch xmlns:a="http://schemas.openxmlformats.org/drawingml/2006/main"/>
        </p:blipFill>
        <p:spPr>
          <a:xfrm xmlns:a="http://schemas.openxmlformats.org/drawingml/2006/main">
            <a:off x="838676" y="4972050"/>
            <a:ext cx="3351848" cy="657225"/>
          </a:xfrm>
          <a:prstGeom xmlns:a="http://schemas.openxmlformats.org/drawingml/2006/main" prst="rect">
            <a:avLst/>
          </a:prstGeom>
        </p:spPr>
      </p:pic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513DAA-81C2-4977-A69B-7D4247336E4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62b15243b24913"/>
          <a:stretch xmlns:a="http://schemas.openxmlformats.org/drawingml/2006/main"/>
        </p:blipFill>
        <p:spPr>
          <a:xfrm xmlns:a="http://schemas.openxmlformats.org/drawingml/2006/main">
            <a:off x="5200650" y="4979233"/>
            <a:ext cx="6419850" cy="671434"/>
          </a:xfrm>
          <a:prstGeom xmlns:a="http://schemas.openxmlformats.org/drawingml/2006/main" prst="rect">
            <a:avLst/>
          </a:prstGeom>
        </p:spPr>
      </p:pic>
      <p:sp>
        <p:nvSpPr>
          <p:cNvPr id="7" name="text-90">
            <a:extLst xmlns:a="http://schemas.openxmlformats.org/drawingml/2006/main">
              <a:ext uri="{FF2B5EF4-FFF2-40B4-BE49-F238E27FC236}">
                <a16:creationId xmlns:a16="http://schemas.microsoft.com/office/drawing/2014/main" id="{2AA85B67-22DE-4B16-927B-092DA3693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38825"/>
            <a:ext cx="11049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办事便利之外，也要让市民查得到城市运行的结果。</a:t>
            </a:r>
          </a:p>
        </p:txBody>
      </p:sp>
    </p:spTree>
    <p:extLst>
      <p:ext uri="{BB962C8B-B14F-4D97-AF65-F5344CB8AC3E}">
        <p14:creationId xmlns:p14="http://schemas.microsoft.com/office/powerpoint/2010/main" val="179805949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886B77B-B4DE-4E67-9D0C-549CD2969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人民城市人民建，也要让人民看得清</a:t>
            </a:r>
          </a:p>
        </p:txBody>
      </p:sp>
      <p:sp>
        <p:nvSpPr>
          <p:cNvPr id="2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6A35E5B9-C2D4-4FA6-A009-2C5E0FA50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29350"/>
            <a:ext cx="10525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来源：NYC Open Data Law（2012）；DHS Daily Report；上海公报、开放平台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F34D8E99-C81F-421F-9261-52B1BB7AD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15</a:t>
            </a:r>
          </a:p>
        </p:txBody>
      </p:sp>
      <p:sp>
        <p:nvSpPr>
          <p:cNvPr id="4" name="text-91">
            <a:extLst xmlns:a="http://schemas.openxmlformats.org/drawingml/2006/main">
              <a:ext uri="{FF2B5EF4-FFF2-40B4-BE49-F238E27FC236}">
                <a16:creationId xmlns:a16="http://schemas.microsoft.com/office/drawing/2014/main" id="{EE90EC1B-7F8C-4B3B-A7A8-E94E45B73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09700"/>
            <a:ext cx="64770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B9603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B9603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B9603F"/>
                </a:solidFill>
                <a:latin typeface="Microsoft YaHei"/>
                <a:ea typeface="Microsoft YaHei"/>
                <a:cs typeface="Microsoft YaHei"/>
              </a:rPr>
              <a:t>纽约：政府数据默认公开</a:t>
            </a:r>
          </a:p>
        </p:txBody>
      </p:sp>
      <p:sp>
        <p:nvSpPr>
          <p:cNvPr id="5" name="text-92">
            <a:extLst xmlns:a="http://schemas.openxmlformats.org/drawingml/2006/main">
              <a:ext uri="{FF2B5EF4-FFF2-40B4-BE49-F238E27FC236}">
                <a16:creationId xmlns:a16="http://schemas.microsoft.com/office/drawing/2014/main" id="{0B2AF316-CEDE-46AF-8E93-F5C9EE776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81225"/>
            <a:ext cx="5257800" cy="1400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25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2012 年立法</a:t>
            </a:r>
          </a:p>
          <a:p xmlns:a="http://schemas.openxmlformats.org/drawingml/2006/main">
            <a:pPr algn="l">
              <a:defRPr sz="225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不公开需要说明理由</a:t>
            </a:r>
          </a:p>
          <a:p xmlns:a="http://schemas.openxmlformats.org/drawingml/2006/main">
            <a:pPr algn="l">
              <a:defRPr sz="225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收容所人数每天更新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968C09-5DCC-4B24-9917-AD6A69DA3EF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3b58c926904478"/>
          <a:stretch xmlns:a="http://schemas.openxmlformats.org/drawingml/2006/main"/>
        </p:blipFill>
        <p:spPr>
          <a:xfrm xmlns:a="http://schemas.openxmlformats.org/drawingml/2006/main">
            <a:off x="6343650" y="2321820"/>
            <a:ext cx="5276850" cy="652261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CAA036-887F-4359-AE0B-C9F117EDC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624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FD9"/>
          </a:solidFill>
          <a:ln xmlns:a="http://schemas.openxmlformats.org/drawingml/2006/main" w="0">
            <a:noFill/>
          </a:ln>
        </p:spPr>
      </p:sp>
      <p:sp>
        <p:nvSpPr>
          <p:cNvPr id="8" name="text-93">
            <a:extLst xmlns:a="http://schemas.openxmlformats.org/drawingml/2006/main">
              <a:ext uri="{FF2B5EF4-FFF2-40B4-BE49-F238E27FC236}">
                <a16:creationId xmlns:a16="http://schemas.microsoft.com/office/drawing/2014/main" id="{382045D0-15C7-40A1-A163-B57E17C56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95775"/>
            <a:ext cx="5219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住房政策有没有用？</a:t>
            </a:r>
          </a:p>
        </p:txBody>
      </p:sp>
      <p:sp>
        <p:nvSpPr>
          <p:cNvPr id="9" name="text-94">
            <a:extLst xmlns:a="http://schemas.openxmlformats.org/drawingml/2006/main">
              <a:ext uri="{FF2B5EF4-FFF2-40B4-BE49-F238E27FC236}">
                <a16:creationId xmlns:a16="http://schemas.microsoft.com/office/drawing/2014/main" id="{4E7294BA-82AF-40A8-912F-A5B268E99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95850"/>
            <a:ext cx="5219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看租金负担有没有下降。</a:t>
            </a:r>
          </a:p>
        </p:txBody>
      </p:sp>
      <p:sp>
        <p:nvSpPr>
          <p:cNvPr id="10" name="text-95">
            <a:extLst xmlns:a="http://schemas.openxmlformats.org/drawingml/2006/main">
              <a:ext uri="{FF2B5EF4-FFF2-40B4-BE49-F238E27FC236}">
                <a16:creationId xmlns:a16="http://schemas.microsoft.com/office/drawing/2014/main" id="{E49DD4C5-746B-4635-BD04-085B5C46F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295775"/>
            <a:ext cx="5276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托底制度托住了多少人？</a:t>
            </a:r>
          </a:p>
        </p:txBody>
      </p:sp>
      <p:sp>
        <p:nvSpPr>
          <p:cNvPr id="11" name="text-96">
            <a:extLst xmlns:a="http://schemas.openxmlformats.org/drawingml/2006/main">
              <a:ext uri="{FF2B5EF4-FFF2-40B4-BE49-F238E27FC236}">
                <a16:creationId xmlns:a16="http://schemas.microsoft.com/office/drawing/2014/main" id="{9D6171DE-1E50-476D-823A-2C19B3C13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895850"/>
            <a:ext cx="52768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看还有多少人睡在街上。</a:t>
            </a:r>
          </a:p>
        </p:txBody>
      </p:sp>
      <p:sp>
        <p:nvSpPr>
          <p:cNvPr id="12" name="text-97">
            <a:extLst xmlns:a="http://schemas.openxmlformats.org/drawingml/2006/main">
              <a:ext uri="{FF2B5EF4-FFF2-40B4-BE49-F238E27FC236}">
                <a16:creationId xmlns:a16="http://schemas.microsoft.com/office/drawing/2014/main" id="{BD02D009-F2F7-46FE-9290-8E00F4A99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24525"/>
            <a:ext cx="1104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3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公开结果，市民才能提出有依据的反馈。</a:t>
            </a:r>
          </a:p>
        </p:txBody>
      </p:sp>
    </p:spTree>
    <p:extLst>
      <p:ext uri="{BB962C8B-B14F-4D97-AF65-F5344CB8AC3E}">
        <p14:creationId xmlns:p14="http://schemas.microsoft.com/office/powerpoint/2010/main" val="124098363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142C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301B36DE-6015-459A-97CB-772BA0EA8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CEE0D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125" b="0">
                <a:solidFill>
                  <a:srgbClr val="CEE0D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CEE0DC"/>
                </a:solidFill>
                <a:latin typeface="Microsoft YaHei"/>
                <a:ea typeface="Microsoft YaHei"/>
                <a:cs typeface="Microsoft YaHei"/>
              </a:rPr>
              <a:t>16</a:t>
            </a:r>
          </a:p>
        </p:txBody>
      </p:sp>
      <p:sp>
        <p:nvSpPr>
          <p:cNvPr id="2" name="text-98">
            <a:extLst xmlns:a="http://schemas.openxmlformats.org/drawingml/2006/main">
              <a:ext uri="{FF2B5EF4-FFF2-40B4-BE49-F238E27FC236}">
                <a16:creationId xmlns:a16="http://schemas.microsoft.com/office/drawing/2014/main" id="{7D16FFB0-4B3B-417B-8371-8F5D7B47A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0225"/>
            <a:ext cx="11049000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4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人民城市人民建</a:t>
            </a:r>
          </a:p>
          <a:p xmlns:a="http://schemas.openxmlformats.org/drawingml/2006/main">
            <a:pPr algn="l">
              <a:defRPr sz="4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人民城市为人民</a:t>
            </a:r>
          </a:p>
        </p:txBody>
      </p:sp>
      <p:sp>
        <p:nvSpPr>
          <p:cNvPr id="3" name="text-99">
            <a:extLst xmlns:a="http://schemas.openxmlformats.org/drawingml/2006/main">
              <a:ext uri="{FF2B5EF4-FFF2-40B4-BE49-F238E27FC236}">
                <a16:creationId xmlns:a16="http://schemas.microsoft.com/office/drawing/2014/main" id="{061DFE7C-40D2-47D4-9E08-CF026B5C8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24375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7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谢谢大家</a:t>
            </a:r>
          </a:p>
        </p:txBody>
      </p:sp>
    </p:spTree>
    <p:extLst>
      <p:ext uri="{BB962C8B-B14F-4D97-AF65-F5344CB8AC3E}">
        <p14:creationId xmlns:p14="http://schemas.microsoft.com/office/powerpoint/2010/main" val="578401303"/>
      </p:ext>
    </p:extLst>
  </p:cSld>
</p:sld>
</file>

<file path=ppt/slides/slide17.xml><?xml version="1.0" encoding="utf-8"?>
<p:sld xmlns:p="http://schemas.openxmlformats.org/presentationml/2006/main" show="0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8580EC6-4795-46B4-8858-0F6B42AB0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备份：范围、分母与折算</a:t>
            </a:r>
          </a:p>
        </p:txBody>
      </p:sp>
      <p:sp>
        <p:nvSpPr>
          <p:cNvPr id="2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4520452D-B746-48B1-8B84-B6255C8F7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29350"/>
            <a:ext cx="10525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追问时使用；完整报告和计算过程见备注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808F8101-A4A8-4157-B780-FEE595E17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17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922039-67E3-4E9F-851F-392597419026}"/>
              </a:ext>
            </a:extLst>
          </p:cNvPr>
          <p:cNvGraphicFramePr/>
          <p:nvPr/>
        </p:nvGraphicFramePr>
        <p:xfrm>
          <a:off xmlns:a="http://schemas.openxmlformats.org/drawingml/2006/main" x="571500" y="1438275"/>
          <a:ext xmlns:a="http://schemas.openxmlformats.org/drawingml/2006/main" cx="11049000" cy="41052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924050"/>
                <a:gridCol w="9124950"/>
              </a:tblGrid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说明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</a:tr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城市范围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上海全市对纽约市五区；州级消费、都会区交通另标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家庭收入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B9603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纽约税前户中位数；上海人均均值×2.24，约2.65倍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自有住房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上海2020家庭户；纽约2023已入住住房，均非租金负担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食物支出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B9603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纽约州食品饮料＋餐饮住宿（含住宿）；上海食品烟酒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孕产妇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B9603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纽约按产后42天约折为21/10万；不拿一年32.2直接比较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公厕密度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上海8325是元数据记录；纽约973是市政运营公厕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</a:tbl>
          </a:graphicData>
        </a:graphic>
      </p:graphicFrame>
      <p:sp>
        <p:nvSpPr>
          <p:cNvPr id="5" name="text-100">
            <a:extLst xmlns:a="http://schemas.openxmlformats.org/drawingml/2006/main">
              <a:ext uri="{FF2B5EF4-FFF2-40B4-BE49-F238E27FC236}">
                <a16:creationId xmlns:a16="http://schemas.microsoft.com/office/drawing/2014/main" id="{B4FE488E-6BB7-46DD-8B5A-1A1205E39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10250"/>
            <a:ext cx="110490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分项判定是本组评价；数据边界与缺失公开列明。</a:t>
            </a:r>
          </a:p>
        </p:txBody>
      </p:sp>
    </p:spTree>
    <p:extLst>
      <p:ext uri="{BB962C8B-B14F-4D97-AF65-F5344CB8AC3E}">
        <p14:creationId xmlns:p14="http://schemas.microsoft.com/office/powerpoint/2010/main" val="594914639"/>
      </p:ext>
    </p:extLst>
  </p:cSld>
</p:sld>
</file>

<file path=ppt/slides/slide18.xml><?xml version="1.0" encoding="utf-8"?>
<p:sld xmlns:p="http://schemas.openxmlformats.org/presentationml/2006/main" show="0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BD53502-EE3B-41A0-AA0F-891B901DB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备份：民生福祉的年份与范围</a:t>
            </a:r>
          </a:p>
        </p:txBody>
      </p:sp>
      <p:sp>
        <p:nvSpPr>
          <p:cNvPr id="2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97FE272C-B4EC-4C88-83FD-2D186AB5F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29350"/>
            <a:ext cx="10525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健康、治安、教育、文化具体口径；不延伸为所有服务质量的量化倍率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10B6E226-C2C0-4471-B748-41D034D15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18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281B2E-4C55-4B3C-96DF-7DE8B1F5E5C5}"/>
              </a:ext>
            </a:extLst>
          </p:cNvPr>
          <p:cNvGraphicFramePr/>
          <p:nvPr/>
        </p:nvGraphicFramePr>
        <p:xfrm>
          <a:off xmlns:a="http://schemas.openxmlformats.org/drawingml/2006/main" x="571500" y="1438275"/>
          <a:ext xmlns:a="http://schemas.openxmlformats.org/drawingml/2006/main" cx="11049000" cy="35433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05025"/>
                <a:gridCol w="4286250"/>
                <a:gridCol w="4657725"/>
              </a:tblGrid>
              <a:tr h="5905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指标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上海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纽约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婴儿死亡率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2025年，2.34‰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B9603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2023年，4.2‰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孕产妇死亡率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2025年，1.85/10万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B9603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2022年，产后42天约21/10万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严重案件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2024杀人立案46起，0.19/10万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B9603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2025谋杀305起，3.6/10万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生师比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2024中小学含高中，12.5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B9603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2024–25公立K–12，13.2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文化资助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9796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上海分馆全市总数未取得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B9603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FY2026资助1171家；96%有免费/补贴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</a:tbl>
          </a:graphicData>
        </a:graphic>
      </p:graphicFrame>
      <p:sp>
        <p:nvSpPr>
          <p:cNvPr id="5" name="text-101">
            <a:extLst xmlns:a="http://schemas.openxmlformats.org/drawingml/2006/main">
              <a:ext uri="{FF2B5EF4-FFF2-40B4-BE49-F238E27FC236}">
                <a16:creationId xmlns:a16="http://schemas.microsoft.com/office/drawing/2014/main" id="{40CA5562-EEA8-4F34-9873-E06D7022F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5305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区际教育配置仍有差异：上海部分流入区小学约15生/师，纽约最紧学区13.9。</a:t>
            </a:r>
          </a:p>
        </p:txBody>
      </p:sp>
    </p:spTree>
    <p:extLst>
      <p:ext uri="{BB962C8B-B14F-4D97-AF65-F5344CB8AC3E}">
        <p14:creationId xmlns:p14="http://schemas.microsoft.com/office/powerpoint/2010/main" val="66764549"/>
      </p:ext>
    </p:extLst>
  </p:cSld>
</p:sld>
</file>

<file path=ppt/slides/slide19.xml><?xml version="1.0" encoding="utf-8"?>
<p:sld xmlns:p="http://schemas.openxmlformats.org/presentationml/2006/main" show="0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C9CEF74-A909-4C0E-9A56-76CD3A214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备份：来源索引</a:t>
            </a:r>
          </a:p>
        </p:txBody>
      </p:sp>
      <p:sp>
        <p:nvSpPr>
          <p:cNvPr id="2" name="source-footer">
            <a:extLst xmlns:a="http://schemas.openxmlformats.org/drawingml/2006/main">
              <a:ext uri="{FF2B5EF4-FFF2-40B4-BE49-F238E27FC236}">
                <a16:creationId xmlns:a16="http://schemas.microsoft.com/office/drawing/2014/main" id="{A6C26191-25BE-4EF5-B5BB-9370B96FD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29350"/>
            <a:ext cx="10525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正文页脚给发布方；完整来源、讲稿原文与计算说明保存在每页讲者备注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A41F965D-344D-4EB3-9988-21CB6C0CC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E7375"/>
                </a:solidFill>
                <a:latin typeface="Microsoft YaHei"/>
                <a:ea typeface="Microsoft YaHei"/>
                <a:cs typeface="Microsoft YaHei"/>
              </a:rPr>
              <a:t>19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8D5067-5DC8-449B-916E-A63E964CC054}"/>
              </a:ext>
            </a:extLst>
          </p:cNvPr>
          <p:cNvGraphicFramePr/>
          <p:nvPr/>
        </p:nvGraphicFramePr>
        <p:xfrm>
          <a:off xmlns:a="http://schemas.openxmlformats.org/drawingml/2006/main" x="571500" y="1438275"/>
          <a:ext xmlns:a="http://schemas.openxmlformats.org/drawingml/2006/main" cx="11049000" cy="36480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285875"/>
                <a:gridCol w="7172325"/>
                <a:gridCol w="2590800"/>
              </a:tblGrid>
              <a:tr h="608013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正文页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主要来源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资料类型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T w="9525">
                      <a:solidFill>
                        <a:srgbClr val="D5DFD9"/>
                      </a:solidFill>
                    </a:lnT>
                    <a:lnB w="9525">
                      <a:solidFill>
                        <a:srgbClr val="D5DFD9"/>
                      </a:solidFill>
                    </a:lnB>
                    <a:solidFill>
                      <a:srgbClr val="142C30"/>
                    </a:solidFill>
                  </a:tcPr>
                </a:tc>
              </a:tr>
              <a:tr h="608013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1–3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新华社、沪绿化市容局、NYC Council、RGB/ACS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概念、设施、人口收入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608013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4–6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沪人口普查/年鉴/统计公报、NYC HVS、BEA、地铁/MTA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住房、官方消费、交通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608013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7–8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沪卫健/年鉴/民政、DOHMH、NYPD、NYSED、DCLA、HUD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民生结果与托底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608013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9–11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官方设施名录、OSM、沪规划资源局、微信访谈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空间测算、参与、访谈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  <a:tr h="608013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12–15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5DFD9"/>
                      </a:solidFill>
                    </a:lnL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前述官方统计、NYC Open Data、DHS、上海开放平台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182F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逐题判定、结论、透明</a:t>
                      </a:r>
                    </a:p>
                  </a:txBody>
                  <a:tcPr marL="133350" marR="114300" marT="76200" marB="76200" anchor="ctr">
                    <a:lnR w="9525">
                      <a:solidFill>
                        <a:srgbClr val="D5DFD9"/>
                      </a:solidFill>
                    </a:lnR>
                    <a:lnB w="9525">
                      <a:solidFill>
                        <a:srgbClr val="D5DFD9"/>
                      </a:solidFill>
                    </a:lnB>
                    <a:solidFill>
                      <a:srgbClr val="F7F6F1"/>
                    </a:solidFill>
                  </a:tcPr>
                </a:tc>
              </a:tr>
            </a:tbl>
          </a:graphicData>
        </a:graphic>
      </p:graphicFrame>
      <p:sp>
        <p:nvSpPr>
          <p:cNvPr id="5" name="text-102">
            <a:extLst xmlns:a="http://schemas.openxmlformats.org/drawingml/2006/main">
              <a:ext uri="{FF2B5EF4-FFF2-40B4-BE49-F238E27FC236}">
                <a16:creationId xmlns:a16="http://schemas.microsoft.com/office/drawing/2014/main" id="{2A3D9EE3-47B3-470E-98D7-E50191B86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48300"/>
            <a:ext cx="11049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地图：同一中心七区、直线1公里、同一面积分母；</a:t>
            </a:r>
          </a:p>
          <a:p xmlns:a="http://schemas.openxmlformats.org/drawingml/2006/main">
            <a:pPr algn="l">
              <a:def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82F32"/>
                </a:solidFill>
                <a:latin typeface="Microsoft YaHei"/>
                <a:ea typeface="Microsoft YaHei"/>
                <a:cs typeface="Microsoft YaHei"/>
              </a:rPr>
              <a:t>访谈：一位同学的生活观察；两者都补充统计，不替代全市调查。</a:t>
            </a:r>
          </a:p>
        </p:txBody>
      </p:sp>
    </p:spTree>
    <p:extLst>
      <p:ext uri="{BB962C8B-B14F-4D97-AF65-F5344CB8AC3E}">
        <p14:creationId xmlns:p14="http://schemas.microsoft.com/office/powerpoint/2010/main" val="102532767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/>
  <dc:title>Presentation</dc:title>
  <dcterms:created xsi:type="dcterms:W3CDTF">2026-10-17T16:39:40.7460000Z</dcterms:created>
  <dcterms:modified xsi:type="dcterms:W3CDTF">2026-10-17T16:39:40.7460000Z</dcterms:modified>
</coreProperties>
</file>