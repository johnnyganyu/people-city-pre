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465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zh-CN" altLang="en-US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食品杂货支出 </a:t>
            </a:r>
            <a:r>
              <a:rPr lang="en-US" altLang="zh-CN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/ </a:t>
            </a:r>
            <a:r>
              <a:rPr lang="zh-CN" altLang="en-US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平台税后平均工资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食品杂货支出 / 平台税后平均工资</c:v>
          </c:tx>
          <c:spPr>
            <a:solidFill>
              <a:srgbClr val="19796F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B9603F"/>
              </a:solidFill>
            </c:spPr>
            <c:extLst>
              <c:ext xmlns:c16="http://schemas.microsoft.com/office/drawing/2014/chart" uri="{C3380CC4-5D6E-409C-BE32-E72D297353CC}">
                <c16:uniqueId val="{00000001-A6FA-4CAA-98E6-60E4AB57815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6FA-4CAA-98E6-60E4AB57815E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400" b="1">
                    <a:solidFill>
                      <a:srgbClr val="182F32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纽约</c:v>
                </c:pt>
                <c:pt idx="1">
                  <c:v>上海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0.1</c:v>
                </c:pt>
                <c:pt idx="1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6FA-4CAA-98E6-60E4AB57815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95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1"/>
        <c:axPos val="b"/>
        <c:numFmt formatCode="0%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zh-CN" altLang="en-US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房租占收入至少</a:t>
            </a:r>
            <a:r>
              <a:rPr lang="en-US" altLang="zh-CN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30%</a:t>
            </a:r>
            <a:r>
              <a:rPr lang="zh-CN" altLang="en-US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的租房户比例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房租占收入至少30%的租房户比例</c:v>
          </c:tx>
          <c:spPr>
            <a:solidFill>
              <a:srgbClr val="19796F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B9603F"/>
              </a:solidFill>
            </c:spPr>
            <c:extLst>
              <c:ext xmlns:c16="http://schemas.microsoft.com/office/drawing/2014/chart" uri="{C3380CC4-5D6E-409C-BE32-E72D297353CC}">
                <c16:uniqueId val="{00000001-AAA2-4306-8184-809684DB2086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400" b="1">
                    <a:solidFill>
                      <a:srgbClr val="182F32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Data'!$A$2:$A$2</c:f>
              <c:strCache>
                <c:ptCount val="1"/>
                <c:pt idx="0">
                  <c:v>租房户</c:v>
                </c:pt>
              </c:strCache>
            </c:strRef>
          </c:cat>
          <c:val>
            <c:numRef>
              <c:f>'Chart Data'!$B$2:$B$2</c:f>
              <c:numCache>
                <c:formatCode>0.0%</c:formatCode>
                <c:ptCount val="1"/>
                <c:pt idx="0">
                  <c:v>0.51600000000000001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AA2-4306-8184-809684DB208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95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1"/>
        <c:axPos val="b"/>
        <c:numFmt formatCode="0.0%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altLang="zh-CN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2025</a:t>
            </a:r>
            <a:r>
              <a:rPr lang="zh-CN" altLang="en-US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年轨交客运人次 </a:t>
            </a:r>
            <a:r>
              <a:rPr lang="en-US" altLang="zh-CN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/ </a:t>
            </a:r>
            <a:r>
              <a:rPr lang="zh-CN" altLang="en-US" sz="165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市域人口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2025年轨交客运人次 / 市域人口</c:v>
          </c:tx>
          <c:spPr>
            <a:solidFill>
              <a:srgbClr val="19796F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B9603F"/>
              </a:solidFill>
            </c:spPr>
            <c:extLst>
              <c:ext xmlns:c16="http://schemas.microsoft.com/office/drawing/2014/chart" uri="{C3380CC4-5D6E-409C-BE32-E72D297353CC}">
                <c16:uniqueId val="{00000001-E9B6-4D1B-97EE-DBE6D5D8EE9C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9B6-4D1B-97EE-DBE6D5D8EE9C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400" b="1">
                    <a:solidFill>
                      <a:srgbClr val="182F32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纽约</c:v>
                </c:pt>
                <c:pt idx="1">
                  <c:v>上海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151</c:v>
                </c:pt>
                <c:pt idx="1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B6-4D1B-97EE-DBE6D5D8EE9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95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00"/>
          <c:min val="0"/>
        </c:scaling>
        <c:delete val="1"/>
        <c:axPos val="b"/>
        <c:numFmt formatCode="0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第1页，建议45秒</a:t>
            </a:r>
          </a:p>
          <a:p>
            <a:endParaRPr/>
          </a:p>
          <a:p>
            <a:r>
              <a:t>今天的主题是人民城市的上海实践，同时我们想问：纽约这样的现代化国际大都市，能不能叫人民城市？先用一句话引入：人民城市人民建，人民城市为人民。课堂上可以理解为，城市建设以人民为中心，回应居民的真实需要，也让居民参与建设。现代化有很多标志，高楼、经济规模、收入都很直观。但对普通人来说，更直接的问题是出门是否方便，住房是否稳定，困难时能否获得帮助。我们从一间公厕出发，用日常生活比较上海与纽约。</a:t>
            </a:r>
          </a:p>
          <a:p>
            <a:endParaRPr/>
          </a:p>
          <a:p>
            <a:r>
              <a:t>数据与引用来源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>
            <a:endParaRPr/>
          </a:p>
          <a:p>
            <a:r>
              <a:t>图片 cover：d’n’c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第2页，建议1分20秒</a:t>
            </a:r>
          </a:p>
          <a:p>
            <a:endParaRPr/>
          </a:p>
          <a:p>
            <a:r>
              <a:t>先想象一个场景：在城市里逛街，突然需要上厕所。如果带着孩子，或者陪一位行动不便的老人，找到厕所只是第一步；还要看设施能不能用，照护是否方便。纽约市议会记录，市政公厕有九百七十三处在运营，全天二十四小时开放的只有八处，开放时间和寻找便利都是需要面对的问题。上海把这些细小的需求纳入了公共服务。截至二〇二六年四月，累计有两千六百三十一座环卫公厕完成适老适幼改造，第三卫生间超过一千二百座。扶手、低位设施和第三卫生间帮助不同使用者，也减少异性照护的尴尬。免费厕纸、冬季热水、智慧寻厕，以及社会厕所开放共享，则改善日常体验。上海讲的是改造成果，纽约讲的是运营存量，两项不能直接算密度优势。公厕不赚钱，但老人、孩子和在街上工作的人员都需要它；城市为这些具体需要投入，就是人民城市实践的一个切口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上海市绿化市容局，2026-04-01</a:t>
            </a:r>
          </a:p>
          <a:p>
            <a:r>
              <a:t>https://lhsr.sh.gov.cn/ywdt/20260401/00d7c161-8280-490c-a0da-d6c995e85058.html</a:t>
            </a:r>
          </a:p>
          <a:p>
            <a:endParaRPr/>
          </a:p>
          <a:p>
            <a:r>
              <a:t>上海市绿化市容局，2025-12-04</a:t>
            </a:r>
          </a:p>
          <a:p>
            <a:r>
              <a:t>https://lhsr.sh.gov.cn/ywdt/20251204/b016509f-60a6-46cd-83fa-fdab372175c7.html</a:t>
            </a:r>
          </a:p>
          <a:p>
            <a:endParaRPr/>
          </a:p>
          <a:p>
            <a:r>
              <a:t>上海市绿化市容局，2026-04-28</a:t>
            </a:r>
          </a:p>
          <a:p>
            <a:r>
              <a:t>https://lhsr.sh.gov.cn/ywdt/20260428/e5fc7284-f42f-46e7-b96c-7da89b614f7e.html</a:t>
            </a:r>
          </a:p>
          <a:p>
            <a:endParaRPr/>
          </a:p>
          <a:p>
            <a:r>
              <a:t>纽约市议会公共厕所分析</a:t>
            </a:r>
          </a:p>
          <a:p>
            <a:r>
              <a:t>https://council.nyc.gov/data/public-restroom-analysis/</a:t>
            </a:r>
          </a:p>
          <a:p>
            <a:endParaRPr/>
          </a:p>
          <a:p>
            <a:r>
              <a:t>用户提供的资料图：上海第三卫生间实景</a:t>
            </a:r>
          </a:p>
          <a:p>
            <a:r>
              <a:t>上海市绿化市容局，2026-04-01</a:t>
            </a:r>
          </a:p>
          <a:p>
            <a:r>
              <a:t>https://lhsr.sh.gov.cn/ywdt/20260401/00d7c161-8280-490c-a0da-d6c995e85058.html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用户提供的资料图：纽约运营973处公厕原文</a:t>
            </a:r>
          </a:p>
          <a:p>
            <a:r>
              <a:t>纽约市议会公共厕所分析</a:t>
            </a:r>
          </a:p>
          <a:p>
            <a:r>
              <a:t>https://council.nyc.gov/data/public-restroom-analysis/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用户提供的资料图：纽约24小时开放8处公厕原文</a:t>
            </a:r>
          </a:p>
          <a:p>
            <a:r>
              <a:t>纽约市议会公共厕所分析</a:t>
            </a:r>
          </a:p>
          <a:p>
            <a:r>
              <a:t>https://council.nyc.gov/data/public-restroom-analysis/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用户提供的资料图：第三卫生间配建成果原文</a:t>
            </a:r>
          </a:p>
          <a:p>
            <a:r>
              <a:t>上海市绿化市容局，2026-04-01</a:t>
            </a:r>
          </a:p>
          <a:p>
            <a:r>
              <a:t>https://lhsr.sh.gov.cn/ywdt/20260401/00d7c161-8280-490c-a0da-d6c995e85058.html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第3页，建议45秒</a:t>
            </a:r>
          </a:p>
          <a:p>
            <a:endParaRPr/>
          </a:p>
          <a:p>
            <a:r>
              <a:t>接下来从基础保障、民生福祉和底层关怀三个层次比较两座城市。基础保障关注吃、穿、住、行；民生福祉关注医疗、治安、教育、文化；底层关怀则看城市怎样为困难群体提供兜底保障。主体是上海全市和纽约市五区，人口、面积和服务范围相差很大，总量不能直接代表居民体验。涉及纽约州或者商业资料会单独说明。每一项先看城市做了什么，再看生活结果，最后留下待检验的问题。这个结构组织讨论，不是等权城市评分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第4页，建议55秒</a:t>
            </a:r>
          </a:p>
          <a:p>
            <a:endParaRPr/>
          </a:p>
          <a:p>
            <a:r>
              <a:t>吃既关系买不买得起，也关系能否方便获得合适餐食。同一商业平台估计中，月食品杂货支出除以平台税后平均工资，上海约百分之十四，纽约约百分之十，纽约的这个参考比例较低。但样本代表性不清楚，不能当作全部居民实际负担，更不能判断吃得好多少倍。上海有两千四百九十八个老年助餐场所，与社区为老服务网络结合。对一些老人来说，离家近、能获得合适餐食，就会改变生活的方便程度。平台比例提供采购负担线索，社区助餐回应特定人群，两者说明吃既要看消费背景，也要看服务能否接近需要它的人。</a:t>
            </a:r>
          </a:p>
          <a:p>
            <a:endParaRPr/>
          </a:p>
          <a:p>
            <a:r>
              <a:t>数据与引用来源</a:t>
            </a:r>
          </a:p>
          <a:p>
            <a:r>
              <a:t>Wise 纽约生活成本，附件读取于2026-10-10</a:t>
            </a:r>
          </a:p>
          <a:p>
            <a:r>
              <a:t>https://wise.com/zh-cn/cost-of-living/united-states/new-york-ny</a:t>
            </a:r>
          </a:p>
          <a:p>
            <a:endParaRPr/>
          </a:p>
          <a:p>
            <a:r>
              <a:t>Wise 上海生活成本，附件读取于2026-10-10</a:t>
            </a:r>
          </a:p>
          <a:p>
            <a:r>
              <a:t>https://wise.com/zh-cn/cost-of-living/china/shanghai</a:t>
            </a:r>
          </a:p>
          <a:p>
            <a:endParaRPr/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用户提供的资料图：上海老年助餐服务场所公报原文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第5页，建议45秒</a:t>
            </a:r>
          </a:p>
          <a:p>
            <a:endParaRPr/>
          </a:p>
          <a:p>
            <a:r>
              <a:t>穿这一项先看名义消费背景。上海二〇二四年人均衣着支出一千九百三十六元，来自住户调查；纽约州二〇二五年人均服装鞋类支出一千九百四十七美元，来自个人消费支出统计。这里保留原币，并写清纽约州，因为它不是纽约市单独统计。年份、地域和调查体系也不同，购买还受到品牌、价格、频次和使用需求影响。预算记录是观察消费选择的起点，但汇率倍率不能直接回答谁穿得更好。实际生活水平还需要匹配调查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上海统计年鉴2025，表9.13（2024年）</a:t>
            </a:r>
          </a:p>
          <a:p>
            <a:r>
              <a:t>https://tjj.sh.gov.cn/tjnj/2025tjnj/C0913.htm</a:t>
            </a:r>
          </a:p>
          <a:p>
            <a:endParaRPr/>
          </a:p>
          <a:p>
            <a:r>
              <a:t>BEA SAPCE，纽约州2025年PCE</a:t>
            </a:r>
          </a:p>
          <a:p>
            <a:r>
              <a:t>https://apps.bea.gov/regional/zip/SAPCE.zip</a:t>
            </a:r>
          </a:p>
          <a:p>
            <a:endParaRPr/>
          </a:p>
          <a:p>
            <a:r>
              <a:t>用户提供的资料图：上海年鉴衣着支出及年份表头</a:t>
            </a:r>
          </a:p>
          <a:p>
            <a:r>
              <a:t>上海统计年鉴2025，表9.13（2024年）</a:t>
            </a:r>
          </a:p>
          <a:p>
            <a:r>
              <a:t>https://tjj.sh.gov.cn/tjnj/2025tjnj/C0913.htm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第6页，建议1分40秒</a:t>
            </a:r>
          </a:p>
          <a:p>
            <a:endParaRPr/>
          </a:p>
          <a:p>
            <a:r>
              <a:t>住房往往是家庭最大的一笔负担，也最能体现公共服务是否支持稳定生活。上海这几年采用了几种不同办法。保障性租赁住房，是增加可负担租住选择；建设者之家，是回应一线务工人员的居住需要；老楼加装电梯，则改善原有居民每天上下楼的便利。二〇二五年，上海年度建设筹措保障性租赁住房七点四万套、间，加装电梯三千二百九十五台。这里的七点四万是建设筹措量，不能说成当年已经交付并全部住满。不过这些措施说明，住房服务既面向新来城市的劳动者，也面向老小区的居民。纽约这一侧，我们集中看一个生活结果。按照租金委员会简报引用的二〇二四年美国社区调查，约百分之五十一点六的租房户，把至少三成收入用于房租。也就是约一半租房家庭面临较重的租金负担。二〇二三年的住房与空置调查又显示，租赁空置率仅百分之一点四一，说明寻找可租住房也有压力。两项调查年份不同，各自提供一条背景。上海暂缺匹配的租金负担指标，所以不能凭政策数量宣布住房整体胜负。更值得追问的是，支持措施是否真正降低了负担，是否让人住得稳定，并且日常出入更方便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NYC Rent Guidelines Board，2026 Income &amp; Affordability，引用2024 ACS</a:t>
            </a:r>
          </a:p>
          <a:p>
            <a:r>
              <a:t>https://rentguidelinesboard.cityofnewyork.us/wp-content/uploads/2026/04/2026-IA-Presentation.pdf</a:t>
            </a:r>
          </a:p>
          <a:p>
            <a:endParaRPr/>
          </a:p>
          <a:p>
            <a:r>
              <a:t>上海2020人口普查年鉴，表9-4</a:t>
            </a:r>
          </a:p>
          <a:p>
            <a:r>
              <a:t>https://tjj.sh.gov.cn/tjnj/2020rktjnj/BNJc-9-4.jpg</a:t>
            </a:r>
          </a:p>
          <a:p>
            <a:endParaRPr/>
          </a:p>
          <a:p>
            <a:r>
              <a:t>NYC HPD，2023 HVS</a:t>
            </a:r>
          </a:p>
          <a:p>
            <a:r>
              <a:t>https://www.nyc.gov/assets/hpd/downloads/pdfs/about/2023%20NYCHVS%20Selected%20Initial%20Findings.pdf</a:t>
            </a:r>
          </a:p>
          <a:p>
            <a:endParaRPr/>
          </a:p>
          <a:p>
            <a:r>
              <a:t>用户提供的资料图：上海保租房建设筹措原文截片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用户提供的资料图：51.6%纽约租房户租金负担原文</a:t>
            </a:r>
          </a:p>
          <a:p>
            <a:r>
              <a:t>NYC Rent Guidelines Board，2026 Income &amp; Affordability，引用2024 ACS</a:t>
            </a:r>
          </a:p>
          <a:p>
            <a:r>
              <a:t>https://rentguidelinesboard.cityofnewyork.us/wp-content/uploads/2026/04/2026-IA-Presentation.pdf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第7页，建议1分30秒</a:t>
            </a:r>
          </a:p>
          <a:p>
            <a:endParaRPr/>
          </a:p>
          <a:p>
            <a:r>
              <a:t>行这一项，公共交通可以把居住、就业和服务连接起来。上海第一条地铁一九九三年开通，经过三十多年的持续建设，二〇二五年轨道交通已有二十二条线、九百六十二公里。网络延伸之外，公交和轨道交通的联乘优惠，也为日常出行提供支持。纽约则是美国公共交通使用很重要的一座城市，所以它很适合作为对照。只看总客流，上海人口多，数值自然更大。我们把两城二〇二五年的客运人次除以各自市域人口，材料中的结果分别约一百五十和一百五十一，量级接近。但这个值不是每位居民实际坐了多少次，因为客流包含游客和其他非居民，而轨道服务范围与行政范围也不完全一致。它只能描述使用规模。票制也影响日常可用性：上海地铁六公里内三元起，纽约基础单程三美元。我们保留原币和票制背景，不拿税前户收入与人均可支配收入拼成一个精确折算系数。这一页能够确认的是，上海的持续建设和优惠措施改变了生活半径，两城轨交使用规模都很大。服务是否方便，还要看具体社区离站点多远，换乘是否顺畅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上海地铁票务优惠</a:t>
            </a:r>
          </a:p>
          <a:p>
            <a:r>
              <a:t>https://service.shmetro.com/pwyh/index.htm</a:t>
            </a:r>
          </a:p>
          <a:p>
            <a:endParaRPr/>
          </a:p>
          <a:p>
            <a:r>
              <a:t>Office of Governor Hochul / MTA：2025年全年表现与客流联合公告</a:t>
            </a:r>
          </a:p>
          <a:p>
            <a:r>
              <a:t>https://www.governor.ny.gov/news/governor-hochul-highlights-record-breaking-year-performance-and-ridership-mta-2025</a:t>
            </a:r>
          </a:p>
          <a:p>
            <a:endParaRPr/>
          </a:p>
          <a:p>
            <a:r>
              <a:t>NYC311，Subway and Bus Fares</a:t>
            </a:r>
          </a:p>
          <a:p>
            <a:r>
              <a:t>https://portal.311.nyc.gov/article/?kanumber=KA-01014</a:t>
            </a:r>
          </a:p>
          <a:p>
            <a:endParaRPr/>
          </a:p>
          <a:p>
            <a:r>
              <a:t>图片 metro：A Chinese ID / Wikimedia Commons · CC BY-SA 4.0</a:t>
            </a:r>
          </a:p>
          <a:p>
            <a:r>
              <a:t>https://commons.wikimedia.org/wiki/File:Type_3_%22Bondage%22_of_Line_9_in_Sijing_Station,_Shanghai_Metro,_Jul_1_2024.jpg</a:t>
            </a:r>
          </a:p>
          <a:p>
            <a:endParaRPr/>
          </a:p>
          <a:p>
            <a:r>
              <a:t>用户提供的资料图：上海轨道交通网络公报摘录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用户提供的资料图：纽约2025地铁近13亿客流原文</a:t>
            </a:r>
          </a:p>
          <a:p>
            <a:r>
              <a:t>Office of Governor Hochul / MTA：2025年全年表现与客流联合公告</a:t>
            </a:r>
          </a:p>
          <a:p>
            <a:r>
              <a:t>https://www.governor.ny.gov/news/governor-hochul-highlights-record-breaking-year-performance-and-ridership-mta-2025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第8页，建议2分30秒</a:t>
            </a:r>
          </a:p>
          <a:p>
            <a:endParaRPr/>
          </a:p>
          <a:p>
            <a:r>
              <a:t>民生福祉关注医疗、治安、教育和文化。四项集中呈现，可以看到城市怎样改善居民的生活质量。先看医疗。我们选婴儿死亡率，因为它涉及孩子出生以后，医疗与照护能否保护最脆弱的人。上海二〇二五年的记录是千分之二点三四，纽约二〇二三年是千分之四点二，上海这一记录较低。但年份不同，统计人群还需进一步匹配，所以它支持的是这个指标的观察，不能扩展成整个医疗体系的全面排名。寿命、孕产妇健康、就医费用和不同社区的可及性，仍然是其他问题。第二项是治安。材料中的上海杀人案立案，按人口折算约每十万人零点一九起；纽约谋杀案约每十万人三点六起。上海的具体记录较低。不过一边是立案，一边是谋杀案件，年份也不同，因此不能把这个差异说成整体安全水平的倍率，更不能代表诈骗、盗窃等所有犯罪。第三项是教育。上海中小学的生师比约十二点五，纽约公立学校约十三点二，配置密度的量级接近。生师比说明学生和教师数量的关系，它不等于一间教室里有多少人，也不直接等于教学质量。而平均数会掩盖地区差异：人口增加较快的社区，教师配置是否跟得上，值得继续观察。最后是文化。上海把文化、体育等服务纳入社区生活圈，强调走近居民；纽约的文化资助也有低门槛的一面，二〇二六财政年度获文化发展基金资助的机构中，百分之九十六提供免费或有补贴的项目。这个比例的分母是受资助机构，不是全市所有文化活动。四项放在一起，我们看到上海部分健康和安全记录较低，师资配置量级接近，两城都有公共文化实践。具体指标需要连着适用范围理解，才能真正帮助评价服务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上海市卫健委，2025年卫生健康统计数据</a:t>
            </a:r>
          </a:p>
          <a:p>
            <a:r>
              <a:t>https://wsjkw.sh.gov.cn/tjsj2/20260730/7154e5b1603642a8a3c7c0b2b8b3b149.html</a:t>
            </a:r>
          </a:p>
          <a:p>
            <a:endParaRPr/>
          </a:p>
          <a:p>
            <a:r>
              <a:t>NYC DOHMH，Summary of Vital Statistics 2023</a:t>
            </a:r>
          </a:p>
          <a:p>
            <a:r>
              <a:t>https://www.nyc.gov/assets/doh/downloads/pdf/vs/2023sum.pdf</a:t>
            </a:r>
          </a:p>
          <a:p>
            <a:endParaRPr/>
          </a:p>
          <a:p>
            <a:r>
              <a:t>上海统计年鉴2025，表23.3（2024年立案）</a:t>
            </a:r>
          </a:p>
          <a:p>
            <a:r>
              <a:t>https://tjj.sh.gov.cn/tjnj/2025tjnj/C2303.htm</a:t>
            </a:r>
          </a:p>
          <a:p>
            <a:endParaRPr/>
          </a:p>
          <a:p>
            <a:r>
              <a:t>NYPD，2025年全年案件统计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上海统计年鉴2025，表20.15（小学）</a:t>
            </a:r>
          </a:p>
          <a:p>
            <a:r>
              <a:t>https://tjj.sh.gov.cn/tjnj/2025tjnj/C2015.htm</a:t>
            </a:r>
          </a:p>
          <a:p>
            <a:endParaRPr/>
          </a:p>
          <a:p>
            <a:r>
              <a:t>上海统计年鉴2025，表20.13（普通中学）</a:t>
            </a:r>
          </a:p>
          <a:p>
            <a:r>
              <a:t>https://tjj.sh.gov.cn/tjnj/2025tjnj/C2013.htm</a:t>
            </a:r>
          </a:p>
          <a:p>
            <a:endParaRPr/>
          </a:p>
          <a:p>
            <a:r>
              <a:t>NYSED，2024–25 Student and Educator Report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NYC DCLA，FY2026 CDF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endParaRPr/>
          </a:p>
          <a:p>
            <a:r>
              <a:t>上海市规划资源局：生活圈与泰山人民坊</a:t>
            </a:r>
          </a:p>
          <a:p>
            <a:r>
              <a:t>https://ghzyj.sh.gov.cn/gzdt/20251224/f5b8e34f5c834200910639b27717dfdf.html</a:t>
            </a:r>
          </a:p>
          <a:p>
            <a:endParaRPr/>
          </a:p>
          <a:p>
            <a:r>
              <a:t>用户提供的资料图：96%获CDF资助机构免费或补贴原文</a:t>
            </a:r>
          </a:p>
          <a:p>
            <a:r>
              <a:t>NYC DCLA，FY2026 CDF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第9页，建议2分钟</a:t>
            </a:r>
          </a:p>
          <a:p>
            <a:endParaRPr/>
          </a:p>
          <a:p>
            <a:r>
              <a:t>第三个层次是底层关怀，单独看城市怎样帮助处境最困难的人。判断兜底服务，不能只看是否有一项制度，还要看它帮助了谁，以及救助之后能否回到稳定生活。上海的最低生活保障标准城乡统一，二〇二六年七月起每人每月一千六百九十元。社区就业服务站，回应找工作和就业支持的需要；建设者居住服务，回应部分一线劳动者的住宿困难。老年助餐又是另一类专门服务，不能把老年人和贫困群体直接画等号。这些措施说明，不同困难需要不同的服务入口。纽约这边，有一组非常清楚的公开结果。二〇二五年的一夜点数中，无家可归者共十二万五千六百八十三人，其中露宿者四千六百七十三人。这里一定要分清：总数包含住在庇护等设施中的人，不能说十二万多人都睡在街头。庇护设施一方面说明城市正在提供救助，另一方面也提醒我们，临时收容还不是稳定住房。纽约公布收容所使用情况，让这个问题能被持续观察。结合前面看到的租赁紧张，我们可以追问，获得庇护以后的人，是否能找到可负担住房并搬入稳定住所。上海匹配的无家可归或露宿成效数据，本批资料尚未找到。数据缺失不能当作人数为零，也不能直接判定哪座城市的全部兜底服务更好。这一题最有意义的考验是，困难的人能不能进入服务，又能不能在服务之后恢复稳定生活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上海市民政局，2026年低保标准</a:t>
            </a:r>
          </a:p>
          <a:p>
            <a:r>
              <a:t>https://mzj.sh.gov.cn/MZ_zhuzhan277_0-2-8-15-55-229/20260702/d95374094d6041a19b2591fd241126cb.html</a:t>
            </a:r>
          </a:p>
          <a:p>
            <a:endParaRPr/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endParaRPr/>
          </a:p>
          <a:p>
            <a:r>
              <a:t>用户提供的资料图：上海最低生活保障1690元通知原文</a:t>
            </a:r>
          </a:p>
          <a:p>
            <a:r>
              <a:t>上海市民政局，2026年低保标准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用户提供的资料图：HUD点数官方标题和日期</a:t>
            </a:r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第10页，建议1分钟</a:t>
            </a:r>
          </a:p>
          <a:p>
            <a:endParaRPr/>
          </a:p>
          <a:p>
            <a:r>
              <a:t>这里用四类服务看看上海社区服务的空间分布。四图统一选取黄浦、徐汇等中心七区和直线一公里，数值表示OSM已标注居住用地的面积覆盖，不是居民人口比例，也不是实际十五分钟步行覆盖。食堂和图书馆网点在不少居住区域周边分布，市民健身中心这一平台分类仍有覆盖空白。绿地按公园类面范围测距，开放状态尚未完全核实，所以不能把接近百分之百解释成人人都能方便进公园。图书馆也含自助借还点，健身地图不包括所有球场和步道。这些图帮助提出具体问题：哪些社区身边有服务，哪些地方还需要补充，服务是否真正方便，还要结合步行路线、开放时间和使用条件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上海养老服务平台、民服务一张图，地图快照2026-10-12</a:t>
            </a:r>
          </a:p>
          <a:p>
            <a:r>
              <a:t>https://shyl.mzj.sh.gov.cn/agencyQuery</a:t>
            </a:r>
          </a:p>
          <a:p>
            <a:r>
              <a:t>https://mzww.mzj.sh.gov.cn/mfwmap/#/civilMap</a:t>
            </a:r>
          </a:p>
          <a:p>
            <a:endParaRPr/>
          </a:p>
          <a:p>
            <a:r>
              <a:t>上海市公共体育设施地图，市民健身中心分类</a:t>
            </a:r>
          </a:p>
          <a:p>
            <a:r>
              <a:t>https://www.shggty.com.cn/facilityMap.html</a:t>
            </a:r>
          </a:p>
          <a:p>
            <a:endParaRPr/>
          </a:p>
          <a:p>
            <a:r>
              <a:t>上海图书馆官方服务网点地图</a:t>
            </a:r>
          </a:p>
          <a:p>
            <a:r>
              <a:t>https://www.library.sh.cn/guide/libraryLocation</a:t>
            </a:r>
          </a:p>
          <a:p>
            <a:endParaRPr/>
          </a:p>
          <a:p>
            <a:r>
              <a:t>OpenStreetMap已标注居住用地、公园类绿地，© OpenStreetMap contributors，ODbL</a:t>
            </a:r>
          </a:p>
          <a:p>
            <a:r>
              <a:t>https://www.openstreetmap.org/copyright</a:t>
            </a:r>
          </a:p>
          <a:p>
            <a:endParaRPr/>
          </a:p>
          <a:p>
            <a:r>
              <a:t>上海市公共服务发展十五五规划，专栏1及2024年脚注</a:t>
            </a:r>
          </a:p>
          <a:p>
            <a:r>
              <a:t>https://www.shanghai.gov.cn/202618zfwj/20260923/66e537874abd4b0baf0ac8e52c0d11ab.html</a:t>
            </a:r>
          </a:p>
          <a:p>
            <a:endParaRPr/>
          </a:p>
          <a:p>
            <a:r>
              <a:t>统计口径以正文和原始报告为准。</a:t>
            </a:r>
          </a:p>
          <a:p>
            <a:endParaRPr/>
          </a:p>
          <a:p>
            <a:r>
              <a:t>地图与统计口径</a:t>
            </a:r>
          </a:p>
          <a:p>
            <a:r>
              <a:t>用户提供的地图.zip，四类HTML内嵌数据，快照2026-10-12。中心七区为黄浦、徐汇、长宁、静安、普陀、虹口、杨浦，不含浦东，也不等同完整规划中心城。仅使用七区内部设施，因此区界附近有边缘效应。分母为OpenStreetMap已标注landuse=residential的居住用地面积85.75580078037885平方公里，不是人口、小区数或完整官方住宅用地面积。</a:t>
            </a:r>
          </a:p>
          <a:p>
            <a:r>
              <a:t>1公里预计算的原始面相交结果：食堂87.48193829834865%、绿地99.32504463710123%、市民健身中心64.3537336960096%、图书馆网点77.01016818720243%。图面100米网格仅作显示。食堂193家、健身中心77点、图书馆117点。绿地517个面要素，不能称为517座公园。</a:t>
            </a:r>
          </a:p>
          <a:p>
            <a:r>
              <a:t>绿地按多边形范围测距，并非入口距离，开放状态未完全核验。其他三类按设施点位测距。未建模路网、围墙、过街、营业时间、收费或容量。四项不可相加或平均为综合生活圈覆盖率。截图仅裁去网页控件和范围外留白，四图保持同一裁切范围、比例、配色和数据，图名及百分比另做可编辑文本。</a:t>
            </a:r>
          </a:p>
          <a:p>
            <a:r>
              <a:t>官方指标另有“社区公共服务设施15分钟步行可达覆盖率”，2024年为88%，2030年95%为规划目标。与本图的单类设施、直线距离、OSM居住用地面积口径不同，不用地图的87.5%或99.3%验证官方88%。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第11页，建议50秒</a:t>
            </a:r>
          </a:p>
          <a:p>
            <a:endParaRPr/>
          </a:p>
          <a:p>
            <a:r>
              <a:t>公共服务的变化还体现在办理方式与居民参与。一网通办让更多过程在线完成，二〇二五年实际网办率接近九成，减少了来回跑动。这个比例与事项能否全程网办不同。泰山人民坊则在建设前通过座谈和问卷征集需要，在方案阶段开展论证，建成后邀请居民评议。居民既能提出问题，也能反馈使用体验。这是一个项目的具体过程，不能代替对全市所有项目的判断。接下来看看在纽约生活的同学怎样评价身边的服务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上海市规划资源局：生活圈与泰山人民坊</a:t>
            </a:r>
          </a:p>
          <a:p>
            <a:r>
              <a:t>https://ghzyj.sh.gov.cn/gzdt/20251224/f5b8e34f5c834200910639b27717dfdf.html</a:t>
            </a:r>
          </a:p>
          <a:p>
            <a:endParaRPr/>
          </a:p>
          <a:p>
            <a:r>
              <a:t>用户提供的资料图：一网通办实际网办率和事项公报摘录</a:t>
            </a:r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用户提供的资料图：泰山人民坊居民参与原文</a:t>
            </a:r>
          </a:p>
          <a:p>
            <a:r>
              <a:t>上海市规划资源局：生活圈与泰山人民坊</a:t>
            </a:r>
          </a:p>
          <a:p>
            <a:r>
              <a:t>https://ghzyj.sh.gov.cn/gzdt/20251224/f5b8e34f5c834200910639b27717dfdf.html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第12页，建议50秒</a:t>
            </a:r>
          </a:p>
          <a:p>
            <a:endParaRPr/>
          </a:p>
          <a:p>
            <a:r>
              <a:t>这位同学对纽约的感受有好有坏。房租虽然与收入较匹配，但比其他城市高，保障房也难获得；住在哪里，又牵动着每天的通勤。公园、图书馆和便宜的休闲去处很多，通常坐地铁或开车到达。不过，夜间出行仍有安全顾虑，配药、康复和慢病管理也不够方便。无障碍和助残条件得到肯定，居家养老却有费用压力。聊到突发困难时，同学反复提到储蓄和商业保险。服务多不多、用起来是否方便、费用能否承担，在日常生活中是几个不同的问题。这些都是个人经历和看法。</a:t>
            </a:r>
          </a:p>
          <a:p>
            <a:endParaRPr/>
          </a:p>
          <a:p>
            <a:r>
              <a:t>数据与引用来源</a:t>
            </a:r>
          </a:p>
          <a:p>
            <a:r>
              <a:t>本页为基于前文证据的分析与归纳。</a:t>
            </a:r>
          </a:p>
          <a:p>
            <a:endParaRPr/>
          </a:p>
          <a:p>
            <a:r>
              <a:t>统计口径以正文和原始报告为准。</a:t>
            </a:r>
          </a:p>
          <a:p>
            <a:endParaRPr/>
          </a:p>
          <a:p>
            <a:r>
              <a:t>访谈来源</a:t>
            </a:r>
          </a:p>
          <a:p>
            <a:r>
              <a:t>原始微信聊天：C:/Users/13816/Desktop/微信图片_2026-10-14_225120_217.jpg</a:t>
            </a:r>
          </a:p>
          <a:p>
            <a:r>
              <a:t>文字整理：C:/Users/13816/Desktop/城市生活体验访谈记录_2026年10月10日.docx</a:t>
            </a:r>
          </a:p>
          <a:p>
            <a:r>
              <a:t>左侧引语根据整理记录摘录，手动换行只用于排版。住房引语保留租金与收入较匹配和租金偏高两面，公共空间引语截取连续片段。原始回答定位为住房20:34:33、通勤20:35:38、公共空间20:44:09、应急生活保障20:46:18。右侧另涉及心理健康20:37:05、养老助残20:42:49及无障碍设施20:45:34。</a:t>
            </a:r>
          </a:p>
          <a:p>
            <a:r>
              <a:t>访谈日期为2026年10月10日，微信交流。纽约身份依据项目上下文，未披露居住区、居住年限、年龄或职业。以上是个人经历和看法，不能代替全市统计。地铁或驾车可达不等于十五分钟步行可达，个人重视储蓄和保险也不能说明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第13页，建议1分20秒</a:t>
            </a:r>
          </a:p>
          <a:p>
            <a:endParaRPr/>
          </a:p>
          <a:p>
            <a:r>
              <a:t>现在从三个层次归纳比较结果。基础保障方面，吃，平台估计提供采购负担线索，社区助餐回应特定人群；穿，名义消费记录有差异，实际生活选择仍需匹配资料。住，上海有住房支持与旧房改善，纽约租金负担和供应紧张突出；行，上海持续建设并提供优惠，两城使用规模都很大。民生福祉方面，上海部分健康安全记录较低，师资配置量级接近，公共文化各有实践。底层关怀方面，上海有多种措施，纽约庇护规模大，稳定住房仍有压力。观察背后都有下一步问题：采购负担是否代表普通家庭，住房政策是否减轻租金压力，服务是否真正可达，平均配置是否掩盖地区差异，救助是否带来稳定生活。资料不足以形成可靠总评分，但能够识别具体成果与缺口。比较的价值，是把大的理念拆成能够继续检验的生活问题。</a:t>
            </a:r>
          </a:p>
          <a:p>
            <a:endParaRPr/>
          </a:p>
          <a:p>
            <a:r>
              <a:t>数据与引用来源</a:t>
            </a:r>
          </a:p>
          <a:p>
            <a:r>
              <a:t>Wise 纽约生活成本，附件读取于2026-10-10</a:t>
            </a:r>
          </a:p>
          <a:p>
            <a:r>
              <a:t>https://wise.com/zh-cn/cost-of-living/united-states/new-york-ny</a:t>
            </a:r>
          </a:p>
          <a:p>
            <a:endParaRPr/>
          </a:p>
          <a:p>
            <a:r>
              <a:t>Wise 上海生活成本，附件读取于2026-10-10</a:t>
            </a:r>
          </a:p>
          <a:p>
            <a:r>
              <a:t>https://wise.com/zh-cn/cost-of-living/china/shanghai</a:t>
            </a:r>
          </a:p>
          <a:p>
            <a:endParaRPr/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NYC Rent Guidelines Board，2026 Income &amp; Affordability，引用2024 ACS</a:t>
            </a:r>
          </a:p>
          <a:p>
            <a:r>
              <a:t>https://rentguidelinesboard.cityofnewyork.us/wp-content/uploads/2026/04/2026-IA-Presentation.pdf</a:t>
            </a:r>
          </a:p>
          <a:p>
            <a:endParaRPr/>
          </a:p>
          <a:p>
            <a:r>
              <a:t>上海市卫健委，2025年卫生健康统计数据</a:t>
            </a:r>
          </a:p>
          <a:p>
            <a:r>
              <a:t>https://wsjkw.sh.gov.cn/tjsj2/20260730/7154e5b1603642a8a3c7c0b2b8b3b149.html</a:t>
            </a:r>
          </a:p>
          <a:p>
            <a:endParaRPr/>
          </a:p>
          <a:p>
            <a:r>
              <a:t>NYC DOHMH，Summary of Vital Statistics 2023</a:t>
            </a:r>
          </a:p>
          <a:p>
            <a:r>
              <a:t>https://www.nyc.gov/assets/doh/downloads/pdf/vs/2023sum.pdf</a:t>
            </a:r>
          </a:p>
          <a:p>
            <a:endParaRPr/>
          </a:p>
          <a:p>
            <a:r>
              <a:t>上海统计年鉴2025，表23.3（2024年立案）</a:t>
            </a:r>
          </a:p>
          <a:p>
            <a:r>
              <a:t>https://tjj.sh.gov.cn/tjnj/2025tjnj/C2303.htm</a:t>
            </a:r>
          </a:p>
          <a:p>
            <a:endParaRPr/>
          </a:p>
          <a:p>
            <a:r>
              <a:t>NYPD，2025年全年案件统计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NYSED，2024–25 Student and Educator Report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NYC DCLA，FY2026 CDF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endParaRPr/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第14页，建议1分20秒</a:t>
            </a:r>
          </a:p>
          <a:p>
            <a:endParaRPr/>
          </a:p>
          <a:p>
            <a:r>
              <a:t>回到开头，纽约能叫人民城市吗？这个理念在我国有特定背景，我们不能仅凭几组数据，给另一座城市颁发或取消称号。看面向普通居民的服务，纽约有相通的部分：公共图书馆和文化补贴降低参与门槛，庇护回应紧急困难，开放数据让居民观察城市运行，都值得肯定。但住房负担、稳定居住和公厕开放时间，也显示基本生活问题仍需改善。因此可以说，纽约具有理念的部分特征，现有证据不足以认定全面实现。现代化和名义收入是背景，居民能否方便、公平地使用服务，才是落点。上海的厕所革命和社区化服务，也要接受体验与成效检验。比较不能扩大成两个国家的整体比较：纽约不等于全部美国，上海不等于全部中国。我们得到的是可以互相学习、继续改进的具体方向。</a:t>
            </a:r>
          </a:p>
          <a:p>
            <a:endParaRPr/>
          </a:p>
          <a:p>
            <a:r>
              <a:t>数据与引用来源</a:t>
            </a:r>
          </a:p>
          <a:p>
            <a:r>
              <a:t>New York Public Library，Locations</a:t>
            </a:r>
          </a:p>
          <a:p>
            <a:r>
              <a:t>https://www.nypl.org/about/locations</a:t>
            </a:r>
          </a:p>
          <a:p>
            <a:endParaRPr/>
          </a:p>
          <a:p>
            <a:r>
              <a:t>NYC DCLA，FY2026 CDF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endParaRPr/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endParaRPr/>
          </a:p>
          <a:p>
            <a:r>
              <a:t>NYC Open Data：What is Open Data?</a:t>
            </a:r>
          </a:p>
          <a:p>
            <a:r>
              <a:t>https://www.nyc.gov/opendata/get-started/what-is-open-data-</a:t>
            </a:r>
          </a:p>
          <a:p>
            <a:endParaRPr/>
          </a:p>
          <a:p>
            <a:r>
              <a:t>NYC Rent Guidelines Board，2026 Income &amp; Affordability，引用2024 ACS</a:t>
            </a:r>
          </a:p>
          <a:p>
            <a:r>
              <a:t>https://rentguidelinesboard.cityofnewyork.us/wp-content/uploads/2026/04/2026-IA-Presentation.pdf</a:t>
            </a:r>
          </a:p>
          <a:p>
            <a:endParaRPr/>
          </a:p>
          <a:p>
            <a:r>
              <a:t>纽约市议会公共厕所分析</a:t>
            </a:r>
          </a:p>
          <a:p>
            <a:r>
              <a:t>https://council.nyc.gov/data/public-restroom-analysis/</a:t>
            </a:r>
          </a:p>
          <a:p>
            <a:endParaRPr/>
          </a:p>
          <a:p>
            <a:r>
              <a:t>图片 library：Nan Palmero / Wikimedia Commons · CC BY 2.0</a:t>
            </a:r>
          </a:p>
          <a:p>
            <a:r>
              <a:t>https://commons.wikimedia.org/wiki/File:New_York_Public_Library_Rose_Reading_Room_(40430028925).jpg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第15页，建议1分30秒</a:t>
            </a:r>
          </a:p>
          <a:p>
            <a:endParaRPr/>
          </a:p>
          <a:p>
            <a:r>
              <a:t>最后看数据透明和人民参与的关系。如果居民只知道筹措多少套房，却不知道租金负担是否降低，就难判断政策结果。如果只知道有救助，却不了解多少人仍处于不稳定生活，也难提出具体反馈。纽约的官方介绍强调，政府数据原则上默认公开，没有公开需要相应理由，由开放数据协调员推进。住房与庇护统计，让生活问题能被持续观察。上海已有年鉴、公报和公共数据平台，公开了许多建设和服务信息。公厕接口截图则显示有条件开放，需要申请；本次资料尚未找到部分匹配的租金负担、露宿等指标。我们说这次资料尚未找到，不能把一张首页当成从未公开的证明。透明也不是比较谁的数据集更多。重要的是居民关心的结果能否查到，定义是否清楚，更新是否持续，能否看懂。公开可理解的数据，居民才能把感受转成具体问题，提出反馈，参与改善。数据不会自动解决住房和救助问题，但可以让讨论更有依据。</a:t>
            </a:r>
          </a:p>
          <a:p>
            <a:endParaRPr/>
          </a:p>
          <a:p>
            <a:r>
              <a:t>数据与引用来源</a:t>
            </a:r>
          </a:p>
          <a:p>
            <a:r>
              <a:t>NYC Open Data：What is Open Data?</a:t>
            </a:r>
          </a:p>
          <a:p>
            <a:r>
              <a:t>https://www.nyc.gov/opendata/get-started/what-is-open-data-</a:t>
            </a:r>
          </a:p>
          <a:p>
            <a:endParaRPr/>
          </a:p>
          <a:p>
            <a:r>
              <a:t>上海市公共数据开放平台，城市设施-公共厕所接口，截图2026-10-10</a:t>
            </a:r>
          </a:p>
          <a:p>
            <a:r>
              <a:t>https://data.sh.gov.cn/</a:t>
            </a:r>
          </a:p>
          <a:p>
            <a:endParaRPr/>
          </a:p>
          <a:p>
            <a:r>
              <a:t>上海市统计局，统计年鉴目录</a:t>
            </a:r>
          </a:p>
          <a:p>
            <a:r>
              <a:t>https://tjj.sh.gov.cn/tjnj/index.html</a:t>
            </a:r>
          </a:p>
          <a:p>
            <a:endParaRPr/>
          </a:p>
          <a:p>
            <a:r>
              <a:t>上海市公共数据开放平台</a:t>
            </a:r>
          </a:p>
          <a:p>
            <a:r>
              <a:t>https://data.sh.gov.cn/</a:t>
            </a:r>
          </a:p>
          <a:p>
            <a:endParaRPr/>
          </a:p>
          <a:p>
            <a:r>
              <a:t>NYC Rent Guidelines Board，2026 Income &amp; Affordability，引用2024 ACS</a:t>
            </a:r>
          </a:p>
          <a:p>
            <a:r>
              <a:t>https://rentguidelinesboard.cityofnewyork.us/wp-content/uploads/2026/04/2026-IA-Presentation.pdf</a:t>
            </a:r>
          </a:p>
          <a:p>
            <a:endParaRPr/>
          </a:p>
          <a:p>
            <a:r>
              <a:t>NYC DHS，FY2026 Data Dashboard，表内截至2026年3月</a:t>
            </a:r>
          </a:p>
          <a:p>
            <a:r>
              <a:t>https://www.nyc.gov/assets/dhs/downloads/pdf/dashboard/tables/FY26-DHS-Data-Dashboard-Data.pdf</a:t>
            </a:r>
          </a:p>
          <a:p>
            <a:endParaRPr/>
          </a:p>
          <a:p>
            <a:r>
              <a:t>上海市规划资源局：生活圈与泰山人民坊</a:t>
            </a:r>
          </a:p>
          <a:p>
            <a:r>
              <a:t>https://ghzyj.sh.gov.cn/gzdt/20251224/f5b8e34f5c834200910639b27717dfdf.html</a:t>
            </a:r>
          </a:p>
          <a:p>
            <a:endParaRPr/>
          </a:p>
          <a:p>
            <a:r>
              <a:t>用户提供的资料图：纽约开放数据法默认公开原文</a:t>
            </a:r>
          </a:p>
          <a:p>
            <a:r>
              <a:t>NYC Open Data：What is Open Data?</a:t>
            </a:r>
          </a:p>
          <a:p>
            <a:r>
              <a:t>https://www.nyc.gov/opendata/get-started/what-is-open-data-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用户提供的资料图：上海公共厕所接口有条件开放</a:t>
            </a:r>
          </a:p>
          <a:p>
            <a:r>
              <a:t>上海市公共数据开放平台，城市设施-公共厕所接口，截图2026-10-10</a:t>
            </a:r>
          </a:p>
          <a:p>
            <a:r>
              <a:t>https://data.sh.gov.cn/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用户提供的资料图：向业务部门申请的开放条件</a:t>
            </a:r>
          </a:p>
          <a:p>
            <a:r>
              <a:t>上海市公共数据开放平台，城市设施-公共厕所接口，截图2026-10-10</a:t>
            </a:r>
          </a:p>
          <a:p>
            <a:r>
              <a:t>https://data.sh.gov.cn/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第16页，建议30秒</a:t>
            </a:r>
          </a:p>
          <a:p>
            <a:endParaRPr/>
          </a:p>
          <a:p>
            <a:r>
              <a:t>回到开头的一间厕所，人民城市需要回应普通人的具体困难。从更好用的设施，到家门口的服务；从更方便办事，到更有依据参与，城市现代化的成果都要落实到日常生活。上海的实践提供了具体方向，也需要居民持续评价和改进。人民城市人民建，人民城市为人民。谢谢大家。</a:t>
            </a:r>
          </a:p>
          <a:p>
            <a:endParaRPr/>
          </a:p>
          <a:p>
            <a:r>
              <a:t>数据与引用来源</a:t>
            </a:r>
          </a:p>
          <a:p>
            <a:r>
              <a:t>本页为基于前文证据的分析与归纳。</a:t>
            </a:r>
          </a:p>
          <a:p>
            <a:endParaRPr/>
          </a:p>
          <a:p>
            <a:r>
              <a:t>图片 closing：上海市规划和自然资源局转载新民晚报 · 2025-04-29</a:t>
            </a:r>
          </a:p>
          <a:p>
            <a:r>
              <a:t>https://ghzyj.sh.gov.cn/gzdt/20250527/b3c052d03b8943629a5c4f1a1450d198.html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第17页，建议隐藏备份，按提问选讲</a:t>
            </a:r>
          </a:p>
          <a:p>
            <a:endParaRPr/>
          </a:p>
          <a:p>
            <a:r>
              <a:t>这页用于解释比较边界。上海全市与纽约市五区是主要治理对象；纽约州或都会区资料不能自动当作纽约市结果。上海二〇二〇年的自有住房比例来自家庭户住房来源，不含集体户；纽约二〇二三年HVS的自有住房比例来自另一调查。它们都不是租金负担指标，因此正文不根据住房自有率单独判胜负。收入资料同时混合了均值和中位数、税前收入和可支配收入、户与人，不能形成精确票价折算系数。轨交人口折算包含非居民出行。上海公厕接口的八千三百二十五是记录条数，还存在数据清洗问题，不能当成经核实的全市总量。</a:t>
            </a:r>
          </a:p>
          <a:p>
            <a:endParaRPr/>
          </a:p>
          <a:p>
            <a:r>
              <a:t>数据与引用来源</a:t>
            </a:r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endParaRPr/>
          </a:p>
          <a:p>
            <a:r>
              <a:t>上海2020人口普查年鉴，表9-4</a:t>
            </a:r>
          </a:p>
          <a:p>
            <a:r>
              <a:t>https://tjj.sh.gov.cn/tjnj/2020rktjnj/BNJc-9-4.jpg</a:t>
            </a:r>
          </a:p>
          <a:p>
            <a:endParaRPr/>
          </a:p>
          <a:p>
            <a:r>
              <a:t>NYC HPD，2023 HVS</a:t>
            </a:r>
          </a:p>
          <a:p>
            <a:r>
              <a:t>https://www.nyc.gov/assets/hpd/downloads/pdfs/about/2023%20NYCHVS%20Selected%20Initial%20Findings.pdf</a:t>
            </a:r>
          </a:p>
          <a:p>
            <a:endParaRPr/>
          </a:p>
          <a:p>
            <a:r>
              <a:t>Wise 纽约生活成本，附件读取于2026-10-10</a:t>
            </a:r>
          </a:p>
          <a:p>
            <a:r>
              <a:t>https://wise.com/zh-cn/cost-of-living/united-states/new-york-ny</a:t>
            </a:r>
          </a:p>
          <a:p>
            <a:endParaRPr/>
          </a:p>
          <a:p>
            <a:r>
              <a:t>Wise 上海生活成本，附件读取于2026-10-10</a:t>
            </a:r>
          </a:p>
          <a:p>
            <a:r>
              <a:t>https://wise.com/zh-cn/cost-of-living/china/shanghai</a:t>
            </a:r>
          </a:p>
          <a:p>
            <a:endParaRPr/>
          </a:p>
          <a:p>
            <a:r>
              <a:t>BEA SAPCE，纽约州2025年PCE</a:t>
            </a:r>
          </a:p>
          <a:p>
            <a:r>
              <a:t>https://apps.bea.gov/regional/zip/SAPCE.zip</a:t>
            </a:r>
          </a:p>
          <a:p>
            <a:endParaRPr/>
          </a:p>
          <a:p>
            <a:r>
              <a:t>用户提供的资料图：HUD分类列名原文</a:t>
            </a:r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用户提供的资料图：HUD无家可归总计行原文</a:t>
            </a:r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第18页，建议隐藏备份，按提问选讲</a:t>
            </a:r>
          </a:p>
          <a:p>
            <a:endParaRPr/>
          </a:p>
          <a:p>
            <a:r>
              <a:t>这页补充民生福祉四项指标的适用范围。健康指标需要匹配年份与人群，孕产妇死亡统计还涉及死亡原因、时间范围等定义。治安比较采用具体案件记录，一边是杀人案立案，一边是谋杀案件，不能推断全部安全水平的倍率。教育生师比不等于班额或教学质量，学校范围不同，平均值也会掩盖地区差异。文化发展基金百分之九十六的分母是获资助机构；它不是所有纽约文化项目的免费率。生活圈地图按直线距离和OSM已标注居住用地面积计算，不能当作官方十五分钟步行可达覆盖率。采访反映一位同学的具体经历，不代表全部纽约居民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上海市卫健委，2025年卫生健康统计数据</a:t>
            </a:r>
          </a:p>
          <a:p>
            <a:r>
              <a:t>https://wsjkw.sh.gov.cn/tjsj2/20260730/7154e5b1603642a8a3c7c0b2b8b3b149.html</a:t>
            </a:r>
          </a:p>
          <a:p>
            <a:endParaRPr/>
          </a:p>
          <a:p>
            <a:r>
              <a:t>NYC DOHMH，Summary of Vital Statistics 2023</a:t>
            </a:r>
          </a:p>
          <a:p>
            <a:r>
              <a:t>https://www.nyc.gov/assets/doh/downloads/pdf/vs/2023sum.pdf</a:t>
            </a:r>
          </a:p>
          <a:p>
            <a:endParaRPr/>
          </a:p>
          <a:p>
            <a:r>
              <a:t>上海统计年鉴2025，表23.3（2024年立案）</a:t>
            </a:r>
          </a:p>
          <a:p>
            <a:r>
              <a:t>https://tjj.sh.gov.cn/tjnj/2025tjnj/C2303.htm</a:t>
            </a:r>
          </a:p>
          <a:p>
            <a:endParaRPr/>
          </a:p>
          <a:p>
            <a:r>
              <a:t>NYPD，2025年全年案件统计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上海统计年鉴2025，表20.15（小学）</a:t>
            </a:r>
          </a:p>
          <a:p>
            <a:r>
              <a:t>https://tjj.sh.gov.cn/tjnj/2025tjnj/C2015.htm</a:t>
            </a:r>
          </a:p>
          <a:p>
            <a:endParaRPr/>
          </a:p>
          <a:p>
            <a:r>
              <a:t>上海统计年鉴2025，表20.13（普通中学）</a:t>
            </a:r>
          </a:p>
          <a:p>
            <a:r>
              <a:t>https://tjj.sh.gov.cn/tjnj/2025tjnj/C2013.htm</a:t>
            </a:r>
          </a:p>
          <a:p>
            <a:endParaRPr/>
          </a:p>
          <a:p>
            <a:r>
              <a:t>NYSED，2024–25 Student and Educator Report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NYC DCLA，FY2026 CDF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endParaRPr/>
          </a:p>
          <a:p>
            <a:r>
              <a:t>用户提供的资料图：上海婴儿死亡率原文</a:t>
            </a:r>
          </a:p>
          <a:p>
            <a:r>
              <a:t>上海市卫健委，2025年卫生健康统计数据</a:t>
            </a:r>
          </a:p>
          <a:p>
            <a:r>
              <a:t>https://wsjkw.sh.gov.cn/tjsj2/20260730/7154e5b1603642a8a3c7c0b2b8b3b149.html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用户提供的资料图：NYPD2025年305起谋杀原文</a:t>
            </a:r>
          </a:p>
          <a:p>
            <a:r>
              <a:t>NYPD，2025年全年案件统计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截图采集于2026-10-10。黑色标框为采集者添加，非原网页组成部分。裁切仅去除无关区域，未改动原始文字和数值。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第19页，建议隐藏备份，按提问选讲</a:t>
            </a:r>
          </a:p>
          <a:p>
            <a:endParaRPr/>
          </a:p>
          <a:p>
            <a:r>
              <a:t>每页页脚给出简短来源，完整链接与口径说明保存在对应讲者备注。第十页加入四类服务地图，数据快照为二〇二六年十月十二日，来源包括养老服务、公共体育设施、图书馆平台及OpenStreetMap。第十一页保留一网通办与泰山人民坊居民参与案例，第十二页为微信文字访谈。统计原文截片采集于二〇二六年十月十日，黑框为采集者添加。商业估计、计算值和官方发布值均在对应位置区分。</a:t>
            </a:r>
          </a:p>
          <a:p>
            <a:endParaRPr/>
          </a:p>
          <a:p>
            <a:r>
              <a:t>数据与引用来源</a:t>
            </a:r>
          </a:p>
          <a:p>
            <a:r>
              <a:t>上海市绿化市容局，2026-04-01</a:t>
            </a:r>
          </a:p>
          <a:p>
            <a:r>
              <a:t>https://lhsr.sh.gov.cn/ywdt/20260401/00d7c161-8280-490c-a0da-d6c995e85058.html</a:t>
            </a:r>
          </a:p>
          <a:p>
            <a:endParaRPr/>
          </a:p>
          <a:p>
            <a:r>
              <a:t>上海市绿化市容局，2025-12-04</a:t>
            </a:r>
          </a:p>
          <a:p>
            <a:r>
              <a:t>https://lhsr.sh.gov.cn/ywdt/20251204/b016509f-60a6-46cd-83fa-fdab372175c7.html</a:t>
            </a:r>
          </a:p>
          <a:p>
            <a:endParaRPr/>
          </a:p>
          <a:p>
            <a:r>
              <a:t>上海市绿化市容局，2026-04-28</a:t>
            </a:r>
          </a:p>
          <a:p>
            <a:r>
              <a:t>https://lhsr.sh.gov.cn/ywdt/20260428/e5fc7284-f42f-46e7-b96c-7da89b614f7e.html</a:t>
            </a:r>
          </a:p>
          <a:p>
            <a:endParaRPr/>
          </a:p>
          <a:p>
            <a:r>
              <a:t>上海市统计局《2025年统计公报》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上海市规划资源局：生活圈与泰山人民坊</a:t>
            </a:r>
          </a:p>
          <a:p>
            <a:r>
              <a:t>https://ghzyj.sh.gov.cn/gzdt/20251224/f5b8e34f5c834200910639b27717dfdf.html</a:t>
            </a:r>
          </a:p>
          <a:p>
            <a:endParaRPr/>
          </a:p>
          <a:p>
            <a:r>
              <a:t>Wise 纽约生活成本，附件读取于2026-10-10</a:t>
            </a:r>
          </a:p>
          <a:p>
            <a:r>
              <a:t>https://wise.com/zh-cn/cost-of-living/united-states/new-york-ny</a:t>
            </a:r>
          </a:p>
          <a:p>
            <a:endParaRPr/>
          </a:p>
          <a:p>
            <a:r>
              <a:t>Wise 上海生活成本，附件读取于2026-10-10</a:t>
            </a:r>
          </a:p>
          <a:p>
            <a:r>
              <a:t>https://wise.com/zh-cn/cost-of-living/china/shanghai</a:t>
            </a:r>
          </a:p>
          <a:p>
            <a:endParaRPr/>
          </a:p>
          <a:p>
            <a:r>
              <a:t>BEA SAPCE，纽约州2025年PCE</a:t>
            </a:r>
          </a:p>
          <a:p>
            <a:r>
              <a:t>https://apps.bea.gov/regional/zip/SAPCE.zip</a:t>
            </a:r>
          </a:p>
          <a:p>
            <a:endParaRPr/>
          </a:p>
          <a:p>
            <a:r>
              <a:t>上海统计年鉴2025，表9.13（2024年）</a:t>
            </a:r>
          </a:p>
          <a:p>
            <a:r>
              <a:t>https://tjj.sh.gov.cn/tjnj/2025tjnj/C0913.htm</a:t>
            </a:r>
          </a:p>
          <a:p>
            <a:endParaRPr/>
          </a:p>
          <a:p>
            <a:r>
              <a:t>NYC Rent Guidelines Board，2026 Income &amp; Affordability，引用2024 ACS</a:t>
            </a:r>
          </a:p>
          <a:p>
            <a:r>
              <a:t>https://rentguidelinesboard.cityofnewyork.us/wp-content/uploads/2026/04/2026-IA-Presentation.pdf</a:t>
            </a:r>
          </a:p>
          <a:p>
            <a:endParaRPr/>
          </a:p>
          <a:p>
            <a:r>
              <a:t>上海地铁票务优惠</a:t>
            </a:r>
          </a:p>
          <a:p>
            <a:r>
              <a:t>https://service.shmetro.com/pwyh/index.htm</a:t>
            </a:r>
          </a:p>
          <a:p>
            <a:endParaRPr/>
          </a:p>
          <a:p>
            <a:r>
              <a:t>Office of Governor Hochul / MTA：2025年全年表现与客流联合公告</a:t>
            </a:r>
          </a:p>
          <a:p>
            <a:r>
              <a:t>https://www.governor.ny.gov/news/governor-hochul-highlights-record-breaking-year-performance-and-ridership-mta-2025</a:t>
            </a:r>
          </a:p>
          <a:p>
            <a:endParaRPr/>
          </a:p>
          <a:p>
            <a:r>
              <a:t>上海市卫健委，2025年卫生健康统计数据</a:t>
            </a:r>
          </a:p>
          <a:p>
            <a:r>
              <a:t>https://wsjkw.sh.gov.cn/tjsj2/20260730/7154e5b1603642a8a3c7c0b2b8b3b149.html</a:t>
            </a:r>
          </a:p>
          <a:p>
            <a:endParaRPr/>
          </a:p>
          <a:p>
            <a:r>
              <a:t>NYC DOHMH，Summary of Vital Statistics 2023</a:t>
            </a:r>
          </a:p>
          <a:p>
            <a:r>
              <a:t>https://www.nyc.gov/assets/doh/downloads/pdf/vs/2023sum.pdf</a:t>
            </a:r>
          </a:p>
          <a:p>
            <a:endParaRPr/>
          </a:p>
          <a:p>
            <a:r>
              <a:t>上海统计年鉴2025，表23.3（2024年立案）</a:t>
            </a:r>
          </a:p>
          <a:p>
            <a:r>
              <a:t>https://tjj.sh.gov.cn/tjnj/2025tjnj/C2303.htm</a:t>
            </a:r>
          </a:p>
          <a:p>
            <a:endParaRPr/>
          </a:p>
          <a:p>
            <a:r>
              <a:t>NYPD，2025年全年案件统计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上海统计年鉴2025，表20.15（小学）</a:t>
            </a:r>
          </a:p>
          <a:p>
            <a:r>
              <a:t>https://tjj.sh.gov.cn/tjnj/2025tjnj/C2015.htm</a:t>
            </a:r>
          </a:p>
          <a:p>
            <a:endParaRPr/>
          </a:p>
          <a:p>
            <a:r>
              <a:t>上海统计年鉴2025，表20.13（普通中学）</a:t>
            </a:r>
          </a:p>
          <a:p>
            <a:r>
              <a:t>https://tjj.sh.gov.cn/tjnj/2025tjnj/C2013.htm</a:t>
            </a:r>
          </a:p>
          <a:p>
            <a:endParaRPr/>
          </a:p>
          <a:p>
            <a:r>
              <a:t>NYSED，2024–25 Student and Educator Report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NYC DCLA，FY2026 CDF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endParaRPr/>
          </a:p>
          <a:p>
            <a:r>
              <a:t>HUD，2025年纽约市NY-600一夜点数</a:t>
            </a:r>
          </a:p>
          <a:p>
            <a:r>
              <a:t>https://files.hudexchange.info/reports/published/CoC_PopSub_CoC_NY-600-2025_NY_2025.pdf</a:t>
            </a:r>
          </a:p>
          <a:p>
            <a:endParaRPr/>
          </a:p>
          <a:p>
            <a:r>
              <a:t>上海市民政局，2026年低保标准</a:t>
            </a:r>
          </a:p>
          <a:p>
            <a:r>
              <a:t>https://mzj.sh.gov.cn/MZ_zhuzhan277_0-2-8-15-55-229/20260702/d95374094d6041a19b2591fd241126cb.html</a:t>
            </a:r>
          </a:p>
          <a:p>
            <a:endParaRPr/>
          </a:p>
          <a:p>
            <a:r>
              <a:t>NYC Open Data：What is Open Data?</a:t>
            </a:r>
          </a:p>
          <a:p>
            <a:r>
              <a:t>https://www.nyc.gov/opendata/get-started/what-is-open-data-</a:t>
            </a:r>
          </a:p>
          <a:p>
            <a:endParaRPr/>
          </a:p>
          <a:p>
            <a:r>
              <a:t>NYC DHS Daily Report</a:t>
            </a:r>
          </a:p>
          <a:p>
            <a:r>
              <a:t>https://data.cityofnewyork.us/Social-Services/DHS-Daily-Report/k46n-sa2m</a:t>
            </a:r>
          </a:p>
          <a:p>
            <a:endParaRPr/>
          </a:p>
          <a:p>
            <a:r>
              <a:t>上海市统计局，统计年鉴目录</a:t>
            </a:r>
          </a:p>
          <a:p>
            <a:r>
              <a:t>https://tjj.sh.gov.cn/tjnj/index.html</a:t>
            </a:r>
          </a:p>
          <a:p>
            <a:endParaRPr/>
          </a:p>
          <a:p>
            <a:r>
              <a:t>上海市公共数据开放平台</a:t>
            </a:r>
          </a:p>
          <a:p>
            <a:r>
              <a:t>https://data.sh.gov.cn/</a:t>
            </a:r>
          </a:p>
          <a:p>
            <a:endParaRPr/>
          </a:p>
          <a:p>
            <a:r>
              <a:t>纽约市议会公共厕所分析</a:t>
            </a:r>
          </a:p>
          <a:p>
            <a:r>
              <a:t>https://council.nyc.gov/data/public-restroom-analysis/</a:t>
            </a:r>
          </a:p>
          <a:p>
            <a:endParaRPr/>
          </a:p>
          <a:p>
            <a:r>
              <a:t>上海2020人口普查年鉴，表9-4</a:t>
            </a:r>
          </a:p>
          <a:p>
            <a:r>
              <a:t>https://tjj.sh.gov.cn/tjnj/2020rktjnj/BNJc-9-4.jpg</a:t>
            </a:r>
          </a:p>
          <a:p>
            <a:endParaRPr/>
          </a:p>
          <a:p>
            <a:r>
              <a:t>NYC HPD，2023 HVS</a:t>
            </a:r>
          </a:p>
          <a:p>
            <a:r>
              <a:t>https://www.nyc.gov/assets/hpd/downloads/pdfs/about/2023%20NYCHVS%20Selected%20Initial%20Findings.pdf</a:t>
            </a:r>
          </a:p>
          <a:p>
            <a:endParaRPr/>
          </a:p>
          <a:p>
            <a:r>
              <a:t>上海养老服务平台、民服务一张图，地图快照2026-10-12</a:t>
            </a:r>
          </a:p>
          <a:p>
            <a:r>
              <a:t>https://shyl.mzj.sh.gov.cn/agencyQuery</a:t>
            </a:r>
          </a:p>
          <a:p>
            <a:r>
              <a:t>https://mzww.mzj.sh.gov.cn/mfwmap/#/civilMap</a:t>
            </a:r>
          </a:p>
          <a:p>
            <a:endParaRPr/>
          </a:p>
          <a:p>
            <a:r>
              <a:t>上海市公共体育设施地图，市民健身中心分类</a:t>
            </a:r>
          </a:p>
          <a:p>
            <a:r>
              <a:t>https://www.shggty.com.cn/facilityMap.html</a:t>
            </a:r>
          </a:p>
          <a:p>
            <a:endParaRPr/>
          </a:p>
          <a:p>
            <a:r>
              <a:t>上海图书馆官方服务网点地图</a:t>
            </a:r>
          </a:p>
          <a:p>
            <a:r>
              <a:t>https://www.library.sh.cn/guide/libraryLocation</a:t>
            </a:r>
          </a:p>
          <a:p>
            <a:endParaRPr/>
          </a:p>
          <a:p>
            <a:r>
              <a:t>OpenStreetMap已标注居住用地、公园类绿地，© OpenStreetMap contributors，ODbL</a:t>
            </a:r>
          </a:p>
          <a:p>
            <a:r>
              <a:t>https://www.openstreetmap.org/copyright</a:t>
            </a:r>
          </a:p>
          <a:p>
            <a:endParaRPr/>
          </a:p>
          <a:p>
            <a:r>
              <a:t>上海市公共服务发展十五五规划，专栏1及2024年脚注</a:t>
            </a:r>
          </a:p>
          <a:p>
            <a:r>
              <a:t>https://www.shanghai.gov.cn/202618zfwj/20260923/66e537874abd4b0baf0ac8e52c0d11ab.html</a:t>
            </a:r>
          </a:p>
          <a:p>
            <a:endParaRPr/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>
            <a:endParaRPr/>
          </a:p>
          <a:p>
            <a:r>
              <a:t>New York Public Library，Locations</a:t>
            </a:r>
          </a:p>
          <a:p>
            <a:r>
              <a:t>https://www.nypl.org/about/locations</a:t>
            </a:r>
          </a:p>
          <a:p>
            <a:endParaRPr/>
          </a:p>
          <a:p>
            <a:r>
              <a:t>上海市规划资源局转载新民晚报，2025-05-27</a:t>
            </a:r>
          </a:p>
          <a:p>
            <a:r>
              <a:t>https://ghzyj.sh.gov.cn/gzdt/20250527/b3c052d03b8943629a5c4f1a1450d198.html</a:t>
            </a:r>
          </a:p>
          <a:p>
            <a:endParaRPr/>
          </a:p>
          <a:p>
            <a:r>
              <a:t>上海市公共数据开放平台，城市设施-公共厕所接口，截图2026-10-10</a:t>
            </a:r>
          </a:p>
          <a:p>
            <a:r>
              <a:t>https://data.sh.gov.cn/</a:t>
            </a:r>
          </a:p>
          <a:p>
            <a:endParaRPr/>
          </a:p>
          <a:p>
            <a:r>
              <a:t>NYC DHS，FY2026 Data Dashboard，表内截至2026年3月</a:t>
            </a:r>
          </a:p>
          <a:p>
            <a:r>
              <a:t>https://www.nyc.gov/assets/dhs/downloads/pdf/dashboard/tables/FY26-DHS-Data-Dashboard-Data.pdf</a:t>
            </a:r>
          </a:p>
          <a:p>
            <a:endParaRPr/>
          </a:p>
          <a:p>
            <a:r>
              <a:t>NYC311，Subway and Bus Fares</a:t>
            </a:r>
          </a:p>
          <a:p>
            <a:r>
              <a:t>https://portal.311.nyc.gov/article/?kanumber=KA-01014</a:t>
            </a:r>
          </a:p>
          <a:p>
            <a:endParaRPr/>
          </a:p>
          <a:p>
            <a:r>
              <a:t>统计口径以正文和原始报告为准。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EF8A8FD-DA73-4AF9-A06C-2956905D6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F4A10924-1F38-4FDB-B1B6-2DB10D6BE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F39894C-5FF9-4E80-91F8-6E41AD5DE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A6CED93-D540-4B6B-ACFA-56391DB93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54994B3-EDA9-41F8-9012-1697D66CE1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AABAB33-CDC6-48DC-B5CA-8B6DF2CE7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6406A9E-887E-4A35-8A68-31877722C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4FBE8F6-5DEB-4EF6-A560-031A9CFD7C6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63A412B-6734-44FF-906F-9838B9ECB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93E5C80-17F2-41CC-AC92-C0E4FAD5D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chart" Target="../charts/char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5FF8D464-BC4E-4F5C-8041-97E950100D8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核心表述出处：新华社，2019年11月3日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622C71F2-7FB8-4C84-B7C2-FDF3DAF05AA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1D55E23-BD07-4316-B218-79D21EDCB1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text-1">
            <a:extLst>
              <a:ext uri="{FF2B5EF4-FFF2-40B4-BE49-F238E27FC236}">
                <a16:creationId xmlns:a16="http://schemas.microsoft.com/office/drawing/2014/main" id="{0730EAC2-3836-43E6-8A2C-72769990F49F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62865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人民城市的</a:t>
            </a:r>
          </a:p>
          <a:p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上海实践</a:t>
            </a:r>
          </a:p>
        </p:txBody>
      </p:sp>
      <p:sp>
        <p:nvSpPr>
          <p:cNvPr id="5" name="text-2">
            <a:extLst>
              <a:ext uri="{FF2B5EF4-FFF2-40B4-BE49-F238E27FC236}">
                <a16:creationId xmlns:a16="http://schemas.microsoft.com/office/drawing/2014/main" id="{03A59A7E-43D0-45F6-9866-5463763E7394}"/>
              </a:ext>
            </a:extLst>
          </p:cNvPr>
          <p:cNvSpPr>
            <a:spLocks noGrp="1"/>
          </p:cNvSpPr>
          <p:nvPr/>
        </p:nvSpPr>
        <p:spPr>
          <a:xfrm>
            <a:off x="628650" y="2724150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CADBD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0">
                <a:solidFill>
                  <a:srgbClr val="CADBD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CADBD5"/>
                </a:solidFill>
                <a:latin typeface="Microsoft YaHei"/>
                <a:ea typeface="Microsoft YaHei"/>
                <a:cs typeface="Microsoft YaHei"/>
              </a:rPr>
              <a:t>以日常生活比较上海与纽约</a:t>
            </a:r>
          </a:p>
        </p:txBody>
      </p:sp>
      <p:sp>
        <p:nvSpPr>
          <p:cNvPr id="6" name="text-3">
            <a:extLst>
              <a:ext uri="{FF2B5EF4-FFF2-40B4-BE49-F238E27FC236}">
                <a16:creationId xmlns:a16="http://schemas.microsoft.com/office/drawing/2014/main" id="{3FB42B16-3C0E-4468-BFF2-A6225CAA2F62}"/>
              </a:ext>
            </a:extLst>
          </p:cNvPr>
          <p:cNvSpPr>
            <a:spLocks noGrp="1"/>
          </p:cNvSpPr>
          <p:nvPr/>
        </p:nvSpPr>
        <p:spPr>
          <a:xfrm>
            <a:off x="609600" y="3667125"/>
            <a:ext cx="6238875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人民城市人民建</a:t>
            </a:r>
          </a:p>
          <a:p>
            <a:pPr algn="l">
              <a:defRPr sz="240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人民城市为人民</a:t>
            </a:r>
          </a:p>
        </p:txBody>
      </p:sp>
      <p:sp>
        <p:nvSpPr>
          <p:cNvPr id="7" name="text-4">
            <a:extLst>
              <a:ext uri="{FF2B5EF4-FFF2-40B4-BE49-F238E27FC236}">
                <a16:creationId xmlns:a16="http://schemas.microsoft.com/office/drawing/2014/main" id="{E497A4E3-2543-40CA-87F3-B36407F73028}"/>
              </a:ext>
            </a:extLst>
          </p:cNvPr>
          <p:cNvSpPr>
            <a:spLocks noGrp="1"/>
          </p:cNvSpPr>
          <p:nvPr/>
        </p:nvSpPr>
        <p:spPr>
          <a:xfrm>
            <a:off x="609600" y="4876800"/>
            <a:ext cx="60198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以人民为中心，让城市建设回应居民需要，</a:t>
            </a:r>
          </a:p>
          <a:p>
            <a:pPr algn="l"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并由人民共同参与建设。</a:t>
            </a:r>
          </a:p>
        </p:txBody>
      </p:sp>
    </p:spTree>
    <p:extLst>
      <p:ext uri="{BB962C8B-B14F-4D97-AF65-F5344CB8AC3E}">
        <p14:creationId xmlns:p14="http://schemas.microsoft.com/office/powerpoint/2010/main" val="612505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68466166-84FA-4F47-8975-C6E373E0CEF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厕所革命：普通人的需求进入城市建设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7E235C5-F7A9-4FD6-95AA-16A75A9E8739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来源：沪绿化市容局2026年4月、2025年12月；纽约市议会公共厕所分析，截图2026-10-10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39B17B9-42CD-4004-9022-33D0DB7FF6C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FAEF884A-E0B5-4339-86FD-78FA0626BBF9}"/>
              </a:ext>
            </a:extLst>
          </p:cNvPr>
          <p:cNvSpPr>
            <a:spLocks noGrp="1"/>
          </p:cNvSpPr>
          <p:nvPr/>
        </p:nvSpPr>
        <p:spPr>
          <a:xfrm>
            <a:off x="609600" y="1209675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在街上突然需要如厕，能否找到、能否使用、何时开放，都影响出门体验。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9872B1EC-EF96-4973-B56D-56BD94E5889A}"/>
              </a:ext>
            </a:extLst>
          </p:cNvPr>
          <p:cNvSpPr>
            <a:spLocks noGrp="1"/>
          </p:cNvSpPr>
          <p:nvPr/>
        </p:nvSpPr>
        <p:spPr>
          <a:xfrm>
            <a:off x="609600" y="1781175"/>
            <a:ext cx="52863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上海：设施改造与开放共享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000A5454-5A7A-405C-A8F0-D63D3A4C813E}"/>
              </a:ext>
            </a:extLst>
          </p:cNvPr>
          <p:cNvSpPr>
            <a:spLocks noGrp="1"/>
          </p:cNvSpPr>
          <p:nvPr/>
        </p:nvSpPr>
        <p:spPr>
          <a:xfrm>
            <a:off x="6191250" y="1781175"/>
            <a:ext cx="5391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纽约：可用数量与开放时间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BE37538-ADC8-4A39-B306-113BE5AFB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325243"/>
            <a:ext cx="2895600" cy="1816989"/>
          </a:xfrm>
          <a:prstGeom prst="rect">
            <a:avLst/>
          </a:prstGeom>
        </p:spPr>
      </p:pic>
      <p:sp>
        <p:nvSpPr>
          <p:cNvPr id="8" name="text-8">
            <a:extLst>
              <a:ext uri="{FF2B5EF4-FFF2-40B4-BE49-F238E27FC236}">
                <a16:creationId xmlns:a16="http://schemas.microsoft.com/office/drawing/2014/main" id="{0B1FC585-AB09-4147-9EDF-1272380E3D94}"/>
              </a:ext>
            </a:extLst>
          </p:cNvPr>
          <p:cNvSpPr>
            <a:spLocks noGrp="1"/>
          </p:cNvSpPr>
          <p:nvPr/>
        </p:nvSpPr>
        <p:spPr>
          <a:xfrm>
            <a:off x="3733800" y="2390775"/>
            <a:ext cx="2133600" cy="866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2,631 座</a:t>
            </a:r>
          </a:p>
          <a:p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适老化适幼化改造</a:t>
            </a:r>
          </a:p>
        </p:txBody>
      </p:sp>
      <p:sp>
        <p:nvSpPr>
          <p:cNvPr id="9" name="text-9">
            <a:extLst>
              <a:ext uri="{FF2B5EF4-FFF2-40B4-BE49-F238E27FC236}">
                <a16:creationId xmlns:a16="http://schemas.microsoft.com/office/drawing/2014/main" id="{17398037-DF13-464B-A148-746A490DEE38}"/>
              </a:ext>
            </a:extLst>
          </p:cNvPr>
          <p:cNvSpPr>
            <a:spLocks noGrp="1"/>
          </p:cNvSpPr>
          <p:nvPr/>
        </p:nvSpPr>
        <p:spPr>
          <a:xfrm>
            <a:off x="3733800" y="3390900"/>
            <a:ext cx="213360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超1,200座</a:t>
            </a:r>
          </a:p>
          <a:p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配建第三卫生间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8462238-0A28-4B11-AF15-85E95AB69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91250" y="2353962"/>
            <a:ext cx="5391150" cy="10928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A2B547F-3216-4CFE-94C8-0877141CB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191250" y="3668129"/>
            <a:ext cx="5391150" cy="1121942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6A9FF60-5C24-4A02-AE8C-D20D014224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4497079"/>
            <a:ext cx="5267325" cy="368918"/>
          </a:xfrm>
          <a:prstGeom prst="rect">
            <a:avLst/>
          </a:prstGeom>
        </p:spPr>
      </p:pic>
      <p:sp>
        <p:nvSpPr>
          <p:cNvPr id="13" name="text-10">
            <a:extLst>
              <a:ext uri="{FF2B5EF4-FFF2-40B4-BE49-F238E27FC236}">
                <a16:creationId xmlns:a16="http://schemas.microsoft.com/office/drawing/2014/main" id="{9F7FBE91-4825-4AFD-9115-42F2CA4C3230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52673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官方原文截片，设施回应照护需要</a:t>
            </a:r>
          </a:p>
        </p:txBody>
      </p:sp>
      <p:sp>
        <p:nvSpPr>
          <p:cNvPr id="14" name="text-11">
            <a:extLst>
              <a:ext uri="{FF2B5EF4-FFF2-40B4-BE49-F238E27FC236}">
                <a16:creationId xmlns:a16="http://schemas.microsoft.com/office/drawing/2014/main" id="{19DA5C26-F06D-4ACC-A662-EAD3A471F882}"/>
              </a:ext>
            </a:extLst>
          </p:cNvPr>
          <p:cNvSpPr>
            <a:spLocks noGrp="1"/>
          </p:cNvSpPr>
          <p:nvPr/>
        </p:nvSpPr>
        <p:spPr>
          <a:xfrm>
            <a:off x="6191250" y="5010150"/>
            <a:ext cx="53911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开放时段也影响老人、照护者</a:t>
            </a:r>
          </a:p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和户外劳动者能否方便如厕。</a:t>
            </a:r>
          </a:p>
        </p:txBody>
      </p:sp>
      <p:sp>
        <p:nvSpPr>
          <p:cNvPr id="15" name="text-12">
            <a:extLst>
              <a:ext uri="{FF2B5EF4-FFF2-40B4-BE49-F238E27FC236}">
                <a16:creationId xmlns:a16="http://schemas.microsoft.com/office/drawing/2014/main" id="{49D26182-A1F5-4D3A-B819-C448C75B10E8}"/>
              </a:ext>
            </a:extLst>
          </p:cNvPr>
          <p:cNvSpPr>
            <a:spLocks noGrp="1"/>
          </p:cNvSpPr>
          <p:nvPr/>
        </p:nvSpPr>
        <p:spPr>
          <a:xfrm>
            <a:off x="609600" y="570547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上海还推动社会厕所开放共享，免费厕纸、冬季热水改善日常使用。</a:t>
            </a:r>
          </a:p>
        </p:txBody>
      </p:sp>
    </p:spTree>
    <p:extLst>
      <p:ext uri="{BB962C8B-B14F-4D97-AF65-F5344CB8AC3E}">
        <p14:creationId xmlns:p14="http://schemas.microsoft.com/office/powerpoint/2010/main" val="1140768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586B2470-0826-43A3-B8F6-90E858B238C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比较框架与范围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BBA16F2F-A900-47F3-9FF3-A54D0F80A1C0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主体：上海全市与纽约市五区；州级资料、商业估计和计算值在对应页面注明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E955E4F-CA74-4C6E-BE3F-7B18D8C1338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" name="text-13">
            <a:extLst>
              <a:ext uri="{FF2B5EF4-FFF2-40B4-BE49-F238E27FC236}">
                <a16:creationId xmlns:a16="http://schemas.microsoft.com/office/drawing/2014/main" id="{32A21A23-1372-4BBD-A1AC-9B0AADAD3FAC}"/>
              </a:ext>
            </a:extLst>
          </p:cNvPr>
          <p:cNvSpPr>
            <a:spLocks noGrp="1"/>
          </p:cNvSpPr>
          <p:nvPr/>
        </p:nvSpPr>
        <p:spPr>
          <a:xfrm>
            <a:off x="609600" y="1628775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</a:t>
            </a:r>
          </a:p>
        </p:txBody>
      </p:sp>
      <p:sp>
        <p:nvSpPr>
          <p:cNvPr id="5" name="text-14">
            <a:extLst>
              <a:ext uri="{FF2B5EF4-FFF2-40B4-BE49-F238E27FC236}">
                <a16:creationId xmlns:a16="http://schemas.microsoft.com/office/drawing/2014/main" id="{9A647CEA-4701-4B48-A2FE-50BD8E669430}"/>
              </a:ext>
            </a:extLst>
          </p:cNvPr>
          <p:cNvSpPr>
            <a:spLocks noGrp="1"/>
          </p:cNvSpPr>
          <p:nvPr/>
        </p:nvSpPr>
        <p:spPr>
          <a:xfrm>
            <a:off x="609600" y="2171700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吃、穿、住、行</a:t>
            </a:r>
          </a:p>
        </p:txBody>
      </p:sp>
      <p:sp>
        <p:nvSpPr>
          <p:cNvPr id="6" name="text-15">
            <a:extLst>
              <a:ext uri="{FF2B5EF4-FFF2-40B4-BE49-F238E27FC236}">
                <a16:creationId xmlns:a16="http://schemas.microsoft.com/office/drawing/2014/main" id="{F1C85C0D-F03C-41F6-A482-7E9059E2B8EA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</a:t>
            </a:r>
          </a:p>
        </p:txBody>
      </p:sp>
      <p:sp>
        <p:nvSpPr>
          <p:cNvPr id="7" name="text-16">
            <a:extLst>
              <a:ext uri="{FF2B5EF4-FFF2-40B4-BE49-F238E27FC236}">
                <a16:creationId xmlns:a16="http://schemas.microsoft.com/office/drawing/2014/main" id="{8AFEA951-1AAD-4AEA-BB69-5764069F00E1}"/>
              </a:ext>
            </a:extLst>
          </p:cNvPr>
          <p:cNvSpPr>
            <a:spLocks noGrp="1"/>
          </p:cNvSpPr>
          <p:nvPr/>
        </p:nvSpPr>
        <p:spPr>
          <a:xfrm>
            <a:off x="609600" y="3343275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医疗、治安、教育、文化</a:t>
            </a:r>
          </a:p>
        </p:txBody>
      </p:sp>
      <p:sp>
        <p:nvSpPr>
          <p:cNvPr id="8" name="text-17">
            <a:extLst>
              <a:ext uri="{FF2B5EF4-FFF2-40B4-BE49-F238E27FC236}">
                <a16:creationId xmlns:a16="http://schemas.microsoft.com/office/drawing/2014/main" id="{4E4A4000-E0B6-4F5E-8C88-76CED62897DC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</a:t>
            </a:r>
          </a:p>
        </p:txBody>
      </p:sp>
      <p:sp>
        <p:nvSpPr>
          <p:cNvPr id="9" name="text-18">
            <a:extLst>
              <a:ext uri="{FF2B5EF4-FFF2-40B4-BE49-F238E27FC236}">
                <a16:creationId xmlns:a16="http://schemas.microsoft.com/office/drawing/2014/main" id="{924B88BE-ECA7-419B-AF15-9DBC9151DE85}"/>
              </a:ext>
            </a:extLst>
          </p:cNvPr>
          <p:cNvSpPr>
            <a:spLocks noGrp="1"/>
          </p:cNvSpPr>
          <p:nvPr/>
        </p:nvSpPr>
        <p:spPr>
          <a:xfrm>
            <a:off x="609600" y="4514850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对困难群体的兜底保障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7C3644D-3915-49F9-92EE-41970A802792}"/>
              </a:ext>
            </a:extLst>
          </p:cNvPr>
          <p:cNvGraphicFramePr/>
          <p:nvPr/>
        </p:nvGraphicFramePr>
        <p:xfrm>
          <a:off x="6534150" y="1695450"/>
          <a:ext cx="5048250" cy="1962150"/>
        </p:xfrm>
        <a:graphic>
          <a:graphicData uri="http://schemas.openxmlformats.org/drawingml/2006/table">
            <a:tbl>
              <a:tblPr/>
              <a:tblGrid>
                <a:gridCol w="1266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1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40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比较范围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0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市政府管辖的全市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40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市政府管辖的五区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19">
            <a:extLst>
              <a:ext uri="{FF2B5EF4-FFF2-40B4-BE49-F238E27FC236}">
                <a16:creationId xmlns:a16="http://schemas.microsoft.com/office/drawing/2014/main" id="{D65D53C7-93D9-450A-B2BE-170021B058C7}"/>
              </a:ext>
            </a:extLst>
          </p:cNvPr>
          <p:cNvSpPr>
            <a:spLocks noGrp="1"/>
          </p:cNvSpPr>
          <p:nvPr/>
        </p:nvSpPr>
        <p:spPr>
          <a:xfrm>
            <a:off x="6534150" y="3933825"/>
            <a:ext cx="5048250" cy="866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行政范围差异较大，</a:t>
            </a:r>
          </a:p>
          <a:p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比总量容易误导。</a:t>
            </a:r>
          </a:p>
        </p:txBody>
      </p:sp>
      <p:sp>
        <p:nvSpPr>
          <p:cNvPr id="12" name="text-20">
            <a:extLst>
              <a:ext uri="{FF2B5EF4-FFF2-40B4-BE49-F238E27FC236}">
                <a16:creationId xmlns:a16="http://schemas.microsoft.com/office/drawing/2014/main" id="{BD0490D5-F82C-4734-933A-B515698BF9F9}"/>
              </a:ext>
            </a:extLst>
          </p:cNvPr>
          <p:cNvSpPr>
            <a:spLocks noGrp="1"/>
          </p:cNvSpPr>
          <p:nvPr/>
        </p:nvSpPr>
        <p:spPr>
          <a:xfrm>
            <a:off x="6534150" y="4981575"/>
            <a:ext cx="5048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优先看比例、人均结果和服务对象，</a:t>
            </a:r>
          </a:p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再检查年份与统计定义。</a:t>
            </a:r>
          </a:p>
        </p:txBody>
      </p:sp>
    </p:spTree>
    <p:extLst>
      <p:ext uri="{BB962C8B-B14F-4D97-AF65-F5344CB8AC3E}">
        <p14:creationId xmlns:p14="http://schemas.microsoft.com/office/powerpoint/2010/main" val="1565077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D9BD67D0-F9E9-421F-8216-05457C25201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基础保障：餐食负担与社区就餐服务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88EABCFE-78EE-4CF8-8EC3-BD50665B20F0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来源：Wise生活成本页（2026年读取，商业估计）；上海2025年统计公报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4ACFD0D-B39C-4BF7-9281-77AB63B6B84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" name="text-21">
            <a:extLst>
              <a:ext uri="{FF2B5EF4-FFF2-40B4-BE49-F238E27FC236}">
                <a16:creationId xmlns:a16="http://schemas.microsoft.com/office/drawing/2014/main" id="{3EDC7F3C-C263-42A4-AEE4-1AE0F8AE0043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吃得起，也要能方便地获得餐食。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F401AB00-00C1-4879-9A10-41026D14FC69}"/>
              </a:ext>
            </a:extLst>
          </p:cNvPr>
          <p:cNvGraphicFramePr/>
          <p:nvPr/>
        </p:nvGraphicFramePr>
        <p:xfrm>
          <a:off x="609600" y="2181225"/>
          <a:ext cx="6200775" cy="256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-22">
            <a:extLst>
              <a:ext uri="{FF2B5EF4-FFF2-40B4-BE49-F238E27FC236}">
                <a16:creationId xmlns:a16="http://schemas.microsoft.com/office/drawing/2014/main" id="{324F4B07-AFA6-441C-8ADB-F2ED58D82FDF}"/>
              </a:ext>
            </a:extLst>
          </p:cNvPr>
          <p:cNvSpPr>
            <a:spLocks noGrp="1"/>
          </p:cNvSpPr>
          <p:nvPr/>
        </p:nvSpPr>
        <p:spPr>
          <a:xfrm>
            <a:off x="609600" y="4657725"/>
            <a:ext cx="61912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仅作采购负担线索，</a:t>
            </a:r>
          </a:p>
          <a:p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样本代表性不明。</a:t>
            </a:r>
          </a:p>
        </p:txBody>
      </p:sp>
      <p:sp>
        <p:nvSpPr>
          <p:cNvPr id="7" name="text-23">
            <a:extLst>
              <a:ext uri="{FF2B5EF4-FFF2-40B4-BE49-F238E27FC236}">
                <a16:creationId xmlns:a16="http://schemas.microsoft.com/office/drawing/2014/main" id="{71AD6400-249F-4AF3-937B-60CD10652C3F}"/>
              </a:ext>
            </a:extLst>
          </p:cNvPr>
          <p:cNvSpPr>
            <a:spLocks noGrp="1"/>
          </p:cNvSpPr>
          <p:nvPr/>
        </p:nvSpPr>
        <p:spPr>
          <a:xfrm>
            <a:off x="7477125" y="2190750"/>
            <a:ext cx="41052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上海社区助餐</a:t>
            </a:r>
          </a:p>
        </p:txBody>
      </p:sp>
      <p:sp>
        <p:nvSpPr>
          <p:cNvPr id="8" name="text-24">
            <a:extLst>
              <a:ext uri="{FF2B5EF4-FFF2-40B4-BE49-F238E27FC236}">
                <a16:creationId xmlns:a16="http://schemas.microsoft.com/office/drawing/2014/main" id="{66D8E7AB-C135-42DC-8737-14C4B6E5E51A}"/>
              </a:ext>
            </a:extLst>
          </p:cNvPr>
          <p:cNvSpPr>
            <a:spLocks noGrp="1"/>
          </p:cNvSpPr>
          <p:nvPr/>
        </p:nvSpPr>
        <p:spPr>
          <a:xfrm>
            <a:off x="7477125" y="2962275"/>
            <a:ext cx="4105275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为老年人提供就近就餐服务，</a:t>
            </a:r>
          </a:p>
          <a:p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减少买菜、做饭与出门的困难。</a:t>
            </a:r>
          </a:p>
        </p:txBody>
      </p:sp>
      <p:sp>
        <p:nvSpPr>
          <p:cNvPr id="9" name="text-25">
            <a:extLst>
              <a:ext uri="{FF2B5EF4-FFF2-40B4-BE49-F238E27FC236}">
                <a16:creationId xmlns:a16="http://schemas.microsoft.com/office/drawing/2014/main" id="{33752873-7877-4921-9141-FF6D6782DD0F}"/>
              </a:ext>
            </a:extLst>
          </p:cNvPr>
          <p:cNvSpPr>
            <a:spLocks noGrp="1"/>
          </p:cNvSpPr>
          <p:nvPr/>
        </p:nvSpPr>
        <p:spPr>
          <a:xfrm>
            <a:off x="7477125" y="4295775"/>
            <a:ext cx="4105275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评价便利程度，还要看地点、</a:t>
            </a:r>
          </a:p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价格和实际使用是否适合老人。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54C79CD6-7CD0-43BD-992A-0E2C3B0C14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389529" y="5476875"/>
            <a:ext cx="3697941" cy="628650"/>
          </a:xfrm>
          <a:prstGeom prst="rect">
            <a:avLst/>
          </a:prstGeom>
        </p:spPr>
      </p:pic>
      <p:sp>
        <p:nvSpPr>
          <p:cNvPr id="11" name="text-26">
            <a:extLst>
              <a:ext uri="{FF2B5EF4-FFF2-40B4-BE49-F238E27FC236}">
                <a16:creationId xmlns:a16="http://schemas.microsoft.com/office/drawing/2014/main" id="{D6F73F12-91E9-4134-9D4B-BB3EB23BEB22}"/>
              </a:ext>
            </a:extLst>
          </p:cNvPr>
          <p:cNvSpPr>
            <a:spLocks noGrp="1"/>
          </p:cNvSpPr>
          <p:nvPr/>
        </p:nvSpPr>
        <p:spPr>
          <a:xfrm>
            <a:off x="6153150" y="62865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上海2025年统计公报原文截片</a:t>
            </a:r>
          </a:p>
        </p:txBody>
      </p:sp>
    </p:spTree>
    <p:extLst>
      <p:ext uri="{BB962C8B-B14F-4D97-AF65-F5344CB8AC3E}">
        <p14:creationId xmlns:p14="http://schemas.microsoft.com/office/powerpoint/2010/main" val="1117538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069925B8-2161-4021-AA8E-8C836599EE7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基础保障：衣着消费与生活选择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81AF823-679B-4E35-B0F4-3EA18DF30B0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来源：上海统计年鉴2025表9.13（住户调查）；BEA SAPCE（纽约州2025年PCE）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20B63A25-7A3C-4984-B72F-FC206BE3402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" name="text-27">
            <a:extLst>
              <a:ext uri="{FF2B5EF4-FFF2-40B4-BE49-F238E27FC236}">
                <a16:creationId xmlns:a16="http://schemas.microsoft.com/office/drawing/2014/main" id="{8CF930EF-6428-4313-A43F-6F3615A4B337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名义支出反映消费背景，价格、品牌和购买频次也会改变记录。</a:t>
            </a:r>
          </a:p>
        </p:txBody>
      </p:sp>
      <p:sp>
        <p:nvSpPr>
          <p:cNvPr id="5" name="text-28">
            <a:extLst>
              <a:ext uri="{FF2B5EF4-FFF2-40B4-BE49-F238E27FC236}">
                <a16:creationId xmlns:a16="http://schemas.microsoft.com/office/drawing/2014/main" id="{B64F1624-FB7A-4E42-8832-43F99F293940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</a:t>
            </a:r>
          </a:p>
        </p:txBody>
      </p:sp>
      <p:sp>
        <p:nvSpPr>
          <p:cNvPr id="6" name="text-29">
            <a:extLst>
              <a:ext uri="{FF2B5EF4-FFF2-40B4-BE49-F238E27FC236}">
                <a16:creationId xmlns:a16="http://schemas.microsoft.com/office/drawing/2014/main" id="{A2422B75-4D93-478E-A5F8-99AFEB2C02C5}"/>
              </a:ext>
            </a:extLst>
          </p:cNvPr>
          <p:cNvSpPr>
            <a:spLocks noGrp="1"/>
          </p:cNvSpPr>
          <p:nvPr/>
        </p:nvSpPr>
        <p:spPr>
          <a:xfrm>
            <a:off x="609600" y="2600325"/>
            <a:ext cx="50482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1,936 元</a:t>
            </a:r>
          </a:p>
        </p:txBody>
      </p:sp>
      <p:sp>
        <p:nvSpPr>
          <p:cNvPr id="7" name="text-30">
            <a:extLst>
              <a:ext uri="{FF2B5EF4-FFF2-40B4-BE49-F238E27FC236}">
                <a16:creationId xmlns:a16="http://schemas.microsoft.com/office/drawing/2014/main" id="{FDD86C3B-69EA-4093-96DE-8EC9C5FD53C1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2024年，人均衣着支出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980517F-4E8B-458C-9573-938CA20C3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945221"/>
            <a:ext cx="5191125" cy="1520258"/>
          </a:xfrm>
          <a:prstGeom prst="rect">
            <a:avLst/>
          </a:prstGeom>
        </p:spPr>
      </p:pic>
      <p:sp>
        <p:nvSpPr>
          <p:cNvPr id="9" name="text-31">
            <a:extLst>
              <a:ext uri="{FF2B5EF4-FFF2-40B4-BE49-F238E27FC236}">
                <a16:creationId xmlns:a16="http://schemas.microsoft.com/office/drawing/2014/main" id="{1A79AC62-399F-42E6-B0CC-E3C5711F42FC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51911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上海统计年鉴原表摘录</a:t>
            </a:r>
          </a:p>
        </p:txBody>
      </p:sp>
      <p:sp>
        <p:nvSpPr>
          <p:cNvPr id="10" name="text-32">
            <a:extLst>
              <a:ext uri="{FF2B5EF4-FFF2-40B4-BE49-F238E27FC236}">
                <a16:creationId xmlns:a16="http://schemas.microsoft.com/office/drawing/2014/main" id="{E3338971-08F9-46B7-8ECA-05E682149C09}"/>
              </a:ext>
            </a:extLst>
          </p:cNvPr>
          <p:cNvSpPr>
            <a:spLocks noGrp="1"/>
          </p:cNvSpPr>
          <p:nvPr/>
        </p:nvSpPr>
        <p:spPr>
          <a:xfrm>
            <a:off x="6486525" y="2047875"/>
            <a:ext cx="509587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纽约州</a:t>
            </a:r>
          </a:p>
        </p:txBody>
      </p:sp>
      <p:sp>
        <p:nvSpPr>
          <p:cNvPr id="11" name="text-33">
            <a:extLst>
              <a:ext uri="{FF2B5EF4-FFF2-40B4-BE49-F238E27FC236}">
                <a16:creationId xmlns:a16="http://schemas.microsoft.com/office/drawing/2014/main" id="{21DC04FE-1FE2-4DB0-A382-D2ED15F18EA9}"/>
              </a:ext>
            </a:extLst>
          </p:cNvPr>
          <p:cNvSpPr>
            <a:spLocks noGrp="1"/>
          </p:cNvSpPr>
          <p:nvPr/>
        </p:nvSpPr>
        <p:spPr>
          <a:xfrm>
            <a:off x="6486525" y="2600325"/>
            <a:ext cx="5095875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1,947 美元</a:t>
            </a:r>
          </a:p>
        </p:txBody>
      </p:sp>
      <p:sp>
        <p:nvSpPr>
          <p:cNvPr id="12" name="text-34">
            <a:extLst>
              <a:ext uri="{FF2B5EF4-FFF2-40B4-BE49-F238E27FC236}">
                <a16:creationId xmlns:a16="http://schemas.microsoft.com/office/drawing/2014/main" id="{F3C2A8BA-5489-4CDB-BCD5-5A8932EAA60E}"/>
              </a:ext>
            </a:extLst>
          </p:cNvPr>
          <p:cNvSpPr>
            <a:spLocks noGrp="1"/>
          </p:cNvSpPr>
          <p:nvPr/>
        </p:nvSpPr>
        <p:spPr>
          <a:xfrm>
            <a:off x="6486525" y="3352800"/>
            <a:ext cx="5095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2025年，人均服装鞋类支出</a:t>
            </a:r>
          </a:p>
        </p:txBody>
      </p:sp>
      <p:sp>
        <p:nvSpPr>
          <p:cNvPr id="13" name="text-35">
            <a:extLst>
              <a:ext uri="{FF2B5EF4-FFF2-40B4-BE49-F238E27FC236}">
                <a16:creationId xmlns:a16="http://schemas.microsoft.com/office/drawing/2014/main" id="{23F278AA-813B-4105-8368-EC1A408C3032}"/>
              </a:ext>
            </a:extLst>
          </p:cNvPr>
          <p:cNvSpPr>
            <a:spLocks noGrp="1"/>
          </p:cNvSpPr>
          <p:nvPr/>
        </p:nvSpPr>
        <p:spPr>
          <a:xfrm>
            <a:off x="6486525" y="4143375"/>
            <a:ext cx="5095875" cy="866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州级PCE与市级住户调查</a:t>
            </a:r>
          </a:p>
          <a:p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记录的消费范围不同。</a:t>
            </a:r>
          </a:p>
        </p:txBody>
      </p:sp>
      <p:sp>
        <p:nvSpPr>
          <p:cNvPr id="14" name="text-36">
            <a:extLst>
              <a:ext uri="{FF2B5EF4-FFF2-40B4-BE49-F238E27FC236}">
                <a16:creationId xmlns:a16="http://schemas.microsoft.com/office/drawing/2014/main" id="{0FA87B17-7645-49B1-992D-5392859668B7}"/>
              </a:ext>
            </a:extLst>
          </p:cNvPr>
          <p:cNvSpPr>
            <a:spLocks noGrp="1"/>
          </p:cNvSpPr>
          <p:nvPr/>
        </p:nvSpPr>
        <p:spPr>
          <a:xfrm>
            <a:off x="6486525" y="5238750"/>
            <a:ext cx="509587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实际穿衣水平，需要同类商品价格</a:t>
            </a:r>
          </a:p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和居民购买行为的可比证据。</a:t>
            </a:r>
          </a:p>
        </p:txBody>
      </p:sp>
    </p:spTree>
    <p:extLst>
      <p:ext uri="{BB962C8B-B14F-4D97-AF65-F5344CB8AC3E}">
        <p14:creationId xmlns:p14="http://schemas.microsoft.com/office/powerpoint/2010/main" val="70332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859F8BA1-65F7-4432-87D6-453E2F7FBB9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基础保障：住房支持与租住压力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BA0A875A-BC0B-459A-8E69-002F272D94E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来源：上海2025年统计公报；NYC RGB 2026简报第4页，引用2024 ACS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B3354B1-04B8-445F-B723-F1CF08A8949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" name="text-37">
            <a:extLst>
              <a:ext uri="{FF2B5EF4-FFF2-40B4-BE49-F238E27FC236}">
                <a16:creationId xmlns:a16="http://schemas.microsoft.com/office/drawing/2014/main" id="{ED71A31F-55B7-413B-8DB3-86683E1D5EE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52578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上海：回应不同居住困难</a:t>
            </a:r>
          </a:p>
        </p:txBody>
      </p:sp>
      <p:sp>
        <p:nvSpPr>
          <p:cNvPr id="5" name="text-38">
            <a:extLst>
              <a:ext uri="{FF2B5EF4-FFF2-40B4-BE49-F238E27FC236}">
                <a16:creationId xmlns:a16="http://schemas.microsoft.com/office/drawing/2014/main" id="{5871E925-28FB-4D33-B7D8-01739246ADB7}"/>
              </a:ext>
            </a:extLst>
          </p:cNvPr>
          <p:cNvSpPr>
            <a:spLocks noGrp="1"/>
          </p:cNvSpPr>
          <p:nvPr/>
        </p:nvSpPr>
        <p:spPr>
          <a:xfrm>
            <a:off x="6238875" y="1381125"/>
            <a:ext cx="534352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纽约：约一半租房户负担较重</a:t>
            </a:r>
          </a:p>
        </p:txBody>
      </p:sp>
      <p:sp>
        <p:nvSpPr>
          <p:cNvPr id="6" name="text-39">
            <a:extLst>
              <a:ext uri="{FF2B5EF4-FFF2-40B4-BE49-F238E27FC236}">
                <a16:creationId xmlns:a16="http://schemas.microsoft.com/office/drawing/2014/main" id="{D541F57F-C08E-4CFA-B768-E2AE0ACB37D2}"/>
              </a:ext>
            </a:extLst>
          </p:cNvPr>
          <p:cNvSpPr>
            <a:spLocks noGrp="1"/>
          </p:cNvSpPr>
          <p:nvPr/>
        </p:nvSpPr>
        <p:spPr>
          <a:xfrm>
            <a:off x="609600" y="2162175"/>
            <a:ext cx="5257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保障性租赁住房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08E0D496-FC37-48B5-9F89-DF4BF317B879}"/>
              </a:ext>
            </a:extLst>
          </p:cNvPr>
          <p:cNvSpPr>
            <a:spLocks noGrp="1"/>
          </p:cNvSpPr>
          <p:nvPr/>
        </p:nvSpPr>
        <p:spPr>
          <a:xfrm>
            <a:off x="609600" y="2638425"/>
            <a:ext cx="52578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2025年建设筹措7.4万套（间），</a:t>
            </a:r>
          </a:p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增加可负担租住的供给。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7371DDE0-A807-42B9-885C-5E76D1F2418C}"/>
              </a:ext>
            </a:extLst>
          </p:cNvPr>
          <p:cNvSpPr>
            <a:spLocks noGrp="1"/>
          </p:cNvSpPr>
          <p:nvPr/>
        </p:nvSpPr>
        <p:spPr>
          <a:xfrm>
            <a:off x="609600" y="3657600"/>
            <a:ext cx="5257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建设者之家与老楼加梯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E14073A5-FC3D-4585-B55B-1DA6485ACD9D}"/>
              </a:ext>
            </a:extLst>
          </p:cNvPr>
          <p:cNvSpPr>
            <a:spLocks noGrp="1"/>
          </p:cNvSpPr>
          <p:nvPr/>
        </p:nvSpPr>
        <p:spPr>
          <a:xfrm>
            <a:off x="609600" y="4133850"/>
            <a:ext cx="52578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支持一线劳动者居住，</a:t>
            </a:r>
          </a:p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改善老楼居民出入便利。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ADDF7FA8-A3D2-47D9-B027-96D9D4B54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79908" y="5248275"/>
            <a:ext cx="4717184" cy="561975"/>
          </a:xfrm>
          <a:prstGeom prst="rect">
            <a:avLst/>
          </a:prstGeom>
        </p:spPr>
      </p:pic>
      <p:sp>
        <p:nvSpPr>
          <p:cNvPr id="11" name="text-43">
            <a:extLst>
              <a:ext uri="{FF2B5EF4-FFF2-40B4-BE49-F238E27FC236}">
                <a16:creationId xmlns:a16="http://schemas.microsoft.com/office/drawing/2014/main" id="{41866C9D-63A3-44BE-BE22-A0EF4BCC1ABF}"/>
              </a:ext>
            </a:extLst>
          </p:cNvPr>
          <p:cNvSpPr>
            <a:spLocks noGrp="1"/>
          </p:cNvSpPr>
          <p:nvPr/>
        </p:nvSpPr>
        <p:spPr>
          <a:xfrm>
            <a:off x="609600" y="5876925"/>
            <a:ext cx="5257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年度筹措量，尚不等于完成交付或入住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ADDB7F86-893A-483E-8C03-844E4FF6E054}"/>
              </a:ext>
            </a:extLst>
          </p:cNvPr>
          <p:cNvGraphicFramePr/>
          <p:nvPr/>
        </p:nvGraphicFramePr>
        <p:xfrm>
          <a:off x="6076950" y="2066925"/>
          <a:ext cx="5505450" cy="2162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3" name="图片 12">
            <a:extLst>
              <a:ext uri="{FF2B5EF4-FFF2-40B4-BE49-F238E27FC236}">
                <a16:creationId xmlns:a16="http://schemas.microsoft.com/office/drawing/2014/main" id="{D5170A4D-B77D-478E-86C1-439D74E73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238875" y="4375390"/>
            <a:ext cx="5343525" cy="1164745"/>
          </a:xfrm>
          <a:prstGeom prst="rect">
            <a:avLst/>
          </a:prstGeom>
        </p:spPr>
      </p:pic>
      <p:sp>
        <p:nvSpPr>
          <p:cNvPr id="14" name="text-44">
            <a:extLst>
              <a:ext uri="{FF2B5EF4-FFF2-40B4-BE49-F238E27FC236}">
                <a16:creationId xmlns:a16="http://schemas.microsoft.com/office/drawing/2014/main" id="{9325D26D-45CE-4904-86C7-A39779323289}"/>
              </a:ext>
            </a:extLst>
          </p:cNvPr>
          <p:cNvSpPr>
            <a:spLocks noGrp="1"/>
          </p:cNvSpPr>
          <p:nvPr/>
        </p:nvSpPr>
        <p:spPr>
          <a:xfrm>
            <a:off x="6238875" y="5705475"/>
            <a:ext cx="534352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缺少上海匹配负担指标，仍需检验支持措施的实际效果。</a:t>
            </a:r>
          </a:p>
        </p:txBody>
      </p:sp>
    </p:spTree>
    <p:extLst>
      <p:ext uri="{BB962C8B-B14F-4D97-AF65-F5344CB8AC3E}">
        <p14:creationId xmlns:p14="http://schemas.microsoft.com/office/powerpoint/2010/main" val="944580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47DD40C3-2DBA-4BD5-A535-59B2673E1DF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基础保障：公共交通与日常出行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83F1FD86-1170-45BB-A056-5B144178C1EA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来源：上海2025年统计公报、申通票务；MTA/纽约州2025客流公告；人口折算为计算值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D6F3CB0C-A2B3-4423-B999-B3394042CD6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452576A-A541-4C58-91F8-E23C9A178D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7" b="697"/>
          <a:stretch>
            <a:fillRect/>
          </a:stretch>
        </p:blipFill>
        <p:spPr>
          <a:xfrm>
            <a:off x="609600" y="1438275"/>
            <a:ext cx="4705350" cy="2609850"/>
          </a:xfrm>
          <a:prstGeom prst="rect">
            <a:avLst/>
          </a:prstGeom>
        </p:spPr>
      </p:pic>
      <p:sp>
        <p:nvSpPr>
          <p:cNvPr id="5" name="text-45">
            <a:extLst>
              <a:ext uri="{FF2B5EF4-FFF2-40B4-BE49-F238E27FC236}">
                <a16:creationId xmlns:a16="http://schemas.microsoft.com/office/drawing/2014/main" id="{3953F926-1DDE-4C08-B33D-53EDA3AA8C51}"/>
              </a:ext>
            </a:extLst>
          </p:cNvPr>
          <p:cNvSpPr>
            <a:spLocks noGrp="1"/>
          </p:cNvSpPr>
          <p:nvPr/>
        </p:nvSpPr>
        <p:spPr>
          <a:xfrm>
            <a:off x="609600" y="4133850"/>
            <a:ext cx="47053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上海地铁9号线，2024年实景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9E0CC0-B269-4173-94AD-E588A29B7624}"/>
              </a:ext>
            </a:extLst>
          </p:cNvPr>
          <p:cNvSpPr>
            <a:spLocks noGrp="1"/>
          </p:cNvSpPr>
          <p:nvPr/>
        </p:nvSpPr>
        <p:spPr>
          <a:xfrm>
            <a:off x="5819775" y="1428750"/>
            <a:ext cx="5762625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两城客运量的人口折算值接近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DCCC31E4-CB5A-44A2-908E-025984B452AF}"/>
              </a:ext>
            </a:extLst>
          </p:cNvPr>
          <p:cNvGraphicFramePr/>
          <p:nvPr/>
        </p:nvGraphicFramePr>
        <p:xfrm>
          <a:off x="5705475" y="2105025"/>
          <a:ext cx="5876925" cy="2076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9207C376-8692-4540-AD5E-DE6234216B00}"/>
              </a:ext>
            </a:extLst>
          </p:cNvPr>
          <p:cNvSpPr>
            <a:spLocks noGrp="1"/>
          </p:cNvSpPr>
          <p:nvPr/>
        </p:nvSpPr>
        <p:spPr>
          <a:xfrm>
            <a:off x="5819775" y="4152900"/>
            <a:ext cx="57626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含游客等非居民出行，折算值不等于个人乘坐次数。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C4393115-559C-4DEF-A406-1A20634969D3}"/>
              </a:ext>
            </a:extLst>
          </p:cNvPr>
          <p:cNvSpPr>
            <a:spLocks noGrp="1"/>
          </p:cNvSpPr>
          <p:nvPr/>
        </p:nvSpPr>
        <p:spPr>
          <a:xfrm>
            <a:off x="609600" y="46386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9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上海持续建设网络，并提供公交轨交联乘优惠。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AA1646AE-9CC6-4A63-975B-BBADF9530D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09600" y="5126189"/>
            <a:ext cx="10972800" cy="7394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4ABD159-7CD9-4802-9927-DB89A00CFB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76876" y="5934075"/>
            <a:ext cx="883824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311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D388353C-A9EA-47B5-90C5-8F1F574E0C0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民生福祉：医疗、治安、教育、文化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A783E8C-28CB-4D9B-B40E-9AAB120D226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[1]沪卫健/NYC DOHMH  [2]沪年鉴/NYPD  [3]沪年鉴/NYSED  [4]沪规划资源/NYC DCLA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18C7112-ACB6-42C7-A0E3-F80695491AFD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" name="text-49">
            <a:extLst>
              <a:ext uri="{FF2B5EF4-FFF2-40B4-BE49-F238E27FC236}">
                <a16:creationId xmlns:a16="http://schemas.microsoft.com/office/drawing/2014/main" id="{C09D56E3-B056-4334-B72E-C4CC1693EB73}"/>
              </a:ext>
            </a:extLst>
          </p:cNvPr>
          <p:cNvSpPr>
            <a:spLocks noGrp="1"/>
          </p:cNvSpPr>
          <p:nvPr/>
        </p:nvSpPr>
        <p:spPr>
          <a:xfrm>
            <a:off x="609600" y="1219200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部分健康、安全指标上海记录较低，师资配置接近，公共文化各有实践。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DEE94C7-9993-4CFE-B3CF-3DC5AA2876EF}"/>
              </a:ext>
            </a:extLst>
          </p:cNvPr>
          <p:cNvGraphicFramePr/>
          <p:nvPr/>
        </p:nvGraphicFramePr>
        <p:xfrm>
          <a:off x="609600" y="1857375"/>
          <a:ext cx="10972800" cy="3419475"/>
        </p:xfrm>
        <a:graphic>
          <a:graphicData uri="http://schemas.openxmlformats.org/drawingml/2006/table">
            <a:tbl>
              <a:tblPr/>
              <a:tblGrid>
                <a:gridCol w="130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5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67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389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42875" marR="114300" marT="66675" marB="6667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可支持的观察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389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 [1]</a:t>
                      </a:r>
                    </a:p>
                  </a:txBody>
                  <a:tcPr marL="142875" marR="114300" marT="66675" marB="6667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婴儿死亡率 2.34‰</a:t>
                      </a:r>
                    </a:p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2025年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婴儿死亡率 4.2‰</a:t>
                      </a:r>
                    </a:p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2023年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上海记录较低</a:t>
                      </a:r>
                    </a:p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年份、人群待匹配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89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 [2]</a:t>
                      </a:r>
                    </a:p>
                  </a:txBody>
                  <a:tcPr marL="142875" marR="114300" marT="66675" marB="6667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杀人立案约0.19起</a:t>
                      </a:r>
                    </a:p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每10万人，2024年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谋杀约3.6起</a:t>
                      </a:r>
                    </a:p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每10万人，2025年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上海记录较低</a:t>
                      </a:r>
                    </a:p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定义、年份不同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389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 [3]</a:t>
                      </a:r>
                    </a:p>
                  </a:txBody>
                  <a:tcPr marL="142875" marR="114300" marT="66675" marB="6667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生师比约12.5</a:t>
                      </a:r>
                    </a:p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中小学，2024年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生师比约13.2</a:t>
                      </a:r>
                    </a:p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公立K–12，2024–25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配置密度接近</a:t>
                      </a:r>
                    </a:p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不等同教学质量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389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 [4]</a:t>
                      </a:r>
                    </a:p>
                  </a:txBody>
                  <a:tcPr marL="142875" marR="114300" marT="66675" marB="6667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生活圈推动文化</a:t>
                      </a:r>
                    </a:p>
                    <a:p>
                      <a:r>
                        <a:rPr sz="1725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服务走近社区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96%获CDF资助机构</a:t>
                      </a:r>
                    </a:p>
                    <a:p>
                      <a:r>
                        <a:rPr sz="1725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提供免费或补贴项目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公共文化各有实践</a:t>
                      </a:r>
                    </a:p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缺少匹配总量</a:t>
                      </a:r>
                    </a:p>
                  </a:txBody>
                  <a:tcPr marL="142875" marR="114300" marT="66675" marB="66675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-50">
            <a:extLst>
              <a:ext uri="{FF2B5EF4-FFF2-40B4-BE49-F238E27FC236}">
                <a16:creationId xmlns:a16="http://schemas.microsoft.com/office/drawing/2014/main" id="{E96AA6BD-3923-4A8C-A83C-C02B60CE62F9}"/>
              </a:ext>
            </a:extLst>
          </p:cNvPr>
          <p:cNvSpPr>
            <a:spLocks noGrp="1"/>
          </p:cNvSpPr>
          <p:nvPr/>
        </p:nvSpPr>
        <p:spPr>
          <a:xfrm>
            <a:off x="609600" y="5553075"/>
            <a:ext cx="50673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指标描述相应结果，</a:t>
            </a:r>
          </a:p>
          <a:p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整体服务质量还需更多证据。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9507978-2FE6-4413-8B42-BFFCF9CF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200775" y="5601421"/>
            <a:ext cx="5381625" cy="41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76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BF222D83-D807-4D22-8385-3F4CA546E72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底层关怀：对困难群体的保障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056AB0C-0215-4566-954A-0EEB8A6A9B0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来源：上海市民政局2026低保通知、2025统计公报；HUD 2025 NY-600一夜点数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367954D3-DC4F-4B9D-99C3-F3B31E7B9B3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4" name="text-51">
            <a:extLst>
              <a:ext uri="{FF2B5EF4-FFF2-40B4-BE49-F238E27FC236}">
                <a16:creationId xmlns:a16="http://schemas.microsoft.com/office/drawing/2014/main" id="{A0F874C4-5F9B-44BA-82F3-D1F823C033C9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5257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上海：低保与专项服务</a:t>
            </a:r>
          </a:p>
        </p:txBody>
      </p:sp>
      <p:sp>
        <p:nvSpPr>
          <p:cNvPr id="5" name="text-52">
            <a:extLst>
              <a:ext uri="{FF2B5EF4-FFF2-40B4-BE49-F238E27FC236}">
                <a16:creationId xmlns:a16="http://schemas.microsoft.com/office/drawing/2014/main" id="{EE554FA7-5B92-480D-B596-B9D91FD8ECDE}"/>
              </a:ext>
            </a:extLst>
          </p:cNvPr>
          <p:cNvSpPr>
            <a:spLocks noGrp="1"/>
          </p:cNvSpPr>
          <p:nvPr/>
        </p:nvSpPr>
        <p:spPr>
          <a:xfrm>
            <a:off x="6191250" y="1390650"/>
            <a:ext cx="53911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纽约：收容服务与稳定住房压力</a:t>
            </a:r>
          </a:p>
        </p:txBody>
      </p:sp>
      <p:sp>
        <p:nvSpPr>
          <p:cNvPr id="6" name="text-53">
            <a:extLst>
              <a:ext uri="{FF2B5EF4-FFF2-40B4-BE49-F238E27FC236}">
                <a16:creationId xmlns:a16="http://schemas.microsoft.com/office/drawing/2014/main" id="{A941E8FB-6F7F-494B-9A01-40FE8D7298E0}"/>
              </a:ext>
            </a:extLst>
          </p:cNvPr>
          <p:cNvSpPr>
            <a:spLocks noGrp="1"/>
          </p:cNvSpPr>
          <p:nvPr/>
        </p:nvSpPr>
        <p:spPr>
          <a:xfrm>
            <a:off x="609600" y="2038350"/>
            <a:ext cx="52578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最低生活保障标准：每人每月1,690元</a:t>
            </a:r>
          </a:p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2026年7月起，适用于符合条件的对象。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9033AAE-64A2-4732-8588-632DBD5B1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24279" y="2990850"/>
            <a:ext cx="5228442" cy="1628775"/>
          </a:xfrm>
          <a:prstGeom prst="rect">
            <a:avLst/>
          </a:prstGeom>
        </p:spPr>
      </p:pic>
      <p:sp>
        <p:nvSpPr>
          <p:cNvPr id="8" name="text-54">
            <a:extLst>
              <a:ext uri="{FF2B5EF4-FFF2-40B4-BE49-F238E27FC236}">
                <a16:creationId xmlns:a16="http://schemas.microsoft.com/office/drawing/2014/main" id="{B267FA81-FFD7-44FC-8DD1-A15296E3B0DD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52578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还有就业与建设者居住支持。</a:t>
            </a:r>
          </a:p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需要进一步看覆盖对象和救助后生活。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93CF5B1F-ACAD-4E12-81F2-4762235DCE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91250" y="2011336"/>
            <a:ext cx="5391150" cy="920802"/>
          </a:xfrm>
          <a:prstGeom prst="rect">
            <a:avLst/>
          </a:prstGeom>
        </p:spPr>
      </p:pic>
      <p:sp>
        <p:nvSpPr>
          <p:cNvPr id="10" name="text-55">
            <a:extLst>
              <a:ext uri="{FF2B5EF4-FFF2-40B4-BE49-F238E27FC236}">
                <a16:creationId xmlns:a16="http://schemas.microsoft.com/office/drawing/2014/main" id="{B6D709BB-B558-4659-9469-7B1D93FC008B}"/>
              </a:ext>
            </a:extLst>
          </p:cNvPr>
          <p:cNvSpPr>
            <a:spLocks noGrp="1"/>
          </p:cNvSpPr>
          <p:nvPr/>
        </p:nvSpPr>
        <p:spPr>
          <a:xfrm>
            <a:off x="6191250" y="3276600"/>
            <a:ext cx="53911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4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约12.6万人</a:t>
            </a:r>
          </a:p>
        </p:txBody>
      </p:sp>
      <p:sp>
        <p:nvSpPr>
          <p:cNvPr id="11" name="text-56">
            <a:extLst>
              <a:ext uri="{FF2B5EF4-FFF2-40B4-BE49-F238E27FC236}">
                <a16:creationId xmlns:a16="http://schemas.microsoft.com/office/drawing/2014/main" id="{FA74A4DA-1210-4ABC-B0FF-8AC80365C0EB}"/>
              </a:ext>
            </a:extLst>
          </p:cNvPr>
          <p:cNvSpPr>
            <a:spLocks noGrp="1"/>
          </p:cNvSpPr>
          <p:nvPr/>
        </p:nvSpPr>
        <p:spPr>
          <a:xfrm>
            <a:off x="6191250" y="4010025"/>
            <a:ext cx="53911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一夜点数中的无家可归者，</a:t>
            </a:r>
          </a:p>
          <a:p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其中露宿4,673人。</a:t>
            </a:r>
          </a:p>
        </p:txBody>
      </p:sp>
      <p:sp>
        <p:nvSpPr>
          <p:cNvPr id="12" name="text-57">
            <a:extLst>
              <a:ext uri="{FF2B5EF4-FFF2-40B4-BE49-F238E27FC236}">
                <a16:creationId xmlns:a16="http://schemas.microsoft.com/office/drawing/2014/main" id="{9E8AE2BD-1244-43BA-BBDE-6CDB4F4F0EFF}"/>
              </a:ext>
            </a:extLst>
          </p:cNvPr>
          <p:cNvSpPr>
            <a:spLocks noGrp="1"/>
          </p:cNvSpPr>
          <p:nvPr/>
        </p:nvSpPr>
        <p:spPr>
          <a:xfrm>
            <a:off x="6191250" y="5086350"/>
            <a:ext cx="53911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总数包含收容与过渡住房中的人群，</a:t>
            </a:r>
          </a:p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露宿人数只是其中一部分。</a:t>
            </a:r>
          </a:p>
        </p:txBody>
      </p:sp>
    </p:spTree>
    <p:extLst>
      <p:ext uri="{BB962C8B-B14F-4D97-AF65-F5344CB8AC3E}">
        <p14:creationId xmlns:p14="http://schemas.microsoft.com/office/powerpoint/2010/main" val="724841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20DBE9C2-48F8-4C88-B6C6-4FD60975519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社区服务的空间分布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ECD25D-4D17-420A-95E1-A8157874006F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直线距离与面积测算，非官方15分钟步行可达率。来源：上海养老服务平台等名录、公共体育设施地图、上海图书馆。</a:t>
            </a:r>
          </a:p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居住用地及绿地：© OpenStreetMap contributors，ODbL；区界：DataV。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0740A78-75BE-48B9-8275-3113082E9DF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text-58">
            <a:extLst>
              <a:ext uri="{FF2B5EF4-FFF2-40B4-BE49-F238E27FC236}">
                <a16:creationId xmlns:a16="http://schemas.microsoft.com/office/drawing/2014/main" id="{BB0B2019-1DE6-4B59-9DD7-D4224DFB1502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dirty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中心七区，直线1公里；OSM已标注居住用地面积覆盖率。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72E0487-4771-47EF-B16A-8B5AC14C5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5237" y="1704975"/>
            <a:ext cx="1817526" cy="2095500"/>
          </a:xfrm>
          <a:prstGeom prst="rect">
            <a:avLst/>
          </a:prstGeom>
        </p:spPr>
      </p:pic>
      <p:sp>
        <p:nvSpPr>
          <p:cNvPr id="6" name="text-59">
            <a:extLst>
              <a:ext uri="{FF2B5EF4-FFF2-40B4-BE49-F238E27FC236}">
                <a16:creationId xmlns:a16="http://schemas.microsoft.com/office/drawing/2014/main" id="{A3D42302-FC40-41CF-B4C0-FE68169E1EF8}"/>
              </a:ext>
            </a:extLst>
          </p:cNvPr>
          <p:cNvSpPr>
            <a:spLocks noGrp="1"/>
          </p:cNvSpPr>
          <p:nvPr/>
        </p:nvSpPr>
        <p:spPr>
          <a:xfrm>
            <a:off x="2667000" y="1790700"/>
            <a:ext cx="3200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社区长者食堂</a:t>
            </a:r>
          </a:p>
        </p:txBody>
      </p:sp>
      <p:sp>
        <p:nvSpPr>
          <p:cNvPr id="7" name="text-60">
            <a:extLst>
              <a:ext uri="{FF2B5EF4-FFF2-40B4-BE49-F238E27FC236}">
                <a16:creationId xmlns:a16="http://schemas.microsoft.com/office/drawing/2014/main" id="{74888DE2-011D-4018-9B84-F06214710335}"/>
              </a:ext>
            </a:extLst>
          </p:cNvPr>
          <p:cNvSpPr>
            <a:spLocks noGrp="1"/>
          </p:cNvSpPr>
          <p:nvPr/>
        </p:nvSpPr>
        <p:spPr>
          <a:xfrm>
            <a:off x="2667000" y="2286000"/>
            <a:ext cx="320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87.5%</a:t>
            </a:r>
          </a:p>
        </p:txBody>
      </p:sp>
      <p:sp>
        <p:nvSpPr>
          <p:cNvPr id="8" name="text-61">
            <a:extLst>
              <a:ext uri="{FF2B5EF4-FFF2-40B4-BE49-F238E27FC236}">
                <a16:creationId xmlns:a16="http://schemas.microsoft.com/office/drawing/2014/main" id="{E3B1A20D-FDC6-4BF6-85F8-16267162D27D}"/>
              </a:ext>
            </a:extLst>
          </p:cNvPr>
          <p:cNvSpPr>
            <a:spLocks noGrp="1"/>
          </p:cNvSpPr>
          <p:nvPr/>
        </p:nvSpPr>
        <p:spPr>
          <a:xfrm>
            <a:off x="2667000" y="2962275"/>
            <a:ext cx="32004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养老服务平台等公开名录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3EAAD6C-B8E4-40EB-BB9B-083E93833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30237" y="1704975"/>
            <a:ext cx="1817526" cy="2095500"/>
          </a:xfrm>
          <a:prstGeom prst="rect">
            <a:avLst/>
          </a:prstGeom>
        </p:spPr>
      </p:pic>
      <p:sp>
        <p:nvSpPr>
          <p:cNvPr id="10" name="text-62">
            <a:extLst>
              <a:ext uri="{FF2B5EF4-FFF2-40B4-BE49-F238E27FC236}">
                <a16:creationId xmlns:a16="http://schemas.microsoft.com/office/drawing/2014/main" id="{5250B5EF-5241-4412-BE14-645EDD01D0D7}"/>
              </a:ext>
            </a:extLst>
          </p:cNvPr>
          <p:cNvSpPr>
            <a:spLocks noGrp="1"/>
          </p:cNvSpPr>
          <p:nvPr/>
        </p:nvSpPr>
        <p:spPr>
          <a:xfrm>
            <a:off x="8382000" y="1790700"/>
            <a:ext cx="3200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公园类绿地（OSM）</a:t>
            </a:r>
          </a:p>
        </p:txBody>
      </p:sp>
      <p:sp>
        <p:nvSpPr>
          <p:cNvPr id="11" name="text-63">
            <a:extLst>
              <a:ext uri="{FF2B5EF4-FFF2-40B4-BE49-F238E27FC236}">
                <a16:creationId xmlns:a16="http://schemas.microsoft.com/office/drawing/2014/main" id="{2FC09E27-89EA-4652-A6AF-65D04CD38381}"/>
              </a:ext>
            </a:extLst>
          </p:cNvPr>
          <p:cNvSpPr>
            <a:spLocks noGrp="1"/>
          </p:cNvSpPr>
          <p:nvPr/>
        </p:nvSpPr>
        <p:spPr>
          <a:xfrm>
            <a:off x="8382000" y="2286000"/>
            <a:ext cx="320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99.3%</a:t>
            </a:r>
          </a:p>
        </p:txBody>
      </p:sp>
      <p:sp>
        <p:nvSpPr>
          <p:cNvPr id="12" name="text-64">
            <a:extLst>
              <a:ext uri="{FF2B5EF4-FFF2-40B4-BE49-F238E27FC236}">
                <a16:creationId xmlns:a16="http://schemas.microsoft.com/office/drawing/2014/main" id="{D275036D-4EC3-4290-9F0D-2AEABE87EC0A}"/>
              </a:ext>
            </a:extLst>
          </p:cNvPr>
          <p:cNvSpPr>
            <a:spLocks noGrp="1"/>
          </p:cNvSpPr>
          <p:nvPr/>
        </p:nvSpPr>
        <p:spPr>
          <a:xfrm>
            <a:off x="8382000" y="2962275"/>
            <a:ext cx="32004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到绿地范围计算距离</a:t>
            </a:r>
          </a:p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9A9CF45E-B654-4971-BA78-0EC5DBE51F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15237" y="3857625"/>
            <a:ext cx="1817526" cy="2095500"/>
          </a:xfrm>
          <a:prstGeom prst="rect">
            <a:avLst/>
          </a:prstGeom>
        </p:spPr>
      </p:pic>
      <p:sp>
        <p:nvSpPr>
          <p:cNvPr id="14" name="text-65">
            <a:extLst>
              <a:ext uri="{FF2B5EF4-FFF2-40B4-BE49-F238E27FC236}">
                <a16:creationId xmlns:a16="http://schemas.microsoft.com/office/drawing/2014/main" id="{59235604-DB64-42AB-AD3D-BA5ED56F8FD7}"/>
              </a:ext>
            </a:extLst>
          </p:cNvPr>
          <p:cNvSpPr>
            <a:spLocks noGrp="1"/>
          </p:cNvSpPr>
          <p:nvPr/>
        </p:nvSpPr>
        <p:spPr>
          <a:xfrm>
            <a:off x="2667000" y="3943350"/>
            <a:ext cx="3200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市民健身中心</a:t>
            </a:r>
          </a:p>
        </p:txBody>
      </p:sp>
      <p:sp>
        <p:nvSpPr>
          <p:cNvPr id="15" name="text-66">
            <a:extLst>
              <a:ext uri="{FF2B5EF4-FFF2-40B4-BE49-F238E27FC236}">
                <a16:creationId xmlns:a16="http://schemas.microsoft.com/office/drawing/2014/main" id="{248271EA-4E37-408E-AE6A-AC1EBDA6AEC9}"/>
              </a:ext>
            </a:extLst>
          </p:cNvPr>
          <p:cNvSpPr>
            <a:spLocks noGrp="1"/>
          </p:cNvSpPr>
          <p:nvPr/>
        </p:nvSpPr>
        <p:spPr>
          <a:xfrm>
            <a:off x="2667000" y="4438650"/>
            <a:ext cx="320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64.4%</a:t>
            </a:r>
          </a:p>
        </p:txBody>
      </p:sp>
      <p:sp>
        <p:nvSpPr>
          <p:cNvPr id="16" name="text-67">
            <a:extLst>
              <a:ext uri="{FF2B5EF4-FFF2-40B4-BE49-F238E27FC236}">
                <a16:creationId xmlns:a16="http://schemas.microsoft.com/office/drawing/2014/main" id="{51372D85-C0BA-4513-9AB4-5BB26DC4E739}"/>
              </a:ext>
            </a:extLst>
          </p:cNvPr>
          <p:cNvSpPr>
            <a:spLocks noGrp="1"/>
          </p:cNvSpPr>
          <p:nvPr/>
        </p:nvSpPr>
        <p:spPr>
          <a:xfrm>
            <a:off x="2667000" y="5114925"/>
            <a:ext cx="32004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仅此平台分类，不含球场、</a:t>
            </a:r>
          </a:p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步道等其他健身空间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64F73255-9769-4B21-AB46-2FDED1173E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330237" y="3857625"/>
            <a:ext cx="1817526" cy="2095500"/>
          </a:xfrm>
          <a:prstGeom prst="rect">
            <a:avLst/>
          </a:prstGeom>
        </p:spPr>
      </p:pic>
      <p:sp>
        <p:nvSpPr>
          <p:cNvPr id="18" name="text-68">
            <a:extLst>
              <a:ext uri="{FF2B5EF4-FFF2-40B4-BE49-F238E27FC236}">
                <a16:creationId xmlns:a16="http://schemas.microsoft.com/office/drawing/2014/main" id="{6C818C51-E0D4-4050-9A49-A61A0A260732}"/>
              </a:ext>
            </a:extLst>
          </p:cNvPr>
          <p:cNvSpPr>
            <a:spLocks noGrp="1"/>
          </p:cNvSpPr>
          <p:nvPr/>
        </p:nvSpPr>
        <p:spPr>
          <a:xfrm>
            <a:off x="8382000" y="3943350"/>
            <a:ext cx="3200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图书馆服务网点</a:t>
            </a:r>
          </a:p>
        </p:txBody>
      </p:sp>
      <p:sp>
        <p:nvSpPr>
          <p:cNvPr id="19" name="text-69">
            <a:extLst>
              <a:ext uri="{FF2B5EF4-FFF2-40B4-BE49-F238E27FC236}">
                <a16:creationId xmlns:a16="http://schemas.microsoft.com/office/drawing/2014/main" id="{8492138F-B7F9-4681-A218-285B1F275D15}"/>
              </a:ext>
            </a:extLst>
          </p:cNvPr>
          <p:cNvSpPr>
            <a:spLocks noGrp="1"/>
          </p:cNvSpPr>
          <p:nvPr/>
        </p:nvSpPr>
        <p:spPr>
          <a:xfrm>
            <a:off x="8382000" y="4438650"/>
            <a:ext cx="320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77.0%</a:t>
            </a:r>
          </a:p>
        </p:txBody>
      </p:sp>
      <p:sp>
        <p:nvSpPr>
          <p:cNvPr id="20" name="text-70">
            <a:extLst>
              <a:ext uri="{FF2B5EF4-FFF2-40B4-BE49-F238E27FC236}">
                <a16:creationId xmlns:a16="http://schemas.microsoft.com/office/drawing/2014/main" id="{7DC0473C-F8E5-49A9-9628-E51F49CECBEE}"/>
              </a:ext>
            </a:extLst>
          </p:cNvPr>
          <p:cNvSpPr>
            <a:spLocks noGrp="1"/>
          </p:cNvSpPr>
          <p:nvPr/>
        </p:nvSpPr>
        <p:spPr>
          <a:xfrm>
            <a:off x="8382000" y="5114925"/>
            <a:ext cx="32004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含分馆、城市书房</a:t>
            </a:r>
          </a:p>
          <a:p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和自助借还网点</a:t>
            </a:r>
          </a:p>
        </p:txBody>
      </p:sp>
      <p:sp>
        <p:nvSpPr>
          <p:cNvPr id="21" name="text-71">
            <a:extLst>
              <a:ext uri="{FF2B5EF4-FFF2-40B4-BE49-F238E27FC236}">
                <a16:creationId xmlns:a16="http://schemas.microsoft.com/office/drawing/2014/main" id="{A964B164-F41F-4D4B-9DB6-8D88017E6B46}"/>
              </a:ext>
            </a:extLst>
          </p:cNvPr>
          <p:cNvSpPr>
            <a:spLocks noGrp="1"/>
          </p:cNvSpPr>
          <p:nvPr/>
        </p:nvSpPr>
        <p:spPr>
          <a:xfrm>
            <a:off x="609600" y="60102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2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19383A"/>
                </a:solidFill>
              </a:rPr>
              <a:t>● </a:t>
            </a:r>
            <a:r>
              <a:rPr>
                <a:solidFill>
                  <a:srgbClr val="5E7375"/>
                </a:solidFill>
              </a:rPr>
              <a:t>设施点位    </a:t>
            </a:r>
            <a:r>
              <a:rPr>
                <a:solidFill>
                  <a:srgbClr val="218F80"/>
                </a:solidFill>
              </a:rPr>
              <a:t>■ </a:t>
            </a:r>
            <a:r>
              <a:rPr>
                <a:solidFill>
                  <a:srgbClr val="5E7375"/>
                </a:solidFill>
              </a:rPr>
              <a:t>1公里内居住用地    </a:t>
            </a:r>
            <a:r>
              <a:rPr>
                <a:solidFill>
                  <a:srgbClr val="D27B50"/>
                </a:solidFill>
              </a:rPr>
              <a:t>■ </a:t>
            </a:r>
            <a:r>
              <a:rPr>
                <a:solidFill>
                  <a:srgbClr val="5E7375"/>
                </a:solidFill>
              </a:rPr>
              <a:t>1公里外居住用地    </a:t>
            </a:r>
            <a:r>
              <a:rPr>
                <a:solidFill>
                  <a:srgbClr val="6C993C"/>
                </a:solidFill>
              </a:rPr>
              <a:t>■ </a:t>
            </a:r>
            <a:r>
              <a:rPr>
                <a:solidFill>
                  <a:srgbClr val="5E7375"/>
                </a:solidFill>
              </a:rPr>
              <a:t>公园类绿地范围</a:t>
            </a:r>
          </a:p>
        </p:txBody>
      </p:sp>
    </p:spTree>
    <p:extLst>
      <p:ext uri="{BB962C8B-B14F-4D97-AF65-F5344CB8AC3E}">
        <p14:creationId xmlns:p14="http://schemas.microsoft.com/office/powerpoint/2010/main" val="115822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2186E7EF-6E6F-4C9F-A8D2-47FB15B1BDB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公共服务办理与居民参与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7EB180E-E925-40B1-9C10-A38B458A8C3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来源：上海2025年统计公报；上海市规划资源局泰山人民坊案例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04212015-7E22-4983-B1D4-7B16F0CDE0A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DADCD35E-9620-4DA5-B95D-26D8B2D59A3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3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一网通办：减少跑腿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9352DAF1-2E52-4F0B-9D57-8F845B639CD6}"/>
              </a:ext>
            </a:extLst>
          </p:cNvPr>
          <p:cNvSpPr>
            <a:spLocks noGrp="1"/>
          </p:cNvSpPr>
          <p:nvPr/>
        </p:nvSpPr>
        <p:spPr>
          <a:xfrm>
            <a:off x="6324600" y="1409700"/>
            <a:ext cx="5257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3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泰山人民坊：居民参与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686123D2-2A0B-4BF8-BB54-F00DDF3462A6}"/>
              </a:ext>
            </a:extLst>
          </p:cNvPr>
          <p:cNvSpPr>
            <a:spLocks noGrp="1"/>
          </p:cNvSpPr>
          <p:nvPr/>
        </p:nvSpPr>
        <p:spPr>
          <a:xfrm>
            <a:off x="609600" y="2124075"/>
            <a:ext cx="5257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实际网办率近九成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730BFF5C-44CC-41ED-BD7B-C4488ED01768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52578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2025年，更多办理过程在网上完成，</a:t>
            </a:r>
          </a:p>
          <a:p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减少线下往返。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945C305-3F40-4062-9772-FE3B4ACB2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904298"/>
            <a:ext cx="5257800" cy="725805"/>
          </a:xfrm>
          <a:prstGeom prst="rect">
            <a:avLst/>
          </a:prstGeom>
        </p:spPr>
      </p:pic>
      <p:sp>
        <p:nvSpPr>
          <p:cNvPr id="9" name="text-76">
            <a:extLst>
              <a:ext uri="{FF2B5EF4-FFF2-40B4-BE49-F238E27FC236}">
                <a16:creationId xmlns:a16="http://schemas.microsoft.com/office/drawing/2014/main" id="{108D2363-F4C2-40AC-A807-78155E6A11A0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实际网办率与全程可网办事项比例</a:t>
            </a:r>
          </a:p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是两个不同指标。</a:t>
            </a:r>
          </a:p>
        </p:txBody>
      </p:sp>
      <p:sp>
        <p:nvSpPr>
          <p:cNvPr id="10" name="text-77">
            <a:extLst>
              <a:ext uri="{FF2B5EF4-FFF2-40B4-BE49-F238E27FC236}">
                <a16:creationId xmlns:a16="http://schemas.microsoft.com/office/drawing/2014/main" id="{D194BC4C-DE1E-4AB2-B5B2-FDF2FD62FE95}"/>
              </a:ext>
            </a:extLst>
          </p:cNvPr>
          <p:cNvSpPr>
            <a:spLocks noGrp="1"/>
          </p:cNvSpPr>
          <p:nvPr/>
        </p:nvSpPr>
        <p:spPr>
          <a:xfrm>
            <a:off x="6324600" y="2124075"/>
            <a:ext cx="5257800" cy="1552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建设前：座谈、问卷征集需求</a:t>
            </a:r>
          </a:p>
          <a:p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方案阶段：开展论证</a:t>
            </a:r>
          </a:p>
          <a:p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建成后：邀请居民评议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07594DF-89C8-4A83-8E03-3D9C7BCF9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24600" y="4123227"/>
            <a:ext cx="5257800" cy="230795"/>
          </a:xfrm>
          <a:prstGeom prst="rect">
            <a:avLst/>
          </a:prstGeom>
        </p:spPr>
      </p:pic>
      <p:sp>
        <p:nvSpPr>
          <p:cNvPr id="12" name="text-78">
            <a:extLst>
              <a:ext uri="{FF2B5EF4-FFF2-40B4-BE49-F238E27FC236}">
                <a16:creationId xmlns:a16="http://schemas.microsoft.com/office/drawing/2014/main" id="{CA34B924-E651-4D50-8237-AA0F02B7F3CF}"/>
              </a:ext>
            </a:extLst>
          </p:cNvPr>
          <p:cNvSpPr>
            <a:spLocks noGrp="1"/>
          </p:cNvSpPr>
          <p:nvPr/>
        </p:nvSpPr>
        <p:spPr>
          <a:xfrm>
            <a:off x="6324600" y="503872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居民可以提出需要，也能评价</a:t>
            </a:r>
          </a:p>
          <a:p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服务建成后的使用体验。</a:t>
            </a:r>
          </a:p>
        </p:txBody>
      </p:sp>
    </p:spTree>
    <p:extLst>
      <p:ext uri="{BB962C8B-B14F-4D97-AF65-F5344CB8AC3E}">
        <p14:creationId xmlns:p14="http://schemas.microsoft.com/office/powerpoint/2010/main" val="1257040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FE607453-9847-432C-BC89-AFDF88F955B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在纽约生活：一位同学的亲身体验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8CBBE307-134F-4C7F-8AB4-D83C9F0600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来源：2026年10月10日微信访谈节选。个人生活观察。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56EC8081-5A7B-479B-BFB1-85ED8C0A9F5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text-79">
            <a:extLst>
              <a:ext uri="{FF2B5EF4-FFF2-40B4-BE49-F238E27FC236}">
                <a16:creationId xmlns:a16="http://schemas.microsoft.com/office/drawing/2014/main" id="{8B76D214-375B-485F-A581-2D19FADA85B4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5238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“租金与收入较为匹配，但是租金</a:t>
            </a:r>
          </a:p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明显高于其他城市，</a:t>
            </a:r>
          </a:p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保障性住房很难获得。”</a:t>
            </a:r>
          </a:p>
        </p:txBody>
      </p:sp>
      <p:sp>
        <p:nvSpPr>
          <p:cNvPr id="5" name="text-80">
            <a:extLst>
              <a:ext uri="{FF2B5EF4-FFF2-40B4-BE49-F238E27FC236}">
                <a16:creationId xmlns:a16="http://schemas.microsoft.com/office/drawing/2014/main" id="{126E040A-45E1-4CD6-A5E8-F070A46D248F}"/>
              </a:ext>
            </a:extLst>
          </p:cNvPr>
          <p:cNvSpPr>
            <a:spLocks noGrp="1"/>
          </p:cNvSpPr>
          <p:nvPr/>
        </p:nvSpPr>
        <p:spPr>
          <a:xfrm>
            <a:off x="609600" y="2752725"/>
            <a:ext cx="52387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“通勤时间和租房水平直接挂钩，</a:t>
            </a:r>
          </a:p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公交接驳也较多。”</a:t>
            </a:r>
          </a:p>
        </p:txBody>
      </p:sp>
      <p:sp>
        <p:nvSpPr>
          <p:cNvPr id="6" name="text-81">
            <a:extLst>
              <a:ext uri="{FF2B5EF4-FFF2-40B4-BE49-F238E27FC236}">
                <a16:creationId xmlns:a16="http://schemas.microsoft.com/office/drawing/2014/main" id="{91A6F750-789C-4D0F-B493-B71A2911ED1A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52387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“低成本活动空间非常非常多，</a:t>
            </a:r>
          </a:p>
          <a:p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这座城市有很多公园”</a:t>
            </a:r>
          </a:p>
        </p:txBody>
      </p:sp>
      <p:sp>
        <p:nvSpPr>
          <p:cNvPr id="7" name="text-82">
            <a:extLst>
              <a:ext uri="{FF2B5EF4-FFF2-40B4-BE49-F238E27FC236}">
                <a16:creationId xmlns:a16="http://schemas.microsoft.com/office/drawing/2014/main" id="{617D24EB-2A19-4C7F-86BE-964046D6DFF8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5238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“突发事件中自己的基本生活保障，</a:t>
            </a:r>
          </a:p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也依靠自己是否有储蓄，</a:t>
            </a:r>
          </a:p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或者高额的商业保险。”</a:t>
            </a:r>
          </a:p>
        </p:txBody>
      </p:sp>
      <p:sp>
        <p:nvSpPr>
          <p:cNvPr id="8" name="text-83">
            <a:extLst>
              <a:ext uri="{FF2B5EF4-FFF2-40B4-BE49-F238E27FC236}">
                <a16:creationId xmlns:a16="http://schemas.microsoft.com/office/drawing/2014/main" id="{062A2FF1-0DA6-49D1-BD5D-7834A761587B}"/>
              </a:ext>
            </a:extLst>
          </p:cNvPr>
          <p:cNvSpPr>
            <a:spLocks noGrp="1"/>
          </p:cNvSpPr>
          <p:nvPr/>
        </p:nvSpPr>
        <p:spPr>
          <a:xfrm>
            <a:off x="6324600" y="1466850"/>
            <a:ext cx="52578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基础保障：住房与通勤</a:t>
            </a:r>
          </a:p>
        </p:txBody>
      </p:sp>
      <p:sp>
        <p:nvSpPr>
          <p:cNvPr id="9" name="text-84">
            <a:extLst>
              <a:ext uri="{FF2B5EF4-FFF2-40B4-BE49-F238E27FC236}">
                <a16:creationId xmlns:a16="http://schemas.microsoft.com/office/drawing/2014/main" id="{BEB2DE28-BC25-437E-91A4-E2201A3BB9E2}"/>
              </a:ext>
            </a:extLst>
          </p:cNvPr>
          <p:cNvSpPr>
            <a:spLocks noGrp="1"/>
          </p:cNvSpPr>
          <p:nvPr/>
        </p:nvSpPr>
        <p:spPr>
          <a:xfrm>
            <a:off x="6324600" y="1971675"/>
            <a:ext cx="52578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租金与收入较匹配，但房租高、保障房难获得。</a:t>
            </a:r>
          </a:p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通勤时间与租房选择相连，公交接驳较多。</a:t>
            </a:r>
          </a:p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夜间交通活跃，出行仍有安全顾虑。</a:t>
            </a:r>
          </a:p>
        </p:txBody>
      </p:sp>
      <p:sp>
        <p:nvSpPr>
          <p:cNvPr id="10" name="text-85">
            <a:extLst>
              <a:ext uri="{FF2B5EF4-FFF2-40B4-BE49-F238E27FC236}">
                <a16:creationId xmlns:a16="http://schemas.microsoft.com/office/drawing/2014/main" id="{8F598680-3C72-4999-AFBD-7AECC299E719}"/>
              </a:ext>
            </a:extLst>
          </p:cNvPr>
          <p:cNvSpPr>
            <a:spLocks noGrp="1"/>
          </p:cNvSpPr>
          <p:nvPr/>
        </p:nvSpPr>
        <p:spPr>
          <a:xfrm>
            <a:off x="6324600" y="3143250"/>
            <a:ext cx="52578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民生福祉：日常公共服务</a:t>
            </a:r>
          </a:p>
        </p:txBody>
      </p:sp>
      <p:sp>
        <p:nvSpPr>
          <p:cNvPr id="11" name="text-86">
            <a:extLst>
              <a:ext uri="{FF2B5EF4-FFF2-40B4-BE49-F238E27FC236}">
                <a16:creationId xmlns:a16="http://schemas.microsoft.com/office/drawing/2014/main" id="{D8594AC4-C0BF-4534-814A-4B7B71404257}"/>
              </a:ext>
            </a:extLst>
          </p:cNvPr>
          <p:cNvSpPr>
            <a:spLocks noGrp="1"/>
          </p:cNvSpPr>
          <p:nvPr/>
        </p:nvSpPr>
        <p:spPr>
          <a:xfrm>
            <a:off x="6324600" y="3648075"/>
            <a:ext cx="52578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公园、图书馆和低成本休闲空间丰富，</a:t>
            </a:r>
          </a:p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多靠地铁或开车到达。心理咨询选择较多，</a:t>
            </a:r>
          </a:p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配药、康复和慢病管理的体验相对不便。</a:t>
            </a:r>
          </a:p>
        </p:txBody>
      </p:sp>
      <p:sp>
        <p:nvSpPr>
          <p:cNvPr id="12" name="text-87">
            <a:extLst>
              <a:ext uri="{FF2B5EF4-FFF2-40B4-BE49-F238E27FC236}">
                <a16:creationId xmlns:a16="http://schemas.microsoft.com/office/drawing/2014/main" id="{B82154DC-6043-4E13-B059-E5E30CAA549E}"/>
              </a:ext>
            </a:extLst>
          </p:cNvPr>
          <p:cNvSpPr>
            <a:spLocks noGrp="1"/>
          </p:cNvSpPr>
          <p:nvPr/>
        </p:nvSpPr>
        <p:spPr>
          <a:xfrm>
            <a:off x="6324600" y="4819650"/>
            <a:ext cx="52578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底层关怀：照护与应急</a:t>
            </a:r>
          </a:p>
        </p:txBody>
      </p:sp>
      <p:sp>
        <p:nvSpPr>
          <p:cNvPr id="13" name="text-88">
            <a:extLst>
              <a:ext uri="{FF2B5EF4-FFF2-40B4-BE49-F238E27FC236}">
                <a16:creationId xmlns:a16="http://schemas.microsoft.com/office/drawing/2014/main" id="{CEEAF332-DDD7-4214-9D82-973B7B7B3CDC}"/>
              </a:ext>
            </a:extLst>
          </p:cNvPr>
          <p:cNvSpPr>
            <a:spLocks noGrp="1"/>
          </p:cNvSpPr>
          <p:nvPr/>
        </p:nvSpPr>
        <p:spPr>
          <a:xfrm>
            <a:off x="6324600" y="5324475"/>
            <a:ext cx="52578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无障碍设施与助残条件较好，居家养老</a:t>
            </a:r>
          </a:p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仍有费用压力。突发事件中的生活保障，</a:t>
            </a:r>
          </a:p>
          <a:p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还依靠个人储蓄或商业保险。</a:t>
            </a:r>
          </a:p>
        </p:txBody>
      </p:sp>
    </p:spTree>
    <p:extLst>
      <p:ext uri="{BB962C8B-B14F-4D97-AF65-F5344CB8AC3E}">
        <p14:creationId xmlns:p14="http://schemas.microsoft.com/office/powerpoint/2010/main" val="123612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89B1C67F-5975-4379-A867-D83D529019A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三个层次的比较结果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B7981456-34D7-4D3D-8EC6-7D9E26923B00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依据前文统计与案例汇总；具体定义、年份与原始来源见各页正文及备注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32A03B6-A9C9-4B4F-ACAF-7E3AE99A0DFD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A6FC4C6E-821F-4FBA-997D-4A3144C718D8}"/>
              </a:ext>
            </a:extLst>
          </p:cNvPr>
          <p:cNvGraphicFramePr/>
          <p:nvPr/>
        </p:nvGraphicFramePr>
        <p:xfrm>
          <a:off x="609600" y="1476375"/>
          <a:ext cx="10972800" cy="4191000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871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观察项目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主要观察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继续检验的结果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71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平台估计纽约采购负担较低，上海有助餐服务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价格与居民实际就餐便利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71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保留两份原币消费记录，统计范围不同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同类商品与实际购买行为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71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上海有住房支持，纽约租金负担突出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租住负担、稳定居住与使用便利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871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上海持续建设，客运量人口折算值接近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实际可达性、时间与使用体验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871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民生福祉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部分指标上海记录较低，公共文化各有实践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匹配年份、人群与服务质量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871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底层关怀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上海多种保障，纽约稳定住房压力明显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服务覆盖与救助后的生活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89">
            <a:extLst>
              <a:ext uri="{FF2B5EF4-FFF2-40B4-BE49-F238E27FC236}">
                <a16:creationId xmlns:a16="http://schemas.microsoft.com/office/drawing/2014/main" id="{EDA4218A-1AAB-49FF-9AB5-65AFA83720B7}"/>
              </a:ext>
            </a:extLst>
          </p:cNvPr>
          <p:cNvSpPr>
            <a:spLocks noGrp="1"/>
          </p:cNvSpPr>
          <p:nvPr/>
        </p:nvSpPr>
        <p:spPr>
          <a:xfrm>
            <a:off x="609600" y="583882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城市建设的评价，要把投入、服务过程和居民生活结果连接起来。</a:t>
            </a:r>
          </a:p>
        </p:txBody>
      </p:sp>
    </p:spTree>
    <p:extLst>
      <p:ext uri="{BB962C8B-B14F-4D97-AF65-F5344CB8AC3E}">
        <p14:creationId xmlns:p14="http://schemas.microsoft.com/office/powerpoint/2010/main" val="1845800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2719A2F4-3C34-4F8A-B245-A1769795122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纽约能叫“人民城市”吗？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0B67DF6-4814-4908-AC5B-CA9A83A9F8C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来源：NYPL、NYC DCLA、HUD、RGB、市议会；分析限于前文案例与指标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8B9CFFF-1C08-4B3C-B5F5-970EB967FB3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D050C7E-1644-4180-9FEC-042DB8626B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401" b="11401"/>
          <a:stretch>
            <a:fillRect/>
          </a:stretch>
        </p:blipFill>
        <p:spPr>
          <a:xfrm>
            <a:off x="609600" y="1476375"/>
            <a:ext cx="5695950" cy="2933700"/>
          </a:xfrm>
          <a:prstGeom prst="rect">
            <a:avLst/>
          </a:prstGeom>
        </p:spPr>
      </p:pic>
      <p:sp>
        <p:nvSpPr>
          <p:cNvPr id="5" name="text-90">
            <a:extLst>
              <a:ext uri="{FF2B5EF4-FFF2-40B4-BE49-F238E27FC236}">
                <a16:creationId xmlns:a16="http://schemas.microsoft.com/office/drawing/2014/main" id="{7A174FCF-040C-4C93-979E-B1A1B592DDFC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5695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纽约公共图书馆罗斯阅览室，2018年实景</a:t>
            </a:r>
          </a:p>
        </p:txBody>
      </p:sp>
      <p:sp>
        <p:nvSpPr>
          <p:cNvPr id="6" name="text-91">
            <a:extLst>
              <a:ext uri="{FF2B5EF4-FFF2-40B4-BE49-F238E27FC236}">
                <a16:creationId xmlns:a16="http://schemas.microsoft.com/office/drawing/2014/main" id="{F6E0DD35-756A-41A3-8C46-8B89DE0F59BF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56959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950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rPr>
              <a:t>社区网点把图书、学习资源</a:t>
            </a:r>
          </a:p>
          <a:p>
            <a:pPr algn="l">
              <a:defRPr sz="1950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rPr>
              <a:t>和免费活动带到居民身边。</a:t>
            </a:r>
          </a:p>
        </p:txBody>
      </p:sp>
      <p:sp>
        <p:nvSpPr>
          <p:cNvPr id="7" name="text-92">
            <a:extLst>
              <a:ext uri="{FF2B5EF4-FFF2-40B4-BE49-F238E27FC236}">
                <a16:creationId xmlns:a16="http://schemas.microsoft.com/office/drawing/2014/main" id="{F3C842AA-B59B-4157-ABA0-3E5009B6615D}"/>
              </a:ext>
            </a:extLst>
          </p:cNvPr>
          <p:cNvSpPr>
            <a:spLocks noGrp="1"/>
          </p:cNvSpPr>
          <p:nvPr/>
        </p:nvSpPr>
        <p:spPr>
          <a:xfrm>
            <a:off x="6781800" y="1504950"/>
            <a:ext cx="480060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具有服务普通居民的实践</a:t>
            </a:r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174A6F1A-DCB7-4A92-89ED-9E648F7DEB58}"/>
              </a:ext>
            </a:extLst>
          </p:cNvPr>
          <p:cNvSpPr>
            <a:spLocks noGrp="1"/>
          </p:cNvSpPr>
          <p:nvPr/>
        </p:nvSpPr>
        <p:spPr>
          <a:xfrm>
            <a:off x="6781800" y="2457450"/>
            <a:ext cx="4800600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rPr>
              <a:t>公共图书馆与文化资助，</a:t>
            </a:r>
          </a:p>
          <a:p>
            <a:pPr algn="l">
              <a:defRPr sz="2025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rPr>
              <a:t>为学习和文化生活提供支持。</a:t>
            </a:r>
          </a:p>
          <a:p>
            <a:pPr algn="l">
              <a:defRPr sz="2025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BFDAD0"/>
                </a:solidFill>
                <a:latin typeface="Microsoft YaHei"/>
                <a:ea typeface="Microsoft YaHei"/>
                <a:cs typeface="Microsoft YaHei"/>
              </a:rPr>
              <a:t>收容设施承担基本兜底任务。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ACB348C6-0134-40ED-B52D-C911A40251E2}"/>
              </a:ext>
            </a:extLst>
          </p:cNvPr>
          <p:cNvSpPr>
            <a:spLocks noGrp="1"/>
          </p:cNvSpPr>
          <p:nvPr/>
        </p:nvSpPr>
        <p:spPr>
          <a:xfrm>
            <a:off x="6781800" y="3905250"/>
            <a:ext cx="48006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仍需接受日常生活的检验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9AF6C261-F008-4E73-B2CF-4CFB5DE56259}"/>
              </a:ext>
            </a:extLst>
          </p:cNvPr>
          <p:cNvSpPr>
            <a:spLocks noGrp="1"/>
          </p:cNvSpPr>
          <p:nvPr/>
        </p:nvSpPr>
        <p:spPr>
          <a:xfrm>
            <a:off x="6781800" y="4657725"/>
            <a:ext cx="480060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租住压力、公共厕所开放时间，</a:t>
            </a:r>
          </a:p>
          <a:p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都影响居民的实际生活。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63877114-4461-48A6-8FFF-82899CC5EECF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D7E3DE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D7E3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D7E3DE"/>
                </a:solidFill>
                <a:latin typeface="Microsoft YaHei"/>
                <a:ea typeface="Microsoft YaHei"/>
                <a:cs typeface="Microsoft YaHei"/>
              </a:rPr>
              <a:t>具有这一理念的部分特征，现有证据不足以认定已全面实现。</a:t>
            </a:r>
          </a:p>
        </p:txBody>
      </p:sp>
    </p:spTree>
    <p:extLst>
      <p:ext uri="{BB962C8B-B14F-4D97-AF65-F5344CB8AC3E}">
        <p14:creationId xmlns:p14="http://schemas.microsoft.com/office/powerpoint/2010/main" val="165136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9C9F1B05-129F-499C-8619-05861C8C870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数据公开：居民怎样评价服务效果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26BDD87-7821-4461-9E83-5706F4647A1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来源：NYC Open Data；上海市公共数据开放平台“城市设施-公共厕所”接口，截图2026-10-10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0A54FABB-D9AD-430D-92EC-255798BC4D3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text-97">
            <a:extLst>
              <a:ext uri="{FF2B5EF4-FFF2-40B4-BE49-F238E27FC236}">
                <a16:creationId xmlns:a16="http://schemas.microsoft.com/office/drawing/2014/main" id="{2BB77A5E-E986-4B1B-8C7C-86A331EC506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52673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纽约：政府数据“默认公开”</a:t>
            </a:r>
          </a:p>
        </p:txBody>
      </p:sp>
      <p:sp>
        <p:nvSpPr>
          <p:cNvPr id="5" name="text-98">
            <a:extLst>
              <a:ext uri="{FF2B5EF4-FFF2-40B4-BE49-F238E27FC236}">
                <a16:creationId xmlns:a16="http://schemas.microsoft.com/office/drawing/2014/main" id="{7C6FF236-D274-4170-9730-A9EB34E054CC}"/>
              </a:ext>
            </a:extLst>
          </p:cNvPr>
          <p:cNvSpPr>
            <a:spLocks noGrp="1"/>
          </p:cNvSpPr>
          <p:nvPr/>
        </p:nvSpPr>
        <p:spPr>
          <a:xfrm>
            <a:off x="6324600" y="1381125"/>
            <a:ext cx="5257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上海：平台开放仍有具体条件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AFEAF14-A803-49D2-9DDC-0D92824B3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284308"/>
            <a:ext cx="5267325" cy="651084"/>
          </a:xfrm>
          <a:prstGeom prst="rect">
            <a:avLst/>
          </a:prstGeom>
        </p:spPr>
      </p:pic>
      <p:sp>
        <p:nvSpPr>
          <p:cNvPr id="7" name="text-99">
            <a:extLst>
              <a:ext uri="{FF2B5EF4-FFF2-40B4-BE49-F238E27FC236}">
                <a16:creationId xmlns:a16="http://schemas.microsoft.com/office/drawing/2014/main" id="{58AFAA7D-CE55-45F6-A4FA-7425AB2F3C2E}"/>
              </a:ext>
            </a:extLst>
          </p:cNvPr>
          <p:cNvSpPr>
            <a:spLocks noGrp="1"/>
          </p:cNvSpPr>
          <p:nvPr/>
        </p:nvSpPr>
        <p:spPr>
          <a:xfrm>
            <a:off x="609600" y="3476625"/>
            <a:ext cx="52673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法律要求政府机构分享数据，</a:t>
            </a:r>
          </a:p>
          <a:p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并由各部门协调员维护更新。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0455B94-7A9E-42DB-BCA8-4C04BFD47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24600" y="2019300"/>
            <a:ext cx="3886200" cy="762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90A9BEC-B833-4053-834E-710D2DA156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24600" y="2987363"/>
            <a:ext cx="5257800" cy="549898"/>
          </a:xfrm>
          <a:prstGeom prst="rect">
            <a:avLst/>
          </a:prstGeom>
        </p:spPr>
      </p:pic>
      <p:sp>
        <p:nvSpPr>
          <p:cNvPr id="10" name="text-100">
            <a:extLst>
              <a:ext uri="{FF2B5EF4-FFF2-40B4-BE49-F238E27FC236}">
                <a16:creationId xmlns:a16="http://schemas.microsoft.com/office/drawing/2014/main" id="{7089314B-AB00-4A65-8287-11A33116463B}"/>
              </a:ext>
            </a:extLst>
          </p:cNvPr>
          <p:cNvSpPr>
            <a:spLocks noGrp="1"/>
          </p:cNvSpPr>
          <p:nvPr/>
        </p:nvSpPr>
        <p:spPr>
          <a:xfrm>
            <a:off x="6324600" y="3819525"/>
            <a:ext cx="52578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公厕接口需要向业务部门申请。</a:t>
            </a:r>
          </a:p>
          <a:p>
            <a:pPr algn="l">
              <a:def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单个接口的条件不能概括整个平台。</a:t>
            </a:r>
          </a:p>
        </p:txBody>
      </p:sp>
      <p:sp>
        <p:nvSpPr>
          <p:cNvPr id="11" name="text-101">
            <a:extLst>
              <a:ext uri="{FF2B5EF4-FFF2-40B4-BE49-F238E27FC236}">
                <a16:creationId xmlns:a16="http://schemas.microsoft.com/office/drawing/2014/main" id="{27204485-75D5-4EE5-B1E8-A867B14BCA9E}"/>
              </a:ext>
            </a:extLst>
          </p:cNvPr>
          <p:cNvSpPr>
            <a:spLocks noGrp="1"/>
          </p:cNvSpPr>
          <p:nvPr/>
        </p:nvSpPr>
        <p:spPr>
          <a:xfrm>
            <a:off x="609600" y="4895850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公布投入之后，还需要看居民的生活结果</a:t>
            </a:r>
          </a:p>
        </p:txBody>
      </p:sp>
      <p:sp>
        <p:nvSpPr>
          <p:cNvPr id="12" name="text-102">
            <a:extLst>
              <a:ext uri="{FF2B5EF4-FFF2-40B4-BE49-F238E27FC236}">
                <a16:creationId xmlns:a16="http://schemas.microsoft.com/office/drawing/2014/main" id="{5906BD95-1A8B-418B-BF71-4106D9D023FD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住房：支持是否减轻了租金负担？</a:t>
            </a:r>
          </a:p>
          <a:p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兜底：救助是否带来了稳定居住？</a:t>
            </a:r>
          </a:p>
        </p:txBody>
      </p:sp>
    </p:spTree>
    <p:extLst>
      <p:ext uri="{BB962C8B-B14F-4D97-AF65-F5344CB8AC3E}">
        <p14:creationId xmlns:p14="http://schemas.microsoft.com/office/powerpoint/2010/main" val="375203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number">
            <a:extLst>
              <a:ext uri="{FF2B5EF4-FFF2-40B4-BE49-F238E27FC236}">
                <a16:creationId xmlns:a16="http://schemas.microsoft.com/office/drawing/2014/main" id="{2CF29960-2B0E-4B65-A42F-5B4466225C40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8052912-C100-4414-BA61-ECD4CE93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00800" y="1581695"/>
            <a:ext cx="5181600" cy="2913560"/>
          </a:xfrm>
          <a:prstGeom prst="rect">
            <a:avLst/>
          </a:prstGeom>
        </p:spPr>
      </p:pic>
      <p:sp>
        <p:nvSpPr>
          <p:cNvPr id="3" name="text-103">
            <a:extLst>
              <a:ext uri="{FF2B5EF4-FFF2-40B4-BE49-F238E27FC236}">
                <a16:creationId xmlns:a16="http://schemas.microsoft.com/office/drawing/2014/main" id="{A724C9AA-69C5-459A-A54B-2F377A3EEEB1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5295900" cy="1533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普通居民的生活</a:t>
            </a:r>
          </a:p>
          <a:p>
            <a:pPr algn="l">
              <a:defRPr sz="3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与城市建设</a:t>
            </a:r>
          </a:p>
        </p:txBody>
      </p:sp>
      <p:sp>
        <p:nvSpPr>
          <p:cNvPr id="4" name="text-104">
            <a:extLst>
              <a:ext uri="{FF2B5EF4-FFF2-40B4-BE49-F238E27FC236}">
                <a16:creationId xmlns:a16="http://schemas.microsoft.com/office/drawing/2014/main" id="{45959E08-C839-4853-8F10-35DF44B1AB2A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5238750" cy="1685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C9DFD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0">
                <a:solidFill>
                  <a:srgbClr val="C9DFD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C9DFD5"/>
                </a:solidFill>
                <a:latin typeface="Microsoft YaHei"/>
                <a:ea typeface="Microsoft YaHei"/>
                <a:cs typeface="Microsoft YaHei"/>
              </a:rPr>
              <a:t>公厕里的照护设施，</a:t>
            </a:r>
          </a:p>
          <a:p>
            <a:pPr algn="l">
              <a:defRPr sz="2400" b="0">
                <a:solidFill>
                  <a:srgbClr val="C9DFD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C9DFD5"/>
                </a:solidFill>
                <a:latin typeface="Microsoft YaHei"/>
                <a:ea typeface="Microsoft YaHei"/>
                <a:cs typeface="Microsoft YaHei"/>
              </a:rPr>
              <a:t>社区中的日常服务，</a:t>
            </a:r>
          </a:p>
          <a:p>
            <a:pPr algn="l">
              <a:defRPr sz="2400" b="0">
                <a:solidFill>
                  <a:srgbClr val="C9DFD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C9DFD5"/>
                </a:solidFill>
                <a:latin typeface="Microsoft YaHei"/>
                <a:ea typeface="Microsoft YaHei"/>
                <a:cs typeface="Microsoft YaHei"/>
              </a:rPr>
              <a:t>建设与评议中的居民参与。</a:t>
            </a:r>
          </a:p>
        </p:txBody>
      </p:sp>
      <p:sp>
        <p:nvSpPr>
          <p:cNvPr id="5" name="text-105">
            <a:extLst>
              <a:ext uri="{FF2B5EF4-FFF2-40B4-BE49-F238E27FC236}">
                <a16:creationId xmlns:a16="http://schemas.microsoft.com/office/drawing/2014/main" id="{D130D646-408D-45F1-8814-6B5C2BC66D28}"/>
              </a:ext>
            </a:extLst>
          </p:cNvPr>
          <p:cNvSpPr>
            <a:spLocks noGrp="1"/>
          </p:cNvSpPr>
          <p:nvPr/>
        </p:nvSpPr>
        <p:spPr>
          <a:xfrm>
            <a:off x="6400800" y="4648200"/>
            <a:ext cx="5181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曹杨新村社区公共步行空间，2025年资料图</a:t>
            </a:r>
          </a:p>
        </p:txBody>
      </p:sp>
      <p:sp>
        <p:nvSpPr>
          <p:cNvPr id="6" name="text-106">
            <a:extLst>
              <a:ext uri="{FF2B5EF4-FFF2-40B4-BE49-F238E27FC236}">
                <a16:creationId xmlns:a16="http://schemas.microsoft.com/office/drawing/2014/main" id="{246DEAE1-759D-425F-94AF-F5AA7F721E60}"/>
              </a:ext>
            </a:extLst>
          </p:cNvPr>
          <p:cNvSpPr>
            <a:spLocks noGrp="1"/>
          </p:cNvSpPr>
          <p:nvPr/>
        </p:nvSpPr>
        <p:spPr>
          <a:xfrm>
            <a:off x="6400800" y="5181600"/>
            <a:ext cx="518160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人民城市要在生活体验中</a:t>
            </a:r>
          </a:p>
          <a:p>
            <a:pPr algn="l"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持续接受检验和改进。</a:t>
            </a:r>
          </a:p>
        </p:txBody>
      </p:sp>
      <p:sp>
        <p:nvSpPr>
          <p:cNvPr id="7" name="text-107">
            <a:extLst>
              <a:ext uri="{FF2B5EF4-FFF2-40B4-BE49-F238E27FC236}">
                <a16:creationId xmlns:a16="http://schemas.microsoft.com/office/drawing/2014/main" id="{91763C59-0109-412B-8E5D-24DD348F1ACC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50482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3253743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-title">
            <a:extLst>
              <a:ext uri="{FF2B5EF4-FFF2-40B4-BE49-F238E27FC236}">
                <a16:creationId xmlns:a16="http://schemas.microsoft.com/office/drawing/2014/main" id="{D6960DB3-DFCA-4401-B482-8203AEE65E7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备份：范围与无家可归统计原表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3BEC57C-C9CE-4CAB-B009-F62720191C1D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HUD NY-600点数日期2025-01-28；一夜快照，不能当全年独立人数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24D154A8-1304-4133-A10B-FF3D9A4B0E7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3CADC2F-021E-457F-945C-EAAE4CA116A7}"/>
              </a:ext>
            </a:extLst>
          </p:cNvPr>
          <p:cNvGraphicFramePr/>
          <p:nvPr/>
        </p:nvGraphicFramePr>
        <p:xfrm>
          <a:off x="609600" y="1476375"/>
          <a:ext cx="10972800" cy="2514600"/>
        </p:xfrm>
        <a:graphic>
          <a:graphicData uri="http://schemas.openxmlformats.org/drawingml/2006/table">
            <a:tbl>
              <a:tblPr/>
              <a:tblGrid>
                <a:gridCol w="136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资料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关键范围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州与市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纽约州衣着数据不能当纽约市同口径结果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收入与消费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平均数、中位数、税前税后须区分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商业平台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估计样本代表性不明确，正文只作参考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HUD点数</a:t>
                      </a:r>
                    </a:p>
                  </a:txBody>
                  <a:tcPr marL="142875" marR="114300" marT="123825" marB="9525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总数含收容、过渡住房与露宿者</a:t>
                      </a:r>
                    </a:p>
                  </a:txBody>
                  <a:tcPr marL="142875" marR="114300" marT="123825" marB="9525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108">
            <a:extLst>
              <a:ext uri="{FF2B5EF4-FFF2-40B4-BE49-F238E27FC236}">
                <a16:creationId xmlns:a16="http://schemas.microsoft.com/office/drawing/2014/main" id="{7021A35C-BF06-4B00-981D-2EA8753848F7}"/>
              </a:ext>
            </a:extLst>
          </p:cNvPr>
          <p:cNvSpPr>
            <a:spLocks noGrp="1"/>
          </p:cNvSpPr>
          <p:nvPr/>
        </p:nvSpPr>
        <p:spPr>
          <a:xfrm>
            <a:off x="609600" y="4314825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HUD原表：点数日期2025年1月28日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4859670-4FE7-40C2-BA50-E1EF9A7A3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4979368"/>
            <a:ext cx="10972800" cy="23301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2161227-5954-4119-A982-5D59216EE1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5458781"/>
            <a:ext cx="10972800" cy="264788"/>
          </a:xfrm>
          <a:prstGeom prst="rect">
            <a:avLst/>
          </a:prstGeom>
        </p:spPr>
      </p:pic>
      <p:sp>
        <p:nvSpPr>
          <p:cNvPr id="8" name="text-109">
            <a:extLst>
              <a:ext uri="{FF2B5EF4-FFF2-40B4-BE49-F238E27FC236}">
                <a16:creationId xmlns:a16="http://schemas.microsoft.com/office/drawing/2014/main" id="{EFE4327B-FEAA-4D26-B5F5-E0D057AADAB2}"/>
              </a:ext>
            </a:extLst>
          </p:cNvPr>
          <p:cNvSpPr>
            <a:spLocks noGrp="1"/>
          </p:cNvSpPr>
          <p:nvPr/>
        </p:nvSpPr>
        <p:spPr>
          <a:xfrm>
            <a:off x="609600" y="5857875"/>
            <a:ext cx="109728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上海匹配资料尚未找到，缺失不能理解为零。</a:t>
            </a:r>
          </a:p>
        </p:txBody>
      </p:sp>
    </p:spTree>
    <p:extLst>
      <p:ext uri="{BB962C8B-B14F-4D97-AF65-F5344CB8AC3E}">
        <p14:creationId xmlns:p14="http://schemas.microsoft.com/office/powerpoint/2010/main" val="6648649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D34242E9-B23E-485C-857B-CE35DDBC672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备份：民生福祉的指标边界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4CBED46-50DE-4C60-B028-14F25461DCD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原始数据摘录及年份、人群、范围说明；每项指标只支持对应结果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C630AA8-DDE6-40CC-AACB-18AC53F0A2A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6562A6-E232-4F89-993E-8F01ED9E30C2}"/>
              </a:ext>
            </a:extLst>
          </p:cNvPr>
          <p:cNvGraphicFramePr/>
          <p:nvPr/>
        </p:nvGraphicFramePr>
        <p:xfrm>
          <a:off x="609600" y="1466850"/>
          <a:ext cx="10972800" cy="2828925"/>
        </p:xfrm>
        <a:graphic>
          <a:graphicData uri="http://schemas.openxmlformats.org/drawingml/2006/table">
            <a:tbl>
              <a:tblPr/>
              <a:tblGrid>
                <a:gridCol w="136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57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比较时需要注意的范围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婴儿死亡率年份与人群不同，不能覆盖整个医疗体系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上海杀人立案与纽约谋杀记录定义不同，年份也不同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上海中小学含高中，纽约公立K–12；生师比不等于班额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96%的分母是获CDF资助机构，不能当全市文化机构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BE88D9F9-C4BE-4E10-88F5-A29FE6CE8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4629777"/>
            <a:ext cx="5267325" cy="97029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77D116B-0368-4A73-B99F-79951938E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32287" y="4543425"/>
            <a:ext cx="5242426" cy="1257300"/>
          </a:xfrm>
          <a:prstGeom prst="rect">
            <a:avLst/>
          </a:prstGeom>
        </p:spPr>
      </p:pic>
      <p:sp>
        <p:nvSpPr>
          <p:cNvPr id="7" name="text-110">
            <a:extLst>
              <a:ext uri="{FF2B5EF4-FFF2-40B4-BE49-F238E27FC236}">
                <a16:creationId xmlns:a16="http://schemas.microsoft.com/office/drawing/2014/main" id="{AD8F005C-F05E-4D23-B6E5-C7BB65FD7BC3}"/>
              </a:ext>
            </a:extLst>
          </p:cNvPr>
          <p:cNvSpPr>
            <a:spLocks noGrp="1"/>
          </p:cNvSpPr>
          <p:nvPr/>
        </p:nvSpPr>
        <p:spPr>
          <a:xfrm>
            <a:off x="609600" y="5715000"/>
            <a:ext cx="52673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上海卫健委2025年统计摘录</a:t>
            </a:r>
          </a:p>
        </p:txBody>
      </p:sp>
    </p:spTree>
    <p:extLst>
      <p:ext uri="{BB962C8B-B14F-4D97-AF65-F5344CB8AC3E}">
        <p14:creationId xmlns:p14="http://schemas.microsoft.com/office/powerpoint/2010/main" val="11839372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8B14FB63-2BEB-4480-89E7-C9DA7B8F418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备份：主要数据与图像来源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28C9AE1-CC3C-4E06-A6D0-F31D25D6E53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各页页脚注明发布方；完整网页、报告链接与截图说明保存在相应页面的备注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12D85E0-FDD0-40D9-925C-434BC30A23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429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564FCE0-CD88-4875-BEB9-0BD044F4C386}"/>
              </a:ext>
            </a:extLst>
          </p:cNvPr>
          <p:cNvGraphicFramePr/>
          <p:nvPr/>
        </p:nvGraphicFramePr>
        <p:xfrm>
          <a:off x="609600" y="1495425"/>
          <a:ext cx="10972800" cy="4152900"/>
        </p:xfrm>
        <a:graphic>
          <a:graphicData uri="http://schemas.openxmlformats.org/drawingml/2006/table">
            <a:tbl>
              <a:tblPr/>
              <a:tblGrid>
                <a:gridCol w="1276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7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正文页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主要发布方与资料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资料性质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1–3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新华社；沪绿化市容局；纽约市议会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概念、公厕服务与建设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4–5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Wise；上海统计年鉴；BEA SAPCE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商业估计、官方消费记录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6–7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上海统计公报；NYC RGB；MTA/州政府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住房与交通统计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8–9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沪卫健/年鉴/民政；DOHMH、NYPD、NYSED、DCLA、HUD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健康、安全、师资与保障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10–12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沪服务平台、图书馆、OSM；统计公报；规划资源局；微信访谈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空间分布、服务过程与访谈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14–15</a:t>
                      </a:r>
                    </a:p>
                  </a:txBody>
                  <a:tcPr marL="142875" marR="114300" marT="85725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NYPL；NYC Open Data；上海公共数据平台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公共服务与公开制度</a:t>
                      </a:r>
                    </a:p>
                  </a:txBody>
                  <a:tcPr marL="142875" marR="114300" marT="85725" marB="76200" anchor="ctr">
                    <a:lnL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5DFD9"/>
                      </a:solidFill>
                    </a:lnR>
                    <a:lnT w="9525" cap="flat" cmpd="sng" algn="ctr">
                      <a:solidFill>
                        <a:srgbClr val="D5D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11">
            <a:extLst>
              <a:ext uri="{FF2B5EF4-FFF2-40B4-BE49-F238E27FC236}">
                <a16:creationId xmlns:a16="http://schemas.microsoft.com/office/drawing/2014/main" id="{C154F234-AABB-4EBF-AABA-C981DAAD1A59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109728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统计原文截图采集于2026年10月10日，黑框为采集者标注；地图快照为2026年10月12日。</a:t>
            </a:r>
          </a:p>
        </p:txBody>
      </p:sp>
    </p:spTree>
    <p:extLst>
      <p:ext uri="{BB962C8B-B14F-4D97-AF65-F5344CB8AC3E}">
        <p14:creationId xmlns:p14="http://schemas.microsoft.com/office/powerpoint/2010/main" val="16648773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6045</Words>
  <Application>Microsoft Office PowerPoint</Application>
  <DocSecurity>0</DocSecurity>
  <PresentationFormat>宽屏</PresentationFormat>
  <Paragraphs>922</Paragraphs>
  <Slides>19</Slides>
  <Notes>19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Microsoft YaHei</vt:lpstr>
      <vt:lpstr>Aptos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RIGOR NUT</cp:lastModifiedBy>
  <cp:revision>1</cp:revision>
  <dcterms:created xsi:type="dcterms:W3CDTF">2026-10-17T09:42:45Z</dcterms:created>
  <dcterms:modified xsi:type="dcterms:W3CDTF">2026-10-17T09:51:04Z</dcterms:modified>
</cp:coreProperties>
</file>