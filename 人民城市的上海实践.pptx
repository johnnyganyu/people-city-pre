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7dfaf8aa5f945aa" Type="http://schemas.openxmlformats.org/officeDocument/2006/relationships/officeDocument" Target="ppt/presentation.xml"/><Relationship Id="R538893a8fc49497e" Type="http://schemas.openxmlformats.org/package/2006/relationships/metadata/core-properties" Target="docProps/core.xml"/><Relationship Id="Rd9b5cb33615e402a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b5144f1a6b4810"/>
  </p:sldMasterIdLst>
  <p:notesMasterIdLst>
    <p:notesMasterId xmlns:r="http://schemas.openxmlformats.org/officeDocument/2006/relationships" r:id="R33275c9ea68044a9"/>
  </p:notesMasterIdLst>
  <p:sldIdLst>
    <p:sldId xmlns:r="http://schemas.openxmlformats.org/officeDocument/2006/relationships" id="256" r:id="R52891a0fbe854aed"/>
    <p:sldId xmlns:r="http://schemas.openxmlformats.org/officeDocument/2006/relationships" id="257" r:id="R14664abed6214258"/>
    <p:sldId xmlns:r="http://schemas.openxmlformats.org/officeDocument/2006/relationships" id="258" r:id="R8cf57bf3d65d45f3"/>
    <p:sldId xmlns:r="http://schemas.openxmlformats.org/officeDocument/2006/relationships" id="259" r:id="R4d11c15412504a0a"/>
    <p:sldId xmlns:r="http://schemas.openxmlformats.org/officeDocument/2006/relationships" id="260" r:id="Ref682f6141944723"/>
    <p:sldId xmlns:r="http://schemas.openxmlformats.org/officeDocument/2006/relationships" id="261" r:id="R1520c3dff7384669"/>
    <p:sldId xmlns:r="http://schemas.openxmlformats.org/officeDocument/2006/relationships" id="262" r:id="R8d325286b4e14920"/>
    <p:sldId xmlns:r="http://schemas.openxmlformats.org/officeDocument/2006/relationships" id="263" r:id="R05fa8b66b5414723"/>
    <p:sldId xmlns:r="http://schemas.openxmlformats.org/officeDocument/2006/relationships" id="264" r:id="R4337992bff6b419b"/>
    <p:sldId xmlns:r="http://schemas.openxmlformats.org/officeDocument/2006/relationships" id="265" r:id="R91afe412b5de4738"/>
    <p:sldId xmlns:r="http://schemas.openxmlformats.org/officeDocument/2006/relationships" id="266" r:id="Rddcd458038fc4241"/>
    <p:sldId xmlns:r="http://schemas.openxmlformats.org/officeDocument/2006/relationships" id="267" r:id="R7c871cf1126f4a2c"/>
    <p:sldId xmlns:r="http://schemas.openxmlformats.org/officeDocument/2006/relationships" id="268" r:id="R968faaa51b4f45fe"/>
    <p:sldId xmlns:r="http://schemas.openxmlformats.org/officeDocument/2006/relationships" id="269" r:id="R8c2435065338437d"/>
    <p:sldId xmlns:r="http://schemas.openxmlformats.org/officeDocument/2006/relationships" id="270" r:id="R5211c18bbef442e4"/>
    <p:sldId xmlns:r="http://schemas.openxmlformats.org/officeDocument/2006/relationships" id="271" r:id="Rd8e73cdcd384483a"/>
    <p:sldId xmlns:r="http://schemas.openxmlformats.org/officeDocument/2006/relationships" id="272" r:id="R6cbbc5ec3340466b"/>
    <p:sldId xmlns:r="http://schemas.openxmlformats.org/officeDocument/2006/relationships" id="273" r:id="R64c70686ae064585"/>
    <p:sldId xmlns:r="http://schemas.openxmlformats.org/officeDocument/2006/relationships" id="274" r:id="R6f415346081c4a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5fa8b66b5414723" Type="http://schemas.openxmlformats.org/officeDocument/2006/relationships/slide" Target="slides/slide8.xml"/><Relationship Id="R14664abed6214258" Type="http://schemas.openxmlformats.org/officeDocument/2006/relationships/slide" Target="slides/slide2.xml"/><Relationship Id="R1520c3dff7384669" Type="http://schemas.openxmlformats.org/officeDocument/2006/relationships/slide" Target="slides/slide6.xml"/><Relationship Id="R33275c9ea68044a9" Type="http://schemas.openxmlformats.org/officeDocument/2006/relationships/notesMaster" Target="notesMasters/notesMaster1.xml"/><Relationship Id="R4337992bff6b419b" Type="http://schemas.openxmlformats.org/officeDocument/2006/relationships/slide" Target="slides/slide9.xml"/><Relationship Id="R4d11c15412504a0a" Type="http://schemas.openxmlformats.org/officeDocument/2006/relationships/slide" Target="slides/slide4.xml"/><Relationship Id="R5211c18bbef442e4" Type="http://schemas.openxmlformats.org/officeDocument/2006/relationships/slide" Target="slides/slide15.xml"/><Relationship Id="R52891a0fbe854aed" Type="http://schemas.openxmlformats.org/officeDocument/2006/relationships/slide" Target="slides/slide1.xml"/><Relationship Id="R64c70686ae064585" Type="http://schemas.openxmlformats.org/officeDocument/2006/relationships/slide" Target="slides/slide18.xml"/><Relationship Id="R6cbbc5ec3340466b" Type="http://schemas.openxmlformats.org/officeDocument/2006/relationships/slide" Target="slides/slide17.xml"/><Relationship Id="R6eb0a00e52d144dd" Type="http://schemas.openxmlformats.org/officeDocument/2006/relationships/presProps" Target="presProps.xml"/><Relationship Id="R6f415346081c4ad4" Type="http://schemas.openxmlformats.org/officeDocument/2006/relationships/slide" Target="slides/slide19.xml"/><Relationship Id="R7c871cf1126f4a2c" Type="http://schemas.openxmlformats.org/officeDocument/2006/relationships/slide" Target="slides/slide12.xml"/><Relationship Id="R8c2435065338437d" Type="http://schemas.openxmlformats.org/officeDocument/2006/relationships/slide" Target="slides/slide14.xml"/><Relationship Id="R8cf57bf3d65d45f3" Type="http://schemas.openxmlformats.org/officeDocument/2006/relationships/slide" Target="slides/slide3.xml"/><Relationship Id="R8d325286b4e14920" Type="http://schemas.openxmlformats.org/officeDocument/2006/relationships/slide" Target="slides/slide7.xml"/><Relationship Id="R8d341f5ba2484e36" Type="http://schemas.openxmlformats.org/officeDocument/2006/relationships/tableStyles" Target="tableStyles.xml"/><Relationship Id="R91afe412b5de4738" Type="http://schemas.openxmlformats.org/officeDocument/2006/relationships/slide" Target="slides/slide10.xml"/><Relationship Id="R968faaa51b4f45fe" Type="http://schemas.openxmlformats.org/officeDocument/2006/relationships/slide" Target="slides/slide13.xml"/><Relationship Id="Rd8e73cdcd384483a" Type="http://schemas.openxmlformats.org/officeDocument/2006/relationships/slide" Target="slides/slide16.xml"/><Relationship Id="Rddcd458038fc4241" Type="http://schemas.openxmlformats.org/officeDocument/2006/relationships/slide" Target="slides/slide11.xml"/><Relationship Id="Rec9d4566170b4425" Type="http://schemas.openxmlformats.org/officeDocument/2006/relationships/theme" Target="theme/theme1.xml"/><Relationship Id="Ref682f6141944723" Type="http://schemas.openxmlformats.org/officeDocument/2006/relationships/slide" Target="slides/slide5.xml"/><Relationship Id="Rf9b5144f1a6b4810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46a78284249b408a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b0b5d28c0da4d33" Type="http://schemas.openxmlformats.org/officeDocument/2006/relationships/slide" Target="../slides/slide1.xml"/><Relationship Id="Rc6601ab60d5c423f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242bb5cc701649c6" Type="http://schemas.openxmlformats.org/officeDocument/2006/relationships/notesMaster" Target="../notesMasters/notesMaster1.xml"/><Relationship Id="Raf3e2ad1238846ca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34d9e97784d43e4" Type="http://schemas.openxmlformats.org/officeDocument/2006/relationships/notesMaster" Target="../notesMasters/notesMaster1.xml"/><Relationship Id="R8a2eb7c7a115459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fae7f6f336e403a" Type="http://schemas.openxmlformats.org/officeDocument/2006/relationships/slide" Target="../slides/slide4.xml"/><Relationship Id="R89c7c1dedcfb45e6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9f2059eaf2e4ef9" Type="http://schemas.openxmlformats.org/officeDocument/2006/relationships/slide" Target="../slides/slide5.xml"/><Relationship Id="Rb685cea295e7423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55c9ea54b564f7e" Type="http://schemas.openxmlformats.org/officeDocument/2006/relationships/notesMaster" Target="../notesMasters/notesMaster1.xml"/><Relationship Id="R8e9f8034365247da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787fcbe27784f9e" Type="http://schemas.openxmlformats.org/officeDocument/2006/relationships/notesMaster" Target="../notesMasters/notesMaster1.xml"/><Relationship Id="R5e18008d087f42ae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1f032cd0f8664756" Type="http://schemas.openxmlformats.org/officeDocument/2006/relationships/slide" Target="../slides/slide8.xml"/><Relationship Id="R392a26616c254beb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49ac2edf66af436d" Type="http://schemas.openxmlformats.org/officeDocument/2006/relationships/notesMaster" Target="../notesMasters/notesMaster1.xml"/><Relationship Id="Rd257e6ed8a5942ee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c70c1f7d3bb41f2" Type="http://schemas.openxmlformats.org/officeDocument/2006/relationships/slide" Target="../slides/slide10.xml"/><Relationship Id="R75857283f3d049ad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64a70cb07cb84743" Type="http://schemas.openxmlformats.org/officeDocument/2006/relationships/notesMaster" Target="../notesMasters/notesMaster1.xml"/><Relationship Id="Rfc54212fdd364f85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6c60d4038f3e4fa7" Type="http://schemas.openxmlformats.org/officeDocument/2006/relationships/slide" Target="../slides/slide12.xml"/><Relationship Id="R986342a2162540e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471e5496bdb44b26" Type="http://schemas.openxmlformats.org/officeDocument/2006/relationships/notesMaster" Target="../notesMasters/notesMaster1.xml"/><Relationship Id="R814be13ed0434ba3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15eb3856e8e8488e" Type="http://schemas.openxmlformats.org/officeDocument/2006/relationships/notesMaster" Target="../notesMasters/notesMaster1.xml"/><Relationship Id="Rf3b8032a110c479a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34414774d2444499" Type="http://schemas.openxmlformats.org/officeDocument/2006/relationships/notesMaster" Target="../notesMasters/notesMaster1.xml"/><Relationship Id="R6271c8213fdb465f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293bc9b5e8524697" Type="http://schemas.openxmlformats.org/officeDocument/2006/relationships/slide" Target="../slides/slide16.xml"/><Relationship Id="R5930f52ff079431e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c572c27035784dc9" Type="http://schemas.openxmlformats.org/officeDocument/2006/relationships/notesMaster" Target="../notesMasters/notesMaster1.xml"/><Relationship Id="Rd8328e82c41d481a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56301bacf3284d21" Type="http://schemas.openxmlformats.org/officeDocument/2006/relationships/slide" Target="../slides/slide18.xml"/><Relationship Id="R7c7e57b8049842b3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5b1fb211969a4de5" Type="http://schemas.openxmlformats.org/officeDocument/2006/relationships/slide" Target="../slides/slide19.xml"/><Relationship Id="R8478b75e77fc40c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建议讲述：25秒</a:t>
            </a:r>
          </a:p>
          <a:p xmlns:a="http://schemas.openxmlformats.org/drawingml/2006/main">
            <a:r>
              <a:t>15分钟讲述取舍：定义只说一句，不在封面解释所有分项。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人民城市强调以人民为中心，让城市建设和治理回应普通人的生活需要。今天把这个问题拆成一张日常生活的考卷：上海做了什么，纽约能不能交出一份合格的答卷？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新华社《习近平：人民城市人民建，人民城市为人民》，中国政府网，2019-11-03</a:t>
            </a:r>
          </a:p>
          <a:p xmlns:a="http://schemas.openxmlformats.org/drawingml/2006/main">
            <a:r>
              <a:t>https://www.gov.cn/xinwen/2019-11/03/content_5448082.htm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外滩滨江步道照片：d’n’c / Wikimedia Commons · CC BY-SA 2.0 · 2007</a:t>
            </a:r>
          </a:p>
          <a:p xmlns:a="http://schemas.openxmlformats.org/drawingml/2006/main">
            <a:r>
              <a:t>https://commons.wikimedia.org/wiki/File:Promenade_-The_Bund_(Wai_Tan)_Shanghai-_(685405681).jpg</a:t>
            </a:r>
          </a:p>
          <a:p xmlns:a="http://schemas.openxmlformats.org/drawingml/2006/main">
            <a:r>
              <a:t>https://creativecommons.org/licenses/by-sa/2.0</a:t>
            </a:r>
          </a:p>
          <a:p xmlns:a="http://schemas.openxmlformats.org/drawingml/2006/main">
            <a:r>
              <a:t>本页为概念引入；第2页开始贴讲稿第1节。采用原彩色照片，未改变空间内容。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建议讲述：80秒</a:t>
            </a:r>
          </a:p>
          <a:p xmlns:a="http://schemas.openxmlformats.org/drawingml/2006/main">
            <a:r>
              <a:t>15分钟讲述取舍：开场问题、改造实例、密度差异各一段；原文砍半敏感性计算可略。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先问大家一个问题：在纽约逛街，突然想上厕所，怎么办？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答案是，不太好办。纽约市政府管的公厕一共一千零六十多座，正常开放的不到一千座。纽约八百五十多万人，算下来将近九千人才摊到一座能用的。全天二十四小时开门的，整个纽约市只有八座。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这几年在公厕上是下了真功夫的。两千六百多座环卫公厕做了适老、适幼改造，一千二百多座配了第三卫生间；两千六百多座免费供应厕纸，两千多座冬天有热水。上海还在推动商场、地铁站、文化场馆的厕所向公众开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一共有多少处公厕？统计公报里查不到，开放平台上的公共厕所数据集记录了八千三百多处，大约三千人一处，密度是纽约的三倍左右。纽约那个数只算市政府管的，上海这个数据集统计得可能更宽；就算把这八千多处砍掉一半，也还是六千人一处，比纽约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公厕不赚钱，用得最多的是环卫工、快递员和上了年纪的人。看一座城市怎么管公厕，大致能看出它怎么对待普通人。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https://lhsr.sh.gov.cn/ywdt/20260401/00d7c161-8280-490c-a0da-d6c995e85058.html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https://lhsr.sh.gov.cn/ywdt/20251204/b016509f-60a6-46cd-83fa-fdab372175c7.html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https://council.nyc.gov/data/public-restroom-analysis/</a:t>
            </a:r>
          </a:p>
          <a:p xmlns:a="http://schemas.openxmlformats.org/drawingml/2006/main"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 xmlns:a="http://schemas.openxmlformats.org/drawingml/2006/main"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建议讲述：80秒</a:t>
            </a:r>
          </a:p>
          <a:p xmlns:a="http://schemas.openxmlformats.org/drawingml/2006/main">
            <a:r>
              <a:t>15分钟讲述取舍：压缩 GDP、HDI、PPP 方法论铺垫；重点说政府管辖范围和收入量级。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今天的题目是：纽约能不能叫人民城市？</a:t>
            </a:r>
          </a:p>
          <a:p xmlns:a="http://schemas.openxmlformats.org/drawingml/2006/main"/>
          <a:p xmlns:a="http://schemas.openxmlformats.org/drawingml/2006/main">
            <a:r>
              <a:t>要回答它，不能看一座城市怎么称呼自己，得放到具体的生活里去比。</a:t>
            </a:r>
          </a:p>
          <a:p xmlns:a="http://schemas.openxmlformats.org/drawingml/2006/main"/>
          <a:p xmlns:a="http://schemas.openxmlformats.org/drawingml/2006/main">
            <a:r>
              <a:t>怎么比？最常用的尺子是 GDP 和人均收入，但它们有个毛病：房租、看病、上学、理发这些服务，价格都是本地定的，没法拿现金直接换算。联合国的人类发展指数把寿命、教育、收入放在一起算，还是太粗；购买力平价算了几十年，到现在也没有一个公认的版本。所以我们只能把日常生活拆开，一项一项地比，用普通人看得懂的指标。</a:t>
            </a:r>
          </a:p>
          <a:p xmlns:a="http://schemas.openxmlformats.org/drawingml/2006/main"/>
          <a:p xmlns:a="http://schemas.openxmlformats.org/drawingml/2006/main">
            <a:r>
              <a:t>比之前，先得说清楚比的是哪个纽约。纽约市有五个区，780 平方公里，850 多万人，面积只有上海的八分之一。上海全市 6,300 多平方公里，2,480 多万人，其中将近 1,000 万是外地来沪的常住人口。纽约都会区两千万人，规模更接近上海，但它跨了三个州，没有一个统一的政府。我们要看的是一座城市的政府怎么对待自己的市民，所以拿纽约市政府管的五个区，对比上海市政府管的全市，比较合适。面积差了八倍，比总量没有意义，所以下面凡是能算人均的，我们都算人均。</a:t>
            </a:r>
          </a:p>
          <a:p xmlns:a="http://schemas.openxmlformats.org/drawingml/2006/main"/>
          <a:p xmlns:a="http://schemas.openxmlformats.org/drawingml/2006/main">
            <a:r>
              <a:t>再看收入。2024 年，纽约一户人家的收入中位数是 8.1 万美元，折合人民币约 55 万元。上海 2025 年人均可支配收入 9.2 万元，一户平均 2.24 人，一户约 20.6 万元。纽约是上海的两倍半以上。纽约这个数是税前的，扣完税要缩水；上海这个数是平均数，普通家庭够不着平均数，也要缩水。两边都挤掉水分，还是两倍半上下。从手里的现金看，纽约比上海宽裕得多。</a:t>
            </a:r>
          </a:p>
          <a:p xmlns:a="http://schemas.openxmlformats.org/drawingml/2006/main"/>
          <a:p xmlns:a="http://schemas.openxmlformats.org/drawingml/2006/main">
            <a:r>
              <a:t>但收入差两倍半，不等于日子差两倍半。所以我们先比住、吃、穿、行四个基本项，再比医疗、治安、教育、文化四个加分项，最后单独看一题：怎么对待最穷的人。能找到上海具体做法的题，我们先讲上海做了什么，再看结果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https://tjj.sh.gov.cn/ydsj71/20260120/39ae4cd58421478d897b739d83f39c10.html</a:t>
            </a:r>
          </a:p>
          <a:p xmlns:a="http://schemas.openxmlformats.org/drawingml/2006/main"/>
          <a:p xmlns:a="http://schemas.openxmlformats.org/drawingml/2006/main">
            <a:r>
              <a:t>https://tjj.sh.gov.cn/tjgb/20260630/b74619258aee4912a55a1da928b5be30.html</a:t>
            </a:r>
          </a:p>
          <a:p xmlns:a="http://schemas.openxmlformats.org/drawingml/2006/main"/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/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/>
          <a:p xmlns:a="http://schemas.openxmlformats.org/drawingml/2006/main">
            <a:r>
              <a:t>https://www.health.ny.gov/statistics/vital_statistics/2022/table02.htm</a:t>
            </a:r>
          </a:p>
          <a:p xmlns:a="http://schemas.openxmlformats.org/drawingml/2006/main"/>
          <a:p xmlns:a="http://schemas.openxmlformats.org/drawingml/2006/main">
            <a:r>
              <a:t>https://www.nyc.gov/content/planning/pages/planning/population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建议讲述：75秒</a:t>
            </a:r>
          </a:p>
          <a:p xmlns:a="http://schemas.openxmlformats.org/drawingml/2006/main">
            <a:r>
              <a:t>15分钟讲述取舍：先讲纽约住房压力，再讲上海举措与 59.0% 对 32.3%，末句明确胜负。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住是日常开销里最大的一块，也最值得比。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纽约的问题在于，大多数人住的房子不是自己的。2023 年，纽约市只有 32% 的家庭住在自己的房子里，三分之二租房；租房的家庭里，一半以上要把三成以上的收入交给房东。租房空置率只有 1.4%，是 1968 年以来最低。在纽约，连找到一套能租的房子都难。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上海的情况正好相反。2020 年人口普查，上海家庭的自有住房比例是 59%。这里面有一块，是当年房改时职工买下的原公有住房，算是住房政策留下的成果。普查只算家庭户，住集体宿舍的人没算进去，真实比例会低一些；但两边差了 27 个百分点，扣掉几个点也还是一大截。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没有自己房子的人，上海这几年也在管。2025 年一年筹措了 7.4 万套保障性租赁住房，给一线务工人员备下 3.2 万张床位。老小区也在修，一年给老楼加装了 3,000 多台电梯。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房租负担本来是更直接的指标，可上海统计部门不公布租金，商业网站上的数各说各话，这一项我们只好放弃，最后再说。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59% 对 32%，住这方面，上海有明显优势。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上海为七普长表家庭户，纽约为HVS已入住住房；分母与年份不同。</a:t>
            </a:r>
          </a:p>
          <a:p xmlns:a="http://schemas.openxmlformats.org/drawingml/2006/main"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建议讲述：75秒</a:t>
            </a:r>
          </a:p>
          <a:p xmlns:a="http://schemas.openxmlformats.org/drawingml/2006/main">
            <a:r>
              <a:t>15分钟讲述取舍：吃讲花销与价格效应，穿讲可贸易商品，避免连续重复 4.7 倍与 7 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吃和穿，是上海的短板。纽约市没有单独的统计，我们用纽约州的数据：2025 年，纽约州人均一年在家吃饭花 4,389 美元，在外吃饭花 5,005 美元，加起来 9,394 美元，折合人民币 6.3 万元。上海 2024 年人均食品烟酒支出 1.35 万元，纽约是上海的 4.7 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但这个 4.7 倍不能按字面来看。餐饮价格和工资关联很大，纽约工资高，同样一顿饭也贵得多，花的钱多不等于吃得好那么多。反过来，美国的基础农产品供应水平确实比我们高。所以吃这一项，纽约人比上海人吃得好一些，但优势没有数字看上去那么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穿就是压倒性的了。2024 年，上海人均一年买衣服花 1,936 元；2025 年，纽约州人均花 1,947 美元，折合人民币 1.3 万元，接近上海的 7 倍。这次不能拿购买力做借口：衣服是全球化程度最高的商品，同一件衣服在两地的价格差不了太多，花的钱差 7 倍，就是穿得差。这方面必须承认，纽约的水平高得多。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建议讲述：80秒</a:t>
            </a:r>
          </a:p>
          <a:p xmlns:a="http://schemas.openxmlformats.org/drawingml/2006/main">
            <a:r>
              <a:t>15分钟讲述取舍：只保留一个票价折算例子；正文不报衣食住行“二比二”。备注仍完整保留新版第 5 节原文。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纽约是美国公共交通最好的城市。将近一半的纽约家庭靠公共交通出行，全美只有 4%。所以纽约都会区的家庭，花在交通上的钱只占消费的 14%，全美平均是 17%。</a:t>
            </a:r>
          </a:p>
          <a:p xmlns:a="http://schemas.openxmlformats.org/drawingml/2006/main"/>
          <a:p xmlns:a="http://schemas.openxmlformats.org/drawingml/2006/main">
            <a:r>
              <a:t>但放到上海面前，纽约这点优势就不够看了。上海第一条地铁 1993 年才开通，三十多年修了 22 条线、960 多公里，是纽约的两倍多；地铁和公交两小时内换乘，还能优惠 1 块钱。2025 年，上海地铁运了 37 亿人次，纽约将近 13 亿人次，按人头算，两边每人每年都坐 150 次左右，用得一样多。</a:t>
            </a:r>
          </a:p>
          <a:p xmlns:a="http://schemas.openxmlformats.org/drawingml/2006/main"/>
          <a:p xmlns:a="http://schemas.openxmlformats.org/drawingml/2006/main">
            <a:r>
              <a:t>差别在用不用得起。纽约坐一趟地铁 3 美元，合人民币 20 块钱；就算按两城两倍半的收入差距打个折，也相当于上海人花 7 块多钱坐一趟，上海只要 3 到 4 块。纽约一周通勤最多收 35 美元，打完折也要 90 块左右，上海按一周 10 趟、每趟 4 块算，是 40 块。上海还有 18 块钱的一日票、45 块钱的三日票，72 小时随便坐。上海交通加通信两项合计，只占消费的 10.6%，纽约光交通一项就是 14%。</a:t>
            </a:r>
          </a:p>
          <a:p xmlns:a="http://schemas.openxmlformats.org/drawingml/2006/main"/>
          <a:p xmlns:a="http://schemas.openxmlformats.org/drawingml/2006/main">
            <a:r>
              <a:t>对比下来，显然是上海的性价比更高。日常出行，上海是压倒性优势。</a:t>
            </a:r>
          </a:p>
          <a:p xmlns:a="http://schemas.openxmlformats.org/drawingml/2006/main"/>
          <a:p xmlns:a="http://schemas.openxmlformats.org/drawingml/2006/main">
            <a:r>
              <a:t>衣食住行四项比下来：上海出行领先得最多，住房明显占优；纽约穿衣差距最大，吃饭稍微胜出。双方各有一个压倒性优势，这四项算二比二打平。这只是给基本项收个尾，整张卷子我们不算总分，原因到计分表再说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/>
          <a:p xmlns:a="http://schemas.openxmlformats.org/drawingml/2006/main">
            <a:r>
              <a:t>https://tjj.sh.gov.cn/ydsj71/20260120/39ae4cd58421478d897b739d83f39c10.html</a:t>
            </a:r>
          </a:p>
          <a:p xmlns:a="http://schemas.openxmlformats.org/drawingml/2006/main"/>
          <a:p xmlns:a="http://schemas.openxmlformats.org/drawingml/2006/main">
            <a:r>
              <a:t>https://tjj.sh.gov.cn/tjgb/20260630/b74619258aee4912a55a1da928b5be30.html</a:t>
            </a:r>
          </a:p>
          <a:p xmlns:a="http://schemas.openxmlformats.org/drawingml/2006/main"/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建议讲述：110秒</a:t>
            </a:r>
          </a:p>
          <a:p xmlns:a="http://schemas.openxmlformats.org/drawingml/2006/main">
            <a:r>
              <a:t>15分钟讲述取舍：四行各约 25 秒：结果指标、判分和一句解释；原文投入、寿命、PISA、百老汇作备注参考，不逐字朗读。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上海在医疗上肯花钱：2024 年财政花在卫生健康上的是 732 亿元，参加医保的超过 2,000 万人。但钱花得值不值，不看投入，要看结果。</a:t>
            </a:r>
          </a:p>
          <a:p xmlns:a="http://schemas.openxmlformats.org/drawingml/2006/main"/>
          <a:p xmlns:a="http://schemas.openxmlformats.org/drawingml/2006/main">
            <a:r>
              <a:t>先看人均期望寿命：上海 83.18 岁，纽约 83.2 岁，几乎一样，分不出高下。上海这个数还停在 2022 年，这一点最后再说。</a:t>
            </a:r>
          </a:p>
          <a:p xmlns:a="http://schemas.openxmlformats.org/drawingml/2006/main"/>
          <a:p xmlns:a="http://schemas.openxmlformats.org/drawingml/2006/main">
            <a:r>
              <a:t>寿命分不出来，就看两个国际上衡量医疗体系最常用的指标：婴儿死亡率和孕产妇死亡率。它们看的是普通家庭生孩子、养孩子的时候，医疗体系兜不兜得住。</a:t>
            </a:r>
          </a:p>
          <a:p xmlns:a="http://schemas.openxmlformats.org/drawingml/2006/main"/>
          <a:p xmlns:a="http://schemas.openxmlformats.org/drawingml/2006/main">
            <a:r>
              <a:t>婴儿死亡率，上海 2025 年是千分之 2.34，纽约 2023 年是千分之 4.2，高出八成。孕产妇死亡率差得更远：上海 2025 年每 10 万名活产婴儿对应 1.85 例；纽约 2022 年同样算到产后 42 天，大约是 21 例，是上海的 10 倍以上。</a:t>
            </a:r>
          </a:p>
          <a:p xmlns:a="http://schemas.openxmlformats.org/drawingml/2006/main"/>
          <a:p xmlns:a="http://schemas.openxmlformats.org/drawingml/2006/main">
            <a:r>
              <a:t>婴儿差八成，产妇差十倍。寿命已经拉不开，这两项拉开了，所以医疗方面，上海优势明显。</a:t>
            </a:r>
          </a:p>
          <a:p xmlns:a="http://schemas.openxmlformats.org/drawingml/2006/main"/>
          <a:p xmlns:a="http://schemas.openxmlformats.org/drawingml/2006/main">
            <a:r>
              <a:t>治安更不用多说。2024 年，上海杀人案立案 46 起，平均八天一起，每 10 万人约 0.19 起。2025 年，纽约谋杀案 305 起，差不多每天一起，每 10 万人约 3.6 起，是上海的 19 倍。两边统计口径略有不同，但差了一个数量级，纽约在安全方面和上海没有可比性。</a:t>
            </a:r>
          </a:p>
          <a:p xmlns:a="http://schemas.openxmlformats.org/drawingml/2006/main"/>
          <a:p xmlns:a="http://schemas.openxmlformats.org/drawingml/2006/main">
            <a:r>
              <a:t>教育只比义务教育，也就是每个孩子都要上的那部分。</a:t>
            </a:r>
          </a:p>
          <a:p xmlns:a="http://schemas.openxmlformats.org/drawingml/2006/main"/>
          <a:p xmlns:a="http://schemas.openxmlformats.org/drawingml/2006/main">
            <a:r>
              <a:t>上海的小学和初中，净入学率都是 99.9%。上海学生在国际学生测评 PISA 里拿过两次第一：2009 年阅读 556 分，2012 年数学 613 分，同一年美国学生的数学是 481 分。不过这是十多年前的成绩，之后上海不再单独参加，只能当背景。</a:t>
            </a:r>
          </a:p>
          <a:p xmlns:a="http://schemas.openxmlformats.org/drawingml/2006/main"/>
          <a:p xmlns:a="http://schemas.openxmlformats.org/drawingml/2006/main">
            <a:r>
              <a:t>现在能比的是生师比，也就是一位老师平均带几个学生。上海中小学是 12.5 个，纽约公立学校是 13.2 个，差不多。</a:t>
            </a:r>
          </a:p>
          <a:p xmlns:a="http://schemas.openxmlformats.org/drawingml/2006/main"/>
          <a:p xmlns:a="http://schemas.openxmlformats.org/drawingml/2006/main">
            <a:r>
              <a:t>差别在区与区之间。纽约 32 个学区，最宽松的一位老师带 8.7 个学生，最紧的带 13.9 个。上海各区的小学也差得不小：人口还在往里涌的嘉定、松江、闵行，一位小学老师要带 15 个学生；黄浦、长宁这些老城区，只带 11 个左右。学生往哪里去，老师没有完全跟上。</a:t>
            </a:r>
          </a:p>
          <a:p xmlns:a="http://schemas.openxmlformats.org/drawingml/2006/main"/>
          <a:p xmlns:a="http://schemas.openxmlformats.org/drawingml/2006/main">
            <a:r>
              <a:t>教育方面，两城整体差不多，算打平。但上海最紧的区，一位老师带 15 个学生，比纽约最紧的学区还紧，区与区之间的均衡是上海要补的。</a:t>
            </a:r>
          </a:p>
          <a:p xmlns:a="http://schemas.openxmlformats.org/drawingml/2006/main"/>
          <a:p xmlns:a="http://schemas.openxmlformats.org/drawingml/2006/main">
            <a:r>
              <a:t>上海这几年在把文化往家门口搬。全市划出 1,600 个"15 分钟社区生活圈"，走十几分钟就能到文化、体育、养老设施；公园一年新开 127 座，2025 年全市营业性演出 6 万多场。</a:t>
            </a:r>
          </a:p>
          <a:p xmlns:a="http://schemas.openxmlformats.org/drawingml/2006/main"/>
          <a:p xmlns:a="http://schemas.openxmlformats.org/drawingml/2006/main">
            <a:r>
              <a:t>但文化是纽约的传统强项。百老汇一个演出季将近 1,460 万人次观众，不过那是生意，更值得比的是不赚钱的那部分：纽约三大公共图书馆系统有 200 多个网点，大约四万人就有一个；市政府今年资助了 1,171 家文化机构，其中 96% 提供免费或者有补贴的项目。</a:t>
            </a:r>
          </a:p>
          <a:p xmlns:a="http://schemas.openxmlformats.org/drawingml/2006/main"/>
          <a:p xmlns:a="http://schemas.openxmlformats.org/drawingml/2006/main">
            <a:r>
              <a:t>上海街道、乡镇图书馆分馆的全市数字，我们没找到；但光看由财政托底、向所有市民免费开放的文化项目，纽约做到了上千家机构的规模。文化方面，纽约领先。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医疗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https://wsjkw.sh.gov.cn/tjsj2/20260730/7154e5b1603642a8a3c7c0b2b8b3b149.html</a:t>
            </a:r>
          </a:p>
          <a:p xmlns:a="http://schemas.openxmlformats.org/drawingml/2006/main">
            <a:r>
              <a:t>https://www.nyc.gov/assets/doh/downloads/pdf/vs/2023sum.pdf</a:t>
            </a:r>
          </a:p>
          <a:p xmlns:a="http://schemas.openxmlformats.org/drawingml/2006/main">
            <a:r>
              <a:t>https://www.nyc.gov/assets/doh/downloads/pdf/data/maternal-mortality-annual-report-2025.pdf</a:t>
            </a:r>
          </a:p>
          <a:p xmlns:a="http://schemas.openxmlformats.org/drawingml/2006/main"/>
          <a:p xmlns:a="http://schemas.openxmlformats.org/drawingml/2006/main">
            <a:r>
              <a:t>治安</a:t>
            </a:r>
          </a:p>
          <a:p xmlns:a="http://schemas.openxmlformats.org/drawingml/2006/main">
            <a:r>
              <a:t>https://tjj.sh.gov.cn/tjnj/2025tjnj/C2303.htm</a:t>
            </a:r>
          </a:p>
          <a:p xmlns:a="http://schemas.openxmlformats.org/drawingml/2006/main">
            <a:r>
              <a:t>https://www.nyc.gov/site/nypd/news/PR001/nypd-safest-year-ever-gun-violence-fewest-shooting-incidents-shooting</a:t>
            </a:r>
          </a:p>
          <a:p xmlns:a="http://schemas.openxmlformats.org/drawingml/2006/main"/>
          <a:p xmlns:a="http://schemas.openxmlformats.org/drawingml/2006/main">
            <a:r>
              <a:t>教育</a:t>
            </a:r>
          </a:p>
          <a:p xmlns:a="http://schemas.openxmlformats.org/drawingml/2006/main">
            <a:r>
              <a:t>https://tjj.sh.gov.cn/tjnj/2025tjnj/C2015.htm</a:t>
            </a:r>
          </a:p>
          <a:p xmlns:a="http://schemas.openxmlformats.org/drawingml/2006/main">
            <a:r>
              <a:t>https://tjj.sh.gov.cn/tjnj/2025tjnj/C2013.htm</a:t>
            </a:r>
          </a:p>
          <a:p xmlns:a="http://schemas.openxmlformats.org/drawingml/2006/main">
            <a:r>
              <a:t>https://tjj.sh.gov.cn/tjnj/2025tjnj/C2004.htm</a:t>
            </a:r>
          </a:p>
          <a:p xmlns:a="http://schemas.openxmlformats.org/drawingml/2006/main">
            <a:r>
              <a:t>https://data.nysed.gov/studenteducator.php?year=2025&amp;instid=7889678368</a:t>
            </a:r>
          </a:p>
          <a:p xmlns:a="http://schemas.openxmlformats.org/drawingml/2006/main"/>
          <a:p xmlns:a="http://schemas.openxmlformats.org/drawingml/2006/main">
            <a:r>
              <a:t>文化</a:t>
            </a:r>
          </a:p>
          <a:p xmlns:a="http://schemas.openxmlformats.org/drawingml/2006/main">
            <a:r>
              <a:t>https://www.nypl.org/about/locations</a:t>
            </a:r>
          </a:p>
          <a:p xmlns:a="http://schemas.openxmlformats.org/drawingml/2006/main">
            <a:r>
              <a:t>https://www.bklynlibrary.org/browse-the-branches/about</a:t>
            </a:r>
          </a:p>
          <a:p xmlns:a="http://schemas.openxmlformats.org/drawingml/2006/main">
            <a:r>
              <a:t>http://gis.nyc.gov/site/dcla/about/pressrelease/PR-2026-2-26-NYC-Department-of-Cultural-Affairs-Announces-74.3-Million-in-Grants-for-1171-Cultural-Organizations-Across-the-City.page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https://english.shanghai.gov.cn/en-Latest-WhatsNew/20260212/af11d8de7fd24819bff50c940e428855.html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纽约孕产妇死亡约21/10万由报告按产后42天折算；两项医疗结局统计年份不同。</a:t>
            </a:r>
          </a:p>
          <a:p xmlns:a="http://schemas.openxmlformats.org/drawingml/2006/main">
            <a:r>
              <a:t>上海为杀人案立案，纽约为谋杀案；年份不同，比率由案件与人口计算。</a:t>
            </a:r>
          </a:p>
          <a:p xmlns:a="http://schemas.openxmlformats.org/drawingml/2006/main">
            <a:r>
              <a:t>生师比由官方学生与教师数计算；上海中小学含高中，纽约为K–12。</a:t>
            </a:r>
          </a:p>
          <a:p xmlns:a="http://schemas.openxmlformats.org/drawingml/2006/main"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建议讲述：75秒</a:t>
            </a:r>
          </a:p>
          <a:p xmlns:a="http://schemas.openxmlformats.org/drawingml/2006/main">
            <a:r>
              <a:t>15分钟讲述取舍：只报纽约总量与街头露宿人数，不再串报贫困率、收容所日均和庇护者人数。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最后一项，是两座城市怎么对待最穷的人。</a:t>
            </a:r>
          </a:p>
          <a:p xmlns:a="http://schemas.openxmlformats.org/drawingml/2006/main"/>
          <a:p xmlns:a="http://schemas.openxmlformats.org/drawingml/2006/main">
            <a:r>
              <a:t>上海的做法是先把网铺开，真穷到底了，有人接着。低保标准城乡统一，2026 年 7 月起是每人每月 1,690 元；吃饭有近 2,500 个老年助餐点，养老有社区为老服务中心，找工作有 500 多个家门口的就业服务站。</a:t>
            </a:r>
          </a:p>
          <a:p xmlns:a="http://schemas.openxmlformats.org/drawingml/2006/main"/>
          <a:p xmlns:a="http://schemas.openxmlformats.org/drawingml/2006/main">
            <a:r>
              <a:t>纽约这边，官方贫困率 18%，布朗克斯区接近 29%。2025 年 1 月联邦政府做了一次一夜点数，纽约市无家可归的有 12.6 万人，其中 4,600 多人直接睡在街上。</a:t>
            </a:r>
          </a:p>
          <a:p xmlns:a="http://schemas.openxmlformats.org/drawingml/2006/main"/>
          <a:p xmlns:a="http://schemas.openxmlformats.org/drawingml/2006/main">
            <a:r>
              <a:t>最让人想不通的是，纽约不是不知道这些人在哪里。收容所住了多少人，市政府每天公布，2026 年 3 月平均每天约八万五千人。问题出在出口上：全市租房空置率只有 1.4%，收容所里的人找不到房子可搬。人数数得清清楚楚，问题就是解决不了。</a:t>
            </a:r>
          </a:p>
          <a:p xmlns:a="http://schemas.openxmlformats.org/drawingml/2006/main"/>
          <a:p xmlns:a="http://schemas.openxmlformats.org/drawingml/2006/main">
            <a:r>
              <a:t>上海有多少人露宿街头？官方没有公布，我们不估。能比的，是两边的做法和纽约公布的结果：上海的托底从低保铺到了吃饭、养老、找工作；纽约自己公布的数字里，有十二万多人没有住处。对待最穷的人，上海做得好得多，这也是纽约失分最重的一题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https://files.hudexchange.info/reports/published/CoC_PopSub_CoC_NY-600-2025_NY_2025.pdf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建议讲述：35秒</a:t>
            </a:r>
          </a:p>
          <a:p xmlns:a="http://schemas.openxmlformats.org/drawingml/2006/main">
            <a:r>
              <a:t>15分钟讲述取舍：从文化与养老接到“上海做了什么”；只说空间分布，四个百分比不逐个念。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九道题之外，再补两件上海做的事。先看托底的服务离居民有多近。我们拿开放地图的数据，在中心七区算了一笔账：住宅用地里，一公里内有社区长者食堂的占 87.5%，有图书馆服务点的占 77%，有市民健身中心的只占 64%。</a:t>
            </a:r>
          </a:p>
          <a:p xmlns:a="http://schemas.openxmlformats.org/drawingml/2006/main">
            <a:r>
              <a:t>吃饭这件事，基本已经送到了家门口；健身设施还有三分之一多的住宅区够不着。这组数按直线距离算，看的是分布：哪里方便，哪里还要补，图上一目了然。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地图由同学提供，快照2026-10-12</a:t>
            </a:r>
          </a:p>
          <a:p xmlns:a="http://schemas.openxmlformats.org/drawingml/2006/main">
            <a:r>
              <a:t>https://shyl.mzj.sh.gov.cn/agencyQuery</a:t>
            </a:r>
          </a:p>
          <a:p xmlns:a="http://schemas.openxmlformats.org/drawingml/2006/main">
            <a:r>
              <a:t>https://www.shggty.com.cn/facilityMap.html</a:t>
            </a:r>
          </a:p>
          <a:p xmlns:a="http://schemas.openxmlformats.org/drawingml/2006/main">
            <a:r>
              <a:t>https://www.library.sh.cn/guide/libraryLocation</a:t>
            </a:r>
          </a:p>
          <a:p xmlns:a="http://schemas.openxmlformats.org/drawingml/2006/main">
            <a:r>
              <a:t>https://www.openstreetmap.org/copyright</a:t>
            </a:r>
          </a:p>
          <a:p xmlns:a="http://schemas.openxmlformats.org/drawingml/2006/main"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 xmlns:a="http://schemas.openxmlformats.org/drawingml/2006/main"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建议讲述：30秒</a:t>
            </a:r>
          </a:p>
          <a:p xmlns:a="http://schemas.openxmlformats.org/drawingml/2006/main">
            <a:r>
              <a:t>15分钟讲述取舍：每个例子一句，承接公共服务，同时为末尾数据透明作伏笔。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上海这几年也在改办事的过程。"一网通办"接了 3,800 多项服务，实际网办率 89.53%，很多事已经不用再去窗口排队。</a:t>
            </a:r>
          </a:p>
          <a:p xmlns:a="http://schemas.openxmlformats.org/drawingml/2006/main">
            <a:r>
              <a:t>建设上，居民也插得上话。普陀区泰山人民坊改造，动工前开了 12 场座谈会，收回 3,826 份问卷；方案拿出来，又开了 5 轮专题论证；建成以后，还请居民开了 3 场评议会。从提需求、定方案到建成后的评价，居民每一步都有发言的机会。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/>
          <a:p xmlns:a="http://schemas.openxmlformats.org/drawingml/2006/main">
            <a:r>
              <a:t>https://ghzyj.sh.gov.cn/gzdt/20251224/f5b8e34f5c834200910639b27717dfdf.html</a:t>
            </a:r>
          </a:p>
          <a:p xmlns:a="http://schemas.openxmlformats.org/drawingml/2006/main"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 xmlns:a="http://schemas.openxmlformats.org/drawingml/2006/main"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建议讲述：35秒</a:t>
            </a:r>
          </a:p>
          <a:p xmlns:a="http://schemas.openxmlformats.org/drawingml/2006/main">
            <a:r>
              <a:t>15分钟讲述取舍：挑两条摘录口播，其他留给观众阅读；用个人体验呼应前面的统计。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/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原始微信截图和访谈文字整理由组员保存。</a:t>
            </a:r>
          </a:p>
          <a:p xmlns:a="http://schemas.openxmlformats.org/drawingml/2006/main"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 xmlns:a="http://schemas.openxmlformats.org/drawingml/2006/main"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建议讲述：45秒</a:t>
            </a:r>
          </a:p>
          <a:p xmlns:a="http://schemas.openxmlformats.org/drawingml/2006/main">
            <a:r>
              <a:t>15分钟讲述取舍：不重新念九行数据，不报上海几胜、纽约几胜或基本项二比二；概括各自强项，转到答题是否完整。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把九道题放到一张表上。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| 题 | 胜方 | 程度 | 依据 |</a:t>
            </a:r>
          </a:p>
          <a:p xmlns:a="http://schemas.openxmlformats.org/drawingml/2006/main">
            <a:r>
              <a:t>|---|---|---|---|---|</a:t>
            </a:r>
          </a:p>
          <a:p xmlns:a="http://schemas.openxmlformats.org/drawingml/2006/main">
            <a:r>
              <a:t>| 基本项 | 住 | 上海 | 明显 | 自有住房率：上海 59%，纽约 32% |</a:t>
            </a:r>
          </a:p>
          <a:p xmlns:a="http://schemas.openxmlformats.org/drawingml/2006/main">
            <a:r>
              <a:t>| | 吃 | 纽约 | 稍胜 | 人均吃的花销：纽约州 6.3 万元，上海 1.35 万元；餐饮价格随工资走，实际差距小于账面 |</a:t>
            </a:r>
          </a:p>
          <a:p xmlns:a="http://schemas.openxmlformats.org/drawingml/2006/main">
            <a:r>
              <a:t>| | 穿 | 纽约 | 压倒性 | 人均衣着支出：纽约州接近上海的 7 倍 |</a:t>
            </a:r>
          </a:p>
          <a:p xmlns:a="http://schemas.openxmlformats.org/drawingml/2006/main">
            <a:r>
              <a:t>| | 行 | 上海 | 压倒性 | 票价按收入折算约为纽约一半；交通支出占比更低 |</a:t>
            </a:r>
          </a:p>
          <a:p xmlns:a="http://schemas.openxmlformats.org/drawingml/2006/main">
            <a:r>
              <a:t>| 加分项 | 医疗 | 上海 | 明显 | 婴儿死亡率：上海 2.34‰，纽约 4.2‰；孕产妇死亡率差 10 倍以上 |</a:t>
            </a:r>
          </a:p>
          <a:p xmlns:a="http://schemas.openxmlformats.org/drawingml/2006/main">
            <a:r>
              <a:t>| | 治安 | 上海 | 压倒性 | 每 10 万人杀人案：上海 0.19 起，纽约 3.6 起 |</a:t>
            </a:r>
          </a:p>
          <a:p xmlns:a="http://schemas.openxmlformats.org/drawingml/2006/main">
            <a:r>
              <a:t>| | 教育 | 打平 | — | 生师比：上海 12.5，纽约 13.2 |</a:t>
            </a:r>
          </a:p>
          <a:p xmlns:a="http://schemas.openxmlformats.org/drawingml/2006/main">
            <a:r>
              <a:t>| | 文化 | 纽约 | 明显 | 公共图书馆网络和文化资助 |</a:t>
            </a:r>
          </a:p>
          <a:p xmlns:a="http://schemas.openxmlformats.org/drawingml/2006/main">
            <a:r>
              <a:t>| 单列 | 对待底层 | 上海 | 压倒性 | 纽约无家可归 12.6 万人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除了教育打平，每一题都分了胜负，但我们不加总分。各题差距的大小不一样，穿衣是压倒性的，吃饭只是稍胜，一个总比分会把这些差别抹平。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住：https://tjj.sh.gov.cn/tjnj/2020rktjnj/BNJc-9-4.jpg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吃：https://apps.bea.gov/regional/zip/SAPCE.zip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穿：https://apps.bea.gov/regional/zip/SAPCE.zip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行：https://portal.311.nyc.gov/article/?kanumber=KA-01014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医疗：https://tjj.sh.gov.cn/tjgb/20260330/e0772941e8e041eaaad2df850b44ef98.html</a:t>
            </a:r>
          </a:p>
          <a:p xmlns:a="http://schemas.openxmlformats.org/drawingml/2006/main">
            <a:r>
              <a:t>https://wsjkw.sh.gov.cn/tjsj2/20260730/7154e5b1603642a8a3c7c0b2b8b3b149.html</a:t>
            </a:r>
          </a:p>
          <a:p xmlns:a="http://schemas.openxmlformats.org/drawingml/2006/main">
            <a:r>
              <a:t>https://www.nyc.gov/assets/doh/downloads/pdf/vs/2023sum.pdf</a:t>
            </a:r>
          </a:p>
          <a:p xmlns:a="http://schemas.openxmlformats.org/drawingml/2006/main">
            <a:r>
              <a:t>https://www.nyc.gov/assets/doh/downloads/pdf/data/maternal-mortality-annual-report-2025.pdf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治安：https://tjj.sh.gov.cn/tjnj/2025tjnj/C2303.htm</a:t>
            </a:r>
          </a:p>
          <a:p xmlns:a="http://schemas.openxmlformats.org/drawingml/2006/main">
            <a:r>
              <a:t>https://www.nyc.gov/site/nypd/news/PR001/nypd-safest-year-ever-gun-violence-fewest-shooting-incidents-shooting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教育：https://tjj.sh.gov.cn/tjnj/2025tjnj/C2015.htm</a:t>
            </a:r>
          </a:p>
          <a:p xmlns:a="http://schemas.openxmlformats.org/drawingml/2006/main">
            <a:r>
              <a:t>https://tjj.sh.gov.cn/tjnj/2025tjnj/C2013.htm</a:t>
            </a:r>
          </a:p>
          <a:p xmlns:a="http://schemas.openxmlformats.org/drawingml/2006/main">
            <a:r>
              <a:t>https://tjj.sh.gov.cn/tjnj/2025tjnj/C2004.htm</a:t>
            </a:r>
          </a:p>
          <a:p xmlns:a="http://schemas.openxmlformats.org/drawingml/2006/main">
            <a:r>
              <a:t>https://data.nysed.gov/studenteducator.php?year=2025&amp;instid=7889678368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文化：https://www.nypl.org/about/locations</a:t>
            </a:r>
          </a:p>
          <a:p xmlns:a="http://schemas.openxmlformats.org/drawingml/2006/main">
            <a:r>
              <a:t>https://www.bklynlibrary.org/browse-the-branches/about</a:t>
            </a:r>
          </a:p>
          <a:p xmlns:a="http://schemas.openxmlformats.org/drawingml/2006/main">
            <a:r>
              <a:t>http://gis.nyc.gov/site/dcla/about/pressrelease/PR-2026-2-26-NYC-Department-of-Cultural-Affairs-Announces-74.3-Million-in-Grants-for-1171-Cultural-Organizations-Across-the-City.page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https://english.shanghai.gov.cn/en-Latest-WhatsNew/20260212/af11d8de7fd24819bff50c940e428855.html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对待底层：https://files.hudexchange.info/reports/published/CoC_PopSub_CoC_NY-600-2025_NY_2025.pdf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建议讲述：50秒</a:t>
            </a:r>
          </a:p>
          <a:p xmlns:a="http://schemas.openxmlformats.org/drawingml/2006/main"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回到开头的问题：纽约能不能叫人民城市？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拿同一张考卷来看，纽约有几道题答得好：吃穿用度和公共文化，它比上海强；数据公开，它也比上海做得好，这一点最后单独说。但最该答好的那道题，怎么对待最底层的人，它没有答好：十二万多人无家可归，三分之二的家庭租房，这些都是纽约自己公布的数字。所以我们的回答是：这张卷子，纽约还不算及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上海这张卷子答得更完整，住、行、医疗、治安和托底都拿了分。但人民城市人民建，前提是人民看得到账本，数据公开这一题，上海还得补。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比完这一圈，我们觉得更值得说的是，两座城市真的已经能放在一张卷子上比了，而且有输有赢。上海第一条地铁 1993 年才开通，三十多年后，上海人一年坐地铁的次数已经和纽约人一样多。三十多年前，这样的比较是比不起来的。这本身就是进步。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但这个比较不能往大了说，更不能拿两座城市去概括两个国家。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纽约输给上海的住和底层，在美国也是出了名的差：全美租房空置率 7% 左右，纽约只有 1.4%；纽约人口不到全美的 3%，无家可归的人却占了全美的六分之一。医疗和治安反过来，纽约比全美还好一些：婴儿死亡率纽约是千分之 4.2，全美是 5.61；谋杀率纽约每 10 万人 3.6 起，全美 4.1 起。纽约在这两项上输给上海，输的是美国的整体水平。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上海也一样。输给纽约的吃和穿，在国内已经排在前面，人均吃的花销是全国平均的 1.6 倍，穿是 1.3 倍。纽约在美国不典型，上海在中国也不典型。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https://files.hudexchange.info/reports/published/CoC_PopSub_CoC_NY-600-2025_NY_2025.pdf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建议讲述：40秒</a:t>
            </a:r>
          </a:p>
          <a:p xmlns:a="http://schemas.openxmlformats.org/drawingml/2006/main">
            <a:r>
              <a:t>15分钟讲述取舍：四个缺口各一句；一网通办便利已在第 10 页讲过，此处对照一句即可。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最后单独说数据透明。这一题不在计分表里，但前面说过，纽约领先。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上海做得好的先说。在上海办事是真方便，"一网通办"接了 3,800 多项服务，近九成能在网上从头办到尾，好评率 99.94%，高到小数点后两位。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可一到查数据，就换了一张脸。做这份 pre，我们找上海数据花的时间，比找纽约的多得多，好几道题最后只能拿替代的数。开场的公厕，统计公报和统计年鉴里都没有总数，开放平台的数据集标着"有条件开放"，明细要写申请才能看。住这一题，上海没有租金统计，只能用 2020 年人口普查的自有住房比例。底层这一题，露宿街头的人数没有公布。医疗这一题，户籍人口的期望寿命，2022 年以后就没有再公布。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建议讲述：60秒</a:t>
            </a:r>
          </a:p>
          <a:p xmlns:a="http://schemas.openxmlformats.org/drawingml/2006/main">
            <a:r>
              <a:t>15分钟讲述取舍：用住房和托底两个具体例子说明透明为何重要，最后一句收束。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纽约在 2012 年就立了法：政府数据默认公开，不公开要说明理由。收容所里住了多少人，每天更新。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件事为什么重要？一项住房政策有没有用，要看房租负担降没降；一套托底制度托住了多少人，要看还有多少人睡在街上。如果市民总是拿替代的数、估算的数去了解自己的城市，政策就很难得到理性的反馈：做得不够的地方没人知道，做得好的地方也拿不出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人民城市人民建。真想让人民参与建设，就应该尽量把城市运行的数据摆出来。谢谢大家。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建议讲述：5秒</a:t>
            </a:r>
          </a:p>
          <a:p xmlns:a="http://schemas.openxmlformats.org/drawingml/2006/main">
            <a:r>
              <a:t>15分钟讲述取舍：收束，不增加新观点。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答辩依据：data/data-table.md；script/口径表.md；script/答辩卡.md。</a:t>
            </a:r>
          </a:p>
          <a:p xmlns:a="http://schemas.openxmlformats.org/drawingml/2006/main"/>
          <a:p xmlns:a="http://schemas.openxmlformats.org/drawingml/2006/main">
            <a:r>
              <a:t>问：为什么不用纽约都会区？</a:t>
            </a:r>
          </a:p>
          <a:p xmlns:a="http://schemas.openxmlformats.org/drawingml/2006/main">
            <a:r>
              <a:t>答：我们比的是城市政府怎么对待市民，纽约市政府只管五个区。都会区跨三个州，自有住房率等数据也取不全（NY-C6）</a:t>
            </a:r>
          </a:p>
          <a:p xmlns:a="http://schemas.openxmlformats.org/drawingml/2006/main">
            <a:r>
              <a:t>问：收入能直接比吗？</a:t>
            </a:r>
          </a:p>
          <a:p xmlns:a="http://schemas.openxmlformats.org/drawingml/2006/main"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 xmlns:a="http://schemas.openxmlformats.org/drawingml/2006/main">
            <a:r>
              <a:t>问：上海 59% 自有住房率可靠吗？</a:t>
            </a:r>
          </a:p>
          <a:p xmlns:a="http://schemas.openxmlformats.org/drawingml/2006/main">
            <a:r>
              <a:t>答：2020 年七普长表，按家庭户统计，不含集体户，所以偏高。纽约 32.3% 是 2023 年住房与空置调查（SH-C1、NY-C5）</a:t>
            </a:r>
          </a:p>
          <a:p xmlns:a="http://schemas.openxmlformats.org/drawingml/2006/main">
            <a:r>
              <a:t>问：为什么不比房租负担？</a:t>
            </a:r>
          </a:p>
          <a:p xmlns:a="http://schemas.openxmlformats.org/drawingml/2006/main"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 xmlns:a="http://schemas.openxmlformats.org/drawingml/2006/main">
            <a:r>
              <a:t>问：吃的花销口径一样吗？</a:t>
            </a:r>
          </a:p>
          <a:p xmlns:a="http://schemas.openxmlformats.org/drawingml/2006/main">
            <a:r>
              <a:t>答：纽约的"餐饮住宿"含住宿，上海的"食品烟酒"含烟酒，两边都偏高一点，不改变量级</a:t>
            </a:r>
          </a:p>
          <a:p xmlns:a="http://schemas.openxmlformats.org/drawingml/2006/main">
            <a:r>
              <a:t>问：吃和穿为什么用纽约州？</a:t>
            </a:r>
          </a:p>
          <a:p xmlns:a="http://schemas.openxmlformats.org/drawingml/2006/main"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 xmlns:a="http://schemas.openxmlformats.org/drawingml/2006/main">
            <a:r>
              <a:t>问：孕产妇死亡率口径一样吗？</a:t>
            </a:r>
          </a:p>
          <a:p xmlns:a="http://schemas.openxmlformats.org/drawingml/2006/main">
            <a:r>
              <a:t>答：纽约原始口径算到产后一年（32.2/10 万，2022）；按纽约报告里的死亡时间分布截到 42 天约 21/10 万，与上海口径一致（NY-H11）</a:t>
            </a:r>
          </a:p>
          <a:p xmlns:a="http://schemas.openxmlformats.org/drawingml/2006/main">
            <a:r>
              <a:t>问：上海公厕 8,325 处包括哪些？</a:t>
            </a:r>
          </a:p>
          <a:p xmlns:a="http://schemas.openxmlformats.org/drawingml/2006/main"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问：期望寿命为什么不判分？</a:t>
            </a:r>
          </a:p>
          <a:p xmlns:a="http://schemas.openxmlformats.org/drawingml/2006/main">
            <a:r>
              <a:t>答：上海 83.18 岁是 2022 年户籍人口，之后未公布；纽约 83.2 岁是 2024 年全体居民的临时数。年份和人群都不同</a:t>
            </a:r>
          </a:p>
          <a:p xmlns:a="http://schemas.openxmlformats.org/drawingml/2006/main">
            <a:r>
              <a:t>问：孕产妇死亡率口径一样吗？</a:t>
            </a:r>
          </a:p>
          <a:p xmlns:a="http://schemas.openxmlformats.org/drawingml/2006/main">
            <a:r>
              <a:t>答：纽约原始口径算到产后一年（32.2/10 万，2022）；按纽约报告里的死亡时间分布截到 42 天约 21/10 万，与上海口径一致（NY-H11）</a:t>
            </a:r>
          </a:p>
          <a:p xmlns:a="http://schemas.openxmlformats.org/drawingml/2006/main">
            <a:r>
              <a:t>问：杀人案能比吗？</a:t>
            </a:r>
          </a:p>
          <a:p xmlns:a="http://schemas.openxmlformats.org/drawingml/2006/main">
            <a:r>
              <a:t>答：上海是公安立案的杀人案，纽约是谋杀案，口径略有不同，但差约 19 倍（SH-H10、NY-H4a）</a:t>
            </a:r>
          </a:p>
          <a:p xmlns:a="http://schemas.openxmlformats.org/drawingml/2006/main">
            <a:r>
              <a:t>问：文化为什么判纽约胜？</a:t>
            </a:r>
          </a:p>
          <a:p xmlns:a="http://schemas.openxmlformats.org/drawingml/2006/main"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纽约孕产妇死亡约21/10万由报告按产后42天折算；两项医疗结局统计年份不同。</a:t>
            </a:r>
          </a:p>
          <a:p xmlns:a="http://schemas.openxmlformats.org/drawingml/2006/main">
            <a:r>
              <a:t>上海为杀人案立案，纽约为谋杀案；年份不同，比率由案件与人口计算。</a:t>
            </a:r>
          </a:p>
          <a:p xmlns:a="http://schemas.openxmlformats.org/drawingml/2006/main">
            <a:r>
              <a:t>生师比由官方学生与教师数计算；上海中小学含高中，纽约为K–12。</a:t>
            </a:r>
          </a:p>
          <a:p xmlns:a="http://schemas.openxmlformats.org/drawingml/2006/main">
            <a:r>
              <a:t>按公共图书馆网络与文化资助作判断；上海市区馆20个不用于与纽约全部网点硬比。</a:t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https://wsjkw.sh.gov.cn/tjsj2/20260730/7154e5b1603642a8a3c7c0b2b8b3b149.html</a:t>
            </a:r>
          </a:p>
          <a:p xmlns:a="http://schemas.openxmlformats.org/drawingml/2006/main">
            <a:r>
              <a:t>https://www.nyc.gov/assets/doh/downloads/pdf/vs/2023sum.pdf</a:t>
            </a:r>
          </a:p>
          <a:p xmlns:a="http://schemas.openxmlformats.org/drawingml/2006/main">
            <a:r>
              <a:t>https://www.nyc.gov/assets/doh/downloads/pdf/data/maternal-mortality-annual-report-2025.pdf</a:t>
            </a:r>
          </a:p>
          <a:p xmlns:a="http://schemas.openxmlformats.org/drawingml/2006/main">
            <a:r>
              <a:t>https://tjj.sh.gov.cn/tjnj/2025tjnj/C2303.htm</a:t>
            </a:r>
          </a:p>
          <a:p xmlns:a="http://schemas.openxmlformats.org/drawingml/2006/main">
            <a:r>
              <a:t>https://www.nyc.gov/site/nypd/news/PR001/nypd-safest-year-ever-gun-violence-fewest-shooting-incidents-shooting</a:t>
            </a:r>
          </a:p>
          <a:p xmlns:a="http://schemas.openxmlformats.org/drawingml/2006/main">
            <a:r>
              <a:t>https://tjj.sh.gov.cn/tjnj/2025tjnj/C2015.htm</a:t>
            </a:r>
          </a:p>
          <a:p xmlns:a="http://schemas.openxmlformats.org/drawingml/2006/main">
            <a:r>
              <a:t>https://tjj.sh.gov.cn/tjnj/2025tjnj/C2013.htm</a:t>
            </a:r>
          </a:p>
          <a:p xmlns:a="http://schemas.openxmlformats.org/drawingml/2006/main">
            <a:r>
              <a:t>https://tjj.sh.gov.cn/tjnj/2025tjnj/C2004.htm</a:t>
            </a:r>
          </a:p>
          <a:p xmlns:a="http://schemas.openxmlformats.org/drawingml/2006/main">
            <a:r>
              <a:t>https://data.nysed.gov/studenteducator.php?year=2025&amp;instid=7889678368</a:t>
            </a:r>
          </a:p>
          <a:p xmlns:a="http://schemas.openxmlformats.org/drawingml/2006/main">
            <a:r>
              <a:t>https://www.nypl.org/about/locations</a:t>
            </a:r>
          </a:p>
          <a:p xmlns:a="http://schemas.openxmlformats.org/drawingml/2006/main">
            <a:r>
              <a:t>https://www.bklynlibrary.org/browse-the-branches/about</a:t>
            </a:r>
          </a:p>
          <a:p xmlns:a="http://schemas.openxmlformats.org/drawingml/2006/main">
            <a:r>
              <a:t>http://gis.nyc.gov/site/dcla/about/pressrelease/PR-2026-2-26-NYC-Department-of-Cultural-Affairs-Announces-74.3-Million-in-Grants-for-1171-Cultural-Organizations-Across-the-City.page</a:t>
            </a:r>
          </a:p>
          <a:p xmlns:a="http://schemas.openxmlformats.org/drawingml/2006/main"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原资料截图于2026-10-10采集；黑框为采集者添加。地图快照2026-10-12，原始HTML由同学提供，本版恢复地图原始色系，保留几何、点位和数值。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纽约为税前户收入中位数；上海由人均可支配收入均值×家庭户规模估算。</a:t>
            </a:r>
          </a:p>
          <a:p xmlns:a="http://schemas.openxmlformats.org/drawingml/2006/main">
            <a:r>
              <a:t>上海为开放平台记录，纽约为市政运营公厕；只比较量级。</a:t>
            </a:r>
          </a:p>
          <a:p xmlns:a="http://schemas.openxmlformats.org/drawingml/2006/main">
            <a:r>
              <a:t>上海为七普长表家庭户，纽约为HVS已入住住房；分母与年份不同。</a:t>
            </a:r>
          </a:p>
          <a:p xmlns:a="http://schemas.openxmlformats.org/drawingml/2006/main">
            <a:r>
              <a:t>纽约州在家食品饮料＋餐饮住宿，上海食品烟酒；价格与分类差异使实际差距小于账面。</a:t>
            </a:r>
          </a:p>
          <a:p xmlns:a="http://schemas.openxmlformats.org/drawingml/2006/main">
            <a:r>
              <a:t>纽约使用州级数据；按2026-10-09汇率换算。</a:t>
            </a:r>
          </a:p>
          <a:p xmlns:a="http://schemas.openxmlformats.org/drawingml/2006/main">
            <a:r>
              <a:t>票价按户收入差2.65倍折算；支出占比为纽约都会区交通（2022–23）对上海交通通信（2024）。</a:t>
            </a:r>
          </a:p>
          <a:p xmlns:a="http://schemas.openxmlformats.org/drawingml/2006/main">
            <a:r>
              <a:t>纽约孕产妇死亡约21/10万由报告按产后42天折算；两项医疗结局统计年份不同。</a:t>
            </a:r>
          </a:p>
          <a:p xmlns:a="http://schemas.openxmlformats.org/drawingml/2006/main">
            <a:r>
              <a:t>上海为杀人案立案，纽约为谋杀案；年份不同，比率由案件与人口计算。</a:t>
            </a:r>
          </a:p>
          <a:p xmlns:a="http://schemas.openxmlformats.org/drawingml/2006/main">
            <a:r>
              <a:t>生师比由官方学生与教师数计算；上海中小学含高中，纽约为K–12。</a:t>
            </a:r>
          </a:p>
          <a:p xmlns:a="http://schemas.openxmlformats.org/drawingml/2006/main">
            <a:r>
              <a:t>按公共图书馆网络与文化资助作判断；上海市区馆20个不用于与纽约全部网点硬比。</a:t>
            </a:r>
          </a:p>
          <a:p xmlns:a="http://schemas.openxmlformats.org/drawingml/2006/main">
            <a:r>
              <a:t>纽约为HUD一夜点数；上海露宿人数未公开，判断结合托底制度与纽约结果。</a:t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https://www.health.ny.gov/statistics/vital_statistics/2022/table02.htm</a:t>
            </a:r>
          </a:p>
          <a:p xmlns:a="http://schemas.openxmlformats.org/drawingml/2006/main">
            <a:r>
              <a:t>https://www.nyc.gov/content/planning/pages/planning/population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https://tjj.sh.gov.cn/ydsj71/20260120/39ae4cd58421478d897b739d83f39c10.html</a:t>
            </a:r>
          </a:p>
          <a:p xmlns:a="http://schemas.openxmlformats.org/drawingml/2006/main">
            <a:r>
              <a:t>https://tjj.sh.gov.cn/tjgb/20260630/b74619258aee4912a55a1da928b5be30.html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>https://lhsr.sh.gov.cn/ywdt/20260401/00d7c161-8280-490c-a0da-d6c995e85058.html</a:t>
            </a:r>
          </a:p>
          <a:p xmlns:a="http://schemas.openxmlformats.org/drawingml/2006/main">
            <a:r>
              <a:t>https://lhsr.sh.gov.cn/ywdt/20251204/b016509f-60a6-46cd-83fa-fdab372175c7.html</a:t>
            </a:r>
          </a:p>
          <a:p xmlns:a="http://schemas.openxmlformats.org/drawingml/2006/main">
            <a:r>
              <a:t>https://council.nyc.gov/data/public-restroom-analysis/</a:t>
            </a:r>
          </a:p>
          <a:p xmlns:a="http://schemas.openxmlformats.org/drawingml/2006/main">
            <a:r>
              <a:t>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>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>
            <a:r>
              <a:t>https://wsjkw.sh.gov.cn/tjsj2/20260730/7154e5b1603642a8a3c7c0b2b8b3b149.html</a:t>
            </a:r>
          </a:p>
          <a:p xmlns:a="http://schemas.openxmlformats.org/drawingml/2006/main">
            <a:r>
              <a:t>https://www.nyc.gov/assets/doh/downloads/pdf/vs/2023sum.pdf</a:t>
            </a:r>
          </a:p>
          <a:p xmlns:a="http://schemas.openxmlformats.org/drawingml/2006/main">
            <a:r>
              <a:t>https://www.nyc.gov/assets/doh/downloads/pdf/data/maternal-mortality-annual-report-2025.pdf</a:t>
            </a:r>
          </a:p>
          <a:p xmlns:a="http://schemas.openxmlformats.org/drawingml/2006/main">
            <a:r>
              <a:t>https://tjj.sh.gov.cn/tjnj/2025tjnj/C2303.htm</a:t>
            </a:r>
          </a:p>
          <a:p xmlns:a="http://schemas.openxmlformats.org/drawingml/2006/main">
            <a:r>
              <a:t>https://www.nyc.gov/site/nypd/news/PR001/nypd-safest-year-ever-gun-violence-fewest-shooting-incidents-shooting</a:t>
            </a:r>
          </a:p>
          <a:p xmlns:a="http://schemas.openxmlformats.org/drawingml/2006/main">
            <a:r>
              <a:t>https://tjj.sh.gov.cn/tjnj/2025tjnj/C2015.htm</a:t>
            </a:r>
          </a:p>
          <a:p xmlns:a="http://schemas.openxmlformats.org/drawingml/2006/main">
            <a:r>
              <a:t>https://tjj.sh.gov.cn/tjnj/2025tjnj/C2013.htm</a:t>
            </a:r>
          </a:p>
          <a:p xmlns:a="http://schemas.openxmlformats.org/drawingml/2006/main">
            <a:r>
              <a:t>https://tjj.sh.gov.cn/tjnj/2025tjnj/C2004.htm</a:t>
            </a:r>
          </a:p>
          <a:p xmlns:a="http://schemas.openxmlformats.org/drawingml/2006/main">
            <a:r>
              <a:t>https://data.nysed.gov/studenteducator.php?year=2025&amp;instid=7889678368</a:t>
            </a:r>
          </a:p>
          <a:p xmlns:a="http://schemas.openxmlformats.org/drawingml/2006/main">
            <a:r>
              <a:t>https://www.nypl.org/about/locations</a:t>
            </a:r>
          </a:p>
          <a:p xmlns:a="http://schemas.openxmlformats.org/drawingml/2006/main">
            <a:r>
              <a:t>https://www.bklynlibrary.org/browse-the-branches/about</a:t>
            </a:r>
          </a:p>
          <a:p xmlns:a="http://schemas.openxmlformats.org/drawingml/2006/main">
            <a:r>
              <a:t>http://gis.nyc.gov/site/dcla/about/pressrelease/PR-2026-2-26-NYC-Department-of-Cultural-Affairs-Announces-74.3-Million-in-Grants-for-1171-Cultural-Organizations-Across-the-City.page</a:t>
            </a:r>
          </a:p>
          <a:p xmlns:a="http://schemas.openxmlformats.org/drawingml/2006/main">
            <a:r>
              <a:t>https://english.shanghai.gov.cn/en-Latest-WhatsNew/20260212/af11d8de7fd24819bff50c940e428855.html</a:t>
            </a:r>
          </a:p>
          <a:p xmlns:a="http://schemas.openxmlformats.org/drawingml/2006/main">
            <a:r>
              <a:t>https://files.hudexchange.info/reports/published/CoC_PopSub_CoC_NY-600-2025_NY_2025.pdf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4dc418bc576449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33875c6671f440e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1173c70038d48fb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c83e4b563da4b2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ea34e54eeb8435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58576ac8bf5417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1a15676f09d4f36" Type="http://schemas.openxmlformats.org/officeDocument/2006/relationships/slideLayout" Target="../slideLayouts/slideLayout2.xml"/><Relationship Id="R7de6d5ae1b704877" Type="http://schemas.openxmlformats.org/officeDocument/2006/relationships/slideLayout" Target="../slideLayouts/slideLayout5.xml"/><Relationship Id="R84c96ac003fe4cc8" Type="http://schemas.openxmlformats.org/officeDocument/2006/relationships/slideLayout" Target="../slideLayouts/slideLayout3.xml"/><Relationship Id="R87279f75c34f4809" Type="http://schemas.openxmlformats.org/officeDocument/2006/relationships/theme" Target="theme/theme2.xml"/><Relationship Id="R894767cdfc914948" Type="http://schemas.openxmlformats.org/officeDocument/2006/relationships/slideLayout" Target="../slideLayouts/slideLayout1.xml"/><Relationship Id="Rad76812a32ec4b05" Type="http://schemas.openxmlformats.org/officeDocument/2006/relationships/slideLayout" Target="../slideLayouts/slideLayout6.xml"/><Relationship Id="Reef4e43d093c40d0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4767cdfc914948"/>
    <p:sldLayoutId xmlns:r="http://schemas.openxmlformats.org/officeDocument/2006/relationships" id="2147483650" r:id="R71a15676f09d4f36"/>
    <p:sldLayoutId xmlns:r="http://schemas.openxmlformats.org/officeDocument/2006/relationships" id="2147483651" r:id="R84c96ac003fe4cc8"/>
    <p:sldLayoutId xmlns:r="http://schemas.openxmlformats.org/officeDocument/2006/relationships" id="2147483652" r:id="Reef4e43d093c40d0"/>
    <p:sldLayoutId xmlns:r="http://schemas.openxmlformats.org/officeDocument/2006/relationships" id="2147483653" r:id="R7de6d5ae1b704877"/>
    <p:sldLayoutId xmlns:r="http://schemas.openxmlformats.org/officeDocument/2006/relationships" id="2147483654" r:id="Rad76812a32ec4b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8c21086840b414e" Type="http://schemas.openxmlformats.org/officeDocument/2006/relationships/notesSlide" Target="../notesSlides/notesSlide1.xml"/><Relationship Id="Rab5cebca74874dd5" Type="http://schemas.openxmlformats.org/officeDocument/2006/relationships/image" Target="../media/image.png"/><Relationship Id="Rbbe7c5253f3f4b99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02da569aa9164457" Type="http://schemas.openxmlformats.org/officeDocument/2006/relationships/notesSlide" Target="../notesSlides/notesSlide2.xml"/><Relationship Id="R6036b2af900c40cf" Type="http://schemas.openxmlformats.org/officeDocument/2006/relationships/slideLayout" Target="../slideLayouts/slideLayout6.xml"/><Relationship Id="Ra17bf9c5c7a349f8" Type="http://schemas.openxmlformats.org/officeDocument/2006/relationships/image" Target="../media/image3.png"/><Relationship Id="Rfa6f658d21cd464f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4cbe65b895324747" Type="http://schemas.openxmlformats.org/officeDocument/2006/relationships/slideLayout" Target="../slideLayouts/slideLayout6.xml"/><Relationship Id="R82515225c5f14a3e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16ae4cc41fb34489" Type="http://schemas.openxmlformats.org/officeDocument/2006/relationships/slideLayout" Target="../slideLayouts/slideLayout6.xml"/><Relationship Id="R56de2cd5a9704e2c" Type="http://schemas.openxmlformats.org/officeDocument/2006/relationships/notesSlide" Target="../notesSlides/notesSlide4.xml"/><Relationship Id="Rb747e1f621ed4c4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409bf0341d534837" Type="http://schemas.openxmlformats.org/officeDocument/2006/relationships/notesSlide" Target="../notesSlides/notesSlide5.xml"/><Relationship Id="R4a5a71ff91e84023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4abdcd6b78b645e3" Type="http://schemas.openxmlformats.org/officeDocument/2006/relationships/notesSlide" Target="../notesSlides/notesSlide6.xml"/><Relationship Id="Rb63083491ed94d6e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afe605342e664700" Type="http://schemas.openxmlformats.org/officeDocument/2006/relationships/notesSlide" Target="../notesSlides/notesSlide7.xml"/><Relationship Id="Rb6e8bd1a1cd348f7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23a3351725ad474c" Type="http://schemas.openxmlformats.org/officeDocument/2006/relationships/slideLayout" Target="../slideLayouts/slideLayout6.xml"/><Relationship Id="Rd226c10e79324e76" Type="http://schemas.openxmlformats.org/officeDocument/2006/relationships/image" Target="../media/image5.png"/><Relationship Id="Rd870ed86bd9f4e8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395f8d228fe54378" Type="http://schemas.openxmlformats.org/officeDocument/2006/relationships/image" Target="../media/image8.png"/><Relationship Id="R424cef7cba9340eb" Type="http://schemas.openxmlformats.org/officeDocument/2006/relationships/slideLayout" Target="../slideLayouts/slideLayout6.xml"/><Relationship Id="R4915d711f99d46af" Type="http://schemas.openxmlformats.org/officeDocument/2006/relationships/notesSlide" Target="../notesSlides/notesSlide9.xml"/><Relationship Id="R6916583b0d88494d" Type="http://schemas.openxmlformats.org/officeDocument/2006/relationships/image" Target="../media/image6.png"/><Relationship Id="Rc42bc173c7c34ee1" Type="http://schemas.openxmlformats.org/officeDocument/2006/relationships/image" Target="../media/image7.png"/><Relationship Id="Rfc2d01e0eedf4299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563d3be0624f43b1" Type="http://schemas.openxmlformats.org/officeDocument/2006/relationships/slideLayout" Target="../slideLayouts/slideLayout6.xml"/><Relationship Id="R84ebc948c8444e9e" Type="http://schemas.openxmlformats.org/officeDocument/2006/relationships/image" Target="../media/image10.png"/><Relationship Id="Rea08f1012bfa49cd" Type="http://schemas.openxmlformats.org/officeDocument/2006/relationships/notesSlide" Target="../notesSlides/notesSlide10.xml"/><Relationship Id="Rfa6dd8db5db94171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7c3d32d3684b4cb0" Type="http://schemas.openxmlformats.org/officeDocument/2006/relationships/notesSlide" Target="../notesSlides/notesSlide11.xml"/><Relationship Id="Ra5b3139ff6ea442c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2b7f89a90c8e43f7" Type="http://schemas.openxmlformats.org/officeDocument/2006/relationships/slideLayout" Target="../slideLayouts/slideLayout6.xml"/><Relationship Id="Rd36bde3666b84f2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ebe5ee5b4c74643" Type="http://schemas.openxmlformats.org/officeDocument/2006/relationships/notesSlide" Target="../notesSlides/notesSlide13.xml"/><Relationship Id="R5ed6256402bc4160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71f7caef79894d24" Type="http://schemas.openxmlformats.org/officeDocument/2006/relationships/image" Target="../media/image12.png"/><Relationship Id="R9562b15243b24913" Type="http://schemas.openxmlformats.org/officeDocument/2006/relationships/image" Target="../media/image13.png"/><Relationship Id="Rcc8bcebba13149df" Type="http://schemas.openxmlformats.org/officeDocument/2006/relationships/slideLayout" Target="../slideLayouts/slideLayout6.xml"/><Relationship Id="Rdccda2e75b2849a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303b58c926904478" Type="http://schemas.openxmlformats.org/officeDocument/2006/relationships/image" Target="../media/image14.png"/><Relationship Id="R4a597d50bae748bd" Type="http://schemas.openxmlformats.org/officeDocument/2006/relationships/notesSlide" Target="../notesSlides/notesSlide15.xml"/><Relationship Id="R80ca14f7cecc48c6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47875582608b42da" Type="http://schemas.openxmlformats.org/officeDocument/2006/relationships/slideLayout" Target="../slideLayouts/slideLayout6.xml"/><Relationship Id="Ra9459bdabe95449a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4cd4a791e9fd4686" Type="http://schemas.openxmlformats.org/officeDocument/2006/relationships/notesSlide" Target="../notesSlides/notesSlide17.xml"/><Relationship Id="R78bafa5c6a5e4fea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7a3af45c1f5846cb" Type="http://schemas.openxmlformats.org/officeDocument/2006/relationships/notesSlide" Target="../notesSlides/notesSlide18.xml"/><Relationship Id="Re544d8e274004ad0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0546e69726324e31" Type="http://schemas.openxmlformats.org/officeDocument/2006/relationships/slideLayout" Target="../slideLayouts/slideLayout6.xml"/><Relationship Id="Rc4ab5cc5349f440d" Type="http://schemas.openxmlformats.org/officeDocument/2006/relationships/notesSlide" Target="../notesSlides/notesSlide19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C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6191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概念出处：新华社，2019-11-03；“以人民为中心”为课堂概括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"/>
            <a:ext cx="62865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人民城市的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上海实践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8900"/>
            <a:ext cx="628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纽约能不能叫人民城市？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628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人民城市人民建</a:t>
            </a:r>
          </a:p>
          <a:p xmlns:a="http://schemas.openxmlformats.org/drawingml/2006/main">
            <a:pPr algn="l">
              <a:def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人民城市为人民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628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以人民为中心，回应居民需要，</a:t>
            </a:r>
          </a:p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让人民共同参与城市建设。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5cebca74874dd5"/>
          <a:srcRect xmlns:a="http://schemas.openxmlformats.org/drawingml/2006/main" l="25201" t="0" r="252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0" y="0"/>
            <a:ext cx="51054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开场：一座厕所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text-5">
            <a:extLst xmlns:a="http://schemas.openxmlformats.org/drawingml/2006/main"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</a:t>
            </a:r>
          </a:p>
        </p:txBody>
      </p:sp>
      <p:sp>
        <p:nvSpPr>
          <p:cNvPr id="5" name="text-6">
            <a:extLst xmlns:a="http://schemas.openxmlformats.org/drawingml/2006/main"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62075"/>
            <a:ext cx="527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</a:t>
            </a:r>
          </a:p>
        </p:txBody>
      </p:sp>
      <p:sp>
        <p:nvSpPr>
          <p:cNvPr id="6" name="text-7">
            <a:extLst xmlns:a="http://schemas.openxmlformats.org/drawingml/2006/main"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5143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8,325 条记录</a:t>
            </a:r>
          </a:p>
        </p:txBody>
      </p:sp>
      <p:sp>
        <p:nvSpPr>
          <p:cNvPr id="7" name="text-8">
            <a:extLst xmlns:a="http://schemas.openxmlformats.org/drawingml/2006/main"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52768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973 座在运营</a:t>
            </a:r>
          </a:p>
        </p:txBody>
      </p:sp>
      <p:sp>
        <p:nvSpPr>
          <p:cNvPr id="8" name="text-9">
            <a:extLst xmlns:a="http://schemas.openxmlformats.org/drawingml/2006/main"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约每 3,000 人一处</a:t>
            </a:r>
          </a:p>
        </p:txBody>
      </p:sp>
      <p:sp>
        <p:nvSpPr>
          <p:cNvPr id="9" name="text-10">
            <a:extLst xmlns:a="http://schemas.openxmlformats.org/drawingml/2006/main"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86050"/>
            <a:ext cx="527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近每 9,000 人一处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6f658d21cd464f"/>
          <a:stretch xmlns:a="http://schemas.openxmlformats.org/drawingml/2006/main"/>
        </p:blipFill>
        <p:spPr>
          <a:xfrm xmlns:a="http://schemas.openxmlformats.org/drawingml/2006/main">
            <a:off x="571500" y="3502890"/>
            <a:ext cx="2800350" cy="1757220"/>
          </a:xfrm>
          <a:prstGeom xmlns:a="http://schemas.openxmlformats.org/drawingml/2006/main" prst="rect">
            <a:avLst/>
          </a:prstGeom>
        </p:spPr>
      </p:pic>
      <p:sp>
        <p:nvSpPr>
          <p:cNvPr id="11" name="text-11">
            <a:extLst xmlns:a="http://schemas.openxmlformats.org/drawingml/2006/main"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29025"/>
            <a:ext cx="2171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2,631 座改造</a:t>
            </a:r>
          </a:p>
        </p:txBody>
      </p:sp>
      <p:sp>
        <p:nvSpPr>
          <p:cNvPr id="12" name="text-12">
            <a:extLst xmlns:a="http://schemas.openxmlformats.org/drawingml/2006/main"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71950"/>
            <a:ext cx="2171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适老、适幼设施</a:t>
            </a:r>
          </a:p>
          <a:p xmlns:a="http://schemas.openxmlformats.org/drawingml/2006/main"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第三卫生间</a:t>
            </a:r>
          </a:p>
          <a:p xmlns:a="http://schemas.openxmlformats.org/drawingml/2006/main"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免费厕纸和热水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7bf9c5c7a349f8"/>
          <a:stretch xmlns:a="http://schemas.openxmlformats.org/drawingml/2006/main"/>
        </p:blipFill>
        <p:spPr>
          <a:xfrm xmlns:a="http://schemas.openxmlformats.org/drawingml/2006/main">
            <a:off x="6624947" y="3448050"/>
            <a:ext cx="4714256" cy="981075"/>
          </a:xfrm>
          <a:prstGeom xmlns:a="http://schemas.openxmlformats.org/drawingml/2006/main" prst="rect">
            <a:avLst/>
          </a:prstGeom>
        </p:spPr>
      </p:pic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43450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全天 24 小时开放的只有 8 座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比什么，怎么比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基础保障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住、吃、穿、行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24175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民生福祉</a:t>
            </a:r>
          </a:p>
        </p:txBody>
      </p:sp>
      <p:sp>
        <p:nvSpPr>
          <p:cNvPr id="7" name="text-18">
            <a:extLst xmlns:a="http://schemas.openxmlformats.org/drawingml/2006/main"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813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医疗、治安、教育、文化</a:t>
            </a:r>
          </a:p>
        </p:txBody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底层关怀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单独看：怎么对待最穷的人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mlns:a="http://schemas.openxmlformats.org/drawingml/2006/main" x="6315075" y="1457325"/>
          <a:ext xmlns:a="http://schemas.openxmlformats.org/drawingml/2006/main" cx="5305425" cy="1743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3590925"/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11" name="text-21">
            <a:extLst xmlns:a="http://schemas.openxmlformats.org/drawingml/2006/main"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562350"/>
            <a:ext cx="53054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家庭收入差约两倍半</a:t>
            </a:r>
          </a:p>
        </p:txBody>
      </p:sp>
      <p:sp>
        <p:nvSpPr>
          <p:cNvPr id="12" name="text-22">
            <a:extLst xmlns:a="http://schemas.openxmlformats.org/drawingml/2006/main"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229100"/>
            <a:ext cx="53054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纽约约 55 万元　上海约 20.6 万元</a:t>
            </a:r>
          </a:p>
        </p:txBody>
      </p:sp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905375"/>
            <a:ext cx="53054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现金收入是背景，</a:t>
            </a:r>
          </a:p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具体生活要分项比较。</a:t>
            </a:r>
          </a:p>
        </p:txBody>
      </p:sp>
      <p:sp>
        <p:nvSpPr>
          <p:cNvPr id="14" name="text-24">
            <a:extLst xmlns:a="http://schemas.openxmlformats.org/drawingml/2006/main"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住：稳定居住，上海明显占优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text-25">
            <a:extLst xmlns:a="http://schemas.openxmlformats.org/drawingml/2006/main"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自有住房率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mlns:a="http://schemas.openxmlformats.org/drawingml/2006/main" x="571500" y="2009775"/>
          <a:ext xmlns:a="http://schemas.openxmlformats.org/drawingml/2006/main" cx="5219700" cy="1514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09850"/>
                <a:gridCol w="2609850"/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6" name="text-26">
            <a:extLst xmlns:a="http://schemas.openxmlformats.org/drawingml/2006/main"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52875"/>
            <a:ext cx="52197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相差约 27 个百分点</a:t>
            </a:r>
          </a:p>
        </p:txBody>
      </p:sp>
      <p:sp>
        <p:nvSpPr>
          <p:cNvPr id="7" name="text-27">
            <a:extLst xmlns:a="http://schemas.openxmlformats.org/drawingml/2006/main"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86300"/>
            <a:ext cx="5219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纽约约一半租房家庭，</a:t>
            </a:r>
          </a:p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房租占收入三成以上。</a:t>
            </a:r>
          </a:p>
        </p:txBody>
      </p:sp>
      <p:sp>
        <p:nvSpPr>
          <p:cNvPr id="8" name="text-28">
            <a:extLst xmlns:a="http://schemas.openxmlformats.org/drawingml/2006/main"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906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上海继续增加住房支持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7e1f621ed4c42"/>
          <a:stretch xmlns:a="http://schemas.openxmlformats.org/drawingml/2006/main"/>
        </p:blipFill>
        <p:spPr>
          <a:xfrm xmlns:a="http://schemas.openxmlformats.org/drawingml/2006/main">
            <a:off x="6343650" y="2281238"/>
            <a:ext cx="5276850" cy="628650"/>
          </a:xfrm>
          <a:prstGeom xmlns:a="http://schemas.openxmlformats.org/drawingml/2006/main" prst="rect">
            <a:avLst/>
          </a:prstGeom>
        </p:spPr>
      </p:pic>
      <p:sp>
        <p:nvSpPr>
          <p:cNvPr id="10" name="text-29">
            <a:extLst xmlns:a="http://schemas.openxmlformats.org/drawingml/2006/main"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57575"/>
            <a:ext cx="52768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7.4 万套（间）</a:t>
            </a:r>
          </a:p>
        </p:txBody>
      </p:sp>
      <p:sp>
        <p:nvSpPr>
          <p:cNvPr id="11" name="text-30">
            <a:extLst xmlns:a="http://schemas.openxmlformats.org/drawingml/2006/main"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14800"/>
            <a:ext cx="527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2025年建设筹措保障性租赁住房</a:t>
            </a:r>
          </a:p>
        </p:txBody>
      </p:sp>
      <p:sp>
        <p:nvSpPr>
          <p:cNvPr id="12" name="text-31">
            <a:extLst xmlns:a="http://schemas.openxmlformats.org/drawingml/2006/main"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91075"/>
            <a:ext cx="5276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建设者之家床位 3.2 万张</a:t>
            </a:r>
          </a:p>
          <a:p xmlns:a="http://schemas.openxmlformats.org/drawingml/2006/main"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老楼加装电梯 3,295 台</a:t>
            </a:r>
          </a:p>
        </p:txBody>
      </p:sp>
      <p:sp>
        <p:nvSpPr>
          <p:cNvPr id="13" name="text-32">
            <a:extLst xmlns:a="http://schemas.openxmlformats.org/drawingml/2006/main"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自有住房率：上海2020年七普长表家庭户；纽约2023年HVS已入住住房，年份与分母不同。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吃和穿：纽约领先，程度不同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mlns:a="http://schemas.openxmlformats.org/drawingml/2006/main" x="571500" y="1485900"/>
          <a:ext xmlns:a="http://schemas.openxmlformats.org/drawingml/2006/main" cx="110490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28850"/>
                <a:gridCol w="2286000"/>
                <a:gridCol w="3905250"/>
                <a:gridCol w="2628900"/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33">
            <a:extLst xmlns:a="http://schemas.openxmlformats.org/drawingml/2006/main"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0"/>
            <a:ext cx="5191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吃：账面约 4.7 倍</a:t>
            </a:r>
          </a:p>
        </p:txBody>
      </p:sp>
      <p:sp>
        <p:nvSpPr>
          <p:cNvPr id="6" name="text-34">
            <a:extLst xmlns:a="http://schemas.openxmlformats.org/drawingml/2006/main"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10150"/>
            <a:ext cx="5191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餐饮价格随工资走，</a:t>
            </a:r>
          </a:p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花钱多不等于吃得好同样多。</a:t>
            </a:r>
          </a:p>
        </p:txBody>
      </p:sp>
      <p:sp>
        <p:nvSpPr>
          <p:cNvPr id="7" name="text-35">
            <a:extLst xmlns:a="http://schemas.openxmlformats.org/drawingml/2006/main"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81500"/>
            <a:ext cx="527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穿：接近 7 倍</a:t>
            </a:r>
          </a:p>
        </p:txBody>
      </p:sp>
      <p:sp>
        <p:nvSpPr>
          <p:cNvPr id="8" name="text-36">
            <a:extLst xmlns:a="http://schemas.openxmlformats.org/drawingml/2006/main"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010150"/>
            <a:ext cx="5276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全球化商品的消费差距，</a:t>
            </a:r>
          </a:p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比餐饮支出更直接。</a:t>
            </a:r>
          </a:p>
        </p:txBody>
      </p:sp>
      <p:sp>
        <p:nvSpPr>
          <p:cNvPr id="9" name="text-37">
            <a:extLst xmlns:a="http://schemas.openxmlformats.org/drawingml/2006/main"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行：日常出行，上海压倒性占优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text-38">
            <a:extLst xmlns:a="http://schemas.openxmlformats.org/drawingml/2006/main"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把纽约票价按收入差距折算后，再比较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mlns:a="http://schemas.openxmlformats.org/drawingml/2006/main" x="571500" y="2028825"/>
          <a:ext xmlns:a="http://schemas.openxmlformats.org/drawingml/2006/main" cx="11049000" cy="22193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010025"/>
                <a:gridCol w="4371975"/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6" name="text-39">
            <a:extLst xmlns:a="http://schemas.openxmlformats.org/drawingml/2006/main"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一日票 18 元</a:t>
            </a:r>
          </a:p>
          <a:p xmlns:a="http://schemas.openxmlformats.org/drawingml/2006/main">
            <a:pPr algn="l">
              <a:def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三日票 45 元</a:t>
            </a:r>
          </a:p>
        </p:txBody>
      </p:sp>
      <p:sp>
        <p:nvSpPr>
          <p:cNvPr id="7" name="text-40">
            <a:extLst xmlns:a="http://schemas.openxmlformats.org/drawingml/2006/main"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62475"/>
            <a:ext cx="40005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消费中的交通负担</a:t>
            </a:r>
          </a:p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上海交通通信 10.6%</a:t>
            </a:r>
          </a:p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纽约都会区交通 14%</a:t>
            </a:r>
          </a:p>
        </p:txBody>
      </p:sp>
      <p:sp>
        <p:nvSpPr>
          <p:cNvPr id="8" name="text-41">
            <a:extLst xmlns:a="http://schemas.openxmlformats.org/drawingml/2006/main"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562475"/>
            <a:ext cx="2714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每人每年乘坐地铁</a:t>
            </a:r>
          </a:p>
          <a:p xmlns:a="http://schemas.openxmlformats.org/drawingml/2006/main"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两城均约 150 次</a:t>
            </a:r>
          </a:p>
        </p:txBody>
      </p:sp>
      <p:sp>
        <p:nvSpPr>
          <p:cNvPr id="9" name="text-42">
            <a:extLst xmlns:a="http://schemas.openxmlformats.org/drawingml/2006/main"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民生福祉：四项放在一起看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962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19200"/>
                <a:gridCol w="3467100"/>
                <a:gridCol w="3867150"/>
                <a:gridCol w="2495550"/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43">
            <a:extLst xmlns:a="http://schemas.openxmlformats.org/drawingml/2006/main"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435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怎么对待最穷的人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text-44">
            <a:extLst xmlns:a="http://schemas.openxmlformats.org/drawingml/2006/main"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5219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上海：把托底网络铺开</a:t>
            </a:r>
          </a:p>
        </p:txBody>
      </p:sp>
      <p:sp>
        <p:nvSpPr>
          <p:cNvPr id="5" name="text-45">
            <a:extLst xmlns:a="http://schemas.openxmlformats.org/drawingml/2006/main"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5219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1,690 元 / 人·月</a:t>
            </a:r>
          </a:p>
        </p:txBody>
      </p:sp>
      <p:sp>
        <p:nvSpPr>
          <p:cNvPr id="6" name="text-46">
            <a:extLst xmlns:a="http://schemas.openxmlformats.org/drawingml/2006/main"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219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2026年7月起，城乡统一低保标准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mlns:a="http://schemas.openxmlformats.org/drawingml/2006/main" x="571500" y="3476625"/>
          <a:ext xmlns:a="http://schemas.openxmlformats.org/drawingml/2006/main" cx="5219700" cy="2114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3886200"/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8" name="text-47">
            <a:extLst xmlns:a="http://schemas.openxmlformats.org/drawingml/2006/main"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90650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纽约：住房出口仍然堵塞</a:t>
            </a:r>
          </a:p>
        </p:txBody>
      </p:sp>
      <p:sp>
        <p:nvSpPr>
          <p:cNvPr id="9" name="text-48">
            <a:extLst xmlns:a="http://schemas.openxmlformats.org/drawingml/2006/main"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5276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12.6 万人无家可归</a:t>
            </a:r>
          </a:p>
        </p:txBody>
      </p:sp>
      <p:sp>
        <p:nvSpPr>
          <p:cNvPr id="10" name="text-49">
            <a:extLst xmlns:a="http://schemas.openxmlformats.org/drawingml/2006/main"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14625"/>
            <a:ext cx="5276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其中露宿街头 4,673 人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6c10e79324e76"/>
          <a:stretch xmlns:a="http://schemas.openxmlformats.org/drawingml/2006/main"/>
        </p:blipFill>
        <p:spPr>
          <a:xfrm xmlns:a="http://schemas.openxmlformats.org/drawingml/2006/main">
            <a:off x="6343650" y="3627269"/>
            <a:ext cx="5276850" cy="127337"/>
          </a:xfrm>
          <a:prstGeom xmlns:a="http://schemas.openxmlformats.org/drawingml/2006/main" prst="rect">
            <a:avLst/>
          </a:prstGeom>
        </p:spPr>
      </p:pic>
      <p:sp>
        <p:nvSpPr>
          <p:cNvPr id="12" name="text-50">
            <a:extLst xmlns:a="http://schemas.openxmlformats.org/drawingml/2006/main"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38625"/>
            <a:ext cx="5276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租赁空置率只有 1.4%</a:t>
            </a:r>
          </a:p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收容所的人难以搬入稳定住房</a:t>
            </a:r>
          </a:p>
        </p:txBody>
      </p:sp>
      <p:sp>
        <p:nvSpPr>
          <p:cNvPr id="13" name="text-51">
            <a:extLst xmlns:a="http://schemas.openxmlformats.org/drawingml/2006/main"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62575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本组判定：上海胜，压倒性</a:t>
            </a:r>
          </a:p>
        </p:txBody>
      </p:sp>
      <p:sp>
        <p:nvSpPr>
          <p:cNvPr id="14" name="text-52">
            <a:extLst xmlns:a="http://schemas.openxmlformats.org/drawingml/2006/main"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家门口的公共服务：四类设施分布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text-53">
            <a:extLst xmlns:a="http://schemas.openxmlformats.org/drawingml/2006/main"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中心七区 · 直线1公里 · OSM已标注居住用地面积覆盖率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6583b0d88494d"/>
          <a:stretch xmlns:a="http://schemas.openxmlformats.org/drawingml/2006/main"/>
        </p:blipFill>
        <p:spPr>
          <a:xfrm xmlns:a="http://schemas.openxmlformats.org/drawingml/2006/main">
            <a:off x="572083" y="17526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6" name="text-54">
            <a:extLst xmlns:a="http://schemas.openxmlformats.org/drawingml/2006/main"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954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社区长者食堂</a:t>
            </a:r>
          </a:p>
        </p:txBody>
      </p:sp>
      <p:sp>
        <p:nvSpPr>
          <p:cNvPr id="7" name="text-55">
            <a:extLst xmlns:a="http://schemas.openxmlformats.org/drawingml/2006/main"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098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87.5%</a:t>
            </a:r>
          </a:p>
        </p:txBody>
      </p:sp>
      <p:sp>
        <p:nvSpPr>
          <p:cNvPr id="8" name="text-56">
            <a:extLst xmlns:a="http://schemas.openxmlformats.org/drawingml/2006/main"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527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公开食堂名录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bc173c7c34ee1"/>
          <a:stretch xmlns:a="http://schemas.openxmlformats.org/drawingml/2006/main"/>
        </p:blipFill>
        <p:spPr>
          <a:xfrm xmlns:a="http://schemas.openxmlformats.org/drawingml/2006/main">
            <a:off x="6287083" y="17526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10" name="text-57">
            <a:extLst xmlns:a="http://schemas.openxmlformats.org/drawingml/2006/main"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954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公园类绿地</a:t>
            </a:r>
          </a:p>
        </p:txBody>
      </p:sp>
      <p:sp>
        <p:nvSpPr>
          <p:cNvPr id="11" name="text-58">
            <a:extLst xmlns:a="http://schemas.openxmlformats.org/drawingml/2006/main"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098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99.3%</a:t>
            </a:r>
          </a:p>
        </p:txBody>
      </p:sp>
      <p:sp>
        <p:nvSpPr>
          <p:cNvPr id="12" name="text-59">
            <a:extLst xmlns:a="http://schemas.openxmlformats.org/drawingml/2006/main"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527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开放状态待核验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5f8d228fe54378"/>
          <a:stretch xmlns:a="http://schemas.openxmlformats.org/drawingml/2006/main"/>
        </p:blipFill>
        <p:spPr>
          <a:xfrm xmlns:a="http://schemas.openxmlformats.org/drawingml/2006/main">
            <a:off x="572083" y="38862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14" name="text-60">
            <a:extLst xmlns:a="http://schemas.openxmlformats.org/drawingml/2006/main"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290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市民健身中心</a:t>
            </a:r>
          </a:p>
        </p:txBody>
      </p:sp>
      <p:sp>
        <p:nvSpPr>
          <p:cNvPr id="15" name="text-61">
            <a:extLst xmlns:a="http://schemas.openxmlformats.org/drawingml/2006/main"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434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64.4%</a:t>
            </a:r>
          </a:p>
        </p:txBody>
      </p:sp>
      <p:sp>
        <p:nvSpPr>
          <p:cNvPr id="16" name="text-62">
            <a:extLst xmlns:a="http://schemas.openxmlformats.org/drawingml/2006/main"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863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仅市民健身中心分类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d01e0eedf4299"/>
          <a:stretch xmlns:a="http://schemas.openxmlformats.org/drawingml/2006/main"/>
        </p:blipFill>
        <p:spPr>
          <a:xfrm xmlns:a="http://schemas.openxmlformats.org/drawingml/2006/main">
            <a:off x="6287083" y="38862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18" name="text-63">
            <a:extLst xmlns:a="http://schemas.openxmlformats.org/drawingml/2006/main"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290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图书馆服务网点</a:t>
            </a:r>
          </a:p>
        </p:txBody>
      </p:sp>
      <p:sp>
        <p:nvSpPr>
          <p:cNvPr id="19" name="text-64">
            <a:extLst xmlns:a="http://schemas.openxmlformats.org/drawingml/2006/main"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434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77.0%</a:t>
            </a:r>
          </a:p>
        </p:txBody>
      </p:sp>
      <p:sp>
        <p:nvSpPr>
          <p:cNvPr id="20" name="text-65">
            <a:extLst xmlns:a="http://schemas.openxmlformats.org/drawingml/2006/main"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863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含分馆和自助借还网点</a:t>
            </a:r>
          </a:p>
        </p:txBody>
      </p:sp>
      <p:sp>
        <p:nvSpPr>
          <p:cNvPr id="21" name="text-66">
            <a:extLst xmlns:a="http://schemas.openxmlformats.org/drawingml/2006/main"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340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办事更方便，建设也让居民参与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text-67">
            <a:extLst xmlns:a="http://schemas.openxmlformats.org/drawingml/2006/main"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19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一网通办</a:t>
            </a:r>
          </a:p>
        </p:txBody>
      </p:sp>
      <p:sp>
        <p:nvSpPr>
          <p:cNvPr id="5" name="text-68">
            <a:extLst xmlns:a="http://schemas.openxmlformats.org/drawingml/2006/main"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81125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泰山人民坊</a:t>
            </a:r>
          </a:p>
        </p:txBody>
      </p:sp>
      <p:sp>
        <p:nvSpPr>
          <p:cNvPr id="6" name="text-69">
            <a:extLst xmlns:a="http://schemas.openxmlformats.org/drawingml/2006/main"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52197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3,827 项服务</a:t>
            </a:r>
          </a:p>
          <a:p xmlns:a="http://schemas.openxmlformats.org/drawingml/2006/main">
            <a: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实际网办率 89.53%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bc948c8444e9e"/>
          <a:stretch xmlns:a="http://schemas.openxmlformats.org/drawingml/2006/main"/>
        </p:blipFill>
        <p:spPr>
          <a:xfrm xmlns:a="http://schemas.openxmlformats.org/drawingml/2006/main">
            <a:off x="571500" y="3711665"/>
            <a:ext cx="5219700" cy="720546"/>
          </a:xfrm>
          <a:prstGeom xmlns:a="http://schemas.openxmlformats.org/drawingml/2006/main" prst="rect">
            <a:avLst/>
          </a:prstGeom>
        </p:spPr>
      </p:pic>
      <p:sp>
        <p:nvSpPr>
          <p:cNvPr id="8" name="text-70">
            <a:extLst xmlns:a="http://schemas.openxmlformats.org/drawingml/2006/main"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72050"/>
            <a:ext cx="5219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少跑线下窗口，</a:t>
            </a:r>
          </a:p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日常办事更方便。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mlns:a="http://schemas.openxmlformats.org/drawingml/2006/main" x="6343650" y="2095500"/>
          <a:ext xmlns:a="http://schemas.openxmlformats.org/drawingml/2006/main" cx="5276850" cy="2428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14450"/>
                <a:gridCol w="3962400"/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6dd8db5db94171"/>
          <a:stretch xmlns:a="http://schemas.openxmlformats.org/drawingml/2006/main"/>
        </p:blipFill>
        <p:spPr>
          <a:xfrm xmlns:a="http://schemas.openxmlformats.org/drawingml/2006/main">
            <a:off x="6343650" y="5165797"/>
            <a:ext cx="5276850" cy="231631"/>
          </a:xfrm>
          <a:prstGeom xmlns:a="http://schemas.openxmlformats.org/drawingml/2006/main" prst="rect">
            <a:avLst/>
          </a:prstGeom>
        </p:spPr>
      </p:pic>
      <p:sp>
        <p:nvSpPr>
          <p:cNvPr id="11" name="text-71">
            <a:extLst xmlns:a="http://schemas.openxmlformats.org/drawingml/2006/main"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纽约同学访谈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来源：2026年10月10日微信访谈与文字整理；个人经历用于补充理解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text-72">
            <a:extLst xmlns:a="http://schemas.openxmlformats.org/drawingml/2006/main"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19225"/>
            <a:ext cx="5257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“租金与收入较为匹配，但是租金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明显高于其他城市，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保障性住房很难获得。”</a:t>
            </a:r>
          </a:p>
        </p:txBody>
      </p:sp>
      <p:sp>
        <p:nvSpPr>
          <p:cNvPr id="5" name="text-73">
            <a:extLst xmlns:a="http://schemas.openxmlformats.org/drawingml/2006/main"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95575"/>
            <a:ext cx="5257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“通勤时间和租房水平直接挂钩，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公交接驳也较多。”</a:t>
            </a:r>
          </a:p>
        </p:txBody>
      </p:sp>
      <p:sp>
        <p:nvSpPr>
          <p:cNvPr id="6" name="text-74">
            <a:extLst xmlns:a="http://schemas.openxmlformats.org/drawingml/2006/main"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57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“低成本活动空间非常非常多，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这座城市有很多公园”</a:t>
            </a:r>
          </a:p>
        </p:txBody>
      </p:sp>
      <p:sp>
        <p:nvSpPr>
          <p:cNvPr id="7" name="text-75">
            <a:extLst xmlns:a="http://schemas.openxmlformats.org/drawingml/2006/main"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52578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“突发事件中自己的基本生活保障，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也依靠自己是否有储蓄，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或者高额的商业保险。”</a:t>
            </a:r>
          </a:p>
        </p:txBody>
      </p:sp>
      <p:sp>
        <p:nvSpPr>
          <p:cNvPr id="8" name="text-76">
            <a:extLst xmlns:a="http://schemas.openxmlformats.org/drawingml/2006/main"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19225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基础保障：住房与通勤</a:t>
            </a:r>
          </a:p>
        </p:txBody>
      </p:sp>
      <p:sp>
        <p:nvSpPr>
          <p:cNvPr id="9" name="text-77">
            <a:extLst xmlns:a="http://schemas.openxmlformats.org/drawingml/2006/main"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05000"/>
            <a:ext cx="5257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租金与收入较匹配，但房租高、保障房难获得。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通勤时间与租房选择相连，公交接驳较多。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夜间交通活跃，出行仍有安全顾虑。</a:t>
            </a:r>
          </a:p>
        </p:txBody>
      </p:sp>
      <p:sp>
        <p:nvSpPr>
          <p:cNvPr id="10" name="text-78">
            <a:extLst xmlns:a="http://schemas.openxmlformats.org/drawingml/2006/main"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28950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民生福祉：日常公共服务</a:t>
            </a:r>
          </a:p>
        </p:txBody>
      </p:sp>
      <p:sp>
        <p:nvSpPr>
          <p:cNvPr id="11" name="text-79">
            <a:extLst xmlns:a="http://schemas.openxmlformats.org/drawingml/2006/main"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14725"/>
            <a:ext cx="5257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公园、图书馆和低成本休闲空间丰富，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多靠地铁或开车到达。心理咨询选择较多，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配药、康复和慢病管理的体验相对不便。</a:t>
            </a:r>
          </a:p>
        </p:txBody>
      </p:sp>
      <p:sp>
        <p:nvSpPr>
          <p:cNvPr id="12" name="text-80">
            <a:extLst xmlns:a="http://schemas.openxmlformats.org/drawingml/2006/main"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38675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底层关怀：照护与应急</a:t>
            </a:r>
          </a:p>
        </p:txBody>
      </p:sp>
      <p:sp>
        <p:nvSpPr>
          <p:cNvPr id="13" name="text-81">
            <a:extLst xmlns:a="http://schemas.openxmlformats.org/drawingml/2006/main"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124450"/>
            <a:ext cx="5257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无障碍设施与助残条件较好，居家养老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仍有费用压力。突发事件中的生活保障，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还依靠个人储蓄或商业保险。</a:t>
            </a:r>
          </a:p>
        </p:txBody>
      </p:sp>
    </p:spTree>
    <p:extLst>
      <p:ext uri="{BB962C8B-B14F-4D97-AF65-F5344CB8AC3E}">
        <p14:creationId xmlns:p14="http://schemas.microsoft.com/office/powerpoint/2010/main" val="6887142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九道题，逐题看胜负和程度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mlns:a="http://schemas.openxmlformats.org/drawingml/2006/main" x="571500" y="1381125"/>
          <a:ext xmlns:a="http://schemas.openxmlformats.org/drawingml/2006/main" cx="11049000" cy="4305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33525"/>
                <a:gridCol w="1495425"/>
                <a:gridCol w="1047750"/>
                <a:gridCol w="1409700"/>
                <a:gridCol w="5562600"/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82">
            <a:extLst xmlns:a="http://schemas.openxmlformats.org/drawingml/2006/main"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42C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纽约能叫人民城市吗？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4" name="text-83">
            <a:extLst xmlns:a="http://schemas.openxmlformats.org/drawingml/2006/main"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19225"/>
            <a:ext cx="521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纽约有一部分答案</a:t>
            </a:r>
          </a:p>
        </p:txBody>
      </p:sp>
      <p:sp>
        <p:nvSpPr>
          <p:cNvPr id="5" name="text-84">
            <a:extLst xmlns:a="http://schemas.openxmlformats.org/drawingml/2006/main"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1700"/>
            <a:ext cx="52197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吃穿用度</a:t>
            </a:r>
          </a:p>
          <a:p xmlns:a="http://schemas.openxmlformats.org/drawingml/2006/main">
            <a: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公共文化</a:t>
            </a:r>
          </a:p>
          <a:p xmlns:a="http://schemas.openxmlformats.org/drawingml/2006/main">
            <a: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数据公开</a:t>
            </a:r>
          </a:p>
        </p:txBody>
      </p:sp>
      <p:sp>
        <p:nvSpPr>
          <p:cNvPr id="6" name="text-85">
            <a:extLst xmlns:a="http://schemas.openxmlformats.org/drawingml/2006/main"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197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但最底层的人仍未被托住，</a:t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这张答卷还不算及格。</a:t>
            </a:r>
          </a:p>
        </p:txBody>
      </p:sp>
      <p:sp>
        <p:nvSpPr>
          <p:cNvPr id="7" name="text-86">
            <a:extLst xmlns:a="http://schemas.openxmlformats.org/drawingml/2006/main"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19225"/>
            <a:ext cx="5276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上海答得更完整</a:t>
            </a:r>
          </a:p>
        </p:txBody>
      </p:sp>
      <p:sp>
        <p:nvSpPr>
          <p:cNvPr id="8" name="text-87">
            <a:extLst xmlns:a="http://schemas.openxmlformats.org/drawingml/2006/main"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71700"/>
            <a:ext cx="52768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住房、出行、医疗、治安</a:t>
            </a:r>
          </a:p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与托底服务，都回应了</a:t>
            </a:r>
          </a:p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普通人的具体需要。</a:t>
            </a:r>
          </a:p>
        </p:txBody>
      </p:sp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05300"/>
            <a:ext cx="52768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数据公开这一题，</a:t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上海还得补。</a:t>
            </a:r>
          </a:p>
        </p:txBody>
      </p:sp>
      <p:sp>
        <p:nvSpPr>
          <p:cNvPr id="10" name="text-89">
            <a:extLst xmlns:a="http://schemas.openxmlformats.org/drawingml/2006/main"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86425"/>
            <a:ext cx="1076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数据透明：上海还需要补上什么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5048250"/>
                <a:gridCol w="3143250"/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f7caef79894d24"/>
          <a:stretch xmlns:a="http://schemas.openxmlformats.org/drawingml/2006/main"/>
        </p:blipFill>
        <p:spPr>
          <a:xfrm xmlns:a="http://schemas.openxmlformats.org/drawingml/2006/main">
            <a:off x="838676" y="4972050"/>
            <a:ext cx="3351848" cy="6572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2b15243b24913"/>
          <a:stretch xmlns:a="http://schemas.openxmlformats.org/drawingml/2006/main"/>
        </p:blipFill>
        <p:spPr>
          <a:xfrm xmlns:a="http://schemas.openxmlformats.org/drawingml/2006/main">
            <a:off x="5200650" y="4979233"/>
            <a:ext cx="6419850" cy="671434"/>
          </a:xfrm>
          <a:prstGeom xmlns:a="http://schemas.openxmlformats.org/drawingml/2006/main" prst="rect">
            <a:avLst/>
          </a:prstGeom>
        </p:spPr>
      </p:pic>
      <p:sp>
        <p:nvSpPr>
          <p:cNvPr id="7" name="text-90">
            <a:extLst xmlns:a="http://schemas.openxmlformats.org/drawingml/2006/main"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人民城市人民建，也要让人民看得清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4" name="text-91">
            <a:extLst xmlns:a="http://schemas.openxmlformats.org/drawingml/2006/main"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6477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纽约：政府数据默认公开</a:t>
            </a:r>
          </a:p>
        </p:txBody>
      </p:sp>
      <p:sp>
        <p:nvSpPr>
          <p:cNvPr id="5" name="text-92">
            <a:extLst xmlns:a="http://schemas.openxmlformats.org/drawingml/2006/main"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52578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2012 年立法</a:t>
            </a:r>
          </a:p>
          <a:p xmlns:a="http://schemas.openxmlformats.org/drawingml/2006/main">
            <a: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不公开需要说明理由</a:t>
            </a:r>
          </a:p>
          <a:p xmlns:a="http://schemas.openxmlformats.org/drawingml/2006/main">
            <a: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收容所人数每天更新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3b58c926904478"/>
          <a:stretch xmlns:a="http://schemas.openxmlformats.org/drawingml/2006/main"/>
        </p:blipFill>
        <p:spPr>
          <a:xfrm xmlns:a="http://schemas.openxmlformats.org/drawingml/2006/main">
            <a:off x="6343650" y="2321820"/>
            <a:ext cx="5276850" cy="65226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624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FD9"/>
          </a:solidFill>
          <a:ln xmlns:a="http://schemas.openxmlformats.org/drawingml/2006/main" w="0">
            <a:noFill/>
          </a:ln>
        </p:spPr>
      </p:sp>
      <p:sp>
        <p:nvSpPr>
          <p:cNvPr id="8" name="text-93">
            <a:extLst xmlns:a="http://schemas.openxmlformats.org/drawingml/2006/main"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577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住房政策有没有用？</a:t>
            </a:r>
          </a:p>
        </p:txBody>
      </p:sp>
      <p:sp>
        <p:nvSpPr>
          <p:cNvPr id="9" name="text-94">
            <a:extLst xmlns:a="http://schemas.openxmlformats.org/drawingml/2006/main"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5219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看租金负担有没有下降。</a:t>
            </a:r>
          </a:p>
        </p:txBody>
      </p:sp>
      <p:sp>
        <p:nvSpPr>
          <p:cNvPr id="10" name="text-95">
            <a:extLst xmlns:a="http://schemas.openxmlformats.org/drawingml/2006/main"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95775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托底制度托住了多少人？</a:t>
            </a:r>
          </a:p>
        </p:txBody>
      </p:sp>
      <p:sp>
        <p:nvSpPr>
          <p:cNvPr id="11" name="text-96">
            <a:extLst xmlns:a="http://schemas.openxmlformats.org/drawingml/2006/main"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看还有多少人睡在街上。</a:t>
            </a:r>
          </a:p>
        </p:txBody>
      </p:sp>
      <p:sp>
        <p:nvSpPr>
          <p:cNvPr id="12" name="text-97">
            <a:extLst xmlns:a="http://schemas.openxmlformats.org/drawingml/2006/main"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42C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" name="text-98">
            <a:extLst xmlns:a="http://schemas.openxmlformats.org/drawingml/2006/main"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110490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人民城市人民建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人民城市为人民</a:t>
            </a:r>
          </a:p>
        </p:txBody>
      </p:sp>
      <p:sp>
        <p:nvSpPr>
          <p:cNvPr id="3" name="text-99">
            <a:extLst xmlns:a="http://schemas.openxmlformats.org/drawingml/2006/main"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谢谢大家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</p:sld>
</file>

<file path=ppt/slides/slide17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备份：范围、分母与折算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追问时使用；完整报告和计算过程见备注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105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24050"/>
                <a:gridCol w="9124950"/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</p:sld>
</file>

<file path=ppt/slides/slide18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备份：民生福祉的年份与范围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05025"/>
                <a:gridCol w="4286250"/>
                <a:gridCol w="4657725"/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101">
            <a:extLst xmlns:a="http://schemas.openxmlformats.org/drawingml/2006/main"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</p:sld>
</file>

<file path=ppt/slides/slide19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备份：来源索引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648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85875"/>
                <a:gridCol w="7172325"/>
                <a:gridCol w="2590800"/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1–3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4–6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7–8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9–11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12–15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102">
            <a:extLst xmlns:a="http://schemas.openxmlformats.org/drawingml/2006/main"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地图：同一中心七区、直线1公里、同一面积分母；</a:t>
            </a:r>
          </a:p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/>
  <dc:title>Presentation</dc:title>
  <dcterms:created xsi:type="dcterms:W3CDTF">2026-10-17T16:39:40.7460000Z</dcterms:created>
  <dcterms:modified xsi:type="dcterms:W3CDTF">2026-10-17T16:39:40.7460000Z</dcterms:modified>
</coreProperties>
</file>